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charts/chart1.xml" ContentType="application/vnd.openxmlformats-officedocument.drawingml.char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7" r:id="rId2"/>
    <p:sldId id="289" r:id="rId3"/>
    <p:sldId id="268" r:id="rId4"/>
    <p:sldId id="269" r:id="rId5"/>
    <p:sldId id="290" r:id="rId6"/>
    <p:sldId id="288" r:id="rId7"/>
    <p:sldId id="258" r:id="rId8"/>
    <p:sldId id="335" r:id="rId9"/>
    <p:sldId id="336" r:id="rId10"/>
    <p:sldId id="256" r:id="rId11"/>
    <p:sldId id="328" r:id="rId12"/>
    <p:sldId id="330" r:id="rId13"/>
    <p:sldId id="341" r:id="rId14"/>
    <p:sldId id="276" r:id="rId15"/>
    <p:sldId id="296" r:id="rId16"/>
    <p:sldId id="297" r:id="rId17"/>
    <p:sldId id="298" r:id="rId18"/>
    <p:sldId id="299" r:id="rId19"/>
    <p:sldId id="300" r:id="rId20"/>
    <p:sldId id="301" r:id="rId21"/>
    <p:sldId id="342" r:id="rId22"/>
    <p:sldId id="302" r:id="rId23"/>
    <p:sldId id="303" r:id="rId24"/>
    <p:sldId id="331" r:id="rId25"/>
    <p:sldId id="332" r:id="rId26"/>
    <p:sldId id="304" r:id="rId27"/>
    <p:sldId id="333" r:id="rId28"/>
    <p:sldId id="334" r:id="rId29"/>
    <p:sldId id="309" r:id="rId30"/>
    <p:sldId id="339" r:id="rId31"/>
    <p:sldId id="314" r:id="rId32"/>
    <p:sldId id="348" r:id="rId33"/>
    <p:sldId id="352" r:id="rId34"/>
    <p:sldId id="316" r:id="rId35"/>
    <p:sldId id="317" r:id="rId36"/>
    <p:sldId id="350" r:id="rId37"/>
    <p:sldId id="351" r:id="rId38"/>
    <p:sldId id="344" r:id="rId39"/>
    <p:sldId id="318" r:id="rId40"/>
    <p:sldId id="319" r:id="rId41"/>
    <p:sldId id="321" r:id="rId42"/>
    <p:sldId id="323" r:id="rId43"/>
    <p:sldId id="324" r:id="rId44"/>
    <p:sldId id="343" r:id="rId45"/>
    <p:sldId id="325" r:id="rId46"/>
    <p:sldId id="320" r:id="rId47"/>
    <p:sldId id="327"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9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95E892-997B-0478-759A-59193CA84C14}" v="695" dt="2025-11-21T03:22:14.923"/>
    <p1510:client id="{0A269E4F-CA1A-2169-AAF3-0AFC13B995CB}" v="128" dt="2025-11-21T03:04:29.936"/>
    <p1510:client id="{3801A7D2-0705-0AC6-D3FC-CDFC00EA41C7}" v="4382" dt="2025-11-21T02:25:03.232"/>
    <p1510:client id="{4AE42FCF-08E6-90EE-A639-3FF69239E5E2}" v="14" dt="2025-11-20T16:26:32.257"/>
    <p1510:client id="{4F540CD0-12CF-42EF-92F0-F9274644A6F3}" v="612" dt="2025-11-21T03:34:10.572"/>
    <p1510:client id="{55DD083B-79E7-DE43-9B1D-58479EBB05FF}" v="1142" dt="2025-11-21T04:20:25.265"/>
    <p1510:client id="{66A8F6DE-2331-2CF7-1A37-5E4679CD73B0}" v="430" dt="2025-11-21T02:13:13.989"/>
    <p1510:client id="{8F4C76F5-A65B-8F97-D4CD-402B1FC96DFB}" v="19" dt="2025-11-21T00:55:30.588"/>
    <p1510:client id="{99E831C3-6AB0-9782-23B8-741127366F41}" v="863" dt="2025-11-21T03:13:12.169"/>
    <p1510:client id="{DF0EA074-3F76-2ED7-DFDB-CB2788E10492}" v="346" dt="2025-11-20T04:16:32.7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2"/>
    <p:restoredTop sz="94681"/>
  </p:normalViewPr>
  <p:slideViewPr>
    <p:cSldViewPr snapToGrid="0">
      <p:cViewPr>
        <p:scale>
          <a:sx n="126" d="100"/>
          <a:sy n="126" d="100"/>
        </p:scale>
        <p:origin x="144" y="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Users/zm/Downloads/Burndown_Edit%20(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198796296296295"/>
          <c:y val="0.20262407407407412"/>
          <c:w val="0.61176518518518519"/>
          <c:h val="0.58450185185185188"/>
        </c:manualLayout>
      </c:layout>
      <c:lineChart>
        <c:grouping val="standard"/>
        <c:varyColors val="0"/>
        <c:ser>
          <c:idx val="0"/>
          <c:order val="0"/>
          <c:tx>
            <c:strRef>
              <c:f>'Burndown Data'!$B$1</c:f>
              <c:strCache>
                <c:ptCount val="1"/>
                <c:pt idx="0">
                  <c:v>Ideal Remaining</c:v>
                </c:pt>
              </c:strCache>
            </c:strRef>
          </c:tx>
          <c:spPr>
            <a:ln>
              <a:prstDash val="solid"/>
            </a:ln>
          </c:spPr>
          <c:marker>
            <c:symbol val="none"/>
          </c:marker>
          <c:cat>
            <c:numRef>
              <c:f>'Burndown Data'!$A$2:$A$7</c:f>
              <c:numCache>
                <c:formatCode>General</c:formatCode>
                <c:ptCount val="6"/>
                <c:pt idx="0">
                  <c:v>0</c:v>
                </c:pt>
                <c:pt idx="1">
                  <c:v>5</c:v>
                </c:pt>
                <c:pt idx="2">
                  <c:v>10</c:v>
                </c:pt>
                <c:pt idx="3">
                  <c:v>15</c:v>
                </c:pt>
                <c:pt idx="4">
                  <c:v>20</c:v>
                </c:pt>
                <c:pt idx="5">
                  <c:v>25</c:v>
                </c:pt>
              </c:numCache>
            </c:numRef>
          </c:cat>
          <c:val>
            <c:numRef>
              <c:f>'Burndown Data'!$B$2:$B$7</c:f>
              <c:numCache>
                <c:formatCode>General</c:formatCode>
                <c:ptCount val="6"/>
                <c:pt idx="0">
                  <c:v>34</c:v>
                </c:pt>
                <c:pt idx="1">
                  <c:v>27.2</c:v>
                </c:pt>
                <c:pt idx="2">
                  <c:v>20.399999999999999</c:v>
                </c:pt>
                <c:pt idx="3">
                  <c:v>13.6</c:v>
                </c:pt>
                <c:pt idx="4">
                  <c:v>6.8</c:v>
                </c:pt>
                <c:pt idx="5">
                  <c:v>0</c:v>
                </c:pt>
              </c:numCache>
            </c:numRef>
          </c:val>
          <c:smooth val="0"/>
          <c:extLst>
            <c:ext xmlns:c16="http://schemas.microsoft.com/office/drawing/2014/chart" uri="{C3380CC4-5D6E-409C-BE32-E72D297353CC}">
              <c16:uniqueId val="{00000000-E2AA-0A42-994C-DAD56E618309}"/>
            </c:ext>
          </c:extLst>
        </c:ser>
        <c:ser>
          <c:idx val="1"/>
          <c:order val="1"/>
          <c:tx>
            <c:strRef>
              <c:f>'Burndown Data'!$C$1</c:f>
              <c:strCache>
                <c:ptCount val="1"/>
                <c:pt idx="0">
                  <c:v>Actual Remaining</c:v>
                </c:pt>
              </c:strCache>
            </c:strRef>
          </c:tx>
          <c:spPr>
            <a:ln>
              <a:prstDash val="solid"/>
            </a:ln>
          </c:spPr>
          <c:marker>
            <c:symbol val="none"/>
          </c:marker>
          <c:cat>
            <c:numRef>
              <c:f>'Burndown Data'!$A$2:$A$7</c:f>
              <c:numCache>
                <c:formatCode>General</c:formatCode>
                <c:ptCount val="6"/>
                <c:pt idx="0">
                  <c:v>0</c:v>
                </c:pt>
                <c:pt idx="1">
                  <c:v>5</c:v>
                </c:pt>
                <c:pt idx="2">
                  <c:v>10</c:v>
                </c:pt>
                <c:pt idx="3">
                  <c:v>15</c:v>
                </c:pt>
                <c:pt idx="4">
                  <c:v>20</c:v>
                </c:pt>
                <c:pt idx="5">
                  <c:v>25</c:v>
                </c:pt>
              </c:numCache>
            </c:numRef>
          </c:cat>
          <c:val>
            <c:numRef>
              <c:f>'Burndown Data'!$C$2:$C$7</c:f>
              <c:numCache>
                <c:formatCode>General</c:formatCode>
                <c:ptCount val="6"/>
                <c:pt idx="0">
                  <c:v>34</c:v>
                </c:pt>
                <c:pt idx="1">
                  <c:v>30</c:v>
                </c:pt>
                <c:pt idx="2">
                  <c:v>23</c:v>
                </c:pt>
                <c:pt idx="3">
                  <c:v>20</c:v>
                </c:pt>
                <c:pt idx="4">
                  <c:v>17</c:v>
                </c:pt>
                <c:pt idx="5">
                  <c:v>15</c:v>
                </c:pt>
              </c:numCache>
            </c:numRef>
          </c:val>
          <c:smooth val="0"/>
          <c:extLst>
            <c:ext xmlns:c16="http://schemas.microsoft.com/office/drawing/2014/chart" uri="{C3380CC4-5D6E-409C-BE32-E72D297353CC}">
              <c16:uniqueId val="{00000001-E2AA-0A42-994C-DAD56E618309}"/>
            </c:ext>
          </c:extLst>
        </c:ser>
        <c:dLbls>
          <c:showLegendKey val="0"/>
          <c:showVal val="0"/>
          <c:showCatName val="0"/>
          <c:showSerName val="0"/>
          <c:showPercent val="0"/>
          <c:showBubbleSize val="0"/>
        </c:dLbls>
        <c:smooth val="0"/>
        <c:axId val="10"/>
        <c:axId val="100"/>
      </c:lineChart>
      <c:catAx>
        <c:axId val="10"/>
        <c:scaling>
          <c:orientation val="minMax"/>
        </c:scaling>
        <c:delete val="0"/>
        <c:axPos val="b"/>
        <c:title>
          <c:tx>
            <c:rich>
              <a:bodyPr/>
              <a:lstStyle/>
              <a:p>
                <a:pPr>
                  <a:defRPr/>
                </a:pPr>
                <a:r>
                  <a:rPr lang="en-US"/>
                  <a:t>Day</a:t>
                </a:r>
              </a:p>
            </c:rich>
          </c:tx>
          <c:overlay val="0"/>
        </c:title>
        <c:numFmt formatCode="General" sourceLinked="1"/>
        <c:majorTickMark val="none"/>
        <c:minorTickMark val="none"/>
        <c:tickLblPos val="nextTo"/>
        <c:crossAx val="100"/>
        <c:crosses val="autoZero"/>
        <c:auto val="0"/>
        <c:lblAlgn val="ctr"/>
        <c:lblOffset val="100"/>
        <c:noMultiLvlLbl val="0"/>
      </c:catAx>
      <c:valAx>
        <c:axId val="100"/>
        <c:scaling>
          <c:orientation val="minMax"/>
        </c:scaling>
        <c:delete val="0"/>
        <c:axPos val="l"/>
        <c:majorGridlines/>
        <c:title>
          <c:tx>
            <c:rich>
              <a:bodyPr/>
              <a:lstStyle/>
              <a:p>
                <a:pPr>
                  <a:defRPr/>
                </a:pPr>
                <a:r>
                  <a:rPr lang="en-US"/>
                  <a:t>Remaining Story Points</a:t>
                </a:r>
              </a:p>
            </c:rich>
          </c:tx>
          <c:overlay val="0"/>
        </c:title>
        <c:numFmt formatCode="General" sourceLinked="1"/>
        <c:majorTickMark val="none"/>
        <c:minorTickMark val="none"/>
        <c:tickLblPos val="nextTo"/>
        <c:crossAx val="10"/>
        <c:crosses val="autoZero"/>
        <c:crossBetween val="between"/>
      </c:valAx>
    </c:plotArea>
    <c:legend>
      <c:legendPos val="r"/>
      <c:overlay val="0"/>
    </c:legend>
    <c:plotVisOnly val="1"/>
    <c:dispBlanksAs val="gap"/>
    <c:showDLblsOverMax val="0"/>
  </c:chart>
  <c:externalData r:id="rId1">
    <c:autoUpdate val="0"/>
  </c:externalData>
</c:chartSpace>
</file>

<file path=ppt/diagrams/_rels/data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200194-ED18-4D90-87E1-E4F103F7DEB4}" type="doc">
      <dgm:prSet loTypeId="urn:microsoft.com/office/officeart/2005/8/layout/hierarchy1" loCatId="hierarchy" qsTypeId="urn:microsoft.com/office/officeart/2005/8/quickstyle/simple5" qsCatId="simple" csTypeId="urn:microsoft.com/office/officeart/2005/8/colors/accent1_2" csCatId="accent1" phldr="1"/>
      <dgm:spPr/>
      <dgm:t>
        <a:bodyPr/>
        <a:lstStyle/>
        <a:p>
          <a:endParaRPr lang="en-US"/>
        </a:p>
      </dgm:t>
    </dgm:pt>
    <dgm:pt modelId="{0751E635-8A69-477F-A78B-C77371ABBD27}">
      <dgm:prSet phldr="0"/>
      <dgm:spPr/>
      <dgm:t>
        <a:bodyPr/>
        <a:lstStyle/>
        <a:p>
          <a:pPr algn="ctr" rtl="0">
            <a:lnSpc>
              <a:spcPct val="90000"/>
            </a:lnSpc>
          </a:pPr>
          <a:r>
            <a:rPr lang="en-US" sz="1800" b="0">
              <a:latin typeface="Calibri"/>
              <a:ea typeface="+mn-ea"/>
              <a:cs typeface="+mn-cs"/>
            </a:rPr>
            <a:t>This persistent threat not only inflicts hundreds of millions of dollars in annual losses but also erodes consumer confidence in digital payments. Existing detection systems struggle to keep up with the evolving tactics of scammers and the extreme imbalance between legitimate and fraudulent transactions. There is an urgent need for a robust, real-time solution that can accurately flag while minimizing false alarms.</a:t>
          </a:r>
          <a:endParaRPr lang="en-GB" sz="1800" b="0">
            <a:latin typeface="Calibri"/>
            <a:ea typeface="+mn-ea"/>
            <a:cs typeface="+mn-cs"/>
          </a:endParaRPr>
        </a:p>
      </dgm:t>
    </dgm:pt>
    <dgm:pt modelId="{C998D58C-DD44-41C6-89CE-B32075620148}" type="parTrans" cxnId="{EE0AC3B9-C7E3-4922-9585-5A966BF0B8DE}">
      <dgm:prSet/>
      <dgm:spPr/>
    </dgm:pt>
    <dgm:pt modelId="{97825209-BD30-4AAC-AB9E-20BDAFC3446E}" type="sibTrans" cxnId="{EE0AC3B9-C7E3-4922-9585-5A966BF0B8DE}">
      <dgm:prSet/>
      <dgm:spPr/>
    </dgm:pt>
    <dgm:pt modelId="{310E3B8F-075D-48A2-AC8B-FBB7BBEF270F}">
      <dgm:prSet phldr="0"/>
      <dgm:spPr/>
      <dgm:t>
        <a:bodyPr/>
        <a:lstStyle/>
        <a:p>
          <a:pPr algn="ctr" rtl="0">
            <a:lnSpc>
              <a:spcPct val="90000"/>
            </a:lnSpc>
          </a:pPr>
          <a:r>
            <a:rPr lang="en-US" sz="1800" b="0">
              <a:latin typeface="Calibri"/>
              <a:ea typeface="+mn-ea"/>
              <a:cs typeface="+mn-cs"/>
            </a:rPr>
            <a:t>Credit card fraud remains the leading form of identity theft in the United States, with 2024 seeing over 449,000 complaints to the Federal Trade Commission and within the first quarter of 2025 adding another 151,000 cases. In the United States, 63% of cardholders have been targeted at least once, and more than half of these victims report experiencing repeated attacks.</a:t>
          </a:r>
        </a:p>
      </dgm:t>
    </dgm:pt>
    <dgm:pt modelId="{A10D987E-F08E-4D82-903F-CE55EDE40608}" type="parTrans" cxnId="{CAF9718E-C1A1-4FB7-BE88-BD924DF45EAC}">
      <dgm:prSet/>
      <dgm:spPr/>
    </dgm:pt>
    <dgm:pt modelId="{71FB0452-8402-439A-99E6-445788E77467}" type="sibTrans" cxnId="{CAF9718E-C1A1-4FB7-BE88-BD924DF45EAC}">
      <dgm:prSet/>
      <dgm:spPr/>
    </dgm:pt>
    <dgm:pt modelId="{28241234-30E2-CA48-A494-B0901B59D46B}" type="pres">
      <dgm:prSet presAssocID="{04200194-ED18-4D90-87E1-E4F103F7DEB4}" presName="hierChild1" presStyleCnt="0">
        <dgm:presLayoutVars>
          <dgm:chPref val="1"/>
          <dgm:dir/>
          <dgm:animOne val="branch"/>
          <dgm:animLvl val="lvl"/>
          <dgm:resizeHandles/>
        </dgm:presLayoutVars>
      </dgm:prSet>
      <dgm:spPr/>
    </dgm:pt>
    <dgm:pt modelId="{954D56E4-11F8-4A64-8342-E2E0EADF1C1E}" type="pres">
      <dgm:prSet presAssocID="{310E3B8F-075D-48A2-AC8B-FBB7BBEF270F}" presName="hierRoot1" presStyleCnt="0"/>
      <dgm:spPr/>
    </dgm:pt>
    <dgm:pt modelId="{13269AC6-DED0-44B5-8645-C5C90A0DA434}" type="pres">
      <dgm:prSet presAssocID="{310E3B8F-075D-48A2-AC8B-FBB7BBEF270F}" presName="composite" presStyleCnt="0"/>
      <dgm:spPr/>
    </dgm:pt>
    <dgm:pt modelId="{77BB1A55-7694-4BD0-B28B-CF93A27E95E0}" type="pres">
      <dgm:prSet presAssocID="{310E3B8F-075D-48A2-AC8B-FBB7BBEF270F}" presName="background" presStyleLbl="node0" presStyleIdx="0" presStyleCnt="2"/>
      <dgm:spPr/>
    </dgm:pt>
    <dgm:pt modelId="{8A6A0ECE-CBE7-43FC-9509-F771A9328990}" type="pres">
      <dgm:prSet presAssocID="{310E3B8F-075D-48A2-AC8B-FBB7BBEF270F}" presName="text" presStyleLbl="fgAcc0" presStyleIdx="0" presStyleCnt="2">
        <dgm:presLayoutVars>
          <dgm:chPref val="3"/>
        </dgm:presLayoutVars>
      </dgm:prSet>
      <dgm:spPr/>
    </dgm:pt>
    <dgm:pt modelId="{F87E5815-A729-421B-A529-0FB0E14C898E}" type="pres">
      <dgm:prSet presAssocID="{310E3B8F-075D-48A2-AC8B-FBB7BBEF270F}" presName="hierChild2" presStyleCnt="0"/>
      <dgm:spPr/>
    </dgm:pt>
    <dgm:pt modelId="{C8D5FA3F-AAA5-44A0-A238-C03C5305C6F3}" type="pres">
      <dgm:prSet presAssocID="{0751E635-8A69-477F-A78B-C77371ABBD27}" presName="hierRoot1" presStyleCnt="0"/>
      <dgm:spPr/>
    </dgm:pt>
    <dgm:pt modelId="{C8519169-7809-40EC-B26C-3AACA1645DB4}" type="pres">
      <dgm:prSet presAssocID="{0751E635-8A69-477F-A78B-C77371ABBD27}" presName="composite" presStyleCnt="0"/>
      <dgm:spPr/>
    </dgm:pt>
    <dgm:pt modelId="{38BBDD51-7F22-4220-9752-0F86D0B34BE5}" type="pres">
      <dgm:prSet presAssocID="{0751E635-8A69-477F-A78B-C77371ABBD27}" presName="background" presStyleLbl="node0" presStyleIdx="1" presStyleCnt="2"/>
      <dgm:spPr/>
    </dgm:pt>
    <dgm:pt modelId="{834081DB-7B79-42FB-9BDB-C91E80B92560}" type="pres">
      <dgm:prSet presAssocID="{0751E635-8A69-477F-A78B-C77371ABBD27}" presName="text" presStyleLbl="fgAcc0" presStyleIdx="1" presStyleCnt="2">
        <dgm:presLayoutVars>
          <dgm:chPref val="3"/>
        </dgm:presLayoutVars>
      </dgm:prSet>
      <dgm:spPr/>
    </dgm:pt>
    <dgm:pt modelId="{F82D5C0A-BE14-4336-A392-6120531AE6A7}" type="pres">
      <dgm:prSet presAssocID="{0751E635-8A69-477F-A78B-C77371ABBD27}" presName="hierChild2" presStyleCnt="0"/>
      <dgm:spPr/>
    </dgm:pt>
  </dgm:ptLst>
  <dgm:cxnLst>
    <dgm:cxn modelId="{18B54247-7C0B-4023-9E7A-9CBB6FB3544C}" type="presOf" srcId="{0751E635-8A69-477F-A78B-C77371ABBD27}" destId="{834081DB-7B79-42FB-9BDB-C91E80B92560}" srcOrd="0" destOrd="0" presId="urn:microsoft.com/office/officeart/2005/8/layout/hierarchy1"/>
    <dgm:cxn modelId="{BE369E59-A08C-44DD-9EA6-3865BE31FEA8}" type="presOf" srcId="{310E3B8F-075D-48A2-AC8B-FBB7BBEF270F}" destId="{8A6A0ECE-CBE7-43FC-9509-F771A9328990}" srcOrd="0" destOrd="0" presId="urn:microsoft.com/office/officeart/2005/8/layout/hierarchy1"/>
    <dgm:cxn modelId="{CAF9718E-C1A1-4FB7-BE88-BD924DF45EAC}" srcId="{04200194-ED18-4D90-87E1-E4F103F7DEB4}" destId="{310E3B8F-075D-48A2-AC8B-FBB7BBEF270F}" srcOrd="0" destOrd="0" parTransId="{A10D987E-F08E-4D82-903F-CE55EDE40608}" sibTransId="{71FB0452-8402-439A-99E6-445788E77467}"/>
    <dgm:cxn modelId="{EE0AC3B9-C7E3-4922-9585-5A966BF0B8DE}" srcId="{04200194-ED18-4D90-87E1-E4F103F7DEB4}" destId="{0751E635-8A69-477F-A78B-C77371ABBD27}" srcOrd="1" destOrd="0" parTransId="{C998D58C-DD44-41C6-89CE-B32075620148}" sibTransId="{97825209-BD30-4AAC-AB9E-20BDAFC3446E}"/>
    <dgm:cxn modelId="{F11F61CD-BA95-1247-B7E3-87CC1D41393D}" type="presOf" srcId="{04200194-ED18-4D90-87E1-E4F103F7DEB4}" destId="{28241234-30E2-CA48-A494-B0901B59D46B}" srcOrd="0" destOrd="0" presId="urn:microsoft.com/office/officeart/2005/8/layout/hierarchy1"/>
    <dgm:cxn modelId="{A4359237-6A10-4663-9DAE-D61DB9A88B89}" type="presParOf" srcId="{28241234-30E2-CA48-A494-B0901B59D46B}" destId="{954D56E4-11F8-4A64-8342-E2E0EADF1C1E}" srcOrd="0" destOrd="0" presId="urn:microsoft.com/office/officeart/2005/8/layout/hierarchy1"/>
    <dgm:cxn modelId="{80EBCE68-FEC2-4AFD-88F0-9A0257FB2F51}" type="presParOf" srcId="{954D56E4-11F8-4A64-8342-E2E0EADF1C1E}" destId="{13269AC6-DED0-44B5-8645-C5C90A0DA434}" srcOrd="0" destOrd="0" presId="urn:microsoft.com/office/officeart/2005/8/layout/hierarchy1"/>
    <dgm:cxn modelId="{2185F0D2-5E66-4C79-85BA-0D6E06269348}" type="presParOf" srcId="{13269AC6-DED0-44B5-8645-C5C90A0DA434}" destId="{77BB1A55-7694-4BD0-B28B-CF93A27E95E0}" srcOrd="0" destOrd="0" presId="urn:microsoft.com/office/officeart/2005/8/layout/hierarchy1"/>
    <dgm:cxn modelId="{A03ABA80-8922-4180-AE63-62CA5C4F74C3}" type="presParOf" srcId="{13269AC6-DED0-44B5-8645-C5C90A0DA434}" destId="{8A6A0ECE-CBE7-43FC-9509-F771A9328990}" srcOrd="1" destOrd="0" presId="urn:microsoft.com/office/officeart/2005/8/layout/hierarchy1"/>
    <dgm:cxn modelId="{5DC7C0B5-3A49-4F7C-90B9-E2AAF7CDFA20}" type="presParOf" srcId="{954D56E4-11F8-4A64-8342-E2E0EADF1C1E}" destId="{F87E5815-A729-421B-A529-0FB0E14C898E}" srcOrd="1" destOrd="0" presId="urn:microsoft.com/office/officeart/2005/8/layout/hierarchy1"/>
    <dgm:cxn modelId="{E6D16E1B-C08C-4133-9AAE-B49AB76EB02B}" type="presParOf" srcId="{28241234-30E2-CA48-A494-B0901B59D46B}" destId="{C8D5FA3F-AAA5-44A0-A238-C03C5305C6F3}" srcOrd="1" destOrd="0" presId="urn:microsoft.com/office/officeart/2005/8/layout/hierarchy1"/>
    <dgm:cxn modelId="{F9797450-AA8F-453B-8286-B709CF2E904D}" type="presParOf" srcId="{C8D5FA3F-AAA5-44A0-A238-C03C5305C6F3}" destId="{C8519169-7809-40EC-B26C-3AACA1645DB4}" srcOrd="0" destOrd="0" presId="urn:microsoft.com/office/officeart/2005/8/layout/hierarchy1"/>
    <dgm:cxn modelId="{A773B6AC-1B40-4909-9447-EBFFEB437A98}" type="presParOf" srcId="{C8519169-7809-40EC-B26C-3AACA1645DB4}" destId="{38BBDD51-7F22-4220-9752-0F86D0B34BE5}" srcOrd="0" destOrd="0" presId="urn:microsoft.com/office/officeart/2005/8/layout/hierarchy1"/>
    <dgm:cxn modelId="{30D6D227-1CC5-406D-9704-1D2A6F3580C1}" type="presParOf" srcId="{C8519169-7809-40EC-B26C-3AACA1645DB4}" destId="{834081DB-7B79-42FB-9BDB-C91E80B92560}" srcOrd="1" destOrd="0" presId="urn:microsoft.com/office/officeart/2005/8/layout/hierarchy1"/>
    <dgm:cxn modelId="{CACE4B6F-9A64-40E4-9798-5DA1ACE03087}" type="presParOf" srcId="{C8D5FA3F-AAA5-44A0-A238-C03C5305C6F3}" destId="{F82D5C0A-BE14-4336-A392-6120531AE6A7}"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787CE87-7DF3-43D9-A4D3-AF2D93969597}"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E2F855CB-6A83-4DB8-8B9B-F2E6C6903F7E}">
      <dgm:prSet custT="1"/>
      <dgm:spPr/>
      <dgm:t>
        <a:bodyPr/>
        <a:lstStyle/>
        <a:p>
          <a:pPr>
            <a:lnSpc>
              <a:spcPct val="100000"/>
            </a:lnSpc>
            <a:defRPr b="1"/>
          </a:pPr>
          <a:r>
            <a:rPr lang="en-US" sz="1600">
              <a:latin typeface="Calibri"/>
              <a:ea typeface="Calibri"/>
              <a:cs typeface="Calibri"/>
            </a:rPr>
            <a:t>Data Storage, Collection, and Processing</a:t>
          </a:r>
        </a:p>
      </dgm:t>
    </dgm:pt>
    <dgm:pt modelId="{4D756603-52F8-481A-9072-9CD053FA7F58}" type="parTrans" cxnId="{2DE30CDB-FBE3-40D4-94DA-598161D72D1D}">
      <dgm:prSet/>
      <dgm:spPr/>
      <dgm:t>
        <a:bodyPr/>
        <a:lstStyle/>
        <a:p>
          <a:endParaRPr lang="en-US"/>
        </a:p>
      </dgm:t>
    </dgm:pt>
    <dgm:pt modelId="{32BBC372-7458-4399-B8BA-A3031522C732}" type="sibTrans" cxnId="{2DE30CDB-FBE3-40D4-94DA-598161D72D1D}">
      <dgm:prSet/>
      <dgm:spPr/>
      <dgm:t>
        <a:bodyPr/>
        <a:lstStyle/>
        <a:p>
          <a:endParaRPr lang="en-US"/>
        </a:p>
      </dgm:t>
    </dgm:pt>
    <dgm:pt modelId="{E4BDB4A2-1E5D-422E-82F3-E858DFCA214F}">
      <dgm:prSet/>
      <dgm:spPr/>
      <dgm:t>
        <a:bodyPr/>
        <a:lstStyle/>
        <a:p>
          <a:pPr>
            <a:lnSpc>
              <a:spcPct val="100000"/>
            </a:lnSpc>
          </a:pPr>
          <a:r>
            <a:rPr lang="en-US" sz="1600" b="1">
              <a:latin typeface="Calibri"/>
              <a:ea typeface="Calibri"/>
              <a:cs typeface="Calibri"/>
            </a:rPr>
            <a:t>Pandas / NumPy –</a:t>
          </a:r>
          <a:r>
            <a:rPr lang="en-US" sz="1600">
              <a:latin typeface="Calibri"/>
              <a:ea typeface="Calibri"/>
              <a:cs typeface="Calibri"/>
            </a:rPr>
            <a:t> Core tabular and numerical routines.</a:t>
          </a:r>
        </a:p>
      </dgm:t>
    </dgm:pt>
    <dgm:pt modelId="{CBB09B61-9F4F-48F1-97A1-D5948076F3AE}" type="parTrans" cxnId="{77BD8246-7CA2-4403-9CBD-256BF6B20071}">
      <dgm:prSet/>
      <dgm:spPr/>
      <dgm:t>
        <a:bodyPr/>
        <a:lstStyle/>
        <a:p>
          <a:endParaRPr lang="en-US"/>
        </a:p>
      </dgm:t>
    </dgm:pt>
    <dgm:pt modelId="{E44E7920-AE7F-4265-905F-BEF019C1114C}" type="sibTrans" cxnId="{77BD8246-7CA2-4403-9CBD-256BF6B20071}">
      <dgm:prSet/>
      <dgm:spPr/>
      <dgm:t>
        <a:bodyPr/>
        <a:lstStyle/>
        <a:p>
          <a:endParaRPr lang="en-US"/>
        </a:p>
      </dgm:t>
    </dgm:pt>
    <dgm:pt modelId="{EB9F3E1F-5BFC-41AA-BC32-688CCBF0DF9B}">
      <dgm:prSet/>
      <dgm:spPr/>
      <dgm:t>
        <a:bodyPr/>
        <a:lstStyle/>
        <a:p>
          <a:pPr>
            <a:lnSpc>
              <a:spcPct val="100000"/>
            </a:lnSpc>
            <a:defRPr b="1"/>
          </a:pPr>
          <a:r>
            <a:rPr lang="en-US" sz="1600">
              <a:latin typeface="Calibri"/>
              <a:ea typeface="Calibri"/>
              <a:cs typeface="Calibri"/>
            </a:rPr>
            <a:t>Model Development and Experimentation</a:t>
          </a:r>
        </a:p>
      </dgm:t>
    </dgm:pt>
    <dgm:pt modelId="{8FE49A02-2E8D-4CEC-8AAE-71F0A3B40817}" type="parTrans" cxnId="{91E34DC4-ADE5-43AF-95D3-47F9D576200A}">
      <dgm:prSet/>
      <dgm:spPr/>
      <dgm:t>
        <a:bodyPr/>
        <a:lstStyle/>
        <a:p>
          <a:endParaRPr lang="en-US"/>
        </a:p>
      </dgm:t>
    </dgm:pt>
    <dgm:pt modelId="{0ECFF2FC-5910-43B9-BD4F-E6A07A917C07}" type="sibTrans" cxnId="{91E34DC4-ADE5-43AF-95D3-47F9D576200A}">
      <dgm:prSet/>
      <dgm:spPr/>
      <dgm:t>
        <a:bodyPr/>
        <a:lstStyle/>
        <a:p>
          <a:endParaRPr lang="en-US"/>
        </a:p>
      </dgm:t>
    </dgm:pt>
    <dgm:pt modelId="{5FC200B5-D7A0-49E9-8751-10855F94AC09}">
      <dgm:prSet/>
      <dgm:spPr/>
      <dgm:t>
        <a:bodyPr/>
        <a:lstStyle/>
        <a:p>
          <a:pPr>
            <a:lnSpc>
              <a:spcPct val="100000"/>
            </a:lnSpc>
          </a:pPr>
          <a:r>
            <a:rPr lang="en-US" sz="1600" b="1">
              <a:latin typeface="Calibri"/>
              <a:ea typeface="Calibri"/>
              <a:cs typeface="Calibri"/>
            </a:rPr>
            <a:t>XGBoost</a:t>
          </a:r>
          <a:r>
            <a:rPr lang="en-US" sz="1600">
              <a:latin typeface="Calibri"/>
              <a:ea typeface="Calibri"/>
              <a:cs typeface="Calibri"/>
            </a:rPr>
            <a:t> – Gradient boosting implementations with GPU support for speed and advanced class‐imbalance handling.</a:t>
          </a:r>
        </a:p>
      </dgm:t>
    </dgm:pt>
    <dgm:pt modelId="{A66A982D-39F5-423F-A325-5F7D64F809C9}" type="parTrans" cxnId="{F8110728-16AD-47D0-9BBD-47497BB1753E}">
      <dgm:prSet/>
      <dgm:spPr/>
      <dgm:t>
        <a:bodyPr/>
        <a:lstStyle/>
        <a:p>
          <a:endParaRPr lang="en-US"/>
        </a:p>
      </dgm:t>
    </dgm:pt>
    <dgm:pt modelId="{C48CB616-D053-43C7-B4C9-695965F29A04}" type="sibTrans" cxnId="{F8110728-16AD-47D0-9BBD-47497BB1753E}">
      <dgm:prSet/>
      <dgm:spPr/>
      <dgm:t>
        <a:bodyPr/>
        <a:lstStyle/>
        <a:p>
          <a:endParaRPr lang="en-US"/>
        </a:p>
      </dgm:t>
    </dgm:pt>
    <dgm:pt modelId="{E8B4C98B-8AFD-4193-B30E-2252C4ABEEC2}">
      <dgm:prSet/>
      <dgm:spPr/>
      <dgm:t>
        <a:bodyPr/>
        <a:lstStyle/>
        <a:p>
          <a:pPr>
            <a:lnSpc>
              <a:spcPct val="100000"/>
            </a:lnSpc>
          </a:pPr>
          <a:r>
            <a:rPr lang="en-US" sz="1600" b="1">
              <a:latin typeface="Calibri"/>
              <a:ea typeface="Calibri"/>
              <a:cs typeface="Calibri"/>
            </a:rPr>
            <a:t>Python – </a:t>
          </a:r>
          <a:r>
            <a:rPr lang="en-US" sz="1600" b="0">
              <a:latin typeface="Calibri"/>
              <a:ea typeface="Calibri"/>
              <a:cs typeface="Calibri"/>
            </a:rPr>
            <a:t>widely used language for AI model development because of its simplicity, readability, and powerful ecosystem of libraries and frameworks.</a:t>
          </a:r>
        </a:p>
      </dgm:t>
    </dgm:pt>
    <dgm:pt modelId="{7DE6F725-E763-43FE-AF66-8E4B90F55DE0}" type="parTrans" cxnId="{3DA9D14E-4630-4F79-A83C-AB1A87624C95}">
      <dgm:prSet/>
      <dgm:spPr/>
      <dgm:t>
        <a:bodyPr/>
        <a:lstStyle/>
        <a:p>
          <a:endParaRPr lang="en-US"/>
        </a:p>
      </dgm:t>
    </dgm:pt>
    <dgm:pt modelId="{9999C67D-0F6E-4161-ACE8-9CF2CFF1F87E}" type="sibTrans" cxnId="{3DA9D14E-4630-4F79-A83C-AB1A87624C95}">
      <dgm:prSet/>
      <dgm:spPr/>
      <dgm:t>
        <a:bodyPr/>
        <a:lstStyle/>
        <a:p>
          <a:endParaRPr lang="en-US"/>
        </a:p>
      </dgm:t>
    </dgm:pt>
    <dgm:pt modelId="{984B3B87-69CA-4E44-BBAD-511259AB019D}">
      <dgm:prSet/>
      <dgm:spPr/>
      <dgm:t>
        <a:bodyPr/>
        <a:lstStyle/>
        <a:p>
          <a:pPr>
            <a:lnSpc>
              <a:spcPct val="100000"/>
            </a:lnSpc>
          </a:pPr>
          <a:r>
            <a:rPr lang="en-US" sz="1600" b="1">
              <a:latin typeface="Calibri"/>
              <a:ea typeface="Calibri"/>
              <a:cs typeface="Calibri"/>
            </a:rPr>
            <a:t>PenPot – </a:t>
          </a:r>
          <a:r>
            <a:rPr lang="en-US" sz="1600" b="0">
              <a:latin typeface="Calibri"/>
              <a:ea typeface="Calibri"/>
              <a:cs typeface="Calibri"/>
            </a:rPr>
            <a:t>a free, open-source, web-based design and prototyping tool built for collaboration between designers and developers.</a:t>
          </a:r>
        </a:p>
      </dgm:t>
    </dgm:pt>
    <dgm:pt modelId="{282D3647-CC2C-4C3D-95E7-233A9F7B1908}" type="parTrans" cxnId="{FCD09651-6EF4-4217-82E2-044CE7BEF4AA}">
      <dgm:prSet/>
      <dgm:spPr/>
      <dgm:t>
        <a:bodyPr/>
        <a:lstStyle/>
        <a:p>
          <a:endParaRPr lang="en-US"/>
        </a:p>
      </dgm:t>
    </dgm:pt>
    <dgm:pt modelId="{1DFB925E-8874-4EA1-89A5-C4272D29DB63}" type="sibTrans" cxnId="{FCD09651-6EF4-4217-82E2-044CE7BEF4AA}">
      <dgm:prSet/>
      <dgm:spPr/>
      <dgm:t>
        <a:bodyPr/>
        <a:lstStyle/>
        <a:p>
          <a:endParaRPr lang="en-US"/>
        </a:p>
      </dgm:t>
    </dgm:pt>
    <dgm:pt modelId="{902AA014-85AA-49A8-8664-47B778274B72}">
      <dgm:prSet phldr="0"/>
      <dgm:spPr/>
      <dgm:t>
        <a:bodyPr/>
        <a:lstStyle/>
        <a:p>
          <a:pPr>
            <a:lnSpc>
              <a:spcPct val="100000"/>
            </a:lnSpc>
          </a:pPr>
          <a:r>
            <a:rPr lang="en-US" sz="1600" b="1">
              <a:latin typeface="Calibri"/>
              <a:ea typeface="Calibri"/>
              <a:cs typeface="Calibri"/>
            </a:rPr>
            <a:t>XCODE – </a:t>
          </a:r>
          <a:r>
            <a:rPr lang="en-US" sz="1600" b="0">
              <a:latin typeface="Calibri"/>
              <a:ea typeface="Calibri"/>
              <a:cs typeface="Calibri"/>
            </a:rPr>
            <a:t>Apple’s official IDE for building apps across all Apple platforms.</a:t>
          </a:r>
        </a:p>
      </dgm:t>
    </dgm:pt>
    <dgm:pt modelId="{CCA1AE7A-9CD4-4A81-AAEF-35E10D436392}" type="parTrans" cxnId="{59644B63-7B25-48E9-B91E-AE0CFBBAC2D5}">
      <dgm:prSet/>
      <dgm:spPr/>
      <dgm:t>
        <a:bodyPr/>
        <a:lstStyle/>
        <a:p>
          <a:endParaRPr lang="en-US"/>
        </a:p>
      </dgm:t>
    </dgm:pt>
    <dgm:pt modelId="{3155E5F2-6447-4208-B9B9-41A6B59C0B7E}" type="sibTrans" cxnId="{59644B63-7B25-48E9-B91E-AE0CFBBAC2D5}">
      <dgm:prSet/>
      <dgm:spPr/>
      <dgm:t>
        <a:bodyPr/>
        <a:lstStyle/>
        <a:p>
          <a:endParaRPr lang="en-US"/>
        </a:p>
      </dgm:t>
    </dgm:pt>
    <dgm:pt modelId="{8E5CE5D3-84F9-4805-874B-D13CB3A178DC}">
      <dgm:prSet phldr="0"/>
      <dgm:spPr/>
      <dgm:t>
        <a:bodyPr/>
        <a:lstStyle/>
        <a:p>
          <a:pPr>
            <a:lnSpc>
              <a:spcPct val="100000"/>
            </a:lnSpc>
          </a:pPr>
          <a:r>
            <a:rPr lang="en-US" sz="1600" b="1">
              <a:latin typeface="Calibri"/>
              <a:ea typeface="Calibri"/>
              <a:cs typeface="Calibri"/>
            </a:rPr>
            <a:t>Swift – </a:t>
          </a:r>
          <a:r>
            <a:rPr lang="en-US" sz="1600" b="0">
              <a:latin typeface="Calibri"/>
              <a:ea typeface="Calibri"/>
              <a:cs typeface="Calibri"/>
            </a:rPr>
            <a:t>Apple’s modern, powerful, and intuitive programming language designed for building Apple Platform apps on XCODE.</a:t>
          </a:r>
          <a:endParaRPr lang="en-US" sz="1600">
            <a:latin typeface="Calibri"/>
            <a:ea typeface="Calibri"/>
            <a:cs typeface="Calibri"/>
          </a:endParaRPr>
        </a:p>
      </dgm:t>
    </dgm:pt>
    <dgm:pt modelId="{2C9B0B18-E2CD-4340-8E19-78BF7E4136C8}" type="parTrans" cxnId="{26268A26-157E-4FC3-AA1E-AA061C1D40B6}">
      <dgm:prSet/>
      <dgm:spPr/>
      <dgm:t>
        <a:bodyPr/>
        <a:lstStyle/>
        <a:p>
          <a:endParaRPr lang="en-US"/>
        </a:p>
      </dgm:t>
    </dgm:pt>
    <dgm:pt modelId="{9289735A-9C0D-4EF6-95A0-8FA73570DA0F}" type="sibTrans" cxnId="{26268A26-157E-4FC3-AA1E-AA061C1D40B6}">
      <dgm:prSet/>
      <dgm:spPr/>
      <dgm:t>
        <a:bodyPr/>
        <a:lstStyle/>
        <a:p>
          <a:endParaRPr lang="en-US"/>
        </a:p>
      </dgm:t>
    </dgm:pt>
    <dgm:pt modelId="{6AF7393D-02DB-45A1-A72C-7B36FB1B862A}">
      <dgm:prSet phldr="0"/>
      <dgm:spPr/>
      <dgm:t>
        <a:bodyPr/>
        <a:lstStyle/>
        <a:p>
          <a:pPr>
            <a:lnSpc>
              <a:spcPct val="100000"/>
            </a:lnSpc>
          </a:pPr>
          <a:r>
            <a:rPr lang="en-US" sz="1600" b="1">
              <a:latin typeface="Calibri"/>
              <a:ea typeface="Calibri"/>
              <a:cs typeface="Calibri"/>
            </a:rPr>
            <a:t>Kaggle – </a:t>
          </a:r>
          <a:r>
            <a:rPr lang="en-US" sz="1600" b="0">
              <a:latin typeface="Calibri"/>
              <a:ea typeface="Calibri"/>
              <a:cs typeface="Calibri"/>
            </a:rPr>
            <a:t>Online repository of public datasets. We used this to acquire the training data set for our model.</a:t>
          </a:r>
        </a:p>
      </dgm:t>
    </dgm:pt>
    <dgm:pt modelId="{6D3B27BA-6652-401D-9060-1A79A5E5A40F}" type="parTrans" cxnId="{4BC60F90-48B0-42B2-BB06-2158256E6B7F}">
      <dgm:prSet/>
      <dgm:spPr/>
      <dgm:t>
        <a:bodyPr/>
        <a:lstStyle/>
        <a:p>
          <a:endParaRPr lang="en-US"/>
        </a:p>
      </dgm:t>
    </dgm:pt>
    <dgm:pt modelId="{CD558B6B-90FF-4601-84CC-27856758D287}" type="sibTrans" cxnId="{4BC60F90-48B0-42B2-BB06-2158256E6B7F}">
      <dgm:prSet/>
      <dgm:spPr/>
      <dgm:t>
        <a:bodyPr/>
        <a:lstStyle/>
        <a:p>
          <a:endParaRPr lang="en-US"/>
        </a:p>
      </dgm:t>
    </dgm:pt>
    <dgm:pt modelId="{E85D6739-E84F-473B-A726-C37EF6CDAAC8}">
      <dgm:prSet phldr="0"/>
      <dgm:spPr/>
      <dgm:t>
        <a:bodyPr/>
        <a:lstStyle/>
        <a:p>
          <a:pPr>
            <a:lnSpc>
              <a:spcPct val="100000"/>
            </a:lnSpc>
          </a:pPr>
          <a:r>
            <a:rPr lang="en-US" sz="1600" b="1">
              <a:solidFill>
                <a:schemeClr val="tx1"/>
              </a:solidFill>
              <a:latin typeface="Calibri"/>
              <a:ea typeface="Calibri"/>
              <a:cs typeface="Calibri"/>
            </a:rPr>
            <a:t>Scikit-learn</a:t>
          </a:r>
          <a:r>
            <a:rPr lang="en-US" sz="1600" b="1">
              <a:solidFill>
                <a:srgbClr val="444444"/>
              </a:solidFill>
              <a:latin typeface="Calibri"/>
              <a:ea typeface="Calibri"/>
              <a:cs typeface="Calibri"/>
            </a:rPr>
            <a:t> –</a:t>
          </a:r>
          <a:r>
            <a:rPr lang="en-US" sz="1600" b="0">
              <a:solidFill>
                <a:srgbClr val="444444"/>
              </a:solidFill>
              <a:latin typeface="Calibri"/>
              <a:ea typeface="Calibri"/>
              <a:cs typeface="Calibri"/>
            </a:rPr>
            <a:t> </a:t>
          </a:r>
          <a:r>
            <a:rPr lang="en-US" sz="1600" b="0">
              <a:solidFill>
                <a:schemeClr val="tx1"/>
              </a:solidFill>
              <a:latin typeface="Calibri"/>
              <a:ea typeface="Calibri"/>
              <a:cs typeface="Calibri"/>
            </a:rPr>
            <a:t>Standardized pipeline, preprocessing, and model‐selection tools.</a:t>
          </a:r>
        </a:p>
      </dgm:t>
    </dgm:pt>
    <dgm:pt modelId="{3972A4D9-8DF5-4D7E-8AD3-C44C1D8183A3}" type="parTrans" cxnId="{4153C062-5040-4055-AD9B-062537F0CFF1}">
      <dgm:prSet/>
      <dgm:spPr/>
      <dgm:t>
        <a:bodyPr/>
        <a:lstStyle/>
        <a:p>
          <a:endParaRPr lang="en-US"/>
        </a:p>
      </dgm:t>
    </dgm:pt>
    <dgm:pt modelId="{BE786CB3-A6F5-42D2-A0AA-B4F2AB4C0EFD}" type="sibTrans" cxnId="{4153C062-5040-4055-AD9B-062537F0CFF1}">
      <dgm:prSet/>
      <dgm:spPr/>
      <dgm:t>
        <a:bodyPr/>
        <a:lstStyle/>
        <a:p>
          <a:endParaRPr lang="en-US"/>
        </a:p>
      </dgm:t>
    </dgm:pt>
    <dgm:pt modelId="{65F87542-1636-42A2-BDBA-FA9709FEAAF6}">
      <dgm:prSet phldr="0"/>
      <dgm:spPr/>
      <dgm:t>
        <a:bodyPr/>
        <a:lstStyle/>
        <a:p>
          <a:pPr>
            <a:lnSpc>
              <a:spcPct val="100000"/>
            </a:lnSpc>
          </a:pPr>
          <a:r>
            <a:rPr lang="en-US" sz="1600" b="1">
              <a:latin typeface="Calibri"/>
              <a:ea typeface="Calibri"/>
              <a:cs typeface="Calibri"/>
            </a:rPr>
            <a:t>FastAPI</a:t>
          </a:r>
          <a:r>
            <a:rPr lang="en-US" sz="1600" b="0">
              <a:latin typeface="Calibri"/>
              <a:ea typeface="Calibri"/>
              <a:cs typeface="Calibri"/>
            </a:rPr>
            <a:t> – a modern, high-performance Python web framework designed for building APIs quickly and efficiently.</a:t>
          </a:r>
          <a:endParaRPr lang="en-US" sz="1600">
            <a:latin typeface="Calibri"/>
            <a:ea typeface="Calibri"/>
            <a:cs typeface="Calibri"/>
          </a:endParaRPr>
        </a:p>
      </dgm:t>
    </dgm:pt>
    <dgm:pt modelId="{0A7B3EF1-838F-46BA-922D-18A0B60D2EDF}" type="parTrans" cxnId="{EF044851-0D95-4121-950C-DDC18E28E304}">
      <dgm:prSet/>
      <dgm:spPr/>
      <dgm:t>
        <a:bodyPr/>
        <a:lstStyle/>
        <a:p>
          <a:endParaRPr lang="en-US"/>
        </a:p>
      </dgm:t>
    </dgm:pt>
    <dgm:pt modelId="{26AA646A-399E-484D-B5A2-5EB077DEC109}" type="sibTrans" cxnId="{EF044851-0D95-4121-950C-DDC18E28E304}">
      <dgm:prSet/>
      <dgm:spPr/>
      <dgm:t>
        <a:bodyPr/>
        <a:lstStyle/>
        <a:p>
          <a:endParaRPr lang="en-US"/>
        </a:p>
      </dgm:t>
    </dgm:pt>
    <dgm:pt modelId="{5AD9AE82-9D56-4F58-8E22-BEDB38E33706}">
      <dgm:prSet phldr="0"/>
      <dgm:spPr/>
      <dgm:t>
        <a:bodyPr/>
        <a:lstStyle/>
        <a:p>
          <a:pPr>
            <a:lnSpc>
              <a:spcPct val="100000"/>
            </a:lnSpc>
            <a:defRPr b="1"/>
          </a:pPr>
          <a:r>
            <a:rPr lang="en-US" sz="1600" b="1">
              <a:latin typeface="Calibri"/>
              <a:ea typeface="Calibri"/>
              <a:cs typeface="Calibri"/>
            </a:rPr>
            <a:t>Visualization and End-User Interface</a:t>
          </a:r>
        </a:p>
      </dgm:t>
    </dgm:pt>
    <dgm:pt modelId="{E68EC92A-9E08-445A-B281-A67EBA41E0AE}" type="parTrans" cxnId="{C6551D64-7E8F-4CE5-A9EC-E5316D860FF6}">
      <dgm:prSet/>
      <dgm:spPr/>
      <dgm:t>
        <a:bodyPr/>
        <a:lstStyle/>
        <a:p>
          <a:endParaRPr lang="en-US"/>
        </a:p>
      </dgm:t>
    </dgm:pt>
    <dgm:pt modelId="{AF2266C4-F955-4337-9C22-B5C3505B66E2}" type="sibTrans" cxnId="{C6551D64-7E8F-4CE5-A9EC-E5316D860FF6}">
      <dgm:prSet/>
      <dgm:spPr/>
      <dgm:t>
        <a:bodyPr/>
        <a:lstStyle/>
        <a:p>
          <a:endParaRPr lang="en-US"/>
        </a:p>
      </dgm:t>
    </dgm:pt>
    <dgm:pt modelId="{A0C92736-C0AB-4A83-AB79-43C0CF7C3EC3}">
      <dgm:prSet phldr="0"/>
      <dgm:spPr/>
      <dgm:t>
        <a:bodyPr/>
        <a:lstStyle/>
        <a:p>
          <a:pPr>
            <a:lnSpc>
              <a:spcPct val="100000"/>
            </a:lnSpc>
          </a:pPr>
          <a:r>
            <a:rPr lang="en-US" sz="1600" b="1">
              <a:solidFill>
                <a:schemeClr val="tx1"/>
              </a:solidFill>
              <a:latin typeface="Calibri"/>
              <a:ea typeface="Calibri"/>
              <a:cs typeface="Calibri"/>
            </a:rPr>
            <a:t>Supabase – </a:t>
          </a:r>
          <a:r>
            <a:rPr lang="en-US" sz="1600" b="0"/>
            <a:t>an open-source backend-as-a-service (BaaS) platform </a:t>
          </a:r>
          <a:r>
            <a:rPr lang="en-US" sz="1600" b="0">
              <a:latin typeface="Aptos Display" panose="02110004020202020204"/>
            </a:rPr>
            <a:t>that</a:t>
          </a:r>
          <a:r>
            <a:rPr lang="en-US" sz="1600" b="0"/>
            <a:t> </a:t>
          </a:r>
          <a:r>
            <a:rPr lang="en-US" sz="1600" b="0">
              <a:latin typeface="Aptos Display" panose="02110004020202020204"/>
            </a:rPr>
            <a:t>provided</a:t>
          </a:r>
          <a:r>
            <a:rPr lang="en-US" sz="1600" b="0"/>
            <a:t> </a:t>
          </a:r>
          <a:r>
            <a:rPr lang="en-US" sz="1600" b="0">
              <a:latin typeface="Aptos Display" panose="02110004020202020204"/>
            </a:rPr>
            <a:t>us with</a:t>
          </a:r>
          <a:r>
            <a:rPr lang="en-US" sz="1600" b="0"/>
            <a:t> a full suite of tools—database, authentication, storage, real-time subscriptions, and serverless functions</a:t>
          </a:r>
          <a:r>
            <a:rPr lang="en-US" sz="1600" b="0">
              <a:solidFill>
                <a:srgbClr val="000000"/>
              </a:solidFill>
              <a:latin typeface="Aptos Display"/>
              <a:ea typeface="Calibri"/>
              <a:cs typeface="Calibri"/>
            </a:rPr>
            <a:t>.</a:t>
          </a:r>
          <a:endParaRPr lang="en-US" sz="1600" b="1">
            <a:solidFill>
              <a:schemeClr val="tx1"/>
            </a:solidFill>
            <a:latin typeface="Calibri"/>
            <a:ea typeface="Calibri"/>
            <a:cs typeface="Calibri"/>
          </a:endParaRPr>
        </a:p>
      </dgm:t>
    </dgm:pt>
    <dgm:pt modelId="{162F5291-BA3F-4BAB-B845-15A208F2A43B}" type="parTrans" cxnId="{3DA7033E-E4E4-42F3-9553-2D1B568EF683}">
      <dgm:prSet/>
      <dgm:spPr/>
      <dgm:t>
        <a:bodyPr/>
        <a:lstStyle/>
        <a:p>
          <a:endParaRPr lang="en-US"/>
        </a:p>
      </dgm:t>
    </dgm:pt>
    <dgm:pt modelId="{9C49159B-DCC2-4DE1-8C88-ED2AFA7A87DD}" type="sibTrans" cxnId="{3DA7033E-E4E4-42F3-9553-2D1B568EF683}">
      <dgm:prSet/>
      <dgm:spPr/>
      <dgm:t>
        <a:bodyPr/>
        <a:lstStyle/>
        <a:p>
          <a:endParaRPr lang="en-US"/>
        </a:p>
      </dgm:t>
    </dgm:pt>
    <dgm:pt modelId="{58D19FA5-EF34-4E3F-9C7B-0B41C9B992C5}" type="pres">
      <dgm:prSet presAssocID="{1787CE87-7DF3-43D9-A4D3-AF2D93969597}" presName="root" presStyleCnt="0">
        <dgm:presLayoutVars>
          <dgm:dir/>
          <dgm:resizeHandles val="exact"/>
        </dgm:presLayoutVars>
      </dgm:prSet>
      <dgm:spPr/>
    </dgm:pt>
    <dgm:pt modelId="{699BEEEE-D92E-41D7-95CE-DCEB769FF125}" type="pres">
      <dgm:prSet presAssocID="{E2F855CB-6A83-4DB8-8B9B-F2E6C6903F7E}" presName="compNode" presStyleCnt="0"/>
      <dgm:spPr/>
    </dgm:pt>
    <dgm:pt modelId="{2E1E2878-ECC7-4AD2-B759-8EF355649D37}" type="pres">
      <dgm:prSet presAssocID="{E2F855CB-6A83-4DB8-8B9B-F2E6C6903F7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erver"/>
        </a:ext>
      </dgm:extLst>
    </dgm:pt>
    <dgm:pt modelId="{46EF950F-9357-44C1-BDEF-426FC4B44E9B}" type="pres">
      <dgm:prSet presAssocID="{E2F855CB-6A83-4DB8-8B9B-F2E6C6903F7E}" presName="iconSpace" presStyleCnt="0"/>
      <dgm:spPr/>
    </dgm:pt>
    <dgm:pt modelId="{238C6DDB-18A6-46E1-B3B8-E90D37E90FCA}" type="pres">
      <dgm:prSet presAssocID="{E2F855CB-6A83-4DB8-8B9B-F2E6C6903F7E}" presName="parTx" presStyleLbl="revTx" presStyleIdx="0" presStyleCnt="6">
        <dgm:presLayoutVars>
          <dgm:chMax val="0"/>
          <dgm:chPref val="0"/>
        </dgm:presLayoutVars>
      </dgm:prSet>
      <dgm:spPr/>
    </dgm:pt>
    <dgm:pt modelId="{8F13FCEF-DC16-433F-8450-BCE843E777B9}" type="pres">
      <dgm:prSet presAssocID="{E2F855CB-6A83-4DB8-8B9B-F2E6C6903F7E}" presName="txSpace" presStyleCnt="0"/>
      <dgm:spPr/>
    </dgm:pt>
    <dgm:pt modelId="{74F54816-420A-47A6-A235-E2A34CE1FDA2}" type="pres">
      <dgm:prSet presAssocID="{E2F855CB-6A83-4DB8-8B9B-F2E6C6903F7E}" presName="desTx" presStyleLbl="revTx" presStyleIdx="1" presStyleCnt="6">
        <dgm:presLayoutVars/>
      </dgm:prSet>
      <dgm:spPr/>
    </dgm:pt>
    <dgm:pt modelId="{2C177A64-AF88-44A4-933B-B7A30D2F61A1}" type="pres">
      <dgm:prSet presAssocID="{32BBC372-7458-4399-B8BA-A3031522C732}" presName="sibTrans" presStyleCnt="0"/>
      <dgm:spPr/>
    </dgm:pt>
    <dgm:pt modelId="{F2E420DD-B260-4763-AC5D-0BE99177E0F8}" type="pres">
      <dgm:prSet presAssocID="{EB9F3E1F-5BFC-41AA-BC32-688CCBF0DF9B}" presName="compNode" presStyleCnt="0"/>
      <dgm:spPr/>
    </dgm:pt>
    <dgm:pt modelId="{B4BB3EE4-FEF1-4DAC-8FFD-295385C15B59}" type="pres">
      <dgm:prSet presAssocID="{EB9F3E1F-5BFC-41AA-BC32-688CCBF0DF9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cientist"/>
        </a:ext>
      </dgm:extLst>
    </dgm:pt>
    <dgm:pt modelId="{381396BE-33A4-4119-8776-EBB4B1D80D19}" type="pres">
      <dgm:prSet presAssocID="{EB9F3E1F-5BFC-41AA-BC32-688CCBF0DF9B}" presName="iconSpace" presStyleCnt="0"/>
      <dgm:spPr/>
    </dgm:pt>
    <dgm:pt modelId="{15CB11BB-4696-4AFE-9CF2-E044382EFFB3}" type="pres">
      <dgm:prSet presAssocID="{EB9F3E1F-5BFC-41AA-BC32-688CCBF0DF9B}" presName="parTx" presStyleLbl="revTx" presStyleIdx="2" presStyleCnt="6">
        <dgm:presLayoutVars>
          <dgm:chMax val="0"/>
          <dgm:chPref val="0"/>
        </dgm:presLayoutVars>
      </dgm:prSet>
      <dgm:spPr/>
    </dgm:pt>
    <dgm:pt modelId="{7CABDECF-B7D3-4F6D-A729-5CCA36370BDE}" type="pres">
      <dgm:prSet presAssocID="{EB9F3E1F-5BFC-41AA-BC32-688CCBF0DF9B}" presName="txSpace" presStyleCnt="0"/>
      <dgm:spPr/>
    </dgm:pt>
    <dgm:pt modelId="{6E9F4339-825F-48F5-80F5-4D4DE446E2F1}" type="pres">
      <dgm:prSet presAssocID="{EB9F3E1F-5BFC-41AA-BC32-688CCBF0DF9B}" presName="desTx" presStyleLbl="revTx" presStyleIdx="3" presStyleCnt="6">
        <dgm:presLayoutVars/>
      </dgm:prSet>
      <dgm:spPr/>
    </dgm:pt>
    <dgm:pt modelId="{72C2F032-9166-4911-8EB6-0C9127B6858B}" type="pres">
      <dgm:prSet presAssocID="{0ECFF2FC-5910-43B9-BD4F-E6A07A917C07}" presName="sibTrans" presStyleCnt="0"/>
      <dgm:spPr/>
    </dgm:pt>
    <dgm:pt modelId="{6250DC72-5C62-47CB-A057-A3F211826FC7}" type="pres">
      <dgm:prSet presAssocID="{5AD9AE82-9D56-4F58-8E22-BEDB38E33706}" presName="compNode" presStyleCnt="0"/>
      <dgm:spPr/>
    </dgm:pt>
    <dgm:pt modelId="{F0E4C2F2-52ED-4954-98AB-773E40E31EC4}" type="pres">
      <dgm:prSet presAssocID="{5AD9AE82-9D56-4F58-8E22-BEDB38E3370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eb Design"/>
        </a:ext>
      </dgm:extLst>
    </dgm:pt>
    <dgm:pt modelId="{DF574CE4-AAF6-464A-AD77-B8087C12F6F0}" type="pres">
      <dgm:prSet presAssocID="{5AD9AE82-9D56-4F58-8E22-BEDB38E33706}" presName="iconSpace" presStyleCnt="0"/>
      <dgm:spPr/>
    </dgm:pt>
    <dgm:pt modelId="{375B873D-DFBC-43D8-B9C6-8009F55067D5}" type="pres">
      <dgm:prSet presAssocID="{5AD9AE82-9D56-4F58-8E22-BEDB38E33706}" presName="parTx" presStyleLbl="revTx" presStyleIdx="4" presStyleCnt="6">
        <dgm:presLayoutVars>
          <dgm:chMax val="0"/>
          <dgm:chPref val="0"/>
        </dgm:presLayoutVars>
      </dgm:prSet>
      <dgm:spPr/>
    </dgm:pt>
    <dgm:pt modelId="{138B28D3-48E8-424F-A3AA-D667BE852D99}" type="pres">
      <dgm:prSet presAssocID="{5AD9AE82-9D56-4F58-8E22-BEDB38E33706}" presName="txSpace" presStyleCnt="0"/>
      <dgm:spPr/>
    </dgm:pt>
    <dgm:pt modelId="{DC0DB5AA-4CC4-4114-BA04-A5FD442F1A7E}" type="pres">
      <dgm:prSet presAssocID="{5AD9AE82-9D56-4F58-8E22-BEDB38E33706}" presName="desTx" presStyleLbl="revTx" presStyleIdx="5" presStyleCnt="6">
        <dgm:presLayoutVars/>
      </dgm:prSet>
      <dgm:spPr/>
    </dgm:pt>
  </dgm:ptLst>
  <dgm:cxnLst>
    <dgm:cxn modelId="{384F5A0D-3C5A-E845-BDCF-D04BF81007C1}" type="presOf" srcId="{65F87542-1636-42A2-BDBA-FA9709FEAAF6}" destId="{6E9F4339-825F-48F5-80F5-4D4DE446E2F1}" srcOrd="0" destOrd="2" presId="urn:microsoft.com/office/officeart/2018/2/layout/IconLabelDescriptionList"/>
    <dgm:cxn modelId="{06863F1D-9AEB-9D42-BC36-60F211FE7D17}" type="presOf" srcId="{E2F855CB-6A83-4DB8-8B9B-F2E6C6903F7E}" destId="{238C6DDB-18A6-46E1-B3B8-E90D37E90FCA}" srcOrd="0" destOrd="0" presId="urn:microsoft.com/office/officeart/2018/2/layout/IconLabelDescriptionList"/>
    <dgm:cxn modelId="{A7E1D923-3047-EB4F-A7A6-263D91B015BF}" type="presOf" srcId="{8E5CE5D3-84F9-4805-874B-D13CB3A178DC}" destId="{DC0DB5AA-4CC4-4114-BA04-A5FD442F1A7E}" srcOrd="0" destOrd="2" presId="urn:microsoft.com/office/officeart/2018/2/layout/IconLabelDescriptionList"/>
    <dgm:cxn modelId="{26268A26-157E-4FC3-AA1E-AA061C1D40B6}" srcId="{5AD9AE82-9D56-4F58-8E22-BEDB38E33706}" destId="{8E5CE5D3-84F9-4805-874B-D13CB3A178DC}" srcOrd="2" destOrd="0" parTransId="{2C9B0B18-E2CD-4340-8E19-78BF7E4136C8}" sibTransId="{9289735A-9C0D-4EF6-95A0-8FA73570DA0F}"/>
    <dgm:cxn modelId="{F8110728-16AD-47D0-9BBD-47497BB1753E}" srcId="{EB9F3E1F-5BFC-41AA-BC32-688CCBF0DF9B}" destId="{5FC200B5-D7A0-49E9-8751-10855F94AC09}" srcOrd="0" destOrd="0" parTransId="{A66A982D-39F5-423F-A325-5F7D64F809C9}" sibTransId="{C48CB616-D053-43C7-B4C9-695965F29A04}"/>
    <dgm:cxn modelId="{6C3B0A3A-97D6-FD44-9B23-2761554FFA2B}" type="presOf" srcId="{984B3B87-69CA-4E44-BBAD-511259AB019D}" destId="{DC0DB5AA-4CC4-4114-BA04-A5FD442F1A7E}" srcOrd="0" destOrd="0" presId="urn:microsoft.com/office/officeart/2018/2/layout/IconLabelDescriptionList"/>
    <dgm:cxn modelId="{3DA7033E-E4E4-42F3-9553-2D1B568EF683}" srcId="{E2F855CB-6A83-4DB8-8B9B-F2E6C6903F7E}" destId="{A0C92736-C0AB-4A83-AB79-43C0CF7C3EC3}" srcOrd="3" destOrd="0" parTransId="{162F5291-BA3F-4BAB-B845-15A208F2A43B}" sibTransId="{9C49159B-DCC2-4DE1-8C88-ED2AFA7A87DD}"/>
    <dgm:cxn modelId="{77BD8246-7CA2-4403-9CBD-256BF6B20071}" srcId="{E2F855CB-6A83-4DB8-8B9B-F2E6C6903F7E}" destId="{E4BDB4A2-1E5D-422E-82F3-E858DFCA214F}" srcOrd="1" destOrd="0" parTransId="{CBB09B61-9F4F-48F1-97A1-D5948076F3AE}" sibTransId="{E44E7920-AE7F-4265-905F-BEF019C1114C}"/>
    <dgm:cxn modelId="{3DA9D14E-4630-4F79-A83C-AB1A87624C95}" srcId="{EB9F3E1F-5BFC-41AA-BC32-688CCBF0DF9B}" destId="{E8B4C98B-8AFD-4193-B30E-2252C4ABEEC2}" srcOrd="1" destOrd="0" parTransId="{7DE6F725-E763-43FE-AF66-8E4B90F55DE0}" sibTransId="{9999C67D-0F6E-4161-ACE8-9CF2CFF1F87E}"/>
    <dgm:cxn modelId="{EF044851-0D95-4121-950C-DDC18E28E304}" srcId="{EB9F3E1F-5BFC-41AA-BC32-688CCBF0DF9B}" destId="{65F87542-1636-42A2-BDBA-FA9709FEAAF6}" srcOrd="2" destOrd="0" parTransId="{0A7B3EF1-838F-46BA-922D-18A0B60D2EDF}" sibTransId="{26AA646A-399E-484D-B5A2-5EB077DEC109}"/>
    <dgm:cxn modelId="{FCD09651-6EF4-4217-82E2-044CE7BEF4AA}" srcId="{5AD9AE82-9D56-4F58-8E22-BEDB38E33706}" destId="{984B3B87-69CA-4E44-BBAD-511259AB019D}" srcOrd="0" destOrd="0" parTransId="{282D3647-CC2C-4C3D-95E7-233A9F7B1908}" sibTransId="{1DFB925E-8874-4EA1-89A5-C4272D29DB63}"/>
    <dgm:cxn modelId="{5FC1ED5C-861A-C94B-95BC-8118E4EE07D8}" type="presOf" srcId="{EB9F3E1F-5BFC-41AA-BC32-688CCBF0DF9B}" destId="{15CB11BB-4696-4AFE-9CF2-E044382EFFB3}" srcOrd="0" destOrd="0" presId="urn:microsoft.com/office/officeart/2018/2/layout/IconLabelDescriptionList"/>
    <dgm:cxn modelId="{4153C062-5040-4055-AD9B-062537F0CFF1}" srcId="{E2F855CB-6A83-4DB8-8B9B-F2E6C6903F7E}" destId="{E85D6739-E84F-473B-A726-C37EF6CDAAC8}" srcOrd="2" destOrd="0" parTransId="{3972A4D9-8DF5-4D7E-8AD3-C44C1D8183A3}" sibTransId="{BE786CB3-A6F5-42D2-A0AA-B4F2AB4C0EFD}"/>
    <dgm:cxn modelId="{59644B63-7B25-48E9-B91E-AE0CFBBAC2D5}" srcId="{5AD9AE82-9D56-4F58-8E22-BEDB38E33706}" destId="{902AA014-85AA-49A8-8664-47B778274B72}" srcOrd="1" destOrd="0" parTransId="{CCA1AE7A-9CD4-4A81-AAEF-35E10D436392}" sibTransId="{3155E5F2-6447-4208-B9B9-41A6B59C0B7E}"/>
    <dgm:cxn modelId="{C6551D64-7E8F-4CE5-A9EC-E5316D860FF6}" srcId="{1787CE87-7DF3-43D9-A4D3-AF2D93969597}" destId="{5AD9AE82-9D56-4F58-8E22-BEDB38E33706}" srcOrd="2" destOrd="0" parTransId="{E68EC92A-9E08-445A-B281-A67EBA41E0AE}" sibTransId="{AF2266C4-F955-4337-9C22-B5C3505B66E2}"/>
    <dgm:cxn modelId="{03AD9679-55FC-B244-BB27-784813D6F586}" type="presOf" srcId="{902AA014-85AA-49A8-8664-47B778274B72}" destId="{DC0DB5AA-4CC4-4114-BA04-A5FD442F1A7E}" srcOrd="0" destOrd="1" presId="urn:microsoft.com/office/officeart/2018/2/layout/IconLabelDescriptionList"/>
    <dgm:cxn modelId="{E8F3AD81-2B7A-714F-B3F0-CD15984F90E3}" type="presOf" srcId="{A0C92736-C0AB-4A83-AB79-43C0CF7C3EC3}" destId="{74F54816-420A-47A6-A235-E2A34CE1FDA2}" srcOrd="0" destOrd="3" presId="urn:microsoft.com/office/officeart/2018/2/layout/IconLabelDescriptionList"/>
    <dgm:cxn modelId="{4BC60F90-48B0-42B2-BB06-2158256E6B7F}" srcId="{E2F855CB-6A83-4DB8-8B9B-F2E6C6903F7E}" destId="{6AF7393D-02DB-45A1-A72C-7B36FB1B862A}" srcOrd="0" destOrd="0" parTransId="{6D3B27BA-6652-401D-9060-1A79A5E5A40F}" sibTransId="{CD558B6B-90FF-4601-84CC-27856758D287}"/>
    <dgm:cxn modelId="{4A79799C-1DC2-9545-A12F-B698ABD071A3}" type="presOf" srcId="{5FC200B5-D7A0-49E9-8751-10855F94AC09}" destId="{6E9F4339-825F-48F5-80F5-4D4DE446E2F1}" srcOrd="0" destOrd="0" presId="urn:microsoft.com/office/officeart/2018/2/layout/IconLabelDescriptionList"/>
    <dgm:cxn modelId="{A8D8F39D-AD01-434B-9389-537BA176D4D6}" type="presOf" srcId="{E4BDB4A2-1E5D-422E-82F3-E858DFCA214F}" destId="{74F54816-420A-47A6-A235-E2A34CE1FDA2}" srcOrd="0" destOrd="1" presId="urn:microsoft.com/office/officeart/2018/2/layout/IconLabelDescriptionList"/>
    <dgm:cxn modelId="{3DE2BFC2-5F59-AC48-8A70-6F5376BC0E54}" type="presOf" srcId="{E85D6739-E84F-473B-A726-C37EF6CDAAC8}" destId="{74F54816-420A-47A6-A235-E2A34CE1FDA2}" srcOrd="0" destOrd="2" presId="urn:microsoft.com/office/officeart/2018/2/layout/IconLabelDescriptionList"/>
    <dgm:cxn modelId="{91E34DC4-ADE5-43AF-95D3-47F9D576200A}" srcId="{1787CE87-7DF3-43D9-A4D3-AF2D93969597}" destId="{EB9F3E1F-5BFC-41AA-BC32-688CCBF0DF9B}" srcOrd="1" destOrd="0" parTransId="{8FE49A02-2E8D-4CEC-8AAE-71F0A3B40817}" sibTransId="{0ECFF2FC-5910-43B9-BD4F-E6A07A917C07}"/>
    <dgm:cxn modelId="{DA8EEACC-58CA-5F4C-A398-0D3DDAE10CE7}" type="presOf" srcId="{5AD9AE82-9D56-4F58-8E22-BEDB38E33706}" destId="{375B873D-DFBC-43D8-B9C6-8009F55067D5}" srcOrd="0" destOrd="0" presId="urn:microsoft.com/office/officeart/2018/2/layout/IconLabelDescriptionList"/>
    <dgm:cxn modelId="{2DE30CDB-FBE3-40D4-94DA-598161D72D1D}" srcId="{1787CE87-7DF3-43D9-A4D3-AF2D93969597}" destId="{E2F855CB-6A83-4DB8-8B9B-F2E6C6903F7E}" srcOrd="0" destOrd="0" parTransId="{4D756603-52F8-481A-9072-9CD053FA7F58}" sibTransId="{32BBC372-7458-4399-B8BA-A3031522C732}"/>
    <dgm:cxn modelId="{2C431EDF-E38F-D448-B645-1C3CB86EDA56}" type="presOf" srcId="{E8B4C98B-8AFD-4193-B30E-2252C4ABEEC2}" destId="{6E9F4339-825F-48F5-80F5-4D4DE446E2F1}" srcOrd="0" destOrd="1" presId="urn:microsoft.com/office/officeart/2018/2/layout/IconLabelDescriptionList"/>
    <dgm:cxn modelId="{D95AABF4-647A-AA4F-91C4-71F143531FDF}" type="presOf" srcId="{1787CE87-7DF3-43D9-A4D3-AF2D93969597}" destId="{58D19FA5-EF34-4E3F-9C7B-0B41C9B992C5}" srcOrd="0" destOrd="0" presId="urn:microsoft.com/office/officeart/2018/2/layout/IconLabelDescriptionList"/>
    <dgm:cxn modelId="{B3103FFF-1A4F-2441-A157-604826BB61B7}" type="presOf" srcId="{6AF7393D-02DB-45A1-A72C-7B36FB1B862A}" destId="{74F54816-420A-47A6-A235-E2A34CE1FDA2}" srcOrd="0" destOrd="0" presId="urn:microsoft.com/office/officeart/2018/2/layout/IconLabelDescriptionList"/>
    <dgm:cxn modelId="{3F56221D-BCEF-C74D-9BEA-C9FB2CCDF81E}" type="presParOf" srcId="{58D19FA5-EF34-4E3F-9C7B-0B41C9B992C5}" destId="{699BEEEE-D92E-41D7-95CE-DCEB769FF125}" srcOrd="0" destOrd="0" presId="urn:microsoft.com/office/officeart/2018/2/layout/IconLabelDescriptionList"/>
    <dgm:cxn modelId="{DE23B8A5-0F53-4A46-B8FE-746785D84C00}" type="presParOf" srcId="{699BEEEE-D92E-41D7-95CE-DCEB769FF125}" destId="{2E1E2878-ECC7-4AD2-B759-8EF355649D37}" srcOrd="0" destOrd="0" presId="urn:microsoft.com/office/officeart/2018/2/layout/IconLabelDescriptionList"/>
    <dgm:cxn modelId="{53A15433-705A-BD45-9669-24C7BC07C7FA}" type="presParOf" srcId="{699BEEEE-D92E-41D7-95CE-DCEB769FF125}" destId="{46EF950F-9357-44C1-BDEF-426FC4B44E9B}" srcOrd="1" destOrd="0" presId="urn:microsoft.com/office/officeart/2018/2/layout/IconLabelDescriptionList"/>
    <dgm:cxn modelId="{56F2AEC7-8499-D943-B5DF-2ED87A5B7E11}" type="presParOf" srcId="{699BEEEE-D92E-41D7-95CE-DCEB769FF125}" destId="{238C6DDB-18A6-46E1-B3B8-E90D37E90FCA}" srcOrd="2" destOrd="0" presId="urn:microsoft.com/office/officeart/2018/2/layout/IconLabelDescriptionList"/>
    <dgm:cxn modelId="{306E8FFC-D8DF-2B4C-9926-599B5BAFCA36}" type="presParOf" srcId="{699BEEEE-D92E-41D7-95CE-DCEB769FF125}" destId="{8F13FCEF-DC16-433F-8450-BCE843E777B9}" srcOrd="3" destOrd="0" presId="urn:microsoft.com/office/officeart/2018/2/layout/IconLabelDescriptionList"/>
    <dgm:cxn modelId="{7DF9FCC2-8998-5749-A0D2-7A54C3667871}" type="presParOf" srcId="{699BEEEE-D92E-41D7-95CE-DCEB769FF125}" destId="{74F54816-420A-47A6-A235-E2A34CE1FDA2}" srcOrd="4" destOrd="0" presId="urn:microsoft.com/office/officeart/2018/2/layout/IconLabelDescriptionList"/>
    <dgm:cxn modelId="{C40C1997-41BE-0D48-BC9D-26F76C46BC1B}" type="presParOf" srcId="{58D19FA5-EF34-4E3F-9C7B-0B41C9B992C5}" destId="{2C177A64-AF88-44A4-933B-B7A30D2F61A1}" srcOrd="1" destOrd="0" presId="urn:microsoft.com/office/officeart/2018/2/layout/IconLabelDescriptionList"/>
    <dgm:cxn modelId="{76A3D152-620B-5048-B8B5-EF52F11A5545}" type="presParOf" srcId="{58D19FA5-EF34-4E3F-9C7B-0B41C9B992C5}" destId="{F2E420DD-B260-4763-AC5D-0BE99177E0F8}" srcOrd="2" destOrd="0" presId="urn:microsoft.com/office/officeart/2018/2/layout/IconLabelDescriptionList"/>
    <dgm:cxn modelId="{F5689D92-EA0E-8D4D-9DE1-3EDEAB675CA0}" type="presParOf" srcId="{F2E420DD-B260-4763-AC5D-0BE99177E0F8}" destId="{B4BB3EE4-FEF1-4DAC-8FFD-295385C15B59}" srcOrd="0" destOrd="0" presId="urn:microsoft.com/office/officeart/2018/2/layout/IconLabelDescriptionList"/>
    <dgm:cxn modelId="{20A92E51-7ADF-3344-A4F7-5EF508349214}" type="presParOf" srcId="{F2E420DD-B260-4763-AC5D-0BE99177E0F8}" destId="{381396BE-33A4-4119-8776-EBB4B1D80D19}" srcOrd="1" destOrd="0" presId="urn:microsoft.com/office/officeart/2018/2/layout/IconLabelDescriptionList"/>
    <dgm:cxn modelId="{3CF98664-D561-4F4A-B5BB-880E08D618EA}" type="presParOf" srcId="{F2E420DD-B260-4763-AC5D-0BE99177E0F8}" destId="{15CB11BB-4696-4AFE-9CF2-E044382EFFB3}" srcOrd="2" destOrd="0" presId="urn:microsoft.com/office/officeart/2018/2/layout/IconLabelDescriptionList"/>
    <dgm:cxn modelId="{159D0E7C-2652-8A4B-8100-AB0DF684D589}" type="presParOf" srcId="{F2E420DD-B260-4763-AC5D-0BE99177E0F8}" destId="{7CABDECF-B7D3-4F6D-A729-5CCA36370BDE}" srcOrd="3" destOrd="0" presId="urn:microsoft.com/office/officeart/2018/2/layout/IconLabelDescriptionList"/>
    <dgm:cxn modelId="{903FCA73-113E-5F4D-9ED3-A3AB264E961B}" type="presParOf" srcId="{F2E420DD-B260-4763-AC5D-0BE99177E0F8}" destId="{6E9F4339-825F-48F5-80F5-4D4DE446E2F1}" srcOrd="4" destOrd="0" presId="urn:microsoft.com/office/officeart/2018/2/layout/IconLabelDescriptionList"/>
    <dgm:cxn modelId="{3F6EA7D8-CD4F-E149-9EB0-BF2DA1ABA69D}" type="presParOf" srcId="{58D19FA5-EF34-4E3F-9C7B-0B41C9B992C5}" destId="{72C2F032-9166-4911-8EB6-0C9127B6858B}" srcOrd="3" destOrd="0" presId="urn:microsoft.com/office/officeart/2018/2/layout/IconLabelDescriptionList"/>
    <dgm:cxn modelId="{606B1416-70D6-4949-9E18-E304DBE07342}" type="presParOf" srcId="{58D19FA5-EF34-4E3F-9C7B-0B41C9B992C5}" destId="{6250DC72-5C62-47CB-A057-A3F211826FC7}" srcOrd="4" destOrd="0" presId="urn:microsoft.com/office/officeart/2018/2/layout/IconLabelDescriptionList"/>
    <dgm:cxn modelId="{BDD62097-72BB-8446-BE00-C26EEB5A1EE9}" type="presParOf" srcId="{6250DC72-5C62-47CB-A057-A3F211826FC7}" destId="{F0E4C2F2-52ED-4954-98AB-773E40E31EC4}" srcOrd="0" destOrd="0" presId="urn:microsoft.com/office/officeart/2018/2/layout/IconLabelDescriptionList"/>
    <dgm:cxn modelId="{C7C4CB14-6450-DD49-B659-8AE7EB3DAD81}" type="presParOf" srcId="{6250DC72-5C62-47CB-A057-A3F211826FC7}" destId="{DF574CE4-AAF6-464A-AD77-B8087C12F6F0}" srcOrd="1" destOrd="0" presId="urn:microsoft.com/office/officeart/2018/2/layout/IconLabelDescriptionList"/>
    <dgm:cxn modelId="{5B6B6DD5-01DA-8E4E-B653-94F8DFB5D667}" type="presParOf" srcId="{6250DC72-5C62-47CB-A057-A3F211826FC7}" destId="{375B873D-DFBC-43D8-B9C6-8009F55067D5}" srcOrd="2" destOrd="0" presId="urn:microsoft.com/office/officeart/2018/2/layout/IconLabelDescriptionList"/>
    <dgm:cxn modelId="{B103A2D6-3486-7249-AD28-E437EA5E8A31}" type="presParOf" srcId="{6250DC72-5C62-47CB-A057-A3F211826FC7}" destId="{138B28D3-48E8-424F-A3AA-D667BE852D99}" srcOrd="3" destOrd="0" presId="urn:microsoft.com/office/officeart/2018/2/layout/IconLabelDescriptionList"/>
    <dgm:cxn modelId="{ECFA3304-4492-F14B-99F9-EA67AD3DD2DF}" type="presParOf" srcId="{6250DC72-5C62-47CB-A057-A3F211826FC7}" destId="{DC0DB5AA-4CC4-4114-BA04-A5FD442F1A7E}"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BB1A55-7694-4BD0-B28B-CF93A27E95E0}">
      <dsp:nvSpPr>
        <dsp:cNvPr id="0" name=""/>
        <dsp:cNvSpPr/>
      </dsp:nvSpPr>
      <dsp:spPr>
        <a:xfrm>
          <a:off x="1283" y="507350"/>
          <a:ext cx="4505585" cy="286104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A6A0ECE-CBE7-43FC-9509-F771A9328990}">
      <dsp:nvSpPr>
        <dsp:cNvPr id="0" name=""/>
        <dsp:cNvSpPr/>
      </dsp:nvSpPr>
      <dsp:spPr>
        <a:xfrm>
          <a:off x="501904" y="982940"/>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b="0" kern="1200">
              <a:latin typeface="Calibri"/>
              <a:ea typeface="+mn-ea"/>
              <a:cs typeface="+mn-cs"/>
            </a:rPr>
            <a:t>Credit card fraud remains the leading form of identity theft in the United States, with 2024 seeing over 449,000 complaints to the Federal Trade Commission and within the first quarter of 2025 adding another 151,000 cases. In the United States, 63% of cardholders have been targeted at least once, and more than half of these victims report experiencing repeated attacks.</a:t>
          </a:r>
        </a:p>
      </dsp:txBody>
      <dsp:txXfrm>
        <a:off x="585701" y="1066737"/>
        <a:ext cx="4337991" cy="2693452"/>
      </dsp:txXfrm>
    </dsp:sp>
    <dsp:sp modelId="{38BBDD51-7F22-4220-9752-0F86D0B34BE5}">
      <dsp:nvSpPr>
        <dsp:cNvPr id="0" name=""/>
        <dsp:cNvSpPr/>
      </dsp:nvSpPr>
      <dsp:spPr>
        <a:xfrm>
          <a:off x="5508110" y="507350"/>
          <a:ext cx="4505585" cy="286104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34081DB-7B79-42FB-9BDB-C91E80B92560}">
      <dsp:nvSpPr>
        <dsp:cNvPr id="0" name=""/>
        <dsp:cNvSpPr/>
      </dsp:nvSpPr>
      <dsp:spPr>
        <a:xfrm>
          <a:off x="6008730" y="982940"/>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b="0" kern="1200">
              <a:latin typeface="Calibri"/>
              <a:ea typeface="+mn-ea"/>
              <a:cs typeface="+mn-cs"/>
            </a:rPr>
            <a:t>This persistent threat not only inflicts hundreds of millions of dollars in annual losses but also erodes consumer confidence in digital payments. Existing detection systems struggle to keep up with the evolving tactics of scammers and the extreme imbalance between legitimate and fraudulent transactions. There is an urgent need for a robust, real-time solution that can accurately flag while minimizing false alarms.</a:t>
          </a:r>
          <a:endParaRPr lang="en-GB" sz="1800" b="0" kern="1200">
            <a:latin typeface="Calibri"/>
            <a:ea typeface="+mn-ea"/>
            <a:cs typeface="+mn-cs"/>
          </a:endParaRPr>
        </a:p>
      </dsp:txBody>
      <dsp:txXfrm>
        <a:off x="6092527" y="1066737"/>
        <a:ext cx="4337991" cy="26934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1E2878-ECC7-4AD2-B759-8EF355649D37}">
      <dsp:nvSpPr>
        <dsp:cNvPr id="0" name=""/>
        <dsp:cNvSpPr/>
      </dsp:nvSpPr>
      <dsp:spPr>
        <a:xfrm>
          <a:off x="10601" y="161577"/>
          <a:ext cx="908674" cy="90867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8C6DDB-18A6-46E1-B3B8-E90D37E90FCA}">
      <dsp:nvSpPr>
        <dsp:cNvPr id="0" name=""/>
        <dsp:cNvSpPr/>
      </dsp:nvSpPr>
      <dsp:spPr>
        <a:xfrm>
          <a:off x="10601" y="1257049"/>
          <a:ext cx="2596212" cy="4989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defRPr b="1"/>
          </a:pPr>
          <a:r>
            <a:rPr lang="en-US" sz="1600" kern="1200">
              <a:latin typeface="Calibri"/>
              <a:ea typeface="Calibri"/>
              <a:cs typeface="Calibri"/>
            </a:rPr>
            <a:t>Data Storage, Collection, and Processing</a:t>
          </a:r>
        </a:p>
      </dsp:txBody>
      <dsp:txXfrm>
        <a:off x="10601" y="1257049"/>
        <a:ext cx="2596212" cy="498959"/>
      </dsp:txXfrm>
    </dsp:sp>
    <dsp:sp modelId="{74F54816-420A-47A6-A235-E2A34CE1FDA2}">
      <dsp:nvSpPr>
        <dsp:cNvPr id="0" name=""/>
        <dsp:cNvSpPr/>
      </dsp:nvSpPr>
      <dsp:spPr>
        <a:xfrm>
          <a:off x="10601" y="1842891"/>
          <a:ext cx="2596212" cy="26628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100000"/>
            </a:lnSpc>
            <a:spcBef>
              <a:spcPct val="0"/>
            </a:spcBef>
            <a:spcAft>
              <a:spcPct val="35000"/>
            </a:spcAft>
            <a:buNone/>
          </a:pPr>
          <a:r>
            <a:rPr lang="en-US" sz="1200" b="1" kern="1200">
              <a:latin typeface="Calibri"/>
              <a:ea typeface="Calibri"/>
              <a:cs typeface="Calibri"/>
            </a:rPr>
            <a:t>Kaggle – </a:t>
          </a:r>
          <a:r>
            <a:rPr lang="en-US" sz="1200" b="0" kern="1200">
              <a:latin typeface="Calibri"/>
              <a:ea typeface="Calibri"/>
              <a:cs typeface="Calibri"/>
            </a:rPr>
            <a:t>Online repository of public datasets. We used this to acquire the training data set for our model.</a:t>
          </a:r>
        </a:p>
        <a:p>
          <a:pPr marL="0" lvl="0" indent="0" algn="l" defTabSz="533400">
            <a:lnSpc>
              <a:spcPct val="100000"/>
            </a:lnSpc>
            <a:spcBef>
              <a:spcPct val="0"/>
            </a:spcBef>
            <a:spcAft>
              <a:spcPct val="35000"/>
            </a:spcAft>
            <a:buNone/>
          </a:pPr>
          <a:r>
            <a:rPr lang="en-US" sz="1200" b="1" kern="1200">
              <a:latin typeface="Calibri"/>
              <a:ea typeface="Calibri"/>
              <a:cs typeface="Calibri"/>
            </a:rPr>
            <a:t>Pandas / NumPy –</a:t>
          </a:r>
          <a:r>
            <a:rPr lang="en-US" sz="1200" kern="1200">
              <a:latin typeface="Calibri"/>
              <a:ea typeface="Calibri"/>
              <a:cs typeface="Calibri"/>
            </a:rPr>
            <a:t> Core tabular and numerical routines.</a:t>
          </a:r>
        </a:p>
        <a:p>
          <a:pPr marL="0" lvl="0" indent="0" algn="l" defTabSz="533400">
            <a:lnSpc>
              <a:spcPct val="100000"/>
            </a:lnSpc>
            <a:spcBef>
              <a:spcPct val="0"/>
            </a:spcBef>
            <a:spcAft>
              <a:spcPct val="35000"/>
            </a:spcAft>
            <a:buNone/>
          </a:pPr>
          <a:r>
            <a:rPr lang="en-US" sz="1200" b="1" kern="1200">
              <a:solidFill>
                <a:schemeClr val="tx1"/>
              </a:solidFill>
              <a:latin typeface="Calibri"/>
              <a:ea typeface="Calibri"/>
              <a:cs typeface="Calibri"/>
            </a:rPr>
            <a:t>Scikit-learn</a:t>
          </a:r>
          <a:r>
            <a:rPr lang="en-US" sz="1200" b="1" kern="1200">
              <a:solidFill>
                <a:srgbClr val="444444"/>
              </a:solidFill>
              <a:latin typeface="Calibri"/>
              <a:ea typeface="Calibri"/>
              <a:cs typeface="Calibri"/>
            </a:rPr>
            <a:t> –</a:t>
          </a:r>
          <a:r>
            <a:rPr lang="en-US" sz="1200" b="0" kern="1200">
              <a:solidFill>
                <a:srgbClr val="444444"/>
              </a:solidFill>
              <a:latin typeface="Calibri"/>
              <a:ea typeface="Calibri"/>
              <a:cs typeface="Calibri"/>
            </a:rPr>
            <a:t> </a:t>
          </a:r>
          <a:r>
            <a:rPr lang="en-US" sz="1200" b="0" kern="1200">
              <a:solidFill>
                <a:schemeClr val="tx1"/>
              </a:solidFill>
              <a:latin typeface="Calibri"/>
              <a:ea typeface="Calibri"/>
              <a:cs typeface="Calibri"/>
            </a:rPr>
            <a:t>Standardized pipeline, preprocessing, and model‐selection tools.</a:t>
          </a:r>
        </a:p>
        <a:p>
          <a:pPr marL="0" lvl="0" indent="0" algn="l" defTabSz="533400">
            <a:lnSpc>
              <a:spcPct val="100000"/>
            </a:lnSpc>
            <a:spcBef>
              <a:spcPct val="0"/>
            </a:spcBef>
            <a:spcAft>
              <a:spcPct val="35000"/>
            </a:spcAft>
            <a:buNone/>
          </a:pPr>
          <a:r>
            <a:rPr lang="en-US" sz="1200" b="1" kern="1200">
              <a:solidFill>
                <a:schemeClr val="tx1"/>
              </a:solidFill>
              <a:latin typeface="Calibri"/>
              <a:ea typeface="Calibri"/>
              <a:cs typeface="Calibri"/>
            </a:rPr>
            <a:t>Supabase – </a:t>
          </a:r>
          <a:r>
            <a:rPr lang="en-US" sz="1200" b="0" kern="1200"/>
            <a:t>an open-source backend-as-a-service (BaaS) platform </a:t>
          </a:r>
          <a:r>
            <a:rPr lang="en-US" sz="1200" b="0" kern="1200">
              <a:latin typeface="Aptos Display" panose="02110004020202020204"/>
            </a:rPr>
            <a:t>that</a:t>
          </a:r>
          <a:r>
            <a:rPr lang="en-US" sz="1200" b="0" kern="1200"/>
            <a:t> </a:t>
          </a:r>
          <a:r>
            <a:rPr lang="en-US" sz="1200" b="0" kern="1200">
              <a:latin typeface="Aptos Display" panose="02110004020202020204"/>
            </a:rPr>
            <a:t>provided</a:t>
          </a:r>
          <a:r>
            <a:rPr lang="en-US" sz="1200" b="0" kern="1200"/>
            <a:t> </a:t>
          </a:r>
          <a:r>
            <a:rPr lang="en-US" sz="1200" b="0" kern="1200">
              <a:latin typeface="Aptos Display" panose="02110004020202020204"/>
            </a:rPr>
            <a:t>us with</a:t>
          </a:r>
          <a:r>
            <a:rPr lang="en-US" sz="1200" b="0" kern="1200"/>
            <a:t> a full suite of tools—database, authentication, storage, real-time subscriptions, and serverless functions</a:t>
          </a:r>
          <a:r>
            <a:rPr lang="en-US" sz="1200" b="0" kern="1200">
              <a:solidFill>
                <a:srgbClr val="000000"/>
              </a:solidFill>
              <a:latin typeface="Aptos Display"/>
              <a:ea typeface="Calibri"/>
              <a:cs typeface="Calibri"/>
            </a:rPr>
            <a:t>.</a:t>
          </a:r>
          <a:endParaRPr lang="en-US" sz="1200" b="1" kern="1200">
            <a:solidFill>
              <a:schemeClr val="tx1"/>
            </a:solidFill>
            <a:latin typeface="Calibri"/>
            <a:ea typeface="Calibri"/>
            <a:cs typeface="Calibri"/>
          </a:endParaRPr>
        </a:p>
      </dsp:txBody>
      <dsp:txXfrm>
        <a:off x="10601" y="1842891"/>
        <a:ext cx="2596212" cy="2662821"/>
      </dsp:txXfrm>
    </dsp:sp>
    <dsp:sp modelId="{B4BB3EE4-FEF1-4DAC-8FFD-295385C15B59}">
      <dsp:nvSpPr>
        <dsp:cNvPr id="0" name=""/>
        <dsp:cNvSpPr/>
      </dsp:nvSpPr>
      <dsp:spPr>
        <a:xfrm>
          <a:off x="3061150" y="161577"/>
          <a:ext cx="908674" cy="90867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CB11BB-4696-4AFE-9CF2-E044382EFFB3}">
      <dsp:nvSpPr>
        <dsp:cNvPr id="0" name=""/>
        <dsp:cNvSpPr/>
      </dsp:nvSpPr>
      <dsp:spPr>
        <a:xfrm>
          <a:off x="3061150" y="1257049"/>
          <a:ext cx="2596212" cy="4989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defRPr b="1"/>
          </a:pPr>
          <a:r>
            <a:rPr lang="en-US" sz="1600" kern="1200">
              <a:latin typeface="Calibri"/>
              <a:ea typeface="Calibri"/>
              <a:cs typeface="Calibri"/>
            </a:rPr>
            <a:t>Model Development and Experimentation</a:t>
          </a:r>
        </a:p>
      </dsp:txBody>
      <dsp:txXfrm>
        <a:off x="3061150" y="1257049"/>
        <a:ext cx="2596212" cy="498959"/>
      </dsp:txXfrm>
    </dsp:sp>
    <dsp:sp modelId="{6E9F4339-825F-48F5-80F5-4D4DE446E2F1}">
      <dsp:nvSpPr>
        <dsp:cNvPr id="0" name=""/>
        <dsp:cNvSpPr/>
      </dsp:nvSpPr>
      <dsp:spPr>
        <a:xfrm>
          <a:off x="3061150" y="1842891"/>
          <a:ext cx="2596212" cy="26628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100000"/>
            </a:lnSpc>
            <a:spcBef>
              <a:spcPct val="0"/>
            </a:spcBef>
            <a:spcAft>
              <a:spcPct val="35000"/>
            </a:spcAft>
            <a:buNone/>
          </a:pPr>
          <a:r>
            <a:rPr lang="en-US" sz="1200" b="1" kern="1200">
              <a:latin typeface="Calibri"/>
              <a:ea typeface="Calibri"/>
              <a:cs typeface="Calibri"/>
            </a:rPr>
            <a:t>XGBoost</a:t>
          </a:r>
          <a:r>
            <a:rPr lang="en-US" sz="1200" kern="1200">
              <a:latin typeface="Calibri"/>
              <a:ea typeface="Calibri"/>
              <a:cs typeface="Calibri"/>
            </a:rPr>
            <a:t> – Gradient boosting implementations with GPU support for speed and advanced class‐imbalance handling.</a:t>
          </a:r>
        </a:p>
        <a:p>
          <a:pPr marL="0" lvl="0" indent="0" algn="l" defTabSz="533400">
            <a:lnSpc>
              <a:spcPct val="100000"/>
            </a:lnSpc>
            <a:spcBef>
              <a:spcPct val="0"/>
            </a:spcBef>
            <a:spcAft>
              <a:spcPct val="35000"/>
            </a:spcAft>
            <a:buNone/>
          </a:pPr>
          <a:r>
            <a:rPr lang="en-US" sz="1200" b="1" kern="1200">
              <a:latin typeface="Calibri"/>
              <a:ea typeface="Calibri"/>
              <a:cs typeface="Calibri"/>
            </a:rPr>
            <a:t>Python – </a:t>
          </a:r>
          <a:r>
            <a:rPr lang="en-US" sz="1200" b="0" kern="1200">
              <a:latin typeface="Calibri"/>
              <a:ea typeface="Calibri"/>
              <a:cs typeface="Calibri"/>
            </a:rPr>
            <a:t>widely used language for AI model development because of its simplicity, readability, and powerful ecosystem of libraries and frameworks.</a:t>
          </a:r>
        </a:p>
        <a:p>
          <a:pPr marL="0" lvl="0" indent="0" algn="l" defTabSz="533400">
            <a:lnSpc>
              <a:spcPct val="100000"/>
            </a:lnSpc>
            <a:spcBef>
              <a:spcPct val="0"/>
            </a:spcBef>
            <a:spcAft>
              <a:spcPct val="35000"/>
            </a:spcAft>
            <a:buNone/>
          </a:pPr>
          <a:r>
            <a:rPr lang="en-US" sz="1200" b="1" kern="1200">
              <a:latin typeface="Calibri"/>
              <a:ea typeface="Calibri"/>
              <a:cs typeface="Calibri"/>
            </a:rPr>
            <a:t>FastAPI</a:t>
          </a:r>
          <a:r>
            <a:rPr lang="en-US" sz="1200" b="0" kern="1200">
              <a:latin typeface="Calibri"/>
              <a:ea typeface="Calibri"/>
              <a:cs typeface="Calibri"/>
            </a:rPr>
            <a:t> – a modern, high-performance Python web framework designed for building APIs quickly and efficiently.</a:t>
          </a:r>
          <a:endParaRPr lang="en-US" sz="1200" kern="1200">
            <a:latin typeface="Calibri"/>
            <a:ea typeface="Calibri"/>
            <a:cs typeface="Calibri"/>
          </a:endParaRPr>
        </a:p>
      </dsp:txBody>
      <dsp:txXfrm>
        <a:off x="3061150" y="1842891"/>
        <a:ext cx="2596212" cy="2662821"/>
      </dsp:txXfrm>
    </dsp:sp>
    <dsp:sp modelId="{F0E4C2F2-52ED-4954-98AB-773E40E31EC4}">
      <dsp:nvSpPr>
        <dsp:cNvPr id="0" name=""/>
        <dsp:cNvSpPr/>
      </dsp:nvSpPr>
      <dsp:spPr>
        <a:xfrm>
          <a:off x="6111700" y="161577"/>
          <a:ext cx="908674" cy="90867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5B873D-DFBC-43D8-B9C6-8009F55067D5}">
      <dsp:nvSpPr>
        <dsp:cNvPr id="0" name=""/>
        <dsp:cNvSpPr/>
      </dsp:nvSpPr>
      <dsp:spPr>
        <a:xfrm>
          <a:off x="6111700" y="1257049"/>
          <a:ext cx="2596212" cy="4989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defRPr b="1"/>
          </a:pPr>
          <a:r>
            <a:rPr lang="en-US" sz="1600" b="1" kern="1200">
              <a:latin typeface="Calibri"/>
              <a:ea typeface="Calibri"/>
              <a:cs typeface="Calibri"/>
            </a:rPr>
            <a:t>Visualization and End-User Interface</a:t>
          </a:r>
        </a:p>
      </dsp:txBody>
      <dsp:txXfrm>
        <a:off x="6111700" y="1257049"/>
        <a:ext cx="2596212" cy="498959"/>
      </dsp:txXfrm>
    </dsp:sp>
    <dsp:sp modelId="{DC0DB5AA-4CC4-4114-BA04-A5FD442F1A7E}">
      <dsp:nvSpPr>
        <dsp:cNvPr id="0" name=""/>
        <dsp:cNvSpPr/>
      </dsp:nvSpPr>
      <dsp:spPr>
        <a:xfrm>
          <a:off x="6111700" y="1842891"/>
          <a:ext cx="2596212" cy="26628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100000"/>
            </a:lnSpc>
            <a:spcBef>
              <a:spcPct val="0"/>
            </a:spcBef>
            <a:spcAft>
              <a:spcPct val="35000"/>
            </a:spcAft>
            <a:buNone/>
          </a:pPr>
          <a:r>
            <a:rPr lang="en-US" sz="1200" b="1" kern="1200">
              <a:latin typeface="Calibri"/>
              <a:ea typeface="Calibri"/>
              <a:cs typeface="Calibri"/>
            </a:rPr>
            <a:t>PenPot – </a:t>
          </a:r>
          <a:r>
            <a:rPr lang="en-US" sz="1200" b="0" kern="1200">
              <a:latin typeface="Calibri"/>
              <a:ea typeface="Calibri"/>
              <a:cs typeface="Calibri"/>
            </a:rPr>
            <a:t>a free, open-source, web-based design and prototyping tool built for collaboration between designers and developers.</a:t>
          </a:r>
        </a:p>
        <a:p>
          <a:pPr marL="0" lvl="0" indent="0" algn="l" defTabSz="533400">
            <a:lnSpc>
              <a:spcPct val="100000"/>
            </a:lnSpc>
            <a:spcBef>
              <a:spcPct val="0"/>
            </a:spcBef>
            <a:spcAft>
              <a:spcPct val="35000"/>
            </a:spcAft>
            <a:buNone/>
          </a:pPr>
          <a:r>
            <a:rPr lang="en-US" sz="1200" b="1" kern="1200">
              <a:latin typeface="Calibri"/>
              <a:ea typeface="Calibri"/>
              <a:cs typeface="Calibri"/>
            </a:rPr>
            <a:t>XCODE – </a:t>
          </a:r>
          <a:r>
            <a:rPr lang="en-US" sz="1200" b="0" kern="1200">
              <a:latin typeface="Calibri"/>
              <a:ea typeface="Calibri"/>
              <a:cs typeface="Calibri"/>
            </a:rPr>
            <a:t>Apple’s official IDE for building apps across all Apple platforms.</a:t>
          </a:r>
        </a:p>
        <a:p>
          <a:pPr marL="0" lvl="0" indent="0" algn="l" defTabSz="533400">
            <a:lnSpc>
              <a:spcPct val="100000"/>
            </a:lnSpc>
            <a:spcBef>
              <a:spcPct val="0"/>
            </a:spcBef>
            <a:spcAft>
              <a:spcPct val="35000"/>
            </a:spcAft>
            <a:buNone/>
          </a:pPr>
          <a:r>
            <a:rPr lang="en-US" sz="1200" b="1" kern="1200">
              <a:latin typeface="Calibri"/>
              <a:ea typeface="Calibri"/>
              <a:cs typeface="Calibri"/>
            </a:rPr>
            <a:t>Swift – </a:t>
          </a:r>
          <a:r>
            <a:rPr lang="en-US" sz="1200" b="0" kern="1200">
              <a:latin typeface="Calibri"/>
              <a:ea typeface="Calibri"/>
              <a:cs typeface="Calibri"/>
            </a:rPr>
            <a:t>Apple’s modern, powerful, and intuitive programming language designed for building Apple Platform apps on XCODE.</a:t>
          </a:r>
          <a:endParaRPr lang="en-US" sz="1200" kern="1200">
            <a:latin typeface="Calibri"/>
            <a:ea typeface="Calibri"/>
            <a:cs typeface="Calibri"/>
          </a:endParaRPr>
        </a:p>
      </dsp:txBody>
      <dsp:txXfrm>
        <a:off x="6111700" y="1842891"/>
        <a:ext cx="2596212" cy="266282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0F81DB-B1D3-C84B-84D1-183185A62112}" type="datetimeFigureOut">
              <a:rPr lang="en-US" smtClean="0"/>
              <a:t>11/19/25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40E727-FF01-1D41-B6E9-08C3A5B41A8F}" type="slidenum">
              <a:rPr lang="en-US" smtClean="0"/>
              <a:t>‹#›</a:t>
            </a:fld>
            <a:endParaRPr lang="en-US"/>
          </a:p>
        </p:txBody>
      </p:sp>
    </p:spTree>
    <p:extLst>
      <p:ext uri="{BB962C8B-B14F-4D97-AF65-F5344CB8AC3E}">
        <p14:creationId xmlns:p14="http://schemas.microsoft.com/office/powerpoint/2010/main" val="2035412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A40E727-FF01-1D41-B6E9-08C3A5B41A8F}" type="slidenum">
              <a:rPr lang="en-US" smtClean="0"/>
              <a:t>2</a:t>
            </a:fld>
            <a:endParaRPr lang="en-US"/>
          </a:p>
        </p:txBody>
      </p:sp>
    </p:spTree>
    <p:extLst>
      <p:ext uri="{BB962C8B-B14F-4D97-AF65-F5344CB8AC3E}">
        <p14:creationId xmlns:p14="http://schemas.microsoft.com/office/powerpoint/2010/main" val="26844668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Defines the high level classes in our system</a:t>
            </a:r>
          </a:p>
          <a:p>
            <a:r>
              <a:rPr lang="en-US">
                <a:latin typeface="Calibri"/>
                <a:ea typeface="Calibri"/>
                <a:cs typeface="Calibri"/>
              </a:rPr>
              <a:t>Receiver is responsible for taking in raw transaction data.</a:t>
            </a:r>
          </a:p>
          <a:p>
            <a:r>
              <a:rPr lang="en-US">
                <a:latin typeface="Calibri"/>
                <a:ea typeface="Calibri"/>
                <a:cs typeface="Calibri"/>
              </a:rPr>
              <a:t>Sends it to a model that produces a prediction</a:t>
            </a:r>
          </a:p>
          <a:p>
            <a:r>
              <a:rPr lang="en-US">
                <a:latin typeface="Calibri"/>
                <a:ea typeface="Calibri"/>
                <a:cs typeface="Calibri"/>
              </a:rPr>
              <a:t>Reciever takes prediction and then alerts</a:t>
            </a:r>
          </a:p>
        </p:txBody>
      </p:sp>
      <p:sp>
        <p:nvSpPr>
          <p:cNvPr id="4" name="Slide Number Placeholder 3"/>
          <p:cNvSpPr>
            <a:spLocks noGrp="1"/>
          </p:cNvSpPr>
          <p:nvPr>
            <p:ph type="sldNum" sz="quarter" idx="5"/>
          </p:nvPr>
        </p:nvSpPr>
        <p:spPr/>
        <p:txBody>
          <a:bodyPr/>
          <a:lstStyle/>
          <a:p>
            <a:fld id="{3A40E727-FF01-1D41-B6E9-08C3A5B41A8F}" type="slidenum">
              <a:rPr lang="en-US" smtClean="0"/>
              <a:t>20</a:t>
            </a:fld>
            <a:endParaRPr lang="en-US"/>
          </a:p>
        </p:txBody>
      </p:sp>
    </p:spTree>
    <p:extLst>
      <p:ext uri="{BB962C8B-B14F-4D97-AF65-F5344CB8AC3E}">
        <p14:creationId xmlns:p14="http://schemas.microsoft.com/office/powerpoint/2010/main" val="286071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BEC59-BD5C-41E1-A19F-B3CA14D8AB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1A83A1D-AF0B-D3B2-FC74-CD1815C83C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A625000-9308-EC92-3236-B5FC0850FB0C}"/>
              </a:ext>
            </a:extLst>
          </p:cNvPr>
          <p:cNvSpPr>
            <a:spLocks noGrp="1"/>
          </p:cNvSpPr>
          <p:nvPr>
            <p:ph type="dt" sz="half" idx="10"/>
          </p:nvPr>
        </p:nvSpPr>
        <p:spPr/>
        <p:txBody>
          <a:bodyPr/>
          <a:lstStyle/>
          <a:p>
            <a:fld id="{EA5A7032-8C19-494E-A78E-8BB294F06AE3}" type="datetimeFigureOut">
              <a:rPr lang="en-US" smtClean="0"/>
              <a:t>11/19/25</a:t>
            </a:fld>
            <a:endParaRPr lang="en-US"/>
          </a:p>
        </p:txBody>
      </p:sp>
      <p:sp>
        <p:nvSpPr>
          <p:cNvPr id="5" name="Footer Placeholder 4">
            <a:extLst>
              <a:ext uri="{FF2B5EF4-FFF2-40B4-BE49-F238E27FC236}">
                <a16:creationId xmlns:a16="http://schemas.microsoft.com/office/drawing/2014/main" id="{F99C5068-98FE-BB9A-B3CD-8487D84DDC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52B391-6422-BA92-8597-29D2A913E17C}"/>
              </a:ext>
            </a:extLst>
          </p:cNvPr>
          <p:cNvSpPr>
            <a:spLocks noGrp="1"/>
          </p:cNvSpPr>
          <p:nvPr>
            <p:ph type="sldNum" sz="quarter" idx="12"/>
          </p:nvPr>
        </p:nvSpPr>
        <p:spPr/>
        <p:txBody>
          <a:bodyPr/>
          <a:lstStyle/>
          <a:p>
            <a:fld id="{9FA0B392-2B16-5542-921C-8980E53A4129}" type="slidenum">
              <a:rPr lang="en-US" smtClean="0"/>
              <a:t>‹#›</a:t>
            </a:fld>
            <a:endParaRPr lang="en-US"/>
          </a:p>
        </p:txBody>
      </p:sp>
    </p:spTree>
    <p:extLst>
      <p:ext uri="{BB962C8B-B14F-4D97-AF65-F5344CB8AC3E}">
        <p14:creationId xmlns:p14="http://schemas.microsoft.com/office/powerpoint/2010/main" val="1670656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AC337-CA76-10C7-305C-C3D4F86F2F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E51BE5-1F80-9BE9-C183-007F728290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68F2F9-E287-1FEA-9379-816B8A586523}"/>
              </a:ext>
            </a:extLst>
          </p:cNvPr>
          <p:cNvSpPr>
            <a:spLocks noGrp="1"/>
          </p:cNvSpPr>
          <p:nvPr>
            <p:ph type="dt" sz="half" idx="10"/>
          </p:nvPr>
        </p:nvSpPr>
        <p:spPr/>
        <p:txBody>
          <a:bodyPr/>
          <a:lstStyle/>
          <a:p>
            <a:fld id="{EA5A7032-8C19-494E-A78E-8BB294F06AE3}" type="datetimeFigureOut">
              <a:rPr lang="en-US" smtClean="0"/>
              <a:t>11/19/25</a:t>
            </a:fld>
            <a:endParaRPr lang="en-US"/>
          </a:p>
        </p:txBody>
      </p:sp>
      <p:sp>
        <p:nvSpPr>
          <p:cNvPr id="5" name="Footer Placeholder 4">
            <a:extLst>
              <a:ext uri="{FF2B5EF4-FFF2-40B4-BE49-F238E27FC236}">
                <a16:creationId xmlns:a16="http://schemas.microsoft.com/office/drawing/2014/main" id="{41B5E44B-3C44-94A0-A67B-49D56EA8A5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C29E12-02D0-98E9-689D-A5D724694E81}"/>
              </a:ext>
            </a:extLst>
          </p:cNvPr>
          <p:cNvSpPr>
            <a:spLocks noGrp="1"/>
          </p:cNvSpPr>
          <p:nvPr>
            <p:ph type="sldNum" sz="quarter" idx="12"/>
          </p:nvPr>
        </p:nvSpPr>
        <p:spPr/>
        <p:txBody>
          <a:bodyPr/>
          <a:lstStyle/>
          <a:p>
            <a:fld id="{9FA0B392-2B16-5542-921C-8980E53A4129}" type="slidenum">
              <a:rPr lang="en-US" smtClean="0"/>
              <a:t>‹#›</a:t>
            </a:fld>
            <a:endParaRPr lang="en-US"/>
          </a:p>
        </p:txBody>
      </p:sp>
    </p:spTree>
    <p:extLst>
      <p:ext uri="{BB962C8B-B14F-4D97-AF65-F5344CB8AC3E}">
        <p14:creationId xmlns:p14="http://schemas.microsoft.com/office/powerpoint/2010/main" val="2465734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1BE82-7D01-88C7-F0C9-B398FD8EAB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AC7BA38-35F8-8D21-25A6-BDE1BF71F7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36814A-76E1-07C6-95EF-C3409EE23037}"/>
              </a:ext>
            </a:extLst>
          </p:cNvPr>
          <p:cNvSpPr>
            <a:spLocks noGrp="1"/>
          </p:cNvSpPr>
          <p:nvPr>
            <p:ph type="dt" sz="half" idx="10"/>
          </p:nvPr>
        </p:nvSpPr>
        <p:spPr/>
        <p:txBody>
          <a:bodyPr/>
          <a:lstStyle/>
          <a:p>
            <a:fld id="{EA5A7032-8C19-494E-A78E-8BB294F06AE3}" type="datetimeFigureOut">
              <a:rPr lang="en-US" smtClean="0"/>
              <a:t>11/19/25</a:t>
            </a:fld>
            <a:endParaRPr lang="en-US"/>
          </a:p>
        </p:txBody>
      </p:sp>
      <p:sp>
        <p:nvSpPr>
          <p:cNvPr id="5" name="Footer Placeholder 4">
            <a:extLst>
              <a:ext uri="{FF2B5EF4-FFF2-40B4-BE49-F238E27FC236}">
                <a16:creationId xmlns:a16="http://schemas.microsoft.com/office/drawing/2014/main" id="{EBEC47AB-BA01-A23C-90E1-3280DF8F1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B4070F-FB9D-96E9-479C-756A369EADD3}"/>
              </a:ext>
            </a:extLst>
          </p:cNvPr>
          <p:cNvSpPr>
            <a:spLocks noGrp="1"/>
          </p:cNvSpPr>
          <p:nvPr>
            <p:ph type="sldNum" sz="quarter" idx="12"/>
          </p:nvPr>
        </p:nvSpPr>
        <p:spPr/>
        <p:txBody>
          <a:bodyPr/>
          <a:lstStyle/>
          <a:p>
            <a:fld id="{9FA0B392-2B16-5542-921C-8980E53A4129}" type="slidenum">
              <a:rPr lang="en-US" smtClean="0"/>
              <a:t>‹#›</a:t>
            </a:fld>
            <a:endParaRPr lang="en-US"/>
          </a:p>
        </p:txBody>
      </p:sp>
    </p:spTree>
    <p:extLst>
      <p:ext uri="{BB962C8B-B14F-4D97-AF65-F5344CB8AC3E}">
        <p14:creationId xmlns:p14="http://schemas.microsoft.com/office/powerpoint/2010/main" val="1369453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0F4EB-566F-EA28-87E7-66097597A2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5A1C9B-2A10-1ED2-2607-95DFDA2AE1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5D2D60-F7C9-5F41-26AD-7CDC286DFE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FD57D4-30EA-1FB3-5A0C-309BD8270A8F}"/>
              </a:ext>
            </a:extLst>
          </p:cNvPr>
          <p:cNvSpPr>
            <a:spLocks noGrp="1"/>
          </p:cNvSpPr>
          <p:nvPr>
            <p:ph type="dt" sz="half" idx="10"/>
          </p:nvPr>
        </p:nvSpPr>
        <p:spPr/>
        <p:txBody>
          <a:bodyPr/>
          <a:lstStyle/>
          <a:p>
            <a:fld id="{EA5A7032-8C19-494E-A78E-8BB294F06AE3}" type="datetimeFigureOut">
              <a:rPr lang="en-US" smtClean="0"/>
              <a:t>11/19/25</a:t>
            </a:fld>
            <a:endParaRPr lang="en-US"/>
          </a:p>
        </p:txBody>
      </p:sp>
      <p:sp>
        <p:nvSpPr>
          <p:cNvPr id="6" name="Footer Placeholder 5">
            <a:extLst>
              <a:ext uri="{FF2B5EF4-FFF2-40B4-BE49-F238E27FC236}">
                <a16:creationId xmlns:a16="http://schemas.microsoft.com/office/drawing/2014/main" id="{6826EB46-613D-1ECF-46A8-A18F0F0312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7C58AA-BFC8-2F5B-9075-07205731973A}"/>
              </a:ext>
            </a:extLst>
          </p:cNvPr>
          <p:cNvSpPr>
            <a:spLocks noGrp="1"/>
          </p:cNvSpPr>
          <p:nvPr>
            <p:ph type="sldNum" sz="quarter" idx="12"/>
          </p:nvPr>
        </p:nvSpPr>
        <p:spPr/>
        <p:txBody>
          <a:bodyPr/>
          <a:lstStyle/>
          <a:p>
            <a:fld id="{9FA0B392-2B16-5542-921C-8980E53A4129}" type="slidenum">
              <a:rPr lang="en-US" smtClean="0"/>
              <a:t>‹#›</a:t>
            </a:fld>
            <a:endParaRPr lang="en-US"/>
          </a:p>
        </p:txBody>
      </p:sp>
    </p:spTree>
    <p:extLst>
      <p:ext uri="{BB962C8B-B14F-4D97-AF65-F5344CB8AC3E}">
        <p14:creationId xmlns:p14="http://schemas.microsoft.com/office/powerpoint/2010/main" val="3017795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499DB-B5B9-CD25-AA21-AA7A1464BA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DD9FF39-2C5C-4645-1440-7D58C15DBA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391897-FE39-A622-79E5-C4C7883F78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B663A0E-EFC7-1F78-41B4-B394BC7C3B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39E873-1866-BAD6-AB13-49B5D30162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D9F667-F2F2-DE12-3258-FD0702B16FCC}"/>
              </a:ext>
            </a:extLst>
          </p:cNvPr>
          <p:cNvSpPr>
            <a:spLocks noGrp="1"/>
          </p:cNvSpPr>
          <p:nvPr>
            <p:ph type="dt" sz="half" idx="10"/>
          </p:nvPr>
        </p:nvSpPr>
        <p:spPr/>
        <p:txBody>
          <a:bodyPr/>
          <a:lstStyle/>
          <a:p>
            <a:fld id="{EA5A7032-8C19-494E-A78E-8BB294F06AE3}" type="datetimeFigureOut">
              <a:rPr lang="en-US" smtClean="0"/>
              <a:t>11/19/25</a:t>
            </a:fld>
            <a:endParaRPr lang="en-US"/>
          </a:p>
        </p:txBody>
      </p:sp>
      <p:sp>
        <p:nvSpPr>
          <p:cNvPr id="8" name="Footer Placeholder 7">
            <a:extLst>
              <a:ext uri="{FF2B5EF4-FFF2-40B4-BE49-F238E27FC236}">
                <a16:creationId xmlns:a16="http://schemas.microsoft.com/office/drawing/2014/main" id="{7B953590-3745-475A-4D6B-0ADBB401D9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0498621-E520-8EA9-877C-13FABA84EA47}"/>
              </a:ext>
            </a:extLst>
          </p:cNvPr>
          <p:cNvSpPr>
            <a:spLocks noGrp="1"/>
          </p:cNvSpPr>
          <p:nvPr>
            <p:ph type="sldNum" sz="quarter" idx="12"/>
          </p:nvPr>
        </p:nvSpPr>
        <p:spPr/>
        <p:txBody>
          <a:bodyPr/>
          <a:lstStyle/>
          <a:p>
            <a:fld id="{9FA0B392-2B16-5542-921C-8980E53A4129}" type="slidenum">
              <a:rPr lang="en-US" smtClean="0"/>
              <a:t>‹#›</a:t>
            </a:fld>
            <a:endParaRPr lang="en-US"/>
          </a:p>
        </p:txBody>
      </p:sp>
    </p:spTree>
    <p:extLst>
      <p:ext uri="{BB962C8B-B14F-4D97-AF65-F5344CB8AC3E}">
        <p14:creationId xmlns:p14="http://schemas.microsoft.com/office/powerpoint/2010/main" val="350377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5C7EB-87FC-064E-6FC6-645D7D658D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3732C0-2A71-BA4E-240C-92F59204B8B7}"/>
              </a:ext>
            </a:extLst>
          </p:cNvPr>
          <p:cNvSpPr>
            <a:spLocks noGrp="1"/>
          </p:cNvSpPr>
          <p:nvPr>
            <p:ph type="dt" sz="half" idx="10"/>
          </p:nvPr>
        </p:nvSpPr>
        <p:spPr/>
        <p:txBody>
          <a:bodyPr/>
          <a:lstStyle/>
          <a:p>
            <a:fld id="{EA5A7032-8C19-494E-A78E-8BB294F06AE3}" type="datetimeFigureOut">
              <a:rPr lang="en-US" smtClean="0"/>
              <a:t>11/19/25</a:t>
            </a:fld>
            <a:endParaRPr lang="en-US"/>
          </a:p>
        </p:txBody>
      </p:sp>
      <p:sp>
        <p:nvSpPr>
          <p:cNvPr id="4" name="Footer Placeholder 3">
            <a:extLst>
              <a:ext uri="{FF2B5EF4-FFF2-40B4-BE49-F238E27FC236}">
                <a16:creationId xmlns:a16="http://schemas.microsoft.com/office/drawing/2014/main" id="{3CC9C610-6F38-C9E4-F0FC-C4409255AA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8FDD19-CB25-F772-FD0E-1F080E65195E}"/>
              </a:ext>
            </a:extLst>
          </p:cNvPr>
          <p:cNvSpPr>
            <a:spLocks noGrp="1"/>
          </p:cNvSpPr>
          <p:nvPr>
            <p:ph type="sldNum" sz="quarter" idx="12"/>
          </p:nvPr>
        </p:nvSpPr>
        <p:spPr/>
        <p:txBody>
          <a:bodyPr/>
          <a:lstStyle/>
          <a:p>
            <a:fld id="{9FA0B392-2B16-5542-921C-8980E53A4129}" type="slidenum">
              <a:rPr lang="en-US" smtClean="0"/>
              <a:t>‹#›</a:t>
            </a:fld>
            <a:endParaRPr lang="en-US"/>
          </a:p>
        </p:txBody>
      </p:sp>
    </p:spTree>
    <p:extLst>
      <p:ext uri="{BB962C8B-B14F-4D97-AF65-F5344CB8AC3E}">
        <p14:creationId xmlns:p14="http://schemas.microsoft.com/office/powerpoint/2010/main" val="862567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79F82A-6239-8FF6-B015-DF064EE53B26}"/>
              </a:ext>
            </a:extLst>
          </p:cNvPr>
          <p:cNvSpPr>
            <a:spLocks noGrp="1"/>
          </p:cNvSpPr>
          <p:nvPr>
            <p:ph type="dt" sz="half" idx="10"/>
          </p:nvPr>
        </p:nvSpPr>
        <p:spPr/>
        <p:txBody>
          <a:bodyPr/>
          <a:lstStyle/>
          <a:p>
            <a:fld id="{EA5A7032-8C19-494E-A78E-8BB294F06AE3}" type="datetimeFigureOut">
              <a:rPr lang="en-US" smtClean="0"/>
              <a:t>11/19/25</a:t>
            </a:fld>
            <a:endParaRPr lang="en-US"/>
          </a:p>
        </p:txBody>
      </p:sp>
      <p:sp>
        <p:nvSpPr>
          <p:cNvPr id="3" name="Footer Placeholder 2">
            <a:extLst>
              <a:ext uri="{FF2B5EF4-FFF2-40B4-BE49-F238E27FC236}">
                <a16:creationId xmlns:a16="http://schemas.microsoft.com/office/drawing/2014/main" id="{F12465D2-5360-4644-F70C-ABCDF562B38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A459CE-DBB2-975C-34DE-FB30095482D9}"/>
              </a:ext>
            </a:extLst>
          </p:cNvPr>
          <p:cNvSpPr>
            <a:spLocks noGrp="1"/>
          </p:cNvSpPr>
          <p:nvPr>
            <p:ph type="sldNum" sz="quarter" idx="12"/>
          </p:nvPr>
        </p:nvSpPr>
        <p:spPr/>
        <p:txBody>
          <a:bodyPr/>
          <a:lstStyle/>
          <a:p>
            <a:fld id="{9FA0B392-2B16-5542-921C-8980E53A4129}" type="slidenum">
              <a:rPr lang="en-US" smtClean="0"/>
              <a:t>‹#›</a:t>
            </a:fld>
            <a:endParaRPr lang="en-US"/>
          </a:p>
        </p:txBody>
      </p:sp>
    </p:spTree>
    <p:extLst>
      <p:ext uri="{BB962C8B-B14F-4D97-AF65-F5344CB8AC3E}">
        <p14:creationId xmlns:p14="http://schemas.microsoft.com/office/powerpoint/2010/main" val="1855421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06EA3-4D1E-4E87-ABE0-3F17184E07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8AFF8F5-1349-06E7-7B8A-80F7318DEA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CC40C3-421D-075C-CF0D-DE7727A482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049716-4E95-5788-0494-0EBF171FB0EE}"/>
              </a:ext>
            </a:extLst>
          </p:cNvPr>
          <p:cNvSpPr>
            <a:spLocks noGrp="1"/>
          </p:cNvSpPr>
          <p:nvPr>
            <p:ph type="dt" sz="half" idx="10"/>
          </p:nvPr>
        </p:nvSpPr>
        <p:spPr/>
        <p:txBody>
          <a:bodyPr/>
          <a:lstStyle/>
          <a:p>
            <a:fld id="{EA5A7032-8C19-494E-A78E-8BB294F06AE3}" type="datetimeFigureOut">
              <a:rPr lang="en-US" smtClean="0"/>
              <a:t>11/19/25</a:t>
            </a:fld>
            <a:endParaRPr lang="en-US"/>
          </a:p>
        </p:txBody>
      </p:sp>
      <p:sp>
        <p:nvSpPr>
          <p:cNvPr id="6" name="Footer Placeholder 5">
            <a:extLst>
              <a:ext uri="{FF2B5EF4-FFF2-40B4-BE49-F238E27FC236}">
                <a16:creationId xmlns:a16="http://schemas.microsoft.com/office/drawing/2014/main" id="{8D6151D2-2DF7-F56F-B4D6-793952C44E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0756C2-0C1C-5148-B6E0-963641C84866}"/>
              </a:ext>
            </a:extLst>
          </p:cNvPr>
          <p:cNvSpPr>
            <a:spLocks noGrp="1"/>
          </p:cNvSpPr>
          <p:nvPr>
            <p:ph type="sldNum" sz="quarter" idx="12"/>
          </p:nvPr>
        </p:nvSpPr>
        <p:spPr/>
        <p:txBody>
          <a:bodyPr/>
          <a:lstStyle/>
          <a:p>
            <a:fld id="{9FA0B392-2B16-5542-921C-8980E53A4129}" type="slidenum">
              <a:rPr lang="en-US" smtClean="0"/>
              <a:t>‹#›</a:t>
            </a:fld>
            <a:endParaRPr lang="en-US"/>
          </a:p>
        </p:txBody>
      </p:sp>
    </p:spTree>
    <p:extLst>
      <p:ext uri="{BB962C8B-B14F-4D97-AF65-F5344CB8AC3E}">
        <p14:creationId xmlns:p14="http://schemas.microsoft.com/office/powerpoint/2010/main" val="1535711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7AB5-540F-8F40-9956-02B78BB66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44540E-3664-952E-979E-E52132D270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651E0E-CD61-C32A-F858-EB4477B638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E24559-8301-8EAE-F075-484C3A1CE396}"/>
              </a:ext>
            </a:extLst>
          </p:cNvPr>
          <p:cNvSpPr>
            <a:spLocks noGrp="1"/>
          </p:cNvSpPr>
          <p:nvPr>
            <p:ph type="dt" sz="half" idx="10"/>
          </p:nvPr>
        </p:nvSpPr>
        <p:spPr/>
        <p:txBody>
          <a:bodyPr/>
          <a:lstStyle/>
          <a:p>
            <a:fld id="{EA5A7032-8C19-494E-A78E-8BB294F06AE3}" type="datetimeFigureOut">
              <a:rPr lang="en-US" smtClean="0"/>
              <a:t>11/19/25</a:t>
            </a:fld>
            <a:endParaRPr lang="en-US"/>
          </a:p>
        </p:txBody>
      </p:sp>
      <p:sp>
        <p:nvSpPr>
          <p:cNvPr id="6" name="Footer Placeholder 5">
            <a:extLst>
              <a:ext uri="{FF2B5EF4-FFF2-40B4-BE49-F238E27FC236}">
                <a16:creationId xmlns:a16="http://schemas.microsoft.com/office/drawing/2014/main" id="{7B9644EE-D021-58B7-24F3-46F0CD5C7D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AF7ECE-47F3-2480-7815-CAB1FD09EE6E}"/>
              </a:ext>
            </a:extLst>
          </p:cNvPr>
          <p:cNvSpPr>
            <a:spLocks noGrp="1"/>
          </p:cNvSpPr>
          <p:nvPr>
            <p:ph type="sldNum" sz="quarter" idx="12"/>
          </p:nvPr>
        </p:nvSpPr>
        <p:spPr/>
        <p:txBody>
          <a:bodyPr/>
          <a:lstStyle/>
          <a:p>
            <a:fld id="{9FA0B392-2B16-5542-921C-8980E53A4129}" type="slidenum">
              <a:rPr lang="en-US" smtClean="0"/>
              <a:t>‹#›</a:t>
            </a:fld>
            <a:endParaRPr lang="en-US"/>
          </a:p>
        </p:txBody>
      </p:sp>
    </p:spTree>
    <p:extLst>
      <p:ext uri="{BB962C8B-B14F-4D97-AF65-F5344CB8AC3E}">
        <p14:creationId xmlns:p14="http://schemas.microsoft.com/office/powerpoint/2010/main" val="3292929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1D1D5-B617-99E1-A213-EF0B27FFD8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9F52901-3937-9DC3-BA2F-10D35AAD8C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1D0CC5-8006-F440-6349-F4C43B1338D0}"/>
              </a:ext>
            </a:extLst>
          </p:cNvPr>
          <p:cNvSpPr>
            <a:spLocks noGrp="1"/>
          </p:cNvSpPr>
          <p:nvPr>
            <p:ph type="dt" sz="half" idx="10"/>
          </p:nvPr>
        </p:nvSpPr>
        <p:spPr/>
        <p:txBody>
          <a:bodyPr/>
          <a:lstStyle/>
          <a:p>
            <a:fld id="{EA5A7032-8C19-494E-A78E-8BB294F06AE3}" type="datetimeFigureOut">
              <a:rPr lang="en-US" smtClean="0"/>
              <a:t>11/19/25</a:t>
            </a:fld>
            <a:endParaRPr lang="en-US"/>
          </a:p>
        </p:txBody>
      </p:sp>
      <p:sp>
        <p:nvSpPr>
          <p:cNvPr id="5" name="Footer Placeholder 4">
            <a:extLst>
              <a:ext uri="{FF2B5EF4-FFF2-40B4-BE49-F238E27FC236}">
                <a16:creationId xmlns:a16="http://schemas.microsoft.com/office/drawing/2014/main" id="{9BD53845-4AEF-AD0C-B18E-0BF77DDBF6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CC418-0A85-275A-7904-B4DC04C91044}"/>
              </a:ext>
            </a:extLst>
          </p:cNvPr>
          <p:cNvSpPr>
            <a:spLocks noGrp="1"/>
          </p:cNvSpPr>
          <p:nvPr>
            <p:ph type="sldNum" sz="quarter" idx="12"/>
          </p:nvPr>
        </p:nvSpPr>
        <p:spPr/>
        <p:txBody>
          <a:bodyPr/>
          <a:lstStyle/>
          <a:p>
            <a:fld id="{9FA0B392-2B16-5542-921C-8980E53A4129}" type="slidenum">
              <a:rPr lang="en-US" smtClean="0"/>
              <a:t>‹#›</a:t>
            </a:fld>
            <a:endParaRPr lang="en-US"/>
          </a:p>
        </p:txBody>
      </p:sp>
    </p:spTree>
    <p:extLst>
      <p:ext uri="{BB962C8B-B14F-4D97-AF65-F5344CB8AC3E}">
        <p14:creationId xmlns:p14="http://schemas.microsoft.com/office/powerpoint/2010/main" val="221158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D6CE58-93E5-1FD6-4183-E2275F8105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1ECE23-B6E1-B45D-9300-BFB56FB0DF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09F73-12CF-F2C4-DA45-F329557528EE}"/>
              </a:ext>
            </a:extLst>
          </p:cNvPr>
          <p:cNvSpPr>
            <a:spLocks noGrp="1"/>
          </p:cNvSpPr>
          <p:nvPr>
            <p:ph type="dt" sz="half" idx="10"/>
          </p:nvPr>
        </p:nvSpPr>
        <p:spPr/>
        <p:txBody>
          <a:bodyPr/>
          <a:lstStyle/>
          <a:p>
            <a:fld id="{EA5A7032-8C19-494E-A78E-8BB294F06AE3}" type="datetimeFigureOut">
              <a:rPr lang="en-US" smtClean="0"/>
              <a:t>11/19/25</a:t>
            </a:fld>
            <a:endParaRPr lang="en-US"/>
          </a:p>
        </p:txBody>
      </p:sp>
      <p:sp>
        <p:nvSpPr>
          <p:cNvPr id="5" name="Footer Placeholder 4">
            <a:extLst>
              <a:ext uri="{FF2B5EF4-FFF2-40B4-BE49-F238E27FC236}">
                <a16:creationId xmlns:a16="http://schemas.microsoft.com/office/drawing/2014/main" id="{30B5A277-5063-75B1-9708-CFB17788C7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EF5973-887F-24F2-EAB4-D812FFC27238}"/>
              </a:ext>
            </a:extLst>
          </p:cNvPr>
          <p:cNvSpPr>
            <a:spLocks noGrp="1"/>
          </p:cNvSpPr>
          <p:nvPr>
            <p:ph type="sldNum" sz="quarter" idx="12"/>
          </p:nvPr>
        </p:nvSpPr>
        <p:spPr/>
        <p:txBody>
          <a:bodyPr/>
          <a:lstStyle/>
          <a:p>
            <a:fld id="{9FA0B392-2B16-5542-921C-8980E53A4129}" type="slidenum">
              <a:rPr lang="en-US" smtClean="0"/>
              <a:t>‹#›</a:t>
            </a:fld>
            <a:endParaRPr lang="en-US"/>
          </a:p>
        </p:txBody>
      </p:sp>
    </p:spTree>
    <p:extLst>
      <p:ext uri="{BB962C8B-B14F-4D97-AF65-F5344CB8AC3E}">
        <p14:creationId xmlns:p14="http://schemas.microsoft.com/office/powerpoint/2010/main" val="274553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B7363A-D126-B2AE-662B-4B0B9D1158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4B3AFF-2152-47ED-261D-8CF374707F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9229A9-4B3E-3F7D-08A2-D648000E5A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5A7032-8C19-494E-A78E-8BB294F06AE3}" type="datetimeFigureOut">
              <a:rPr lang="en-US" smtClean="0"/>
              <a:t>11/19/25</a:t>
            </a:fld>
            <a:endParaRPr lang="en-US"/>
          </a:p>
        </p:txBody>
      </p:sp>
      <p:sp>
        <p:nvSpPr>
          <p:cNvPr id="5" name="Footer Placeholder 4">
            <a:extLst>
              <a:ext uri="{FF2B5EF4-FFF2-40B4-BE49-F238E27FC236}">
                <a16:creationId xmlns:a16="http://schemas.microsoft.com/office/drawing/2014/main" id="{A16C6C6B-7C70-A325-28C6-76E38B0078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ED45B69-E64C-E3B4-8EA6-D24FDF89ED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A0B392-2B16-5542-921C-8980E53A4129}" type="slidenum">
              <a:rPr lang="en-US" smtClean="0"/>
              <a:t>‹#›</a:t>
            </a:fld>
            <a:endParaRPr lang="en-US"/>
          </a:p>
        </p:txBody>
      </p:sp>
    </p:spTree>
    <p:extLst>
      <p:ext uri="{BB962C8B-B14F-4D97-AF65-F5344CB8AC3E}">
        <p14:creationId xmlns:p14="http://schemas.microsoft.com/office/powerpoint/2010/main" val="16252164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diagramLayout" Target="../diagrams/layout2.xml"/><Relationship Id="rId7" Type="http://schemas.openxmlformats.org/officeDocument/2006/relationships/image" Target="../media/image20.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slideLayout" Target="../slideLayouts/slideLayout2.xml"/><Relationship Id="rId1" Type="http://schemas.openxmlformats.org/officeDocument/2006/relationships/video" Target="https://www.youtube.com/embed/VTdGnJB851c?start=537&amp;feature=oembed"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youtu.be/Yizxb-Xj3eM"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40.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github.com/htmw/F2025-Team1/" TargetMode="External"/><Relationship Id="rId2" Type="http://schemas.openxmlformats.org/officeDocument/2006/relationships/hyperlink" Target="https://github.com/htmw/F2025-Team1/wiki"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234521" y="913944"/>
            <a:ext cx="5706541" cy="1089295"/>
          </a:xfrm>
        </p:spPr>
        <p:txBody>
          <a:bodyPr vert="horz" lIns="91440" tIns="45720" rIns="91440" bIns="45720" rtlCol="0" anchor="t">
            <a:noAutofit/>
          </a:bodyPr>
          <a:lstStyle/>
          <a:p>
            <a:r>
              <a:rPr lang="en-US" sz="3000" cap="all">
                <a:solidFill>
                  <a:schemeClr val="tx2"/>
                </a:solidFill>
                <a:latin typeface="Gill Sans MT"/>
              </a:rPr>
              <a:t>TEAM 1</a:t>
            </a:r>
            <a:br>
              <a:rPr lang="en-US" sz="3000" cap="all">
                <a:solidFill>
                  <a:schemeClr val="tx2"/>
                </a:solidFill>
                <a:latin typeface="Gill Sans MT"/>
              </a:rPr>
            </a:br>
            <a:r>
              <a:rPr lang="en-US" sz="3000" cap="all">
                <a:solidFill>
                  <a:srgbClr val="262626"/>
                </a:solidFill>
                <a:latin typeface="Gill Sans MT"/>
              </a:rPr>
              <a:t>IT Architects </a:t>
            </a:r>
            <a:endParaRPr lang="en-US"/>
          </a:p>
        </p:txBody>
      </p:sp>
      <p:sp>
        <p:nvSpPr>
          <p:cNvPr id="3" name="Subtitle 2"/>
          <p:cNvSpPr>
            <a:spLocks noGrp="1"/>
          </p:cNvSpPr>
          <p:nvPr>
            <p:ph type="subTitle" idx="1"/>
          </p:nvPr>
        </p:nvSpPr>
        <p:spPr>
          <a:xfrm>
            <a:off x="6095975" y="2897489"/>
            <a:ext cx="6480830" cy="1055311"/>
          </a:xfrm>
        </p:spPr>
        <p:txBody>
          <a:bodyPr vert="horz" lIns="91440" tIns="45720" rIns="91440" bIns="45720" rtlCol="0" anchor="b">
            <a:normAutofit/>
          </a:bodyPr>
          <a:lstStyle/>
          <a:p>
            <a:pPr algn="l"/>
            <a:r>
              <a:rPr lang="en-US" sz="3000" cap="all">
                <a:solidFill>
                  <a:srgbClr val="262626"/>
                </a:solidFill>
                <a:latin typeface="Gill Sans MT"/>
              </a:rPr>
              <a:t>Credit Card Fraud Detection</a:t>
            </a:r>
            <a:endParaRPr lang="en-US" sz="3000">
              <a:solidFill>
                <a:srgbClr val="000000"/>
              </a:solidFill>
              <a:latin typeface="Gill Sans MT"/>
            </a:endParaRPr>
          </a:p>
          <a:p>
            <a:endParaRPr lang="en-US" sz="2000">
              <a:solidFill>
                <a:schemeClr val="tx2"/>
              </a:solidFill>
            </a:endParaRPr>
          </a:p>
        </p:txBody>
      </p:sp>
      <p:pic>
        <p:nvPicPr>
          <p:cNvPr id="7" name="Graphic 6" descr="Credit card">
            <a:extLst>
              <a:ext uri="{FF2B5EF4-FFF2-40B4-BE49-F238E27FC236}">
                <a16:creationId xmlns:a16="http://schemas.microsoft.com/office/drawing/2014/main" id="{974C8C16-CAF4-E438-70A8-7DA8A5E228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24" name="Group 2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2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Paper files on the table">
            <a:extLst>
              <a:ext uri="{FF2B5EF4-FFF2-40B4-BE49-F238E27FC236}">
                <a16:creationId xmlns:a16="http://schemas.microsoft.com/office/drawing/2014/main" id="{6B18D4A7-5AD5-97BB-8A66-2546392ABC0E}"/>
              </a:ext>
            </a:extLst>
          </p:cNvPr>
          <p:cNvPicPr>
            <a:picLocks noChangeAspect="1"/>
          </p:cNvPicPr>
          <p:nvPr/>
        </p:nvPicPr>
        <p:blipFill>
          <a:blip r:embed="rId3">
            <a:alphaModFix amt="22000"/>
          </a:blip>
          <a:srcRect t="16916" r="9091" b="6761"/>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17767878-B4EF-6121-0441-086519652598}"/>
              </a:ext>
            </a:extLst>
          </p:cNvPr>
          <p:cNvSpPr>
            <a:spLocks noGrp="1"/>
          </p:cNvSpPr>
          <p:nvPr>
            <p:ph type="title"/>
          </p:nvPr>
        </p:nvSpPr>
        <p:spPr/>
        <p:txBody>
          <a:bodyPr>
            <a:normAutofit/>
          </a:bodyPr>
          <a:lstStyle/>
          <a:p>
            <a:r>
              <a:rPr lang="en-US" sz="3600">
                <a:latin typeface="Calibri"/>
                <a:ea typeface="Calibri"/>
                <a:cs typeface="Calibri"/>
              </a:rPr>
              <a:t>Agenda</a:t>
            </a:r>
          </a:p>
        </p:txBody>
      </p:sp>
      <p:sp>
        <p:nvSpPr>
          <p:cNvPr id="3" name="Content Placeholder 2">
            <a:extLst>
              <a:ext uri="{FF2B5EF4-FFF2-40B4-BE49-F238E27FC236}">
                <a16:creationId xmlns:a16="http://schemas.microsoft.com/office/drawing/2014/main" id="{9B8B2C2A-B562-A5DE-FF62-9B6175647993}"/>
              </a:ext>
            </a:extLst>
          </p:cNvPr>
          <p:cNvSpPr>
            <a:spLocks noGrp="1"/>
          </p:cNvSpPr>
          <p:nvPr>
            <p:ph sz="half" idx="1"/>
          </p:nvPr>
        </p:nvSpPr>
        <p:spPr/>
        <p:txBody>
          <a:bodyPr vert="horz" lIns="91440" tIns="45720" rIns="91440" bIns="45720" rtlCol="0" anchor="t">
            <a:noAutofit/>
          </a:bodyPr>
          <a:lstStyle/>
          <a:p>
            <a:r>
              <a:rPr lang="en-US" sz="2000">
                <a:latin typeface="Calibri"/>
                <a:ea typeface="Calibri"/>
                <a:cs typeface="Calibri"/>
              </a:rPr>
              <a:t>Team Members</a:t>
            </a:r>
          </a:p>
          <a:p>
            <a:r>
              <a:rPr lang="en-US" sz="2000">
                <a:latin typeface="Calibri"/>
                <a:ea typeface="Calibri"/>
                <a:cs typeface="Calibri"/>
              </a:rPr>
              <a:t>Improvement from Professor</a:t>
            </a:r>
          </a:p>
          <a:p>
            <a:r>
              <a:rPr lang="en-US" sz="2000">
                <a:latin typeface="Calibri"/>
                <a:ea typeface="Calibri"/>
                <a:cs typeface="Calibri"/>
              </a:rPr>
              <a:t>Problem Statement</a:t>
            </a:r>
          </a:p>
          <a:p>
            <a:r>
              <a:rPr lang="en-US" sz="2000">
                <a:latin typeface="Calibri"/>
                <a:ea typeface="Calibri"/>
                <a:cs typeface="Calibri"/>
              </a:rPr>
              <a:t>Problem Description</a:t>
            </a:r>
          </a:p>
          <a:p>
            <a:r>
              <a:rPr lang="en-US" sz="2000">
                <a:latin typeface="Calibri"/>
                <a:ea typeface="Calibri"/>
                <a:cs typeface="Calibri"/>
              </a:rPr>
              <a:t>Team Working Agreement</a:t>
            </a:r>
          </a:p>
          <a:p>
            <a:r>
              <a:rPr lang="en-US" sz="2000">
                <a:latin typeface="Calibri"/>
                <a:ea typeface="Calibri"/>
                <a:cs typeface="Calibri"/>
              </a:rPr>
              <a:t>Project Personas</a:t>
            </a:r>
          </a:p>
          <a:p>
            <a:r>
              <a:rPr lang="en-US" sz="2000">
                <a:latin typeface="Calibri"/>
                <a:ea typeface="Calibri"/>
                <a:cs typeface="Calibri"/>
              </a:rPr>
              <a:t>MVP</a:t>
            </a:r>
          </a:p>
          <a:p>
            <a:r>
              <a:rPr lang="en-US" sz="2000">
                <a:latin typeface="Calibri"/>
                <a:ea typeface="Calibri"/>
                <a:cs typeface="Calibri"/>
              </a:rPr>
              <a:t>Product Design</a:t>
            </a:r>
          </a:p>
          <a:p>
            <a:r>
              <a:rPr lang="en-US" sz="2000">
                <a:latin typeface="Calibri"/>
                <a:ea typeface="Calibri"/>
                <a:cs typeface="Calibri"/>
              </a:rPr>
              <a:t>Technology and Tools</a:t>
            </a:r>
          </a:p>
          <a:p>
            <a:r>
              <a:rPr lang="en-US" sz="2000">
                <a:latin typeface="Calibri"/>
                <a:ea typeface="Calibri"/>
                <a:cs typeface="Calibri"/>
              </a:rPr>
              <a:t>Algorithms and Models</a:t>
            </a:r>
          </a:p>
          <a:p>
            <a:r>
              <a:rPr lang="en-US" sz="2000">
                <a:latin typeface="Calibri"/>
                <a:ea typeface="Calibri"/>
                <a:cs typeface="Calibri"/>
              </a:rPr>
              <a:t>Diagrams</a:t>
            </a:r>
          </a:p>
          <a:p>
            <a:r>
              <a:rPr lang="en-US" sz="2000">
                <a:latin typeface="Calibri"/>
                <a:ea typeface="Calibri"/>
                <a:cs typeface="Calibri"/>
              </a:rPr>
              <a:t>Sprint 1 Recap</a:t>
            </a:r>
          </a:p>
          <a:p>
            <a:endParaRPr lang="en-US" sz="2000">
              <a:latin typeface="Calibri"/>
              <a:ea typeface="Calibri"/>
              <a:cs typeface="Calibri"/>
            </a:endParaRPr>
          </a:p>
          <a:p>
            <a:endParaRPr lang="en-US" sz="2000">
              <a:latin typeface="Calibri"/>
              <a:ea typeface="Calibri"/>
              <a:cs typeface="Calibri"/>
            </a:endParaRPr>
          </a:p>
          <a:p>
            <a:endParaRPr lang="en-US" sz="2000">
              <a:latin typeface="Calibri"/>
              <a:ea typeface="Calibri"/>
              <a:cs typeface="Calibri"/>
            </a:endParaRPr>
          </a:p>
          <a:p>
            <a:endParaRPr lang="en-US" sz="2000">
              <a:latin typeface="Calibri"/>
              <a:ea typeface="Calibri"/>
              <a:cs typeface="Calibri"/>
            </a:endParaRPr>
          </a:p>
          <a:p>
            <a:endParaRPr lang="en-US" sz="2000">
              <a:latin typeface="Calibri"/>
              <a:ea typeface="Calibri"/>
              <a:cs typeface="Calibri"/>
            </a:endParaRPr>
          </a:p>
          <a:p>
            <a:endParaRPr lang="en-US" sz="2000">
              <a:latin typeface="Calibri"/>
              <a:ea typeface="Calibri"/>
              <a:cs typeface="Calibri"/>
            </a:endParaRPr>
          </a:p>
        </p:txBody>
      </p:sp>
      <p:sp>
        <p:nvSpPr>
          <p:cNvPr id="4" name="Content Placeholder 3">
            <a:extLst>
              <a:ext uri="{FF2B5EF4-FFF2-40B4-BE49-F238E27FC236}">
                <a16:creationId xmlns:a16="http://schemas.microsoft.com/office/drawing/2014/main" id="{432C052B-5717-9A6A-9474-E4F0B01588B3}"/>
              </a:ext>
            </a:extLst>
          </p:cNvPr>
          <p:cNvSpPr>
            <a:spLocks noGrp="1"/>
          </p:cNvSpPr>
          <p:nvPr>
            <p:ph sz="half" idx="2"/>
          </p:nvPr>
        </p:nvSpPr>
        <p:spPr/>
        <p:txBody>
          <a:bodyPr vert="horz" lIns="91440" tIns="45720" rIns="91440" bIns="45720" rtlCol="0" anchor="t">
            <a:normAutofit fontScale="70000" lnSpcReduction="20000"/>
          </a:bodyPr>
          <a:lstStyle/>
          <a:p>
            <a:pPr>
              <a:lnSpc>
                <a:spcPct val="80000"/>
              </a:lnSpc>
            </a:pPr>
            <a:r>
              <a:rPr lang="en-US">
                <a:latin typeface="Calibri"/>
                <a:ea typeface="Calibri"/>
                <a:cs typeface="Calibri"/>
              </a:rPr>
              <a:t>Product Backlog</a:t>
            </a:r>
          </a:p>
          <a:p>
            <a:pPr>
              <a:lnSpc>
                <a:spcPct val="80000"/>
              </a:lnSpc>
            </a:pPr>
            <a:r>
              <a:rPr lang="en-US">
                <a:latin typeface="Calibri"/>
                <a:ea typeface="Calibri"/>
                <a:cs typeface="Calibri"/>
              </a:rPr>
              <a:t>Sprint 2 Stories</a:t>
            </a:r>
          </a:p>
          <a:p>
            <a:pPr>
              <a:lnSpc>
                <a:spcPct val="80000"/>
              </a:lnSpc>
            </a:pPr>
            <a:r>
              <a:rPr lang="en-US">
                <a:latin typeface="Calibri"/>
                <a:ea typeface="Calibri"/>
                <a:cs typeface="Calibri"/>
              </a:rPr>
              <a:t>Sprint 2 Test Cases</a:t>
            </a:r>
          </a:p>
          <a:p>
            <a:pPr>
              <a:lnSpc>
                <a:spcPct val="80000"/>
              </a:lnSpc>
            </a:pPr>
            <a:r>
              <a:rPr lang="en-US">
                <a:latin typeface="Calibri"/>
                <a:ea typeface="Calibri"/>
                <a:cs typeface="Calibri"/>
              </a:rPr>
              <a:t>Stories Completed And Not Completed</a:t>
            </a:r>
          </a:p>
          <a:p>
            <a:pPr>
              <a:lnSpc>
                <a:spcPct val="80000"/>
              </a:lnSpc>
            </a:pPr>
            <a:r>
              <a:rPr lang="en-US">
                <a:latin typeface="Calibri"/>
                <a:ea typeface="Calibri"/>
                <a:cs typeface="Calibri"/>
              </a:rPr>
              <a:t>Burn Down Chart</a:t>
            </a:r>
          </a:p>
          <a:p>
            <a:pPr>
              <a:lnSpc>
                <a:spcPct val="80000"/>
              </a:lnSpc>
            </a:pPr>
            <a:r>
              <a:rPr lang="en-US">
                <a:latin typeface="Calibri"/>
                <a:ea typeface="Calibri"/>
                <a:cs typeface="Calibri"/>
              </a:rPr>
              <a:t>Sprint 2 Velocity</a:t>
            </a:r>
          </a:p>
          <a:p>
            <a:pPr>
              <a:lnSpc>
                <a:spcPct val="80000"/>
              </a:lnSpc>
            </a:pPr>
            <a:r>
              <a:rPr lang="en-US">
                <a:latin typeface="Calibri"/>
                <a:ea typeface="Calibri"/>
                <a:cs typeface="Calibri"/>
              </a:rPr>
              <a:t>Historical and Average Velocities</a:t>
            </a:r>
          </a:p>
          <a:p>
            <a:pPr>
              <a:lnSpc>
                <a:spcPct val="80000"/>
              </a:lnSpc>
            </a:pPr>
            <a:r>
              <a:rPr lang="en-US">
                <a:latin typeface="Calibri"/>
                <a:ea typeface="Calibri"/>
                <a:cs typeface="Calibri"/>
              </a:rPr>
              <a:t>Commited and Completed Ratios</a:t>
            </a:r>
          </a:p>
          <a:p>
            <a:pPr>
              <a:lnSpc>
                <a:spcPct val="80000"/>
              </a:lnSpc>
            </a:pPr>
            <a:r>
              <a:rPr lang="en-US">
                <a:latin typeface="Calibri"/>
                <a:ea typeface="Calibri"/>
                <a:cs typeface="Calibri"/>
              </a:rPr>
              <a:t>Sprint Retrospective</a:t>
            </a:r>
          </a:p>
          <a:p>
            <a:pPr>
              <a:lnSpc>
                <a:spcPct val="80000"/>
              </a:lnSpc>
            </a:pPr>
            <a:r>
              <a:rPr lang="en-US">
                <a:latin typeface="Calibri"/>
                <a:ea typeface="Calibri"/>
                <a:cs typeface="Calibri"/>
              </a:rPr>
              <a:t>Sprint 3 Planning Stories Carried Over</a:t>
            </a:r>
          </a:p>
          <a:p>
            <a:pPr>
              <a:lnSpc>
                <a:spcPct val="80000"/>
              </a:lnSpc>
            </a:pPr>
            <a:r>
              <a:rPr lang="en-US">
                <a:latin typeface="Calibri"/>
                <a:ea typeface="Calibri"/>
                <a:cs typeface="Calibri"/>
              </a:rPr>
              <a:t>Application Screen Shot</a:t>
            </a:r>
          </a:p>
          <a:p>
            <a:pPr>
              <a:lnSpc>
                <a:spcPct val="80000"/>
              </a:lnSpc>
            </a:pPr>
            <a:r>
              <a:rPr lang="en-US">
                <a:latin typeface="Calibri"/>
                <a:ea typeface="Calibri"/>
                <a:cs typeface="Calibri"/>
              </a:rPr>
              <a:t>Rest API</a:t>
            </a:r>
          </a:p>
          <a:p>
            <a:pPr>
              <a:lnSpc>
                <a:spcPct val="80000"/>
              </a:lnSpc>
            </a:pPr>
            <a:r>
              <a:rPr lang="en-US">
                <a:latin typeface="Calibri"/>
                <a:ea typeface="Calibri"/>
                <a:cs typeface="Calibri"/>
              </a:rPr>
              <a:t>Wiki Page &amp; GitHub Repository</a:t>
            </a:r>
          </a:p>
          <a:p>
            <a:r>
              <a:rPr lang="en-US">
                <a:latin typeface="Calibri"/>
                <a:ea typeface="Calibri"/>
                <a:cs typeface="Calibri"/>
              </a:rPr>
              <a:t>Project Demo</a:t>
            </a:r>
          </a:p>
        </p:txBody>
      </p:sp>
    </p:spTree>
    <p:extLst>
      <p:ext uri="{BB962C8B-B14F-4D97-AF65-F5344CB8AC3E}">
        <p14:creationId xmlns:p14="http://schemas.microsoft.com/office/powerpoint/2010/main" val="3336657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1B0B1-DEC1-77D4-1650-103BD847AFDD}"/>
              </a:ext>
            </a:extLst>
          </p:cNvPr>
          <p:cNvSpPr>
            <a:spLocks noGrp="1"/>
          </p:cNvSpPr>
          <p:nvPr>
            <p:ph type="title"/>
          </p:nvPr>
        </p:nvSpPr>
        <p:spPr>
          <a:xfrm>
            <a:off x="435136" y="264857"/>
            <a:ext cx="10653578" cy="904258"/>
          </a:xfrm>
        </p:spPr>
        <p:txBody>
          <a:bodyPr vert="horz" lIns="182880" tIns="182880" rIns="182880" bIns="182880" rtlCol="0" anchor="t">
            <a:noAutofit/>
          </a:bodyPr>
          <a:lstStyle/>
          <a:p>
            <a:r>
              <a:rPr lang="en-US" sz="3600">
                <a:latin typeface="Gill Sans MT"/>
              </a:rPr>
              <a:t>Team Members</a:t>
            </a:r>
          </a:p>
        </p:txBody>
      </p:sp>
      <p:pic>
        <p:nvPicPr>
          <p:cNvPr id="7" name="Content Placeholder 6" descr="A person standing in a room with windows and a city view&#10;&#10;AI-generated content may be incorrect.">
            <a:extLst>
              <a:ext uri="{FF2B5EF4-FFF2-40B4-BE49-F238E27FC236}">
                <a16:creationId xmlns:a16="http://schemas.microsoft.com/office/drawing/2014/main" id="{6ECDA8F0-5960-125C-E233-58D46163928F}"/>
              </a:ext>
            </a:extLst>
          </p:cNvPr>
          <p:cNvPicPr>
            <a:picLocks noGrp="1" noChangeAspect="1"/>
          </p:cNvPicPr>
          <p:nvPr>
            <p:ph idx="1"/>
          </p:nvPr>
        </p:nvPicPr>
        <p:blipFill>
          <a:blip r:embed="rId2"/>
          <a:stretch>
            <a:fillRect/>
          </a:stretch>
        </p:blipFill>
        <p:spPr>
          <a:xfrm>
            <a:off x="435136" y="1363980"/>
            <a:ext cx="4689544" cy="4114800"/>
          </a:xfrm>
          <a:prstGeom prst="rect">
            <a:avLst/>
          </a:prstGeom>
        </p:spPr>
      </p:pic>
      <p:sp>
        <p:nvSpPr>
          <p:cNvPr id="5" name="Footer Placeholder 4">
            <a:extLst>
              <a:ext uri="{FF2B5EF4-FFF2-40B4-BE49-F238E27FC236}">
                <a16:creationId xmlns:a16="http://schemas.microsoft.com/office/drawing/2014/main" id="{1E5F2AB0-E9BA-277F-3D1D-818A418E7E3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F818D2B-4EE0-B3DE-1E69-4703D70E4831}"/>
              </a:ext>
            </a:extLst>
          </p:cNvPr>
          <p:cNvSpPr>
            <a:spLocks noGrp="1"/>
          </p:cNvSpPr>
          <p:nvPr>
            <p:ph type="sldNum" sz="quarter" idx="12"/>
          </p:nvPr>
        </p:nvSpPr>
        <p:spPr/>
        <p:txBody>
          <a:bodyPr/>
          <a:lstStyle/>
          <a:p>
            <a:fld id="{CC057153-B650-4DEB-B370-79DDCFDCE934}" type="slidenum">
              <a:rPr lang="en-US" dirty="0"/>
              <a:t>3</a:t>
            </a:fld>
            <a:endParaRPr lang="en-US"/>
          </a:p>
        </p:txBody>
      </p:sp>
      <p:pic>
        <p:nvPicPr>
          <p:cNvPr id="8" name="Picture 7" descr="A person standing in front of a wall&#10;&#10;AI-generated content may be incorrect.">
            <a:extLst>
              <a:ext uri="{FF2B5EF4-FFF2-40B4-BE49-F238E27FC236}">
                <a16:creationId xmlns:a16="http://schemas.microsoft.com/office/drawing/2014/main" id="{F632FDBC-4DA2-3B45-A4E2-99420D30E1D5}"/>
              </a:ext>
            </a:extLst>
          </p:cNvPr>
          <p:cNvPicPr>
            <a:picLocks noChangeAspect="1"/>
          </p:cNvPicPr>
          <p:nvPr/>
        </p:nvPicPr>
        <p:blipFill>
          <a:blip r:embed="rId3"/>
          <a:stretch>
            <a:fillRect/>
          </a:stretch>
        </p:blipFill>
        <p:spPr>
          <a:xfrm>
            <a:off x="6764152" y="1363980"/>
            <a:ext cx="4873996" cy="4122420"/>
          </a:xfrm>
          <a:prstGeom prst="rect">
            <a:avLst/>
          </a:prstGeom>
        </p:spPr>
      </p:pic>
      <p:sp>
        <p:nvSpPr>
          <p:cNvPr id="10" name="TextBox 9">
            <a:extLst>
              <a:ext uri="{FF2B5EF4-FFF2-40B4-BE49-F238E27FC236}">
                <a16:creationId xmlns:a16="http://schemas.microsoft.com/office/drawing/2014/main" id="{ABDB24EA-F8CA-C605-1EC3-E828F5452748}"/>
              </a:ext>
            </a:extLst>
          </p:cNvPr>
          <p:cNvSpPr txBox="1"/>
          <p:nvPr/>
        </p:nvSpPr>
        <p:spPr>
          <a:xfrm>
            <a:off x="554710" y="5602329"/>
            <a:ext cx="468697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Calibri"/>
                <a:ea typeface="Calibri"/>
                <a:cs typeface="Calibri"/>
              </a:rPr>
              <a:t>Mr. </a:t>
            </a:r>
            <a:r>
              <a:rPr lang="en-US" b="1" err="1">
                <a:latin typeface="Calibri"/>
                <a:ea typeface="Calibri"/>
                <a:cs typeface="Calibri"/>
              </a:rPr>
              <a:t>Arth</a:t>
            </a:r>
            <a:r>
              <a:rPr lang="en-US" b="1">
                <a:latin typeface="Calibri"/>
                <a:ea typeface="Calibri"/>
                <a:cs typeface="Calibri"/>
              </a:rPr>
              <a:t> Patel</a:t>
            </a:r>
          </a:p>
          <a:p>
            <a:endParaRPr lang="en-US" b="1">
              <a:latin typeface="Calibri"/>
              <a:ea typeface="Calibri"/>
              <a:cs typeface="Calibri"/>
            </a:endParaRPr>
          </a:p>
          <a:p>
            <a:r>
              <a:rPr lang="en-US" b="1">
                <a:latin typeface="Calibri"/>
                <a:ea typeface="Calibri"/>
                <a:cs typeface="Calibri"/>
              </a:rPr>
              <a:t>Role : Front-End Developer</a:t>
            </a:r>
          </a:p>
          <a:p>
            <a:pPr algn="l"/>
            <a:endParaRPr lang="en-US">
              <a:latin typeface="Calibri"/>
              <a:ea typeface="Calibri"/>
              <a:cs typeface="Calibri"/>
            </a:endParaRPr>
          </a:p>
        </p:txBody>
      </p:sp>
      <p:sp>
        <p:nvSpPr>
          <p:cNvPr id="11" name="TextBox 10">
            <a:extLst>
              <a:ext uri="{FF2B5EF4-FFF2-40B4-BE49-F238E27FC236}">
                <a16:creationId xmlns:a16="http://schemas.microsoft.com/office/drawing/2014/main" id="{E7724337-46C3-DCF2-9535-B0E59497ED2D}"/>
              </a:ext>
            </a:extLst>
          </p:cNvPr>
          <p:cNvSpPr txBox="1"/>
          <p:nvPr/>
        </p:nvSpPr>
        <p:spPr>
          <a:xfrm>
            <a:off x="6782069" y="5617211"/>
            <a:ext cx="485522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Calibri"/>
                <a:ea typeface="Calibri"/>
                <a:cs typeface="Calibri"/>
              </a:rPr>
              <a:t>Mr. Tyler Helmrich</a:t>
            </a:r>
          </a:p>
          <a:p>
            <a:pPr algn="l"/>
            <a:endParaRPr lang="en-US" b="1">
              <a:latin typeface="Calibri"/>
              <a:ea typeface="Calibri"/>
              <a:cs typeface="Calibri"/>
            </a:endParaRPr>
          </a:p>
          <a:p>
            <a:r>
              <a:rPr lang="en-US" b="1">
                <a:latin typeface="Calibri"/>
                <a:ea typeface="Calibri"/>
                <a:cs typeface="Calibri"/>
              </a:rPr>
              <a:t>Role: Scrum Master</a:t>
            </a:r>
          </a:p>
        </p:txBody>
      </p:sp>
    </p:spTree>
    <p:extLst>
      <p:ext uri="{BB962C8B-B14F-4D97-AF65-F5344CB8AC3E}">
        <p14:creationId xmlns:p14="http://schemas.microsoft.com/office/powerpoint/2010/main" val="2335310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7" name="Content Placeholder 6" descr="A person taking a selfie&#10;&#10;AI-generated content may be incorrect.">
            <a:extLst>
              <a:ext uri="{FF2B5EF4-FFF2-40B4-BE49-F238E27FC236}">
                <a16:creationId xmlns:a16="http://schemas.microsoft.com/office/drawing/2014/main" id="{0A84DFBA-31DB-2D42-F772-09D98E77F32C}"/>
              </a:ext>
            </a:extLst>
          </p:cNvPr>
          <p:cNvPicPr>
            <a:picLocks noGrp="1" noChangeAspect="1"/>
          </p:cNvPicPr>
          <p:nvPr>
            <p:ph idx="1"/>
          </p:nvPr>
        </p:nvPicPr>
        <p:blipFill>
          <a:blip r:embed="rId2"/>
          <a:stretch>
            <a:fillRect/>
          </a:stretch>
        </p:blipFill>
        <p:spPr>
          <a:xfrm>
            <a:off x="4327807" y="918726"/>
            <a:ext cx="3086100" cy="4373880"/>
          </a:xfrm>
          <a:prstGeom prst="rect">
            <a:avLst/>
          </a:prstGeom>
        </p:spPr>
      </p:pic>
      <p:sp>
        <p:nvSpPr>
          <p:cNvPr id="5" name="Footer Placeholder 4">
            <a:extLst>
              <a:ext uri="{FF2B5EF4-FFF2-40B4-BE49-F238E27FC236}">
                <a16:creationId xmlns:a16="http://schemas.microsoft.com/office/drawing/2014/main" id="{13812B93-F9BD-7C60-9CA8-0491FAEA5F23}"/>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CC2EF3C9-A362-D29F-2100-A4647DB2AE05}"/>
              </a:ext>
            </a:extLst>
          </p:cNvPr>
          <p:cNvSpPr>
            <a:spLocks noGrp="1"/>
          </p:cNvSpPr>
          <p:nvPr>
            <p:ph type="sldNum" sz="quarter" idx="12"/>
          </p:nvPr>
        </p:nvSpPr>
        <p:spPr/>
        <p:txBody>
          <a:bodyPr/>
          <a:lstStyle/>
          <a:p>
            <a:fld id="{CC057153-B650-4DEB-B370-79DDCFDCE934}" type="slidenum">
              <a:rPr lang="en-US" dirty="0"/>
              <a:t>4</a:t>
            </a:fld>
            <a:endParaRPr lang="en-US"/>
          </a:p>
        </p:txBody>
      </p:sp>
      <p:pic>
        <p:nvPicPr>
          <p:cNvPr id="8" name="Picture 7" descr="A person standing in front of a building&#10;&#10;AI-generated content may be incorrect.">
            <a:extLst>
              <a:ext uri="{FF2B5EF4-FFF2-40B4-BE49-F238E27FC236}">
                <a16:creationId xmlns:a16="http://schemas.microsoft.com/office/drawing/2014/main" id="{EF83EC47-1349-9787-65CF-1F228DD809F2}"/>
              </a:ext>
            </a:extLst>
          </p:cNvPr>
          <p:cNvPicPr>
            <a:picLocks noChangeAspect="1"/>
          </p:cNvPicPr>
          <p:nvPr/>
        </p:nvPicPr>
        <p:blipFill>
          <a:blip r:embed="rId3"/>
          <a:stretch>
            <a:fillRect/>
          </a:stretch>
        </p:blipFill>
        <p:spPr>
          <a:xfrm>
            <a:off x="604544" y="922020"/>
            <a:ext cx="3080971" cy="4366260"/>
          </a:xfrm>
          <a:prstGeom prst="rect">
            <a:avLst/>
          </a:prstGeom>
        </p:spPr>
      </p:pic>
      <p:pic>
        <p:nvPicPr>
          <p:cNvPr id="9" name="Picture 8" descr="A person standing in front of a wood wall&#10;&#10;AI-generated content may be incorrect.">
            <a:extLst>
              <a:ext uri="{FF2B5EF4-FFF2-40B4-BE49-F238E27FC236}">
                <a16:creationId xmlns:a16="http://schemas.microsoft.com/office/drawing/2014/main" id="{4D3CE454-6330-18B7-5F84-3A30B088B564}"/>
              </a:ext>
            </a:extLst>
          </p:cNvPr>
          <p:cNvPicPr>
            <a:picLocks noChangeAspect="1"/>
          </p:cNvPicPr>
          <p:nvPr/>
        </p:nvPicPr>
        <p:blipFill>
          <a:blip r:embed="rId4"/>
          <a:stretch>
            <a:fillRect/>
          </a:stretch>
        </p:blipFill>
        <p:spPr>
          <a:xfrm>
            <a:off x="8120730" y="918726"/>
            <a:ext cx="3080971" cy="4373880"/>
          </a:xfrm>
          <a:prstGeom prst="rect">
            <a:avLst/>
          </a:prstGeom>
        </p:spPr>
      </p:pic>
      <p:sp>
        <p:nvSpPr>
          <p:cNvPr id="10" name="TextBox 9">
            <a:extLst>
              <a:ext uri="{FF2B5EF4-FFF2-40B4-BE49-F238E27FC236}">
                <a16:creationId xmlns:a16="http://schemas.microsoft.com/office/drawing/2014/main" id="{91DCB8F8-BA89-7899-3B71-58E62D8126DD}"/>
              </a:ext>
            </a:extLst>
          </p:cNvPr>
          <p:cNvSpPr txBox="1"/>
          <p:nvPr/>
        </p:nvSpPr>
        <p:spPr>
          <a:xfrm>
            <a:off x="546887" y="5441371"/>
            <a:ext cx="303451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Calibri"/>
                <a:ea typeface="Calibri"/>
                <a:cs typeface="Calibri"/>
              </a:rPr>
              <a:t>Mr. Jay Patel </a:t>
            </a:r>
          </a:p>
          <a:p>
            <a:endParaRPr lang="en-US" b="1">
              <a:latin typeface="Calibri"/>
              <a:ea typeface="Calibri"/>
              <a:cs typeface="Calibri"/>
            </a:endParaRPr>
          </a:p>
          <a:p>
            <a:r>
              <a:rPr lang="en-US" b="1">
                <a:latin typeface="Calibri"/>
                <a:ea typeface="Calibri"/>
                <a:cs typeface="Calibri"/>
              </a:rPr>
              <a:t>Role: Back-End Developer</a:t>
            </a:r>
          </a:p>
          <a:p>
            <a:pPr algn="l"/>
            <a:endParaRPr lang="en-US" b="1">
              <a:latin typeface="Calibri"/>
              <a:ea typeface="Calibri"/>
              <a:cs typeface="Calibri"/>
            </a:endParaRPr>
          </a:p>
        </p:txBody>
      </p:sp>
      <p:sp>
        <p:nvSpPr>
          <p:cNvPr id="11" name="TextBox 10">
            <a:extLst>
              <a:ext uri="{FF2B5EF4-FFF2-40B4-BE49-F238E27FC236}">
                <a16:creationId xmlns:a16="http://schemas.microsoft.com/office/drawing/2014/main" id="{82120BEB-5DDB-9F9E-A969-C159109533D1}"/>
              </a:ext>
            </a:extLst>
          </p:cNvPr>
          <p:cNvSpPr txBox="1"/>
          <p:nvPr/>
        </p:nvSpPr>
        <p:spPr>
          <a:xfrm>
            <a:off x="4325447" y="5441371"/>
            <a:ext cx="308846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Calibri"/>
                <a:ea typeface="Calibri"/>
                <a:cs typeface="Calibri"/>
              </a:rPr>
              <a:t>Mr. Xavier </a:t>
            </a:r>
            <a:r>
              <a:rPr lang="en-US" b="1" err="1">
                <a:latin typeface="Calibri"/>
                <a:ea typeface="Calibri"/>
                <a:cs typeface="Calibri"/>
              </a:rPr>
              <a:t>Jackon</a:t>
            </a:r>
            <a:endParaRPr lang="en-US" b="1">
              <a:latin typeface="Calibri"/>
              <a:ea typeface="Calibri"/>
              <a:cs typeface="Calibri"/>
            </a:endParaRPr>
          </a:p>
          <a:p>
            <a:endParaRPr lang="en-US" b="1">
              <a:latin typeface="Calibri"/>
              <a:ea typeface="Calibri"/>
              <a:cs typeface="Calibri"/>
            </a:endParaRPr>
          </a:p>
          <a:p>
            <a:r>
              <a:rPr lang="en-US" b="1">
                <a:latin typeface="Calibri"/>
                <a:ea typeface="Calibri"/>
                <a:cs typeface="Calibri"/>
              </a:rPr>
              <a:t>Role: Machine Learning Lead</a:t>
            </a:r>
          </a:p>
          <a:p>
            <a:pPr algn="l"/>
            <a:endParaRPr lang="en-US" b="1">
              <a:latin typeface="Calibri"/>
              <a:ea typeface="Calibri"/>
              <a:cs typeface="Calibri"/>
            </a:endParaRPr>
          </a:p>
        </p:txBody>
      </p:sp>
      <p:sp>
        <p:nvSpPr>
          <p:cNvPr id="12" name="TextBox 11">
            <a:extLst>
              <a:ext uri="{FF2B5EF4-FFF2-40B4-BE49-F238E27FC236}">
                <a16:creationId xmlns:a16="http://schemas.microsoft.com/office/drawing/2014/main" id="{73519C3F-1D78-36B4-A782-11C4C3CFD099}"/>
              </a:ext>
            </a:extLst>
          </p:cNvPr>
          <p:cNvSpPr txBox="1"/>
          <p:nvPr/>
        </p:nvSpPr>
        <p:spPr>
          <a:xfrm>
            <a:off x="7968632" y="5466695"/>
            <a:ext cx="338516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Calibri"/>
                <a:ea typeface="Calibri"/>
                <a:cs typeface="Calibri"/>
              </a:rPr>
              <a:t>Mr. </a:t>
            </a:r>
            <a:r>
              <a:rPr lang="en-US" b="1" err="1">
                <a:latin typeface="Calibri"/>
                <a:ea typeface="Calibri"/>
                <a:cs typeface="Calibri"/>
              </a:rPr>
              <a:t>Zenil</a:t>
            </a:r>
            <a:r>
              <a:rPr lang="en-US" b="1">
                <a:latin typeface="Calibri"/>
                <a:ea typeface="Calibri"/>
                <a:cs typeface="Calibri"/>
              </a:rPr>
              <a:t> </a:t>
            </a:r>
            <a:r>
              <a:rPr lang="en-US" b="1" err="1">
                <a:latin typeface="Calibri"/>
                <a:ea typeface="Calibri"/>
                <a:cs typeface="Calibri"/>
              </a:rPr>
              <a:t>Moradia</a:t>
            </a:r>
            <a:endParaRPr lang="en-US" b="1">
              <a:latin typeface="Calibri"/>
              <a:ea typeface="Calibri"/>
              <a:cs typeface="Calibri"/>
            </a:endParaRPr>
          </a:p>
          <a:p>
            <a:pPr algn="l"/>
            <a:endParaRPr lang="en-US" b="1">
              <a:latin typeface="Calibri"/>
              <a:ea typeface="Calibri"/>
              <a:cs typeface="Calibri"/>
            </a:endParaRPr>
          </a:p>
          <a:p>
            <a:pPr algn="l"/>
            <a:r>
              <a:rPr lang="en-US" b="1">
                <a:latin typeface="Calibri"/>
                <a:ea typeface="Calibri"/>
                <a:cs typeface="Calibri"/>
              </a:rPr>
              <a:t>Role: Quality assurance</a:t>
            </a:r>
          </a:p>
        </p:txBody>
      </p:sp>
    </p:spTree>
    <p:extLst>
      <p:ext uri="{BB962C8B-B14F-4D97-AF65-F5344CB8AC3E}">
        <p14:creationId xmlns:p14="http://schemas.microsoft.com/office/powerpoint/2010/main" val="1601149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person standing in front of a chalkboard&#10;&#10;Description automatically generated">
            <a:extLst>
              <a:ext uri="{FF2B5EF4-FFF2-40B4-BE49-F238E27FC236}">
                <a16:creationId xmlns:a16="http://schemas.microsoft.com/office/drawing/2014/main" id="{7607D8CB-3C0D-7F89-8F0C-FD706DFC4DFA}"/>
              </a:ext>
            </a:extLst>
          </p:cNvPr>
          <p:cNvPicPr>
            <a:picLocks noChangeAspect="1"/>
          </p:cNvPicPr>
          <p:nvPr/>
        </p:nvPicPr>
        <p:blipFill>
          <a:blip r:embed="rId2"/>
          <a:srcRect l="602" r="8489" b="9091"/>
          <a:stretch>
            <a:fillRect/>
          </a:stretch>
        </p:blipFill>
        <p:spPr>
          <a:xfrm>
            <a:off x="8850" y="10"/>
            <a:ext cx="12191980" cy="6857990"/>
          </a:xfrm>
          <a:prstGeom prst="rect">
            <a:avLst/>
          </a:prstGeom>
        </p:spPr>
      </p:pic>
      <p:sp>
        <p:nvSpPr>
          <p:cNvPr id="26" name="Rectangle 25">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DF9BB75-DC32-F480-A5BC-853AE3579ADC}"/>
              </a:ext>
            </a:extLst>
          </p:cNvPr>
          <p:cNvSpPr>
            <a:spLocks noGrp="1"/>
          </p:cNvSpPr>
          <p:nvPr>
            <p:ph type="title"/>
          </p:nvPr>
        </p:nvSpPr>
        <p:spPr>
          <a:xfrm>
            <a:off x="838200" y="365125"/>
            <a:ext cx="10515600" cy="1325563"/>
          </a:xfrm>
        </p:spPr>
        <p:txBody>
          <a:bodyPr>
            <a:normAutofit/>
          </a:bodyPr>
          <a:lstStyle/>
          <a:p>
            <a:r>
              <a:rPr lang="en-US" sz="3600" b="1">
                <a:latin typeface="Gill Sans Bold"/>
              </a:rPr>
              <a:t>Improvement from Professor</a:t>
            </a:r>
          </a:p>
        </p:txBody>
      </p:sp>
      <p:sp>
        <p:nvSpPr>
          <p:cNvPr id="27" name="Content Placeholder 2">
            <a:extLst>
              <a:ext uri="{FF2B5EF4-FFF2-40B4-BE49-F238E27FC236}">
                <a16:creationId xmlns:a16="http://schemas.microsoft.com/office/drawing/2014/main" id="{45643E4E-4F9B-E66C-CE1E-DFD9D7F9F9F3}"/>
              </a:ext>
            </a:extLst>
          </p:cNvPr>
          <p:cNvSpPr>
            <a:spLocks noGrp="1"/>
          </p:cNvSpPr>
          <p:nvPr>
            <p:ph idx="1"/>
          </p:nvPr>
        </p:nvSpPr>
        <p:spPr>
          <a:xfrm>
            <a:off x="838200" y="1696230"/>
            <a:ext cx="10860657" cy="4451978"/>
          </a:xfrm>
        </p:spPr>
        <p:txBody>
          <a:bodyPr vert="horz" lIns="91440" tIns="45720" rIns="91440" bIns="45720" rtlCol="0" anchor="t">
            <a:normAutofit/>
          </a:bodyPr>
          <a:lstStyle/>
          <a:p>
            <a:pPr marL="342900" indent="-342900">
              <a:buFont typeface="Calibri" panose="020B0604020202020204" pitchFamily="34" charset="0"/>
              <a:buChar char="-"/>
            </a:pPr>
            <a:r>
              <a:rPr lang="en-US" sz="2200">
                <a:latin typeface="Calibri"/>
                <a:ea typeface="Calibri"/>
                <a:cs typeface="Calibri"/>
              </a:rPr>
              <a:t>Some diagrams were incomplete or not done properly</a:t>
            </a:r>
          </a:p>
          <a:p>
            <a:pPr marL="342900" indent="-342900">
              <a:buFont typeface="Calibri" panose="020B0604020202020204" pitchFamily="34" charset="0"/>
              <a:buChar char="-"/>
            </a:pPr>
            <a:r>
              <a:rPr lang="en-US" sz="2200">
                <a:latin typeface="Calibri"/>
                <a:ea typeface="Calibri"/>
                <a:cs typeface="Calibri"/>
              </a:rPr>
              <a:t>Missing required Agile documents:</a:t>
            </a:r>
          </a:p>
          <a:p>
            <a:pPr lvl="1"/>
            <a:r>
              <a:rPr lang="en-US" sz="2200">
                <a:latin typeface="Calibri"/>
                <a:ea typeface="Calibri"/>
                <a:cs typeface="Calibri"/>
              </a:rPr>
              <a:t>Team Working Agreement</a:t>
            </a:r>
          </a:p>
          <a:p>
            <a:pPr lvl="1"/>
            <a:r>
              <a:rPr lang="en-US" sz="2200">
                <a:latin typeface="Calibri"/>
                <a:ea typeface="Calibri"/>
                <a:cs typeface="Calibri"/>
              </a:rPr>
              <a:t>MVP definition</a:t>
            </a:r>
          </a:p>
          <a:p>
            <a:pPr lvl="1"/>
            <a:r>
              <a:rPr lang="en-US" sz="2200">
                <a:latin typeface="Calibri"/>
                <a:ea typeface="Calibri"/>
                <a:cs typeface="Calibri"/>
              </a:rPr>
              <a:t>Product Backlog</a:t>
            </a:r>
          </a:p>
          <a:p>
            <a:pPr lvl="1"/>
            <a:r>
              <a:rPr lang="en-US" sz="2200">
                <a:latin typeface="Calibri"/>
                <a:ea typeface="Calibri"/>
                <a:cs typeface="Calibri"/>
              </a:rPr>
              <a:t>Sprint Velocity tracking</a:t>
            </a:r>
          </a:p>
          <a:p>
            <a:pPr marL="342900" indent="-342900">
              <a:buFont typeface="Calibri" panose="020B0604020202020204" pitchFamily="34" charset="0"/>
              <a:buChar char="-"/>
            </a:pPr>
            <a:r>
              <a:rPr lang="en-US" sz="2200">
                <a:latin typeface="Calibri"/>
                <a:ea typeface="Calibri"/>
                <a:cs typeface="Calibri"/>
              </a:rPr>
              <a:t>User stories were unclear and inconsistent.</a:t>
            </a:r>
          </a:p>
          <a:p>
            <a:pPr marL="342900" indent="-342900">
              <a:buFont typeface="Calibri" panose="020B0604020202020204" pitchFamily="34" charset="0"/>
              <a:buChar char="-"/>
            </a:pPr>
            <a:r>
              <a:rPr lang="en-US" sz="2200">
                <a:latin typeface="Calibri"/>
                <a:ea typeface="Calibri"/>
                <a:cs typeface="Calibri"/>
              </a:rPr>
              <a:t>Overall documentation quality needed improvement</a:t>
            </a:r>
          </a:p>
          <a:p>
            <a:pPr marL="0" indent="0">
              <a:buNone/>
            </a:pPr>
            <a:endParaRPr lang="en-US" sz="2200">
              <a:latin typeface="Calibri"/>
              <a:ea typeface="Calibri"/>
              <a:cs typeface="Calibri"/>
            </a:endParaRPr>
          </a:p>
        </p:txBody>
      </p:sp>
    </p:spTree>
    <p:extLst>
      <p:ext uri="{BB962C8B-B14F-4D97-AF65-F5344CB8AC3E}">
        <p14:creationId xmlns:p14="http://schemas.microsoft.com/office/powerpoint/2010/main" val="1280083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489C42B-91D0-0E3E-BB74-A7DDED8DA90C}"/>
              </a:ext>
            </a:extLst>
          </p:cNvPr>
          <p:cNvPicPr>
            <a:picLocks noChangeAspect="1"/>
          </p:cNvPicPr>
          <p:nvPr/>
        </p:nvPicPr>
        <p:blipFill>
          <a:blip r:embed="rId2">
            <a:duotone>
              <a:schemeClr val="bg2">
                <a:shade val="45000"/>
                <a:satMod val="135000"/>
              </a:schemeClr>
              <a:prstClr val="white"/>
            </a:duotone>
          </a:blip>
          <a:srcRect t="3433"/>
          <a:stretch>
            <a:fillRect/>
          </a:stretch>
        </p:blipFill>
        <p:spPr>
          <a:xfrm>
            <a:off x="20" y="10"/>
            <a:ext cx="12191980" cy="6857990"/>
          </a:xfrm>
          <a:prstGeom prst="rect">
            <a:avLst/>
          </a:prstGeom>
        </p:spPr>
      </p:pic>
      <p:sp>
        <p:nvSpPr>
          <p:cNvPr id="14" name="Rectangle 13">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4FB6F2-7F06-FB2D-75BA-DC1E206C8DCD}"/>
              </a:ext>
            </a:extLst>
          </p:cNvPr>
          <p:cNvSpPr>
            <a:spLocks noGrp="1"/>
          </p:cNvSpPr>
          <p:nvPr>
            <p:ph type="title"/>
          </p:nvPr>
        </p:nvSpPr>
        <p:spPr>
          <a:xfrm>
            <a:off x="838200" y="365125"/>
            <a:ext cx="10515600" cy="1325563"/>
          </a:xfrm>
        </p:spPr>
        <p:txBody>
          <a:bodyPr>
            <a:normAutofit/>
          </a:bodyPr>
          <a:lstStyle/>
          <a:p>
            <a:r>
              <a:rPr lang="en-US" sz="3600">
                <a:latin typeface="Gill Sans MT"/>
              </a:rPr>
              <a:t>Problem Statement</a:t>
            </a:r>
          </a:p>
        </p:txBody>
      </p:sp>
      <p:graphicFrame>
        <p:nvGraphicFramePr>
          <p:cNvPr id="15" name="Content Placeholder 2">
            <a:extLst>
              <a:ext uri="{FF2B5EF4-FFF2-40B4-BE49-F238E27FC236}">
                <a16:creationId xmlns:a16="http://schemas.microsoft.com/office/drawing/2014/main" id="{7ADAEC0F-5822-1B08-E6BC-C6DEDD4E3DB7}"/>
              </a:ext>
            </a:extLst>
          </p:cNvPr>
          <p:cNvGraphicFramePr>
            <a:graphicFrameLocks noGrp="1"/>
          </p:cNvGraphicFramePr>
          <p:nvPr>
            <p:ph idx="1"/>
            <p:extLst>
              <p:ext uri="{D42A27DB-BD31-4B8C-83A1-F6EECF244321}">
                <p14:modId xmlns:p14="http://schemas.microsoft.com/office/powerpoint/2010/main" val="91778774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5074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8953E74-D241-4DDF-8508-F0365EA13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C3C901A-B2F4-4A3C-BCDD-7C8D587EC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371134"/>
          </a:xfrm>
          <a:custGeom>
            <a:avLst/>
            <a:gdLst>
              <a:gd name="connsiteX0" fmla="*/ 0 w 12192000"/>
              <a:gd name="connsiteY0" fmla="*/ 0 h 2515690"/>
              <a:gd name="connsiteX1" fmla="*/ 170442 w 12192000"/>
              <a:gd name="connsiteY1" fmla="*/ 96074 h 2515690"/>
              <a:gd name="connsiteX2" fmla="*/ 424739 w 12192000"/>
              <a:gd name="connsiteY2" fmla="*/ 224865 h 2515690"/>
              <a:gd name="connsiteX3" fmla="*/ 748273 w 12192000"/>
              <a:gd name="connsiteY3" fmla="*/ 373939 h 2515690"/>
              <a:gd name="connsiteX4" fmla="*/ 1037058 w 12192000"/>
              <a:gd name="connsiteY4" fmla="*/ 499994 h 2515690"/>
              <a:gd name="connsiteX5" fmla="*/ 1101312 w 12192000"/>
              <a:gd name="connsiteY5" fmla="*/ 428540 h 2515690"/>
              <a:gd name="connsiteX6" fmla="*/ 1367071 w 12192000"/>
              <a:gd name="connsiteY6" fmla="*/ 516118 h 2515690"/>
              <a:gd name="connsiteX7" fmla="*/ 2189943 w 12192000"/>
              <a:gd name="connsiteY7" fmla="*/ 794533 h 2515690"/>
              <a:gd name="connsiteX8" fmla="*/ 2390329 w 12192000"/>
              <a:gd name="connsiteY8" fmla="*/ 920897 h 2515690"/>
              <a:gd name="connsiteX9" fmla="*/ 2459570 w 12192000"/>
              <a:gd name="connsiteY9" fmla="*/ 983740 h 2515690"/>
              <a:gd name="connsiteX10" fmla="*/ 2503252 w 12192000"/>
              <a:gd name="connsiteY10" fmla="*/ 1000151 h 2515690"/>
              <a:gd name="connsiteX11" fmla="*/ 2503252 w 12192000"/>
              <a:gd name="connsiteY11" fmla="*/ 1008273 h 2515690"/>
              <a:gd name="connsiteX12" fmla="*/ 2511191 w 12192000"/>
              <a:gd name="connsiteY12" fmla="*/ 1009499 h 2515690"/>
              <a:gd name="connsiteX13" fmla="*/ 2565029 w 12192000"/>
              <a:gd name="connsiteY13" fmla="*/ 1015977 h 2515690"/>
              <a:gd name="connsiteX14" fmla="*/ 2593745 w 12192000"/>
              <a:gd name="connsiteY14" fmla="*/ 1019963 h 2515690"/>
              <a:gd name="connsiteX15" fmla="*/ 2591015 w 12192000"/>
              <a:gd name="connsiteY15" fmla="*/ 1019651 h 2515690"/>
              <a:gd name="connsiteX16" fmla="*/ 2590137 w 12192000"/>
              <a:gd name="connsiteY16" fmla="*/ 1019549 h 2515690"/>
              <a:gd name="connsiteX17" fmla="*/ 2589021 w 12192000"/>
              <a:gd name="connsiteY17" fmla="*/ 1019424 h 2515690"/>
              <a:gd name="connsiteX18" fmla="*/ 2591015 w 12192000"/>
              <a:gd name="connsiteY18" fmla="*/ 1019651 h 2515690"/>
              <a:gd name="connsiteX19" fmla="*/ 2602385 w 12192000"/>
              <a:gd name="connsiteY19" fmla="*/ 1020975 h 2515690"/>
              <a:gd name="connsiteX20" fmla="*/ 2614445 w 12192000"/>
              <a:gd name="connsiteY20" fmla="*/ 1022389 h 2515690"/>
              <a:gd name="connsiteX21" fmla="*/ 2614445 w 12192000"/>
              <a:gd name="connsiteY21" fmla="*/ 1020966 h 2515690"/>
              <a:gd name="connsiteX22" fmla="*/ 2676661 w 12192000"/>
              <a:gd name="connsiteY22" fmla="*/ 1029355 h 2515690"/>
              <a:gd name="connsiteX23" fmla="*/ 2788597 w 12192000"/>
              <a:gd name="connsiteY23" fmla="*/ 1048926 h 2515690"/>
              <a:gd name="connsiteX24" fmla="*/ 2812742 w 12192000"/>
              <a:gd name="connsiteY24" fmla="*/ 1057667 h 2515690"/>
              <a:gd name="connsiteX25" fmla="*/ 2970201 w 12192000"/>
              <a:gd name="connsiteY25" fmla="*/ 949091 h 2515690"/>
              <a:gd name="connsiteX26" fmla="*/ 3030610 w 12192000"/>
              <a:gd name="connsiteY26" fmla="*/ 1049340 h 2515690"/>
              <a:gd name="connsiteX27" fmla="*/ 3058913 w 12192000"/>
              <a:gd name="connsiteY27" fmla="*/ 1048085 h 2515690"/>
              <a:gd name="connsiteX28" fmla="*/ 3072697 w 12192000"/>
              <a:gd name="connsiteY28" fmla="*/ 1045316 h 2515690"/>
              <a:gd name="connsiteX29" fmla="*/ 3083305 w 12192000"/>
              <a:gd name="connsiteY29" fmla="*/ 1040550 h 2515690"/>
              <a:gd name="connsiteX30" fmla="*/ 3125603 w 12192000"/>
              <a:gd name="connsiteY30" fmla="*/ 1004583 h 2515690"/>
              <a:gd name="connsiteX31" fmla="*/ 3385106 w 12192000"/>
              <a:gd name="connsiteY31" fmla="*/ 1042233 h 2515690"/>
              <a:gd name="connsiteX32" fmla="*/ 3424945 w 12192000"/>
              <a:gd name="connsiteY32" fmla="*/ 1065268 h 2515690"/>
              <a:gd name="connsiteX33" fmla="*/ 3436948 w 12192000"/>
              <a:gd name="connsiteY33" fmla="*/ 1068018 h 2515690"/>
              <a:gd name="connsiteX34" fmla="*/ 3466714 w 12192000"/>
              <a:gd name="connsiteY34" fmla="*/ 1063419 h 2515690"/>
              <a:gd name="connsiteX35" fmla="*/ 3550909 w 12192000"/>
              <a:gd name="connsiteY35" fmla="*/ 1044511 h 2515690"/>
              <a:gd name="connsiteX36" fmla="*/ 3555900 w 12192000"/>
              <a:gd name="connsiteY36" fmla="*/ 1041996 h 2515690"/>
              <a:gd name="connsiteX37" fmla="*/ 3625978 w 12192000"/>
              <a:gd name="connsiteY37" fmla="*/ 1023459 h 2515690"/>
              <a:gd name="connsiteX38" fmla="*/ 3632465 w 12192000"/>
              <a:gd name="connsiteY38" fmla="*/ 1023522 h 2515690"/>
              <a:gd name="connsiteX39" fmla="*/ 3649063 w 12192000"/>
              <a:gd name="connsiteY39" fmla="*/ 1018726 h 2515690"/>
              <a:gd name="connsiteX40" fmla="*/ 3805954 w 12192000"/>
              <a:gd name="connsiteY40" fmla="*/ 917517 h 2515690"/>
              <a:gd name="connsiteX41" fmla="*/ 4020506 w 12192000"/>
              <a:gd name="connsiteY41" fmla="*/ 816231 h 2515690"/>
              <a:gd name="connsiteX42" fmla="*/ 4233682 w 12192000"/>
              <a:gd name="connsiteY42" fmla="*/ 799511 h 2515690"/>
              <a:gd name="connsiteX43" fmla="*/ 4306552 w 12192000"/>
              <a:gd name="connsiteY43" fmla="*/ 610207 h 2515690"/>
              <a:gd name="connsiteX44" fmla="*/ 4816604 w 12192000"/>
              <a:gd name="connsiteY44" fmla="*/ 773163 h 2515690"/>
              <a:gd name="connsiteX45" fmla="*/ 4916502 w 12192000"/>
              <a:gd name="connsiteY45" fmla="*/ 788104 h 2515690"/>
              <a:gd name="connsiteX46" fmla="*/ 5224415 w 12192000"/>
              <a:gd name="connsiteY46" fmla="*/ 674418 h 2515690"/>
              <a:gd name="connsiteX47" fmla="*/ 5274077 w 12192000"/>
              <a:gd name="connsiteY47" fmla="*/ 655978 h 2515690"/>
              <a:gd name="connsiteX48" fmla="*/ 5371217 w 12192000"/>
              <a:gd name="connsiteY48" fmla="*/ 614372 h 2515690"/>
              <a:gd name="connsiteX49" fmla="*/ 5364523 w 12192000"/>
              <a:gd name="connsiteY49" fmla="*/ 502501 h 2515690"/>
              <a:gd name="connsiteX50" fmla="*/ 5457871 w 12192000"/>
              <a:gd name="connsiteY50" fmla="*/ 558285 h 2515690"/>
              <a:gd name="connsiteX51" fmla="*/ 5750580 w 12192000"/>
              <a:gd name="connsiteY51" fmla="*/ 663503 h 2515690"/>
              <a:gd name="connsiteX52" fmla="*/ 5976618 w 12192000"/>
              <a:gd name="connsiteY52" fmla="*/ 582652 h 2515690"/>
              <a:gd name="connsiteX53" fmla="*/ 6009346 w 12192000"/>
              <a:gd name="connsiteY53" fmla="*/ 559470 h 2515690"/>
              <a:gd name="connsiteX54" fmla="*/ 6069735 w 12192000"/>
              <a:gd name="connsiteY54" fmla="*/ 587803 h 2515690"/>
              <a:gd name="connsiteX55" fmla="*/ 6270319 w 12192000"/>
              <a:gd name="connsiteY55" fmla="*/ 643982 h 2515690"/>
              <a:gd name="connsiteX56" fmla="*/ 6406781 w 12192000"/>
              <a:gd name="connsiteY56" fmla="*/ 672327 h 2515690"/>
              <a:gd name="connsiteX57" fmla="*/ 6469508 w 12192000"/>
              <a:gd name="connsiteY57" fmla="*/ 708574 h 2515690"/>
              <a:gd name="connsiteX58" fmla="*/ 6515869 w 12192000"/>
              <a:gd name="connsiteY58" fmla="*/ 715738 h 2515690"/>
              <a:gd name="connsiteX59" fmla="*/ 6725938 w 12192000"/>
              <a:gd name="connsiteY59" fmla="*/ 691128 h 2515690"/>
              <a:gd name="connsiteX60" fmla="*/ 6778240 w 12192000"/>
              <a:gd name="connsiteY60" fmla="*/ 678998 h 2515690"/>
              <a:gd name="connsiteX61" fmla="*/ 6806944 w 12192000"/>
              <a:gd name="connsiteY61" fmla="*/ 646178 h 2515690"/>
              <a:gd name="connsiteX62" fmla="*/ 6830632 w 12192000"/>
              <a:gd name="connsiteY62" fmla="*/ 633915 h 2515690"/>
              <a:gd name="connsiteX63" fmla="*/ 6858072 w 12192000"/>
              <a:gd name="connsiteY63" fmla="*/ 646178 h 2515690"/>
              <a:gd name="connsiteX64" fmla="*/ 6891322 w 12192000"/>
              <a:gd name="connsiteY64" fmla="*/ 678998 h 2515690"/>
              <a:gd name="connsiteX65" fmla="*/ 6951905 w 12192000"/>
              <a:gd name="connsiteY65" fmla="*/ 691128 h 2515690"/>
              <a:gd name="connsiteX66" fmla="*/ 7195246 w 12192000"/>
              <a:gd name="connsiteY66" fmla="*/ 715738 h 2515690"/>
              <a:gd name="connsiteX67" fmla="*/ 7248949 w 12192000"/>
              <a:gd name="connsiteY67" fmla="*/ 708574 h 2515690"/>
              <a:gd name="connsiteX68" fmla="*/ 7321609 w 12192000"/>
              <a:gd name="connsiteY68" fmla="*/ 672327 h 2515690"/>
              <a:gd name="connsiteX69" fmla="*/ 7479684 w 12192000"/>
              <a:gd name="connsiteY69" fmla="*/ 643982 h 2515690"/>
              <a:gd name="connsiteX70" fmla="*/ 7712035 w 12192000"/>
              <a:gd name="connsiteY70" fmla="*/ 587803 h 2515690"/>
              <a:gd name="connsiteX71" fmla="*/ 7781987 w 12192000"/>
              <a:gd name="connsiteY71" fmla="*/ 559470 h 2515690"/>
              <a:gd name="connsiteX72" fmla="*/ 7819900 w 12192000"/>
              <a:gd name="connsiteY72" fmla="*/ 582652 h 2515690"/>
              <a:gd name="connsiteX73" fmla="*/ 8081736 w 12192000"/>
              <a:gd name="connsiteY73" fmla="*/ 663503 h 2515690"/>
              <a:gd name="connsiteX74" fmla="*/ 8420801 w 12192000"/>
              <a:gd name="connsiteY74" fmla="*/ 558285 h 2515690"/>
              <a:gd name="connsiteX75" fmla="*/ 8528933 w 12192000"/>
              <a:gd name="connsiteY75" fmla="*/ 502501 h 2515690"/>
              <a:gd name="connsiteX76" fmla="*/ 8521178 w 12192000"/>
              <a:gd name="connsiteY76" fmla="*/ 614372 h 2515690"/>
              <a:gd name="connsiteX77" fmla="*/ 8633702 w 12192000"/>
              <a:gd name="connsiteY77" fmla="*/ 655978 h 2515690"/>
              <a:gd name="connsiteX78" fmla="*/ 8691231 w 12192000"/>
              <a:gd name="connsiteY78" fmla="*/ 674418 h 2515690"/>
              <a:gd name="connsiteX79" fmla="*/ 9047908 w 12192000"/>
              <a:gd name="connsiteY79" fmla="*/ 788104 h 2515690"/>
              <a:gd name="connsiteX80" fmla="*/ 9163628 w 12192000"/>
              <a:gd name="connsiteY80" fmla="*/ 773163 h 2515690"/>
              <a:gd name="connsiteX81" fmla="*/ 9754459 w 12192000"/>
              <a:gd name="connsiteY81" fmla="*/ 610207 h 2515690"/>
              <a:gd name="connsiteX82" fmla="*/ 9838868 w 12192000"/>
              <a:gd name="connsiteY82" fmla="*/ 799511 h 2515690"/>
              <a:gd name="connsiteX83" fmla="*/ 10085808 w 12192000"/>
              <a:gd name="connsiteY83" fmla="*/ 816231 h 2515690"/>
              <a:gd name="connsiteX84" fmla="*/ 10334338 w 12192000"/>
              <a:gd name="connsiteY84" fmla="*/ 917517 h 2515690"/>
              <a:gd name="connsiteX85" fmla="*/ 10516076 w 12192000"/>
              <a:gd name="connsiteY85" fmla="*/ 1018726 h 2515690"/>
              <a:gd name="connsiteX86" fmla="*/ 10535302 w 12192000"/>
              <a:gd name="connsiteY86" fmla="*/ 1023522 h 2515690"/>
              <a:gd name="connsiteX87" fmla="*/ 10542819 w 12192000"/>
              <a:gd name="connsiteY87" fmla="*/ 1023458 h 2515690"/>
              <a:gd name="connsiteX88" fmla="*/ 10623994 w 12192000"/>
              <a:gd name="connsiteY88" fmla="*/ 1041996 h 2515690"/>
              <a:gd name="connsiteX89" fmla="*/ 10629774 w 12192000"/>
              <a:gd name="connsiteY89" fmla="*/ 1044511 h 2515690"/>
              <a:gd name="connsiteX90" fmla="*/ 10727305 w 12192000"/>
              <a:gd name="connsiteY90" fmla="*/ 1063419 h 2515690"/>
              <a:gd name="connsiteX91" fmla="*/ 10761785 w 12192000"/>
              <a:gd name="connsiteY91" fmla="*/ 1068017 h 2515690"/>
              <a:gd name="connsiteX92" fmla="*/ 10775688 w 12192000"/>
              <a:gd name="connsiteY92" fmla="*/ 1065268 h 2515690"/>
              <a:gd name="connsiteX93" fmla="*/ 10821837 w 12192000"/>
              <a:gd name="connsiteY93" fmla="*/ 1042232 h 2515690"/>
              <a:gd name="connsiteX94" fmla="*/ 11122438 w 12192000"/>
              <a:gd name="connsiteY94" fmla="*/ 1004583 h 2515690"/>
              <a:gd name="connsiteX95" fmla="*/ 11171433 w 12192000"/>
              <a:gd name="connsiteY95" fmla="*/ 1040550 h 2515690"/>
              <a:gd name="connsiteX96" fmla="*/ 11183724 w 12192000"/>
              <a:gd name="connsiteY96" fmla="*/ 1045316 h 2515690"/>
              <a:gd name="connsiteX97" fmla="*/ 11199690 w 12192000"/>
              <a:gd name="connsiteY97" fmla="*/ 1048085 h 2515690"/>
              <a:gd name="connsiteX98" fmla="*/ 11232475 w 12192000"/>
              <a:gd name="connsiteY98" fmla="*/ 1049340 h 2515690"/>
              <a:gd name="connsiteX99" fmla="*/ 11302451 w 12192000"/>
              <a:gd name="connsiteY99" fmla="*/ 949091 h 2515690"/>
              <a:gd name="connsiteX100" fmla="*/ 11484849 w 12192000"/>
              <a:gd name="connsiteY100" fmla="*/ 1057667 h 2515690"/>
              <a:gd name="connsiteX101" fmla="*/ 11512818 w 12192000"/>
              <a:gd name="connsiteY101" fmla="*/ 1048926 h 2515690"/>
              <a:gd name="connsiteX102" fmla="*/ 11642481 w 12192000"/>
              <a:gd name="connsiteY102" fmla="*/ 1029355 h 2515690"/>
              <a:gd name="connsiteX103" fmla="*/ 11714551 w 12192000"/>
              <a:gd name="connsiteY103" fmla="*/ 1020966 h 2515690"/>
              <a:gd name="connsiteX104" fmla="*/ 11714551 w 12192000"/>
              <a:gd name="connsiteY104" fmla="*/ 1022389 h 2515690"/>
              <a:gd name="connsiteX105" fmla="*/ 11728519 w 12192000"/>
              <a:gd name="connsiteY105" fmla="*/ 1020975 h 2515690"/>
              <a:gd name="connsiteX106" fmla="*/ 11741691 w 12192000"/>
              <a:gd name="connsiteY106" fmla="*/ 1019651 h 2515690"/>
              <a:gd name="connsiteX107" fmla="*/ 11743999 w 12192000"/>
              <a:gd name="connsiteY107" fmla="*/ 1019424 h 2515690"/>
              <a:gd name="connsiteX108" fmla="*/ 11742709 w 12192000"/>
              <a:gd name="connsiteY108" fmla="*/ 1019549 h 2515690"/>
              <a:gd name="connsiteX109" fmla="*/ 11741691 w 12192000"/>
              <a:gd name="connsiteY109" fmla="*/ 1019651 h 2515690"/>
              <a:gd name="connsiteX110" fmla="*/ 11738529 w 12192000"/>
              <a:gd name="connsiteY110" fmla="*/ 1019963 h 2515690"/>
              <a:gd name="connsiteX111" fmla="*/ 11771791 w 12192000"/>
              <a:gd name="connsiteY111" fmla="*/ 1015977 h 2515690"/>
              <a:gd name="connsiteX112" fmla="*/ 11834157 w 12192000"/>
              <a:gd name="connsiteY112" fmla="*/ 1009499 h 2515690"/>
              <a:gd name="connsiteX113" fmla="*/ 11843354 w 12192000"/>
              <a:gd name="connsiteY113" fmla="*/ 1008273 h 2515690"/>
              <a:gd name="connsiteX114" fmla="*/ 11843354 w 12192000"/>
              <a:gd name="connsiteY114" fmla="*/ 1000151 h 2515690"/>
              <a:gd name="connsiteX115" fmla="*/ 11893955 w 12192000"/>
              <a:gd name="connsiteY115" fmla="*/ 983740 h 2515690"/>
              <a:gd name="connsiteX116" fmla="*/ 11974160 w 12192000"/>
              <a:gd name="connsiteY116" fmla="*/ 920897 h 2515690"/>
              <a:gd name="connsiteX117" fmla="*/ 12143531 w 12192000"/>
              <a:gd name="connsiteY117" fmla="*/ 823664 h 2515690"/>
              <a:gd name="connsiteX118" fmla="*/ 12192000 w 12192000"/>
              <a:gd name="connsiteY118" fmla="*/ 801163 h 2515690"/>
              <a:gd name="connsiteX119" fmla="*/ 12192000 w 12192000"/>
              <a:gd name="connsiteY119" fmla="*/ 2515690 h 2515690"/>
              <a:gd name="connsiteX120" fmla="*/ 0 w 12192000"/>
              <a:gd name="connsiteY120" fmla="*/ 2515690 h 251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2192000" h="251569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C0882F31-A8B4-4695-1416-FBFE81509920}"/>
              </a:ext>
            </a:extLst>
          </p:cNvPr>
          <p:cNvSpPr>
            <a:spLocks noGrp="1"/>
          </p:cNvSpPr>
          <p:nvPr>
            <p:ph type="title"/>
          </p:nvPr>
        </p:nvSpPr>
        <p:spPr>
          <a:xfrm>
            <a:off x="838200" y="550476"/>
            <a:ext cx="10515600" cy="930275"/>
          </a:xfrm>
        </p:spPr>
        <p:txBody>
          <a:bodyPr>
            <a:normAutofit/>
          </a:bodyPr>
          <a:lstStyle/>
          <a:p>
            <a:r>
              <a:rPr lang="en-US" sz="3600">
                <a:latin typeface="Gill Sans MT"/>
              </a:rPr>
              <a:t>Problem Description</a:t>
            </a:r>
          </a:p>
        </p:txBody>
      </p:sp>
      <p:graphicFrame>
        <p:nvGraphicFramePr>
          <p:cNvPr id="5" name="Content Placeholder 4">
            <a:extLst>
              <a:ext uri="{FF2B5EF4-FFF2-40B4-BE49-F238E27FC236}">
                <a16:creationId xmlns:a16="http://schemas.microsoft.com/office/drawing/2014/main" id="{0457305A-6FCF-462F-9EA2-CE2D70A90364}"/>
              </a:ext>
            </a:extLst>
          </p:cNvPr>
          <p:cNvGraphicFramePr>
            <a:graphicFrameLocks noGrp="1"/>
          </p:cNvGraphicFramePr>
          <p:nvPr>
            <p:ph idx="1"/>
            <p:extLst>
              <p:ext uri="{D42A27DB-BD31-4B8C-83A1-F6EECF244321}">
                <p14:modId xmlns:p14="http://schemas.microsoft.com/office/powerpoint/2010/main" val="3847624360"/>
              </p:ext>
            </p:extLst>
          </p:nvPr>
        </p:nvGraphicFramePr>
        <p:xfrm>
          <a:off x="838200" y="2034151"/>
          <a:ext cx="10515601" cy="4335184"/>
        </p:xfrm>
        <a:graphic>
          <a:graphicData uri="http://schemas.openxmlformats.org/drawingml/2006/table">
            <a:tbl>
              <a:tblPr bandRow="1">
                <a:tableStyleId>{5C22544A-7EE6-4342-B048-85BDC9FD1C3A}</a:tableStyleId>
              </a:tblPr>
              <a:tblGrid>
                <a:gridCol w="2489509">
                  <a:extLst>
                    <a:ext uri="{9D8B030D-6E8A-4147-A177-3AD203B41FA5}">
                      <a16:colId xmlns:a16="http://schemas.microsoft.com/office/drawing/2014/main" val="3198648847"/>
                    </a:ext>
                  </a:extLst>
                </a:gridCol>
                <a:gridCol w="8026092">
                  <a:extLst>
                    <a:ext uri="{9D8B030D-6E8A-4147-A177-3AD203B41FA5}">
                      <a16:colId xmlns:a16="http://schemas.microsoft.com/office/drawing/2014/main" val="4026473098"/>
                    </a:ext>
                  </a:extLst>
                </a:gridCol>
              </a:tblGrid>
              <a:tr h="310286">
                <a:tc>
                  <a:txBody>
                    <a:bodyPr/>
                    <a:lstStyle/>
                    <a:p>
                      <a:pPr lvl="0" algn="l" rtl="0">
                        <a:lnSpc>
                          <a:spcPts val="1482"/>
                        </a:lnSpc>
                        <a:spcBef>
                          <a:spcPts val="600"/>
                        </a:spcBef>
                        <a:buNone/>
                      </a:pPr>
                      <a:r>
                        <a:rPr lang="en-US" sz="1200" b="1" i="0" u="none" strike="noStrike">
                          <a:solidFill>
                            <a:srgbClr val="000000"/>
                          </a:solidFill>
                          <a:effectLst/>
                          <a:latin typeface="Calibri"/>
                        </a:rPr>
                        <a:t>Project Name:</a:t>
                      </a:r>
                      <a:r>
                        <a:rPr lang="en-US" sz="1200" b="0" i="0">
                          <a:solidFill>
                            <a:srgbClr val="000000"/>
                          </a:solidFill>
                          <a:effectLst/>
                          <a:latin typeface="Calibri"/>
                        </a:rPr>
                        <a:t> </a:t>
                      </a:r>
                      <a:endParaRPr lang="en-US" sz="1200" b="0" i="0">
                        <a:effectLst/>
                        <a:latin typeface="Calibri"/>
                      </a:endParaRPr>
                    </a:p>
                  </a:txBody>
                  <a:tcPr marL="67161" marR="67161" marT="46053" marB="4605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l" rtl="0" fontAlgn="base">
                        <a:lnSpc>
                          <a:spcPts val="1482"/>
                        </a:lnSpc>
                        <a:spcBef>
                          <a:spcPts val="600"/>
                        </a:spcBef>
                        <a:buNone/>
                      </a:pPr>
                      <a:r>
                        <a:rPr lang="en-US" sz="1200" b="0" i="0" u="none" strike="noStrike">
                          <a:solidFill>
                            <a:srgbClr val="000000"/>
                          </a:solidFill>
                          <a:effectLst/>
                          <a:latin typeface="Calibri"/>
                        </a:rPr>
                        <a:t>"Classifi" - </a:t>
                      </a:r>
                      <a:r>
                        <a:rPr lang="en-US" sz="1200" b="0" i="0" u="none" strike="noStrike" noProof="0">
                          <a:solidFill>
                            <a:srgbClr val="000000"/>
                          </a:solidFill>
                          <a:effectLst/>
                          <a:latin typeface="Calibri"/>
                        </a:rPr>
                        <a:t>Credit Card Fraud Detection Mobile App utilizing a Classification Algorithm Machine Learning Model</a:t>
                      </a:r>
                      <a:endParaRPr lang="en-US" sz="1200" b="0" i="0">
                        <a:solidFill>
                          <a:srgbClr val="000000"/>
                        </a:solidFill>
                        <a:effectLst/>
                        <a:latin typeface="Calibri"/>
                      </a:endParaRPr>
                    </a:p>
                  </a:txBody>
                  <a:tcPr marL="67161" marR="67161" marT="46053" marB="4605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97296708"/>
                  </a:ext>
                </a:extLst>
              </a:tr>
              <a:tr h="310286">
                <a:tc>
                  <a:txBody>
                    <a:bodyPr/>
                    <a:lstStyle/>
                    <a:p>
                      <a:pPr algn="l" rtl="0" fontAlgn="base">
                        <a:lnSpc>
                          <a:spcPts val="1482"/>
                        </a:lnSpc>
                        <a:spcBef>
                          <a:spcPts val="600"/>
                        </a:spcBef>
                        <a:buNone/>
                      </a:pPr>
                      <a:r>
                        <a:rPr lang="en-US" sz="1200" b="1" i="0" u="none" strike="noStrike">
                          <a:solidFill>
                            <a:srgbClr val="000000"/>
                          </a:solidFill>
                          <a:effectLst/>
                          <a:latin typeface="Calibri"/>
                        </a:rPr>
                        <a:t>Team:</a:t>
                      </a:r>
                      <a:r>
                        <a:rPr lang="en-US" sz="1200" b="0" i="0">
                          <a:solidFill>
                            <a:srgbClr val="000000"/>
                          </a:solidFill>
                          <a:effectLst/>
                          <a:latin typeface="Calibri"/>
                        </a:rPr>
                        <a:t> </a:t>
                      </a:r>
                      <a:endParaRPr lang="en-US" sz="1200" b="0" i="0">
                        <a:effectLst/>
                        <a:latin typeface="Calibri"/>
                      </a:endParaRPr>
                    </a:p>
                  </a:txBody>
                  <a:tcPr marL="67161" marR="67161" marT="46053" marB="4605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l" rtl="0" fontAlgn="base">
                        <a:lnSpc>
                          <a:spcPts val="1482"/>
                        </a:lnSpc>
                        <a:spcBef>
                          <a:spcPts val="600"/>
                        </a:spcBef>
                        <a:buNone/>
                      </a:pPr>
                      <a:r>
                        <a:rPr lang="en-US" sz="1200" b="0" i="0" u="none" strike="noStrike">
                          <a:solidFill>
                            <a:srgbClr val="000000"/>
                          </a:solidFill>
                          <a:effectLst/>
                          <a:latin typeface="Calibri"/>
                        </a:rPr>
                        <a:t>IT Architects</a:t>
                      </a:r>
                      <a:r>
                        <a:rPr lang="en-US" sz="1200" b="0" i="0">
                          <a:solidFill>
                            <a:srgbClr val="000000"/>
                          </a:solidFill>
                          <a:effectLst/>
                          <a:latin typeface="Calibri"/>
                        </a:rPr>
                        <a:t> </a:t>
                      </a:r>
                      <a:endParaRPr lang="en-US" sz="1200" b="0" i="0">
                        <a:effectLst/>
                        <a:latin typeface="Calibri"/>
                      </a:endParaRPr>
                    </a:p>
                  </a:txBody>
                  <a:tcPr marL="67161" marR="67161" marT="46053" marB="4605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28009901"/>
                  </a:ext>
                </a:extLst>
              </a:tr>
              <a:tr h="1922156">
                <a:tc>
                  <a:txBody>
                    <a:bodyPr/>
                    <a:lstStyle/>
                    <a:p>
                      <a:pPr algn="l" rtl="0" fontAlgn="base">
                        <a:lnSpc>
                          <a:spcPts val="1482"/>
                        </a:lnSpc>
                        <a:spcBef>
                          <a:spcPts val="600"/>
                        </a:spcBef>
                        <a:buNone/>
                      </a:pPr>
                      <a:r>
                        <a:rPr lang="en-US" sz="1200" b="1" i="0" u="none" strike="noStrike">
                          <a:solidFill>
                            <a:srgbClr val="000000"/>
                          </a:solidFill>
                          <a:effectLst/>
                          <a:latin typeface="Calibri"/>
                        </a:rPr>
                        <a:t>Project Description:</a:t>
                      </a:r>
                      <a:r>
                        <a:rPr lang="en-US" sz="1200" b="0" i="0">
                          <a:solidFill>
                            <a:srgbClr val="000000"/>
                          </a:solidFill>
                          <a:effectLst/>
                          <a:latin typeface="Calibri"/>
                        </a:rPr>
                        <a:t> </a:t>
                      </a:r>
                      <a:endParaRPr lang="en-US" sz="1200" b="0" i="0">
                        <a:effectLst/>
                        <a:latin typeface="Calibri"/>
                      </a:endParaRPr>
                    </a:p>
                    <a:p>
                      <a:pPr algn="l" rtl="0" fontAlgn="base">
                        <a:lnSpc>
                          <a:spcPts val="1569"/>
                        </a:lnSpc>
                        <a:buNone/>
                      </a:pPr>
                      <a:endParaRPr lang="en-US" sz="1200" b="0" i="0">
                        <a:effectLst/>
                        <a:latin typeface="Calibri"/>
                      </a:endParaRPr>
                    </a:p>
                  </a:txBody>
                  <a:tcPr marL="67161" marR="67161" marT="46053" marB="4605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l" rtl="0" fontAlgn="base">
                        <a:lnSpc>
                          <a:spcPts val="1482"/>
                        </a:lnSpc>
                        <a:spcBef>
                          <a:spcPts val="600"/>
                        </a:spcBef>
                        <a:buNone/>
                      </a:pPr>
                      <a:r>
                        <a:rPr lang="en-US" sz="1200" b="0" i="0" u="none" strike="noStrike">
                          <a:solidFill>
                            <a:srgbClr val="000000"/>
                          </a:solidFill>
                          <a:effectLst/>
                          <a:latin typeface="Calibri"/>
                        </a:rPr>
                        <a:t>This project aims to deliver an advanced machine-learning classifier for credit-card fraud detection, designed for issuers and cardholders frustrated by today’s rule-based systems and high false-alarm rates. Leveraging SMOTE to rebalance data and XGBoot for precision, we’ll identify fraudulent transactions before funds leave the account, reduce false positives on legitimate purchases, and trigger real-time alerts that let cardholders act immediately. Our mission is to replace rigid, hand-tuned rules with a data-driven model that adapts to evolving fraud patterns by minimizing losses, preserving reputations, and restoring trust in digital payments through a mobile iOS application that is easily accessible. </a:t>
                      </a:r>
                    </a:p>
                    <a:p>
                      <a:pPr lvl="0" algn="l">
                        <a:lnSpc>
                          <a:spcPts val="1482"/>
                        </a:lnSpc>
                        <a:spcBef>
                          <a:spcPts val="600"/>
                        </a:spcBef>
                        <a:buNone/>
                      </a:pPr>
                      <a:endParaRPr lang="en-US" sz="1200" b="0" i="0" u="none" strike="noStrike">
                        <a:solidFill>
                          <a:srgbClr val="000000"/>
                        </a:solidFill>
                        <a:effectLst/>
                        <a:latin typeface="Calibri"/>
                      </a:endParaRPr>
                    </a:p>
                    <a:p>
                      <a:pPr lvl="0" algn="l">
                        <a:lnSpc>
                          <a:spcPts val="1482"/>
                        </a:lnSpc>
                        <a:spcBef>
                          <a:spcPts val="600"/>
                        </a:spcBef>
                        <a:buNone/>
                      </a:pPr>
                      <a:r>
                        <a:rPr lang="en-US" sz="1200" b="0" i="0" u="none" strike="noStrike" noProof="0">
                          <a:solidFill>
                            <a:srgbClr val="000000"/>
                          </a:solidFill>
                          <a:effectLst/>
                          <a:latin typeface="Calibri"/>
                        </a:rPr>
                        <a:t>Current deterrents include rule-based fraud detection techniques, whereas our goal is to implement an AI-powered fraud-detection service that catches up to 80% of fraud attempts in real time while cutting false positives by 30%, so issuers lose less money and cardholders enjoy seamless, secure spending. </a:t>
                      </a:r>
                      <a:endParaRPr lang="en-US">
                        <a:latin typeface="Calibri"/>
                      </a:endParaRPr>
                    </a:p>
                  </a:txBody>
                  <a:tcPr marL="67161" marR="67161" marT="46053" marB="4605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89606706"/>
                  </a:ext>
                </a:extLst>
              </a:tr>
              <a:tr h="324933">
                <a:tc gridSpan="2">
                  <a:txBody>
                    <a:bodyPr/>
                    <a:lstStyle/>
                    <a:p>
                      <a:pPr algn="l" rtl="0" fontAlgn="base">
                        <a:lnSpc>
                          <a:spcPts val="1569"/>
                        </a:lnSpc>
                        <a:buNone/>
                      </a:pPr>
                      <a:endParaRPr lang="en-US" sz="1200" b="0" i="0">
                        <a:solidFill>
                          <a:srgbClr val="FFFFFF"/>
                        </a:solidFill>
                        <a:effectLst/>
                        <a:latin typeface="Calibri"/>
                      </a:endParaRPr>
                    </a:p>
                  </a:txBody>
                  <a:tcPr marL="67161" marR="67161" marT="46053" marB="4605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4472C4"/>
                    </a:solidFill>
                  </a:tcPr>
                </a:tc>
                <a:tc hMerge="1">
                  <a:txBody>
                    <a:bodyPr/>
                    <a:lstStyle/>
                    <a:p>
                      <a:endParaRPr lang="en-US"/>
                    </a:p>
                  </a:txBody>
                  <a:tcPr/>
                </a:tc>
                <a:extLst>
                  <a:ext uri="{0D108BD9-81ED-4DB2-BD59-A6C34878D82A}">
                    <a16:rowId xmlns:a16="http://schemas.microsoft.com/office/drawing/2014/main" val="1733731560"/>
                  </a:ext>
                </a:extLst>
              </a:tr>
              <a:tr h="937316">
                <a:tc>
                  <a:txBody>
                    <a:bodyPr/>
                    <a:lstStyle/>
                    <a:p>
                      <a:pPr algn="l" rtl="0" fontAlgn="base">
                        <a:lnSpc>
                          <a:spcPts val="1482"/>
                        </a:lnSpc>
                        <a:spcBef>
                          <a:spcPts val="600"/>
                        </a:spcBef>
                        <a:buNone/>
                      </a:pPr>
                      <a:r>
                        <a:rPr lang="en-US" sz="1200" b="1" i="0" u="none" strike="noStrike">
                          <a:solidFill>
                            <a:srgbClr val="000000"/>
                          </a:solidFill>
                          <a:effectLst/>
                          <a:latin typeface="Calibri"/>
                        </a:rPr>
                        <a:t>Benefit Outcomes:</a:t>
                      </a:r>
                      <a:r>
                        <a:rPr lang="en-US" sz="1200" b="0" i="0">
                          <a:solidFill>
                            <a:srgbClr val="000000"/>
                          </a:solidFill>
                          <a:effectLst/>
                          <a:latin typeface="Calibri"/>
                        </a:rPr>
                        <a:t> </a:t>
                      </a:r>
                      <a:endParaRPr lang="en-US" sz="1200" b="0" i="0">
                        <a:effectLst/>
                        <a:latin typeface="Calibri"/>
                      </a:endParaRPr>
                    </a:p>
                  </a:txBody>
                  <a:tcPr marL="67161" marR="67161" marT="46053" marB="4605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algn="l" rtl="0" fontAlgn="base">
                        <a:lnSpc>
                          <a:spcPts val="1569"/>
                        </a:lnSpc>
                        <a:buNone/>
                      </a:pPr>
                      <a:r>
                        <a:rPr lang="en-US" sz="1200" b="0" i="0">
                          <a:effectLst/>
                          <a:latin typeface="Calibri"/>
                        </a:rPr>
                        <a:t>Credit Card companies can expect a reduction in false alarms, monetary losses, and damage to their reputation. </a:t>
                      </a:r>
                    </a:p>
                    <a:p>
                      <a:pPr algn="l" rtl="0" fontAlgn="base">
                        <a:lnSpc>
                          <a:spcPts val="1569"/>
                        </a:lnSpc>
                        <a:buNone/>
                      </a:pPr>
                      <a:endParaRPr lang="en-US" sz="1200" b="0" i="0">
                        <a:effectLst/>
                        <a:latin typeface="Calibri"/>
                      </a:endParaRPr>
                    </a:p>
                    <a:p>
                      <a:pPr algn="l" rtl="0" fontAlgn="base">
                        <a:lnSpc>
                          <a:spcPts val="1569"/>
                        </a:lnSpc>
                        <a:buNone/>
                      </a:pPr>
                      <a:r>
                        <a:rPr lang="en-US" sz="1200" b="0" i="0">
                          <a:effectLst/>
                          <a:latin typeface="Calibri"/>
                        </a:rPr>
                        <a:t>Credit Card holders can expect a reduction in unauthorized charges, fewer declined legitimate transactions, and greater peace of mind when using their cards as well as an increase in user satisfaction and engagement. </a:t>
                      </a:r>
                    </a:p>
                  </a:txBody>
                  <a:tcPr marL="67161" marR="67161" marT="46053" marB="4605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8285064"/>
                  </a:ext>
                </a:extLst>
              </a:tr>
              <a:tr h="310286">
                <a:tc>
                  <a:txBody>
                    <a:bodyPr/>
                    <a:lstStyle/>
                    <a:p>
                      <a:pPr algn="l" rtl="0" fontAlgn="base">
                        <a:lnSpc>
                          <a:spcPts val="1482"/>
                        </a:lnSpc>
                        <a:spcBef>
                          <a:spcPts val="600"/>
                        </a:spcBef>
                        <a:buNone/>
                      </a:pPr>
                      <a:r>
                        <a:rPr lang="en-US" sz="1200" b="1" i="0" u="none" strike="noStrike">
                          <a:solidFill>
                            <a:srgbClr val="000000"/>
                          </a:solidFill>
                          <a:effectLst/>
                          <a:latin typeface="Calibri"/>
                        </a:rPr>
                        <a:t>Github Link:</a:t>
                      </a:r>
                      <a:r>
                        <a:rPr lang="en-US" sz="1200" b="0" i="0">
                          <a:solidFill>
                            <a:srgbClr val="000000"/>
                          </a:solidFill>
                          <a:effectLst/>
                          <a:latin typeface="Calibri"/>
                        </a:rPr>
                        <a:t> </a:t>
                      </a:r>
                      <a:endParaRPr lang="en-US" sz="1200" b="0" i="0">
                        <a:effectLst/>
                        <a:latin typeface="Calibri"/>
                      </a:endParaRPr>
                    </a:p>
                  </a:txBody>
                  <a:tcPr marL="67161" marR="67161" marT="46053" marB="4605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lvl="0" algn="l">
                        <a:lnSpc>
                          <a:spcPts val="1482"/>
                        </a:lnSpc>
                        <a:spcBef>
                          <a:spcPts val="600"/>
                        </a:spcBef>
                        <a:buNone/>
                      </a:pPr>
                      <a:r>
                        <a:rPr lang="en-US" sz="1200" b="0" i="0" u="none" strike="noStrike" noProof="0">
                          <a:solidFill>
                            <a:srgbClr val="000000"/>
                          </a:solidFill>
                          <a:effectLst/>
                          <a:latin typeface="Calibri"/>
                        </a:rPr>
                        <a:t>https://github.com/htmw/F2025-Team1/wiki</a:t>
                      </a:r>
                      <a:endParaRPr lang="en-US" sz="1200">
                        <a:latin typeface="Calibri"/>
                      </a:endParaRPr>
                    </a:p>
                  </a:txBody>
                  <a:tcPr marL="67161" marR="67161" marT="46053" marB="46053">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7245106"/>
                  </a:ext>
                </a:extLst>
              </a:tr>
            </a:tbl>
          </a:graphicData>
        </a:graphic>
      </p:graphicFrame>
    </p:spTree>
    <p:extLst>
      <p:ext uri="{BB962C8B-B14F-4D97-AF65-F5344CB8AC3E}">
        <p14:creationId xmlns:p14="http://schemas.microsoft.com/office/powerpoint/2010/main" val="2282307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84B2F-124B-B7FB-4B56-CEA23B04E477}"/>
              </a:ext>
            </a:extLst>
          </p:cNvPr>
          <p:cNvSpPr>
            <a:spLocks noGrp="1"/>
          </p:cNvSpPr>
          <p:nvPr>
            <p:ph type="title"/>
          </p:nvPr>
        </p:nvSpPr>
        <p:spPr/>
        <p:txBody>
          <a:bodyPr/>
          <a:lstStyle/>
          <a:p>
            <a:r>
              <a:rPr lang="en-US" sz="3600">
                <a:latin typeface="Calibri"/>
                <a:ea typeface="Calibri"/>
                <a:cs typeface="Calibri"/>
              </a:rPr>
              <a:t>Team Working Agreement</a:t>
            </a:r>
            <a:endParaRPr lang="en-GB" sz="3600">
              <a:latin typeface="Calibri"/>
              <a:ea typeface="Calibri"/>
              <a:cs typeface="Calibri"/>
            </a:endParaRPr>
          </a:p>
        </p:txBody>
      </p:sp>
      <p:sp>
        <p:nvSpPr>
          <p:cNvPr id="3" name="Content Placeholder 2">
            <a:extLst>
              <a:ext uri="{FF2B5EF4-FFF2-40B4-BE49-F238E27FC236}">
                <a16:creationId xmlns:a16="http://schemas.microsoft.com/office/drawing/2014/main" id="{7BC47FB5-C002-8FD0-DB57-1D310A065EE0}"/>
              </a:ext>
            </a:extLst>
          </p:cNvPr>
          <p:cNvSpPr>
            <a:spLocks noGrp="1"/>
          </p:cNvSpPr>
          <p:nvPr>
            <p:ph idx="1"/>
          </p:nvPr>
        </p:nvSpPr>
        <p:spPr/>
        <p:txBody>
          <a:bodyPr vert="horz" lIns="91440" tIns="45720" rIns="91440" bIns="45720" rtlCol="0" anchor="t">
            <a:normAutofit/>
          </a:bodyPr>
          <a:lstStyle/>
          <a:p>
            <a:r>
              <a:rPr lang="en-GB" sz="1800" b="1">
                <a:latin typeface="Calibri"/>
                <a:ea typeface="+mn-lt"/>
                <a:cs typeface="+mn-lt"/>
              </a:rPr>
              <a:t>Communication &amp; Collaboration</a:t>
            </a:r>
            <a:r>
              <a:rPr lang="en-GB" sz="1800">
                <a:latin typeface="Calibri"/>
                <a:ea typeface="+mn-lt"/>
                <a:cs typeface="+mn-lt"/>
              </a:rPr>
              <a:t> - Our team will primarily communicate through </a:t>
            </a:r>
            <a:r>
              <a:rPr lang="en-GB" sz="1800" b="1">
                <a:latin typeface="Calibri"/>
                <a:ea typeface="+mn-lt"/>
                <a:cs typeface="+mn-lt"/>
              </a:rPr>
              <a:t>WhatsApp</a:t>
            </a:r>
            <a:r>
              <a:rPr lang="en-GB" sz="1800">
                <a:latin typeface="Calibri"/>
                <a:ea typeface="+mn-lt"/>
                <a:cs typeface="+mn-lt"/>
              </a:rPr>
              <a:t>, </a:t>
            </a:r>
            <a:r>
              <a:rPr lang="en-GB" sz="1800" b="1">
                <a:latin typeface="Calibri"/>
                <a:ea typeface="+mn-lt"/>
                <a:cs typeface="+mn-lt"/>
              </a:rPr>
              <a:t>Teams</a:t>
            </a:r>
            <a:r>
              <a:rPr lang="en-GB" sz="1800">
                <a:latin typeface="Calibri"/>
                <a:ea typeface="+mn-lt"/>
                <a:cs typeface="+mn-lt"/>
              </a:rPr>
              <a:t>, </a:t>
            </a:r>
            <a:r>
              <a:rPr lang="en-GB" sz="1800" b="1">
                <a:latin typeface="Calibri"/>
                <a:ea typeface="+mn-lt"/>
                <a:cs typeface="+mn-lt"/>
              </a:rPr>
              <a:t>Discord </a:t>
            </a:r>
            <a:r>
              <a:rPr lang="en-GB" sz="1800">
                <a:latin typeface="Calibri"/>
                <a:ea typeface="+mn-lt"/>
                <a:cs typeface="+mn-lt"/>
              </a:rPr>
              <a:t>and </a:t>
            </a:r>
            <a:r>
              <a:rPr lang="en-GB" sz="1800" b="1">
                <a:latin typeface="Calibri"/>
                <a:ea typeface="+mn-lt"/>
                <a:cs typeface="+mn-lt"/>
              </a:rPr>
              <a:t>GitHub</a:t>
            </a:r>
            <a:r>
              <a:rPr lang="en-GB" sz="1800">
                <a:latin typeface="Calibri"/>
                <a:ea typeface="+mn-lt"/>
                <a:cs typeface="+mn-lt"/>
              </a:rPr>
              <a:t> updates.</a:t>
            </a:r>
          </a:p>
          <a:p>
            <a:r>
              <a:rPr lang="en-GB" sz="1800">
                <a:latin typeface="Calibri"/>
                <a:ea typeface="+mn-lt"/>
                <a:cs typeface="+mn-lt"/>
              </a:rPr>
              <a:t>Whenever code is pushed to GitHub, members will notify the team to prevent conflicts or overwrites.</a:t>
            </a:r>
          </a:p>
          <a:p>
            <a:r>
              <a:rPr lang="en-GB" sz="1800">
                <a:latin typeface="Calibri"/>
                <a:ea typeface="+mn-lt"/>
                <a:cs typeface="+mn-lt"/>
              </a:rPr>
              <a:t>If anyone needs to adjust their task timeline or change their approach, they must inform the team beforehand.</a:t>
            </a:r>
            <a:endParaRPr lang="en-GB" sz="1800">
              <a:latin typeface="Calibri"/>
              <a:ea typeface="Calibri"/>
              <a:cs typeface="Calibri"/>
            </a:endParaRPr>
          </a:p>
          <a:p>
            <a:endParaRPr lang="en-GB" sz="1800">
              <a:latin typeface="Calibri"/>
              <a:ea typeface="Calibri"/>
              <a:cs typeface="Calibri"/>
            </a:endParaRPr>
          </a:p>
          <a:p>
            <a:r>
              <a:rPr lang="en-GB" sz="1800" b="1">
                <a:latin typeface="Calibri"/>
                <a:ea typeface="+mn-lt"/>
                <a:cs typeface="+mn-lt"/>
              </a:rPr>
              <a:t>Meeting Routine &amp; Workflow</a:t>
            </a:r>
            <a:r>
              <a:rPr lang="en-GB" sz="1800">
                <a:latin typeface="Calibri"/>
                <a:ea typeface="+mn-lt"/>
                <a:cs typeface="+mn-lt"/>
              </a:rPr>
              <a:t> - The team will meet twice weekly, typically on Saturday and Wednesday, unless additional sessions are required.</a:t>
            </a:r>
            <a:endParaRPr lang="en-GB" sz="1800">
              <a:latin typeface="Calibri"/>
              <a:ea typeface="Calibri"/>
              <a:cs typeface="Calibri"/>
            </a:endParaRPr>
          </a:p>
          <a:p>
            <a:r>
              <a:rPr lang="en-GB" sz="1800">
                <a:latin typeface="Calibri"/>
                <a:ea typeface="+mn-lt"/>
                <a:cs typeface="+mn-lt"/>
              </a:rPr>
              <a:t>Anyone unable to attend a meeting must notify the team in advance and go through the meeting summary afterward.</a:t>
            </a:r>
            <a:endParaRPr lang="en-GB" sz="1800">
              <a:latin typeface="Calibri"/>
              <a:ea typeface="Calibri"/>
              <a:cs typeface="Calibri"/>
            </a:endParaRPr>
          </a:p>
          <a:p>
            <a:endParaRPr lang="en-GB" sz="2100">
              <a:latin typeface="Calibri"/>
              <a:ea typeface="Calibri"/>
              <a:cs typeface="Calibri"/>
            </a:endParaRPr>
          </a:p>
        </p:txBody>
      </p:sp>
    </p:spTree>
    <p:extLst>
      <p:ext uri="{BB962C8B-B14F-4D97-AF65-F5344CB8AC3E}">
        <p14:creationId xmlns:p14="http://schemas.microsoft.com/office/powerpoint/2010/main" val="1573908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BB977-BE4D-9597-D108-0CE7A380B96C}"/>
              </a:ext>
            </a:extLst>
          </p:cNvPr>
          <p:cNvSpPr>
            <a:spLocks noGrp="1"/>
          </p:cNvSpPr>
          <p:nvPr>
            <p:ph type="title"/>
          </p:nvPr>
        </p:nvSpPr>
        <p:spPr/>
        <p:txBody>
          <a:bodyPr/>
          <a:lstStyle/>
          <a:p>
            <a:r>
              <a:rPr lang="en-US" sz="3600">
                <a:latin typeface="Calibri"/>
                <a:ea typeface="Calibri"/>
                <a:cs typeface="Calibri"/>
              </a:rPr>
              <a:t>Team Working Agreement Cont.</a:t>
            </a:r>
            <a:endParaRPr lang="en-GB" sz="3600">
              <a:latin typeface="Calibri"/>
              <a:ea typeface="Calibri"/>
              <a:cs typeface="Calibri"/>
            </a:endParaRPr>
          </a:p>
        </p:txBody>
      </p:sp>
      <p:sp>
        <p:nvSpPr>
          <p:cNvPr id="3" name="Content Placeholder 2">
            <a:extLst>
              <a:ext uri="{FF2B5EF4-FFF2-40B4-BE49-F238E27FC236}">
                <a16:creationId xmlns:a16="http://schemas.microsoft.com/office/drawing/2014/main" id="{EEFF0127-D928-A56D-6310-CB81EDE2E9C5}"/>
              </a:ext>
            </a:extLst>
          </p:cNvPr>
          <p:cNvSpPr>
            <a:spLocks noGrp="1"/>
          </p:cNvSpPr>
          <p:nvPr>
            <p:ph idx="1"/>
          </p:nvPr>
        </p:nvSpPr>
        <p:spPr/>
        <p:txBody>
          <a:bodyPr vert="horz" lIns="91440" tIns="45720" rIns="91440" bIns="45720" rtlCol="0" anchor="t">
            <a:normAutofit/>
          </a:bodyPr>
          <a:lstStyle/>
          <a:p>
            <a:r>
              <a:rPr lang="en-GB" sz="1800" b="1">
                <a:latin typeface="Calibri"/>
                <a:ea typeface="+mn-lt"/>
                <a:cs typeface="+mn-lt"/>
              </a:rPr>
              <a:t>Team Working Principles </a:t>
            </a:r>
            <a:r>
              <a:rPr lang="en-GB" sz="1800">
                <a:latin typeface="Calibri"/>
                <a:ea typeface="+mn-lt"/>
                <a:cs typeface="+mn-lt"/>
              </a:rPr>
              <a:t>- All tasks will include a clear deadline and will be reviewed once completed. </a:t>
            </a:r>
          </a:p>
          <a:p>
            <a:r>
              <a:rPr lang="en-GB" sz="1800">
                <a:latin typeface="Calibri"/>
                <a:ea typeface="+mn-lt"/>
                <a:cs typeface="+mn-lt"/>
              </a:rPr>
              <a:t>All contributions should be pushed to GitHub regularly with meaningful commit messages.</a:t>
            </a:r>
          </a:p>
          <a:p>
            <a:r>
              <a:rPr lang="en-GB" sz="1800">
                <a:latin typeface="Calibri"/>
                <a:ea typeface="+mn-lt"/>
                <a:cs typeface="+mn-lt"/>
              </a:rPr>
              <a:t>Complex tasks will be broken into smaller actionable items to balance workload.</a:t>
            </a:r>
          </a:p>
          <a:p>
            <a:endParaRPr lang="en-GB" sz="1800">
              <a:latin typeface="Calibri"/>
              <a:ea typeface="Calibri"/>
              <a:cs typeface="Calibri"/>
            </a:endParaRPr>
          </a:p>
          <a:p>
            <a:r>
              <a:rPr lang="en-GB" sz="1800" b="1">
                <a:latin typeface="Calibri"/>
                <a:ea typeface="+mn-lt"/>
                <a:cs typeface="+mn-lt"/>
              </a:rPr>
              <a:t>Checklist for Marking a Task as Complete </a:t>
            </a:r>
            <a:r>
              <a:rPr lang="en-GB" sz="1800">
                <a:latin typeface="Calibri"/>
                <a:ea typeface="+mn-lt"/>
                <a:cs typeface="+mn-lt"/>
              </a:rPr>
              <a:t>- The output should satisfy all acceptance criteria, such as correct preprocessing, expected model accuracy, or UI functionality.</a:t>
            </a:r>
            <a:endParaRPr lang="en-GB" sz="1800">
              <a:latin typeface="Calibri"/>
              <a:ea typeface="Calibri"/>
              <a:cs typeface="Calibri"/>
            </a:endParaRPr>
          </a:p>
          <a:p>
            <a:r>
              <a:rPr lang="en-GB" sz="1800">
                <a:latin typeface="Calibri"/>
                <a:ea typeface="+mn-lt"/>
                <a:cs typeface="+mn-lt"/>
              </a:rPr>
              <a:t>All associated documentation, dataset changes should be updated.</a:t>
            </a:r>
            <a:endParaRPr lang="en-GB" sz="1800">
              <a:latin typeface="Calibri"/>
              <a:ea typeface="Calibri"/>
              <a:cs typeface="Calibri"/>
            </a:endParaRPr>
          </a:p>
          <a:p>
            <a:endParaRPr lang="en-GB" sz="1800">
              <a:latin typeface="Calibri"/>
              <a:ea typeface="Calibri"/>
              <a:cs typeface="Calibri"/>
            </a:endParaRPr>
          </a:p>
          <a:p>
            <a:endParaRPr lang="en-GB" sz="1800">
              <a:latin typeface="Calibri"/>
              <a:ea typeface="Calibri"/>
              <a:cs typeface="Calibri"/>
            </a:endParaRPr>
          </a:p>
        </p:txBody>
      </p:sp>
    </p:spTree>
    <p:extLst>
      <p:ext uri="{BB962C8B-B14F-4D97-AF65-F5344CB8AC3E}">
        <p14:creationId xmlns:p14="http://schemas.microsoft.com/office/powerpoint/2010/main" val="3093185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13">
            <a:extLst>
              <a:ext uri="{FF2B5EF4-FFF2-40B4-BE49-F238E27FC236}">
                <a16:creationId xmlns:a16="http://schemas.microsoft.com/office/drawing/2014/main" id="{041C67D0-A496-4B86-BF61-263FF9EFD7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6068" y="320442"/>
            <a:ext cx="6572492" cy="6212748"/>
          </a:xfrm>
          <a:custGeom>
            <a:avLst/>
            <a:gdLst>
              <a:gd name="connsiteX0" fmla="*/ 0 w 6572492"/>
              <a:gd name="connsiteY0" fmla="*/ 0 h 6212748"/>
              <a:gd name="connsiteX1" fmla="*/ 2248593 w 6572492"/>
              <a:gd name="connsiteY1" fmla="*/ 0 h 6212748"/>
              <a:gd name="connsiteX2" fmla="*/ 2694770 w 6572492"/>
              <a:gd name="connsiteY2" fmla="*/ 0 h 6212748"/>
              <a:gd name="connsiteX3" fmla="*/ 2991094 w 6572492"/>
              <a:gd name="connsiteY3" fmla="*/ 0 h 6212748"/>
              <a:gd name="connsiteX4" fmla="*/ 6572492 w 6572492"/>
              <a:gd name="connsiteY4" fmla="*/ 0 h 6212748"/>
              <a:gd name="connsiteX5" fmla="*/ 6572492 w 6572492"/>
              <a:gd name="connsiteY5" fmla="*/ 2864954 h 6212748"/>
              <a:gd name="connsiteX6" fmla="*/ 3129047 w 6572492"/>
              <a:gd name="connsiteY6" fmla="*/ 6212748 h 6212748"/>
              <a:gd name="connsiteX7" fmla="*/ 2694770 w 6572492"/>
              <a:gd name="connsiteY7" fmla="*/ 6212748 h 6212748"/>
              <a:gd name="connsiteX8" fmla="*/ 2248593 w 6572492"/>
              <a:gd name="connsiteY8" fmla="*/ 6212748 h 6212748"/>
              <a:gd name="connsiteX9" fmla="*/ 0 w 6572492"/>
              <a:gd name="connsiteY9" fmla="*/ 6212748 h 621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92" h="6212748">
                <a:moveTo>
                  <a:pt x="0" y="0"/>
                </a:moveTo>
                <a:lnTo>
                  <a:pt x="2248593" y="0"/>
                </a:lnTo>
                <a:lnTo>
                  <a:pt x="2694770" y="0"/>
                </a:lnTo>
                <a:lnTo>
                  <a:pt x="2991094" y="0"/>
                </a:lnTo>
                <a:lnTo>
                  <a:pt x="6572492" y="0"/>
                </a:lnTo>
                <a:lnTo>
                  <a:pt x="6572492" y="2864954"/>
                </a:lnTo>
                <a:lnTo>
                  <a:pt x="3129047" y="6212748"/>
                </a:lnTo>
                <a:lnTo>
                  <a:pt x="2694770" y="6212748"/>
                </a:lnTo>
                <a:lnTo>
                  <a:pt x="2248593"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Right Triangle 42">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7"/>
          <p:cNvSpPr txBox="1"/>
          <p:nvPr/>
        </p:nvSpPr>
        <p:spPr>
          <a:xfrm>
            <a:off x="5292935" y="855680"/>
            <a:ext cx="5918338" cy="6397130"/>
          </a:xfrm>
          <a:prstGeom prst="rect">
            <a:avLst/>
          </a:prstGeom>
        </p:spPr>
        <p:txBody>
          <a:bodyPr vert="horz" lIns="91440" tIns="45720" rIns="91440" bIns="45720" rtlCol="0" anchor="t">
            <a:noAutofit/>
          </a:bodyPr>
          <a:lstStyle/>
          <a:p>
            <a:pPr marL="271145" lvl="1" indent="-228600">
              <a:lnSpc>
                <a:spcPct val="90000"/>
              </a:lnSpc>
              <a:spcAft>
                <a:spcPts val="600"/>
              </a:spcAft>
              <a:buFont typeface="Arial" panose="020B0604020202020204" pitchFamily="34" charset="0"/>
              <a:buChar char="•"/>
            </a:pPr>
            <a:r>
              <a:rPr lang="en-US" sz="1200">
                <a:latin typeface="Calibri"/>
                <a:ea typeface="Calibri"/>
                <a:cs typeface="Calibri"/>
              </a:rPr>
              <a:t>Sarah is an avid online shopper who loves finding unique items from small businesses. She uses her credit card for most of her purchases, appreciating the convenience and rewards. She's tech-savvy and expects seamless digital experiences. Recently, her card details were stolen from a third-party website, leading to several unauthorized small purchases. The process of getting a new card and updating her payment information on various subscriptions was a significant hassle and made her wary of future online transactions. She's looking for reassurance and security in her digital financial interactions.</a:t>
            </a:r>
          </a:p>
          <a:p>
            <a:pPr marL="271145" lvl="1" indent="-228600">
              <a:lnSpc>
                <a:spcPct val="90000"/>
              </a:lnSpc>
              <a:spcAft>
                <a:spcPts val="600"/>
              </a:spcAft>
              <a:buFont typeface="Arial" panose="020B0604020202020204" pitchFamily="34" charset="0"/>
              <a:buChar char="•"/>
            </a:pPr>
            <a:r>
              <a:rPr lang="en-US" sz="1200">
                <a:latin typeface="Calibri"/>
                <a:ea typeface="Calibri"/>
                <a:cs typeface="Calibri"/>
              </a:rPr>
              <a:t>Goals:</a:t>
            </a:r>
          </a:p>
          <a:p>
            <a:pPr marL="728345" lvl="2" indent="-228600">
              <a:lnSpc>
                <a:spcPct val="90000"/>
              </a:lnSpc>
              <a:spcAft>
                <a:spcPts val="600"/>
              </a:spcAft>
              <a:buFont typeface="Arial" panose="020B0604020202020204" pitchFamily="34" charset="0"/>
              <a:buChar char="•"/>
            </a:pPr>
            <a:r>
              <a:rPr lang="en-US" sz="1200">
                <a:latin typeface="Calibri"/>
                <a:ea typeface="Calibri"/>
                <a:cs typeface="Calibri"/>
              </a:rPr>
              <a:t>Wants to shop online without constant worry about card fraud.</a:t>
            </a:r>
          </a:p>
          <a:p>
            <a:pPr marL="728345" lvl="2" indent="-228600">
              <a:lnSpc>
                <a:spcPct val="90000"/>
              </a:lnSpc>
              <a:spcAft>
                <a:spcPts val="600"/>
              </a:spcAft>
              <a:buFont typeface="Arial" panose="020B0604020202020204" pitchFamily="34" charset="0"/>
              <a:buChar char="•"/>
            </a:pPr>
            <a:r>
              <a:rPr lang="en-US" sz="1200">
                <a:latin typeface="Calibri"/>
                <a:ea typeface="Calibri"/>
                <a:cs typeface="Calibri"/>
              </a:rPr>
              <a:t>Needs quick and clear notifications for any suspicious activity on her accounts.</a:t>
            </a:r>
          </a:p>
          <a:p>
            <a:pPr marL="728345" lvl="2" indent="-228600">
              <a:lnSpc>
                <a:spcPct val="90000"/>
              </a:lnSpc>
              <a:spcAft>
                <a:spcPts val="600"/>
              </a:spcAft>
              <a:buFont typeface="Arial" panose="020B0604020202020204" pitchFamily="34" charset="0"/>
              <a:buChar char="•"/>
            </a:pPr>
            <a:r>
              <a:rPr lang="en-US" sz="1200">
                <a:latin typeface="Calibri"/>
                <a:ea typeface="Calibri"/>
                <a:cs typeface="Calibri"/>
              </a:rPr>
              <a:t>Hopes for an easy way to verify transactions or freeze her card directly from her phone if needed.</a:t>
            </a:r>
          </a:p>
          <a:p>
            <a:pPr marL="271145" lvl="1" indent="-228600">
              <a:lnSpc>
                <a:spcPct val="90000"/>
              </a:lnSpc>
              <a:spcAft>
                <a:spcPts val="600"/>
              </a:spcAft>
              <a:buFont typeface="Arial" panose="020B0604020202020204" pitchFamily="34" charset="0"/>
              <a:buChar char="•"/>
            </a:pPr>
            <a:r>
              <a:rPr lang="en-US" sz="1200">
                <a:latin typeface="Calibri"/>
                <a:ea typeface="Calibri"/>
                <a:cs typeface="Calibri"/>
              </a:rPr>
              <a:t>Frustrations:</a:t>
            </a:r>
          </a:p>
          <a:p>
            <a:pPr marL="728345" lvl="2" indent="-228600">
              <a:lnSpc>
                <a:spcPct val="90000"/>
              </a:lnSpc>
              <a:spcAft>
                <a:spcPts val="600"/>
              </a:spcAft>
              <a:buFont typeface="Arial" panose="020B0604020202020204" pitchFamily="34" charset="0"/>
              <a:buChar char="•"/>
            </a:pPr>
            <a:r>
              <a:rPr lang="en-US" sz="1200">
                <a:latin typeface="Calibri"/>
                <a:ea typeface="Calibri"/>
                <a:cs typeface="Calibri"/>
              </a:rPr>
              <a:t>The time and effort involved in cancelling cards and updating payment details after fraud.</a:t>
            </a:r>
          </a:p>
          <a:p>
            <a:pPr marL="728345" lvl="2" indent="-228600">
              <a:lnSpc>
                <a:spcPct val="90000"/>
              </a:lnSpc>
              <a:spcAft>
                <a:spcPts val="600"/>
              </a:spcAft>
              <a:buFont typeface="Arial" panose="020B0604020202020204" pitchFamily="34" charset="0"/>
              <a:buChar char="•"/>
            </a:pPr>
            <a:r>
              <a:rPr lang="en-US" sz="1200">
                <a:latin typeface="Calibri"/>
                <a:ea typeface="Calibri"/>
                <a:cs typeface="Calibri"/>
              </a:rPr>
              <a:t>Feeling vulnerable and exposed when her financial information is compromised.</a:t>
            </a:r>
          </a:p>
          <a:p>
            <a:pPr marL="728345" lvl="2" indent="-228600">
              <a:lnSpc>
                <a:spcPct val="90000"/>
              </a:lnSpc>
              <a:spcAft>
                <a:spcPts val="600"/>
              </a:spcAft>
              <a:buFont typeface="Arial" panose="020B0604020202020204" pitchFamily="34" charset="0"/>
              <a:buChar char="•"/>
            </a:pPr>
            <a:r>
              <a:rPr lang="en-US" sz="1200">
                <a:latin typeface="Calibri"/>
                <a:ea typeface="Calibri"/>
                <a:cs typeface="Calibri"/>
              </a:rPr>
              <a:t>Receiving generic, unhelpful alerts that don't provide clear next steps.</a:t>
            </a:r>
          </a:p>
          <a:p>
            <a:pPr marL="271145" lvl="1" indent="-228600">
              <a:lnSpc>
                <a:spcPct val="90000"/>
              </a:lnSpc>
              <a:spcAft>
                <a:spcPts val="600"/>
              </a:spcAft>
              <a:buFont typeface="Arial" panose="020B0604020202020204" pitchFamily="34" charset="0"/>
              <a:buChar char="•"/>
            </a:pPr>
            <a:r>
              <a:rPr lang="en-US" sz="1200">
                <a:latin typeface="Calibri"/>
                <a:ea typeface="Calibri"/>
                <a:cs typeface="Calibri"/>
              </a:rPr>
              <a:t>Needs from the Solution:</a:t>
            </a:r>
          </a:p>
          <a:p>
            <a:pPr marL="728345" lvl="2" indent="-228600">
              <a:lnSpc>
                <a:spcPct val="90000"/>
              </a:lnSpc>
              <a:spcAft>
                <a:spcPts val="600"/>
              </a:spcAft>
              <a:buFont typeface="Arial" panose="020B0604020202020204" pitchFamily="34" charset="0"/>
              <a:buChar char="•"/>
            </a:pPr>
            <a:r>
              <a:rPr lang="en-US" sz="1200">
                <a:latin typeface="Calibri"/>
                <a:ea typeface="Calibri"/>
                <a:cs typeface="Calibri"/>
              </a:rPr>
              <a:t>Real-time alerts that are easy to understand and act upon.</a:t>
            </a:r>
          </a:p>
          <a:p>
            <a:pPr marL="728345" lvl="2" indent="-228600">
              <a:lnSpc>
                <a:spcPct val="90000"/>
              </a:lnSpc>
              <a:spcAft>
                <a:spcPts val="600"/>
              </a:spcAft>
              <a:buFont typeface="Arial" panose="020B0604020202020204" pitchFamily="34" charset="0"/>
              <a:buChar char="•"/>
            </a:pPr>
            <a:r>
              <a:rPr lang="en-US" sz="1200">
                <a:latin typeface="Calibri"/>
                <a:ea typeface="Calibri"/>
                <a:cs typeface="Calibri"/>
              </a:rPr>
              <a:t>An intuitive mobile interface that allows her to quickly approve or deny a transaction and temporarily lock her card.</a:t>
            </a:r>
          </a:p>
          <a:p>
            <a:pPr marL="728345" lvl="2" indent="-228600">
              <a:lnSpc>
                <a:spcPct val="90000"/>
              </a:lnSpc>
              <a:spcAft>
                <a:spcPts val="600"/>
              </a:spcAft>
              <a:buFont typeface="Arial" panose="020B0604020202020204" pitchFamily="34" charset="0"/>
              <a:buChar char="•"/>
            </a:pPr>
            <a:r>
              <a:rPr lang="en-US" sz="1200">
                <a:latin typeface="Calibri"/>
                <a:ea typeface="Calibri"/>
                <a:cs typeface="Calibri"/>
              </a:rPr>
              <a:t>Minimal false positives on her legitimate purchases so she doesn't lose trust in the system.</a:t>
            </a:r>
          </a:p>
          <a:p>
            <a:pPr marL="728345" lvl="2" indent="-228600">
              <a:lnSpc>
                <a:spcPct val="90000"/>
              </a:lnSpc>
              <a:spcAft>
                <a:spcPts val="600"/>
              </a:spcAft>
              <a:buFont typeface="Arial" panose="020B0604020202020204" pitchFamily="34" charset="0"/>
              <a:buChar char="•"/>
            </a:pPr>
            <a:endParaRPr lang="en-US" sz="1200">
              <a:latin typeface="Calibri"/>
              <a:ea typeface="Calibri"/>
              <a:cs typeface="Calibri"/>
            </a:endParaRPr>
          </a:p>
        </p:txBody>
      </p:sp>
      <p:grpSp>
        <p:nvGrpSpPr>
          <p:cNvPr id="2" name="Group 2"/>
          <p:cNvGrpSpPr>
            <a:grpSpLocks noChangeAspect="1"/>
          </p:cNvGrpSpPr>
          <p:nvPr/>
        </p:nvGrpSpPr>
        <p:grpSpPr>
          <a:xfrm>
            <a:off x="1561514" y="2220097"/>
            <a:ext cx="2747610" cy="1822723"/>
            <a:chOff x="3442868" y="-112078"/>
            <a:chExt cx="6343129" cy="3583432"/>
          </a:xfrm>
        </p:grpSpPr>
        <p:sp>
          <p:nvSpPr>
            <p:cNvPr id="3" name="Freeform 3" descr="A person sitting in a chair  Description automatically generated"/>
            <p:cNvSpPr/>
            <p:nvPr/>
          </p:nvSpPr>
          <p:spPr>
            <a:xfrm>
              <a:off x="3442868" y="-112078"/>
              <a:ext cx="6343129" cy="3583432"/>
            </a:xfrm>
            <a:custGeom>
              <a:avLst/>
              <a:gdLst/>
              <a:ahLst/>
              <a:cxnLst/>
              <a:rect l="l" t="t" r="r" b="b"/>
              <a:pathLst>
                <a:path w="5642864" h="3583432">
                  <a:moveTo>
                    <a:pt x="0" y="0"/>
                  </a:moveTo>
                  <a:lnTo>
                    <a:pt x="5642864" y="0"/>
                  </a:lnTo>
                  <a:lnTo>
                    <a:pt x="5642864" y="3583432"/>
                  </a:lnTo>
                  <a:lnTo>
                    <a:pt x="0" y="3583432"/>
                  </a:lnTo>
                  <a:lnTo>
                    <a:pt x="0" y="0"/>
                  </a:lnTo>
                  <a:close/>
                </a:path>
              </a:pathLst>
            </a:custGeom>
            <a:blipFill>
              <a:blip r:embed="rId2">
                <a:alphaModFix amt="83000"/>
              </a:blip>
              <a:stretch>
                <a:fillRect t="-2490" b="-2491"/>
              </a:stretch>
            </a:blipFill>
          </p:spPr>
          <p:txBody>
            <a:bodyPr/>
            <a:lstStyle/>
            <a:p>
              <a:endParaRPr lang="en-US" sz="1200"/>
            </a:p>
          </p:txBody>
        </p:sp>
      </p:grpSp>
      <p:grpSp>
        <p:nvGrpSpPr>
          <p:cNvPr id="4" name="Group 4"/>
          <p:cNvGrpSpPr/>
          <p:nvPr/>
        </p:nvGrpSpPr>
        <p:grpSpPr>
          <a:xfrm>
            <a:off x="938156" y="1439874"/>
            <a:ext cx="3880831" cy="534579"/>
            <a:chOff x="-1708502" y="-47625"/>
            <a:chExt cx="17128228" cy="2425065"/>
          </a:xfrm>
        </p:grpSpPr>
        <p:sp>
          <p:nvSpPr>
            <p:cNvPr id="5" name="Freeform 5"/>
            <p:cNvSpPr/>
            <p:nvPr/>
          </p:nvSpPr>
          <p:spPr>
            <a:xfrm>
              <a:off x="-1702741" y="-2"/>
              <a:ext cx="15459458" cy="2377442"/>
            </a:xfrm>
            <a:custGeom>
              <a:avLst/>
              <a:gdLst/>
              <a:ahLst/>
              <a:cxnLst/>
              <a:rect l="l" t="t" r="r" b="b"/>
              <a:pathLst>
                <a:path w="15459456" h="2377440">
                  <a:moveTo>
                    <a:pt x="0" y="0"/>
                  </a:moveTo>
                  <a:lnTo>
                    <a:pt x="15459456" y="0"/>
                  </a:lnTo>
                  <a:lnTo>
                    <a:pt x="15459456" y="2377440"/>
                  </a:lnTo>
                  <a:lnTo>
                    <a:pt x="0" y="2377440"/>
                  </a:lnTo>
                  <a:close/>
                </a:path>
              </a:pathLst>
            </a:custGeom>
            <a:solidFill>
              <a:srgbClr val="000000">
                <a:alpha val="0"/>
              </a:srgbClr>
            </a:solidFill>
          </p:spPr>
          <p:txBody>
            <a:bodyPr/>
            <a:lstStyle/>
            <a:p>
              <a:endParaRPr lang="en-US" sz="1200"/>
            </a:p>
          </p:txBody>
        </p:sp>
        <p:sp>
          <p:nvSpPr>
            <p:cNvPr id="6" name="TextBox 6"/>
            <p:cNvSpPr txBox="1"/>
            <p:nvPr/>
          </p:nvSpPr>
          <p:spPr>
            <a:xfrm>
              <a:off x="-1708502" y="-47625"/>
              <a:ext cx="17128228" cy="2425065"/>
            </a:xfrm>
            <a:prstGeom prst="rect">
              <a:avLst/>
            </a:prstGeom>
          </p:spPr>
          <p:txBody>
            <a:bodyPr lIns="0" tIns="0" rIns="0" bIns="0" rtlCol="0" anchor="ctr"/>
            <a:lstStyle/>
            <a:p>
              <a:pPr defTabSz="402336">
                <a:lnSpc>
                  <a:spcPts val="1727"/>
                </a:lnSpc>
                <a:spcAft>
                  <a:spcPts val="600"/>
                </a:spcAft>
              </a:pPr>
              <a:r>
                <a:rPr lang="en-US" sz="2800" b="1" kern="1200">
                  <a:solidFill>
                    <a:srgbClr val="000000"/>
                  </a:solidFill>
                  <a:latin typeface="Calibri"/>
                  <a:ea typeface="Calibri"/>
                  <a:cs typeface="Calibri"/>
                  <a:sym typeface="Gill Sans Bold"/>
                </a:rPr>
                <a:t>Persona 1:  Sarah Miller</a:t>
              </a:r>
              <a:endParaRPr lang="en-US" sz="2800" b="1">
                <a:solidFill>
                  <a:srgbClr val="000000"/>
                </a:solidFill>
                <a:latin typeface="Calibri"/>
                <a:ea typeface="Calibri"/>
                <a:cs typeface="Calibri"/>
              </a:endParaRPr>
            </a:p>
          </p:txBody>
        </p:sp>
      </p:grpSp>
      <p:sp>
        <p:nvSpPr>
          <p:cNvPr id="8" name="TextBox 7">
            <a:extLst>
              <a:ext uri="{FF2B5EF4-FFF2-40B4-BE49-F238E27FC236}">
                <a16:creationId xmlns:a16="http://schemas.microsoft.com/office/drawing/2014/main" id="{B9E426D1-7523-EEF6-B0D8-D477D67BE3C0}"/>
              </a:ext>
            </a:extLst>
          </p:cNvPr>
          <p:cNvSpPr txBox="1"/>
          <p:nvPr/>
        </p:nvSpPr>
        <p:spPr>
          <a:xfrm>
            <a:off x="1669035" y="4637903"/>
            <a:ext cx="3053607" cy="1271117"/>
          </a:xfrm>
          <a:prstGeom prst="rect">
            <a:avLst/>
          </a:prstGeom>
          <a:noFill/>
        </p:spPr>
        <p:txBody>
          <a:bodyPr wrap="square" lIns="91440" tIns="45720" rIns="91440" bIns="45720" rtlCol="0" anchor="t">
            <a:spAutoFit/>
          </a:bodyPr>
          <a:lstStyle/>
          <a:p>
            <a:pPr marL="271145" lvl="1" indent="-228600">
              <a:lnSpc>
                <a:spcPct val="90000"/>
              </a:lnSpc>
              <a:spcAft>
                <a:spcPts val="600"/>
              </a:spcAft>
              <a:buFont typeface="Arial" panose="020B0604020202020204" pitchFamily="34" charset="0"/>
              <a:buChar char="•"/>
            </a:pPr>
            <a:r>
              <a:rPr lang="en-US" sz="1800">
                <a:latin typeface="Calibri"/>
                <a:ea typeface="Calibri"/>
                <a:cs typeface="Calibri"/>
                <a:sym typeface="Gill Sans Light"/>
              </a:rPr>
              <a:t>Age: 28</a:t>
            </a:r>
            <a:endParaRPr lang="en-US" sz="1800">
              <a:latin typeface="Calibri"/>
              <a:ea typeface="Calibri"/>
              <a:cs typeface="Calibri"/>
            </a:endParaRPr>
          </a:p>
          <a:p>
            <a:pPr marL="271145" lvl="1" indent="-228600">
              <a:lnSpc>
                <a:spcPct val="90000"/>
              </a:lnSpc>
              <a:spcAft>
                <a:spcPts val="600"/>
              </a:spcAft>
              <a:buFont typeface="Arial" panose="020B0604020202020204" pitchFamily="34" charset="0"/>
              <a:buChar char="•"/>
            </a:pPr>
            <a:r>
              <a:rPr lang="en-US" sz="1800">
                <a:latin typeface="Calibri"/>
                <a:ea typeface="Calibri"/>
                <a:cs typeface="Calibri"/>
                <a:sym typeface="Gill Sans Light"/>
              </a:rPr>
              <a:t>Occupation: Graphic Designer</a:t>
            </a:r>
            <a:endParaRPr lang="en-US" sz="1800">
              <a:latin typeface="Calibri"/>
              <a:ea typeface="Calibri"/>
              <a:cs typeface="Calibri"/>
            </a:endParaRPr>
          </a:p>
          <a:p>
            <a:endParaRPr lang="en-US">
              <a:latin typeface="Gill Sans Bo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41C67D0-A496-4B86-BF61-263FF9EFD7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6068" y="320442"/>
            <a:ext cx="6572492" cy="6212748"/>
          </a:xfrm>
          <a:custGeom>
            <a:avLst/>
            <a:gdLst>
              <a:gd name="connsiteX0" fmla="*/ 0 w 6572492"/>
              <a:gd name="connsiteY0" fmla="*/ 0 h 6212748"/>
              <a:gd name="connsiteX1" fmla="*/ 2248593 w 6572492"/>
              <a:gd name="connsiteY1" fmla="*/ 0 h 6212748"/>
              <a:gd name="connsiteX2" fmla="*/ 2694770 w 6572492"/>
              <a:gd name="connsiteY2" fmla="*/ 0 h 6212748"/>
              <a:gd name="connsiteX3" fmla="*/ 2991094 w 6572492"/>
              <a:gd name="connsiteY3" fmla="*/ 0 h 6212748"/>
              <a:gd name="connsiteX4" fmla="*/ 6572492 w 6572492"/>
              <a:gd name="connsiteY4" fmla="*/ 0 h 6212748"/>
              <a:gd name="connsiteX5" fmla="*/ 6572492 w 6572492"/>
              <a:gd name="connsiteY5" fmla="*/ 2864954 h 6212748"/>
              <a:gd name="connsiteX6" fmla="*/ 3129047 w 6572492"/>
              <a:gd name="connsiteY6" fmla="*/ 6212748 h 6212748"/>
              <a:gd name="connsiteX7" fmla="*/ 2694770 w 6572492"/>
              <a:gd name="connsiteY7" fmla="*/ 6212748 h 6212748"/>
              <a:gd name="connsiteX8" fmla="*/ 2248593 w 6572492"/>
              <a:gd name="connsiteY8" fmla="*/ 6212748 h 6212748"/>
              <a:gd name="connsiteX9" fmla="*/ 0 w 6572492"/>
              <a:gd name="connsiteY9" fmla="*/ 6212748 h 621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92" h="6212748">
                <a:moveTo>
                  <a:pt x="0" y="0"/>
                </a:moveTo>
                <a:lnTo>
                  <a:pt x="2248593" y="0"/>
                </a:lnTo>
                <a:lnTo>
                  <a:pt x="2694770" y="0"/>
                </a:lnTo>
                <a:lnTo>
                  <a:pt x="2991094" y="0"/>
                </a:lnTo>
                <a:lnTo>
                  <a:pt x="6572492" y="0"/>
                </a:lnTo>
                <a:lnTo>
                  <a:pt x="6572492" y="2864954"/>
                </a:lnTo>
                <a:lnTo>
                  <a:pt x="3129047" y="6212748"/>
                </a:lnTo>
                <a:lnTo>
                  <a:pt x="2694770" y="6212748"/>
                </a:lnTo>
                <a:lnTo>
                  <a:pt x="2248593"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ight Triangle 15">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7"/>
          <p:cNvSpPr txBox="1"/>
          <p:nvPr/>
        </p:nvSpPr>
        <p:spPr>
          <a:xfrm>
            <a:off x="5307082" y="420413"/>
            <a:ext cx="6239745" cy="6011917"/>
          </a:xfrm>
          <a:prstGeom prst="rect">
            <a:avLst/>
          </a:prstGeom>
        </p:spPr>
        <p:txBody>
          <a:bodyPr vert="horz" lIns="91440" tIns="45720" rIns="91440" bIns="45720" rtlCol="0" anchor="t">
            <a:noAutofit/>
          </a:bodyPr>
          <a:lstStyle/>
          <a:p>
            <a:pPr indent="-228600">
              <a:lnSpc>
                <a:spcPct val="90000"/>
              </a:lnSpc>
              <a:spcAft>
                <a:spcPts val="600"/>
              </a:spcAft>
              <a:buFont typeface="Arial" panose="020B0604020202020204" pitchFamily="34" charset="0"/>
              <a:buChar char="•"/>
            </a:pPr>
            <a:endParaRPr lang="en-US" sz="1200">
              <a:latin typeface="Calibri"/>
              <a:ea typeface="Calibri"/>
              <a:cs typeface="Calibri"/>
            </a:endParaRPr>
          </a:p>
          <a:p>
            <a:pPr marL="250825" lvl="1"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Age: 32</a:t>
            </a:r>
            <a:endParaRPr lang="en-US" sz="1200" spc="21">
              <a:latin typeface="Calibri"/>
              <a:ea typeface="Calibri"/>
              <a:cs typeface="Calibri"/>
            </a:endParaRPr>
          </a:p>
          <a:p>
            <a:pPr marL="250825" lvl="1"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Occupation: Founder of "</a:t>
            </a:r>
            <a:r>
              <a:rPr lang="en-US" sz="1200" spc="21" err="1">
                <a:latin typeface="Calibri"/>
                <a:ea typeface="Calibri"/>
                <a:cs typeface="Calibri"/>
                <a:sym typeface="Gill Sans Light"/>
              </a:rPr>
              <a:t>PetPals</a:t>
            </a:r>
            <a:r>
              <a:rPr lang="en-US" sz="1200" spc="21">
                <a:latin typeface="Calibri"/>
                <a:ea typeface="Calibri"/>
                <a:cs typeface="Calibri"/>
                <a:sym typeface="Gill Sans Light"/>
              </a:rPr>
              <a:t> Boutique" | The E-commerce Startup Founder</a:t>
            </a:r>
            <a:endParaRPr lang="en-US" sz="1200" spc="21">
              <a:latin typeface="Calibri"/>
              <a:ea typeface="Calibri"/>
              <a:cs typeface="Calibri"/>
            </a:endParaRPr>
          </a:p>
          <a:p>
            <a:pPr marL="250825" lvl="1"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Alex recently launched "</a:t>
            </a:r>
            <a:r>
              <a:rPr lang="en-US" sz="1200" spc="21" err="1">
                <a:latin typeface="Calibri"/>
                <a:ea typeface="Calibri"/>
                <a:cs typeface="Calibri"/>
                <a:sym typeface="Gill Sans Light"/>
              </a:rPr>
              <a:t>PetPals</a:t>
            </a:r>
            <a:r>
              <a:rPr lang="en-US" sz="1200" spc="21">
                <a:latin typeface="Calibri"/>
                <a:ea typeface="Calibri"/>
                <a:cs typeface="Calibri"/>
                <a:sym typeface="Gill Sans Light"/>
              </a:rPr>
              <a:t> Boutique," an online store selling custom pet accessories. Business is booming, but he's starting to see </a:t>
            </a:r>
            <a:r>
              <a:rPr lang="en-US" sz="1200" spc="21" err="1">
                <a:latin typeface="Calibri"/>
                <a:ea typeface="Calibri"/>
                <a:cs typeface="Calibri"/>
                <a:sym typeface="Gill Sans Light"/>
              </a:rPr>
              <a:t>adisturbing</a:t>
            </a:r>
            <a:r>
              <a:rPr lang="en-US" sz="1200" spc="21">
                <a:latin typeface="Calibri"/>
                <a:ea typeface="Calibri"/>
                <a:cs typeface="Calibri"/>
                <a:sym typeface="Gill Sans Light"/>
              </a:rPr>
              <a:t> trend of chargebacks due to fraudulent orders. These chargebacks not only cost him money but also damage his store's </a:t>
            </a:r>
            <a:r>
              <a:rPr lang="en-US" sz="1200" spc="21" err="1">
                <a:latin typeface="Calibri"/>
                <a:ea typeface="Calibri"/>
                <a:cs typeface="Calibri"/>
                <a:sym typeface="Gill Sans Light"/>
              </a:rPr>
              <a:t>reputationwith</a:t>
            </a:r>
            <a:r>
              <a:rPr lang="en-US" sz="1200" spc="21">
                <a:latin typeface="Calibri"/>
                <a:ea typeface="Calibri"/>
                <a:cs typeface="Calibri"/>
                <a:sym typeface="Gill Sans Light"/>
              </a:rPr>
              <a:t> payment processors. He's passionate about his business but has limited resources and can't afford a dedicated fraud team. He needs automated, intelligent system that can protect his revenue and allow him to focus on growing </a:t>
            </a:r>
            <a:r>
              <a:rPr lang="en-US" sz="1200" spc="21" err="1">
                <a:latin typeface="Calibri"/>
                <a:ea typeface="Calibri"/>
                <a:cs typeface="Calibri"/>
                <a:sym typeface="Gill Sans Light"/>
              </a:rPr>
              <a:t>PetPals</a:t>
            </a:r>
            <a:r>
              <a:rPr lang="en-US" sz="1200" spc="21">
                <a:latin typeface="Calibri"/>
                <a:ea typeface="Calibri"/>
                <a:cs typeface="Calibri"/>
                <a:sym typeface="Gill Sans Light"/>
              </a:rPr>
              <a:t> Boutique, not fighting fraud.</a:t>
            </a:r>
            <a:endParaRPr lang="en-US" sz="1200" spc="21">
              <a:latin typeface="Calibri"/>
              <a:ea typeface="Calibri"/>
              <a:cs typeface="Calibri"/>
            </a:endParaRPr>
          </a:p>
          <a:p>
            <a:pPr marL="250825" lvl="1"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Goals:</a:t>
            </a:r>
            <a:endParaRPr lang="en-US" sz="1200" spc="21">
              <a:latin typeface="Calibri"/>
              <a:ea typeface="Calibri"/>
              <a:cs typeface="Calibri"/>
            </a:endParaRPr>
          </a:p>
          <a:p>
            <a:pPr marL="708025" lvl="2"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To minimize chargebacks and financial losses from fraudulent transactions.</a:t>
            </a:r>
            <a:endParaRPr lang="en-US" sz="1200" spc="21">
              <a:latin typeface="Calibri"/>
              <a:ea typeface="Calibri"/>
              <a:cs typeface="Calibri"/>
            </a:endParaRPr>
          </a:p>
          <a:p>
            <a:pPr marL="708025" lvl="2"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To protect his business's reputation with payment providers.</a:t>
            </a:r>
            <a:endParaRPr lang="en-US" sz="1200" spc="21">
              <a:latin typeface="Calibri"/>
              <a:ea typeface="Calibri"/>
              <a:cs typeface="Calibri"/>
            </a:endParaRPr>
          </a:p>
          <a:p>
            <a:pPr marL="708025" lvl="2"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To have a simple, affordable, and effective fraud detection solution that integrates easily with his e-commerce platform.</a:t>
            </a:r>
            <a:endParaRPr lang="en-US" sz="1200" spc="21">
              <a:latin typeface="Calibri"/>
              <a:ea typeface="Calibri"/>
              <a:cs typeface="Calibri"/>
            </a:endParaRPr>
          </a:p>
          <a:p>
            <a:pPr marL="250825" lvl="1"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Frustrations:</a:t>
            </a:r>
            <a:endParaRPr lang="en-US" sz="1200" spc="21">
              <a:latin typeface="Calibri"/>
              <a:ea typeface="Calibri"/>
              <a:cs typeface="Calibri"/>
            </a:endParaRPr>
          </a:p>
          <a:p>
            <a:pPr marL="708025" lvl="2"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The financial impact of fraudulent orders and chargeback fees.</a:t>
            </a:r>
            <a:endParaRPr lang="en-US" sz="1200" spc="21">
              <a:latin typeface="Calibri"/>
              <a:ea typeface="Calibri"/>
              <a:cs typeface="Calibri"/>
            </a:endParaRPr>
          </a:p>
          <a:p>
            <a:pPr marL="708025" lvl="2"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The time-consuming process of manually reviewing suspicious orders.</a:t>
            </a:r>
            <a:endParaRPr lang="en-US" sz="1200" spc="21">
              <a:latin typeface="Calibri"/>
              <a:ea typeface="Calibri"/>
              <a:cs typeface="Calibri"/>
            </a:endParaRPr>
          </a:p>
          <a:p>
            <a:pPr marL="708025" lvl="2"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Fear that his small business could be targeted by organized fraud rings, which he feels ill-equipped to handle.</a:t>
            </a:r>
            <a:endParaRPr lang="en-US" sz="1200" spc="21">
              <a:latin typeface="Calibri"/>
              <a:ea typeface="Calibri"/>
              <a:cs typeface="Calibri"/>
            </a:endParaRPr>
          </a:p>
          <a:p>
            <a:pPr marL="250825" lvl="1"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Needs from the Solution:</a:t>
            </a:r>
            <a:endParaRPr lang="en-US" sz="1200" spc="21">
              <a:latin typeface="Calibri"/>
              <a:ea typeface="Calibri"/>
              <a:cs typeface="Calibri"/>
            </a:endParaRPr>
          </a:p>
          <a:p>
            <a:pPr marL="708025" lvl="2"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An easy-to-integrate API that works seamlessly with his e-commerce platform.</a:t>
            </a:r>
            <a:endParaRPr lang="en-US" sz="1200" spc="21">
              <a:latin typeface="Calibri"/>
              <a:ea typeface="Calibri"/>
              <a:cs typeface="Calibri"/>
            </a:endParaRPr>
          </a:p>
          <a:p>
            <a:pPr marL="708025" lvl="2"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A dashboard that provides clear, actionable insights on potential fraud, without requiring a lot of technical expertise.</a:t>
            </a:r>
            <a:endParaRPr lang="en-US" sz="1200" spc="21">
              <a:latin typeface="Calibri"/>
              <a:ea typeface="Calibri"/>
              <a:cs typeface="Calibri"/>
            </a:endParaRPr>
          </a:p>
          <a:p>
            <a:pPr marL="708025" lvl="2" indent="-228600">
              <a:lnSpc>
                <a:spcPct val="90000"/>
              </a:lnSpc>
              <a:spcAft>
                <a:spcPts val="600"/>
              </a:spcAft>
              <a:buFont typeface="Arial" panose="020B0604020202020204" pitchFamily="34" charset="0"/>
              <a:buChar char="•"/>
            </a:pPr>
            <a:r>
              <a:rPr lang="en-US" sz="1200" spc="21">
                <a:latin typeface="Calibri"/>
                <a:ea typeface="Calibri"/>
                <a:cs typeface="Calibri"/>
                <a:sym typeface="Gill Sans Light"/>
              </a:rPr>
              <a:t>Automated decision-making that blocks high-risk transactions instantly and allows low-risk ones to proceed without delay.</a:t>
            </a:r>
            <a:endParaRPr lang="en-US" sz="1200" spc="21">
              <a:latin typeface="Calibri"/>
              <a:ea typeface="Calibri"/>
              <a:cs typeface="Calibri"/>
            </a:endParaRPr>
          </a:p>
        </p:txBody>
      </p:sp>
      <p:grpSp>
        <p:nvGrpSpPr>
          <p:cNvPr id="2" name="Group 2"/>
          <p:cNvGrpSpPr>
            <a:grpSpLocks noChangeAspect="1"/>
          </p:cNvGrpSpPr>
          <p:nvPr/>
        </p:nvGrpSpPr>
        <p:grpSpPr>
          <a:xfrm>
            <a:off x="1764704" y="2151108"/>
            <a:ext cx="1707107" cy="1984137"/>
            <a:chOff x="0" y="0"/>
            <a:chExt cx="4001643" cy="3638550"/>
          </a:xfrm>
        </p:grpSpPr>
        <p:sp>
          <p:nvSpPr>
            <p:cNvPr id="3" name="Freeform 3" descr="A close-up of a person smiling  Description automatically generated"/>
            <p:cNvSpPr/>
            <p:nvPr/>
          </p:nvSpPr>
          <p:spPr>
            <a:xfrm>
              <a:off x="0" y="0"/>
              <a:ext cx="4001643" cy="3638550"/>
            </a:xfrm>
            <a:custGeom>
              <a:avLst/>
              <a:gdLst/>
              <a:ahLst/>
              <a:cxnLst/>
              <a:rect l="l" t="t" r="r" b="b"/>
              <a:pathLst>
                <a:path w="4001643" h="3638550">
                  <a:moveTo>
                    <a:pt x="0" y="0"/>
                  </a:moveTo>
                  <a:lnTo>
                    <a:pt x="4001643" y="0"/>
                  </a:lnTo>
                  <a:lnTo>
                    <a:pt x="4001643" y="3638550"/>
                  </a:lnTo>
                  <a:lnTo>
                    <a:pt x="0" y="3638550"/>
                  </a:lnTo>
                  <a:lnTo>
                    <a:pt x="0" y="0"/>
                  </a:lnTo>
                  <a:close/>
                </a:path>
              </a:pathLst>
            </a:custGeom>
            <a:blipFill>
              <a:blip r:embed="rId2">
                <a:alphaModFix amt="83000"/>
              </a:blip>
              <a:stretch>
                <a:fillRect l="-18023" r="-18022"/>
              </a:stretch>
            </a:blipFill>
          </p:spPr>
          <p:txBody>
            <a:bodyPr/>
            <a:lstStyle/>
            <a:p>
              <a:endParaRPr lang="en-US" sz="1200"/>
            </a:p>
          </p:txBody>
        </p:sp>
      </p:grpSp>
      <p:grpSp>
        <p:nvGrpSpPr>
          <p:cNvPr id="4" name="Group 4"/>
          <p:cNvGrpSpPr/>
          <p:nvPr/>
        </p:nvGrpSpPr>
        <p:grpSpPr>
          <a:xfrm>
            <a:off x="1212502" y="1477976"/>
            <a:ext cx="3510140" cy="450426"/>
            <a:chOff x="0" y="-47625"/>
            <a:chExt cx="21031200" cy="2698751"/>
          </a:xfrm>
        </p:grpSpPr>
        <p:sp>
          <p:nvSpPr>
            <p:cNvPr id="5" name="Freeform 5"/>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txBody>
            <a:bodyPr/>
            <a:lstStyle/>
            <a:p>
              <a:endParaRPr lang="en-US" sz="1200"/>
            </a:p>
          </p:txBody>
        </p:sp>
        <p:sp>
          <p:nvSpPr>
            <p:cNvPr id="6" name="TextBox 6"/>
            <p:cNvSpPr txBox="1"/>
            <p:nvPr/>
          </p:nvSpPr>
          <p:spPr>
            <a:xfrm>
              <a:off x="0" y="-47625"/>
              <a:ext cx="21031200" cy="2698751"/>
            </a:xfrm>
            <a:prstGeom prst="rect">
              <a:avLst/>
            </a:prstGeom>
          </p:spPr>
          <p:txBody>
            <a:bodyPr lIns="0" tIns="0" rIns="0" bIns="0" rtlCol="0" anchor="ctr"/>
            <a:lstStyle/>
            <a:p>
              <a:pPr defTabSz="301752">
                <a:lnSpc>
                  <a:spcPts val="1283"/>
                </a:lnSpc>
                <a:spcAft>
                  <a:spcPts val="600"/>
                </a:spcAft>
              </a:pPr>
              <a:r>
                <a:rPr lang="en-US" sz="2800" b="1" kern="1200">
                  <a:solidFill>
                    <a:srgbClr val="000000"/>
                  </a:solidFill>
                  <a:latin typeface="Calibri"/>
                  <a:ea typeface="Calibri"/>
                  <a:cs typeface="Calibri"/>
                  <a:sym typeface="Gill Sans Bold"/>
                </a:rPr>
                <a:t>Persona 2: Alex Chen</a:t>
              </a:r>
              <a:endParaRPr lang="en-US" sz="2800" b="1">
                <a:solidFill>
                  <a:srgbClr val="000000"/>
                </a:solidFill>
                <a:latin typeface="Calibri"/>
                <a:ea typeface="Calibri"/>
                <a:cs typeface="Calibri"/>
                <a:sym typeface="Gill Sans Bold"/>
              </a:endParaRPr>
            </a:p>
          </p:txBody>
        </p:sp>
      </p:grpSp>
      <p:sp>
        <p:nvSpPr>
          <p:cNvPr id="8" name="TextBox 7">
            <a:extLst>
              <a:ext uri="{FF2B5EF4-FFF2-40B4-BE49-F238E27FC236}">
                <a16:creationId xmlns:a16="http://schemas.microsoft.com/office/drawing/2014/main" id="{052AA139-9DCE-0AA4-BF5D-E7EF3B8DF568}"/>
              </a:ext>
            </a:extLst>
          </p:cNvPr>
          <p:cNvSpPr txBox="1"/>
          <p:nvPr/>
        </p:nvSpPr>
        <p:spPr>
          <a:xfrm>
            <a:off x="840828" y="4683567"/>
            <a:ext cx="4267200" cy="1520416"/>
          </a:xfrm>
          <a:prstGeom prst="rect">
            <a:avLst/>
          </a:prstGeom>
          <a:noFill/>
        </p:spPr>
        <p:txBody>
          <a:bodyPr wrap="square" lIns="91440" tIns="45720" rIns="91440" bIns="45720" rtlCol="0" anchor="t">
            <a:spAutoFit/>
          </a:bodyPr>
          <a:lstStyle/>
          <a:p>
            <a:pPr marL="250825" lvl="1" indent="-228600">
              <a:lnSpc>
                <a:spcPct val="90000"/>
              </a:lnSpc>
              <a:spcAft>
                <a:spcPts val="600"/>
              </a:spcAft>
              <a:buFont typeface="Arial" panose="020B0604020202020204" pitchFamily="34" charset="0"/>
              <a:buChar char="•"/>
            </a:pPr>
            <a:r>
              <a:rPr lang="en-US" sz="1800" spc="21">
                <a:latin typeface="Calibri"/>
                <a:ea typeface="Calibri"/>
                <a:cs typeface="Calibri"/>
                <a:sym typeface="Gill Sans Light"/>
              </a:rPr>
              <a:t>Age: 32</a:t>
            </a:r>
            <a:endParaRPr lang="en-US" sz="1800" spc="21">
              <a:latin typeface="Calibri"/>
              <a:ea typeface="Calibri"/>
              <a:cs typeface="Calibri"/>
            </a:endParaRPr>
          </a:p>
          <a:p>
            <a:pPr marL="250825" lvl="1" indent="-228600">
              <a:lnSpc>
                <a:spcPct val="90000"/>
              </a:lnSpc>
              <a:spcAft>
                <a:spcPts val="600"/>
              </a:spcAft>
              <a:buFont typeface="Arial" panose="020B0604020202020204" pitchFamily="34" charset="0"/>
              <a:buChar char="•"/>
            </a:pPr>
            <a:r>
              <a:rPr lang="en-US" sz="1800" spc="21">
                <a:latin typeface="Calibri"/>
                <a:ea typeface="Calibri"/>
                <a:cs typeface="Calibri"/>
                <a:sym typeface="Gill Sans Light"/>
              </a:rPr>
              <a:t>Occupation: Founder of "</a:t>
            </a:r>
            <a:r>
              <a:rPr lang="en-US" sz="1800" spc="21" err="1">
                <a:latin typeface="Calibri"/>
                <a:ea typeface="Calibri"/>
                <a:cs typeface="Calibri"/>
                <a:sym typeface="Gill Sans Light"/>
              </a:rPr>
              <a:t>PetPals</a:t>
            </a:r>
            <a:r>
              <a:rPr lang="en-US" sz="1800" spc="21">
                <a:latin typeface="Calibri"/>
                <a:ea typeface="Calibri"/>
                <a:cs typeface="Calibri"/>
                <a:sym typeface="Gill Sans Light"/>
              </a:rPr>
              <a:t> Boutique" | The E-commerce Startup Founder</a:t>
            </a:r>
            <a:endParaRPr lang="en-US" sz="1800" spc="21">
              <a:latin typeface="Calibri"/>
              <a:ea typeface="Calibri"/>
              <a:cs typeface="Calibri"/>
            </a:endParaRPr>
          </a:p>
          <a:p>
            <a:endParaRPr lang="en-US">
              <a:latin typeface="Calibri"/>
              <a:ea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41C67D0-A496-4B86-BF61-263FF9EFD7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6068" y="320442"/>
            <a:ext cx="6572492" cy="6212748"/>
          </a:xfrm>
          <a:custGeom>
            <a:avLst/>
            <a:gdLst>
              <a:gd name="connsiteX0" fmla="*/ 0 w 6572492"/>
              <a:gd name="connsiteY0" fmla="*/ 0 h 6212748"/>
              <a:gd name="connsiteX1" fmla="*/ 2248593 w 6572492"/>
              <a:gd name="connsiteY1" fmla="*/ 0 h 6212748"/>
              <a:gd name="connsiteX2" fmla="*/ 2694770 w 6572492"/>
              <a:gd name="connsiteY2" fmla="*/ 0 h 6212748"/>
              <a:gd name="connsiteX3" fmla="*/ 2991094 w 6572492"/>
              <a:gd name="connsiteY3" fmla="*/ 0 h 6212748"/>
              <a:gd name="connsiteX4" fmla="*/ 6572492 w 6572492"/>
              <a:gd name="connsiteY4" fmla="*/ 0 h 6212748"/>
              <a:gd name="connsiteX5" fmla="*/ 6572492 w 6572492"/>
              <a:gd name="connsiteY5" fmla="*/ 2864954 h 6212748"/>
              <a:gd name="connsiteX6" fmla="*/ 3129047 w 6572492"/>
              <a:gd name="connsiteY6" fmla="*/ 6212748 h 6212748"/>
              <a:gd name="connsiteX7" fmla="*/ 2694770 w 6572492"/>
              <a:gd name="connsiteY7" fmla="*/ 6212748 h 6212748"/>
              <a:gd name="connsiteX8" fmla="*/ 2248593 w 6572492"/>
              <a:gd name="connsiteY8" fmla="*/ 6212748 h 6212748"/>
              <a:gd name="connsiteX9" fmla="*/ 0 w 6572492"/>
              <a:gd name="connsiteY9" fmla="*/ 6212748 h 621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92" h="6212748">
                <a:moveTo>
                  <a:pt x="0" y="0"/>
                </a:moveTo>
                <a:lnTo>
                  <a:pt x="2248593" y="0"/>
                </a:lnTo>
                <a:lnTo>
                  <a:pt x="2694770" y="0"/>
                </a:lnTo>
                <a:lnTo>
                  <a:pt x="2991094" y="0"/>
                </a:lnTo>
                <a:lnTo>
                  <a:pt x="6572492" y="0"/>
                </a:lnTo>
                <a:lnTo>
                  <a:pt x="6572492" y="2864954"/>
                </a:lnTo>
                <a:lnTo>
                  <a:pt x="3129047" y="6212748"/>
                </a:lnTo>
                <a:lnTo>
                  <a:pt x="2694770" y="6212748"/>
                </a:lnTo>
                <a:lnTo>
                  <a:pt x="2248593"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ight Triangle 15">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7"/>
          <p:cNvSpPr txBox="1"/>
          <p:nvPr/>
        </p:nvSpPr>
        <p:spPr>
          <a:xfrm>
            <a:off x="5307082" y="420413"/>
            <a:ext cx="6239745" cy="6011917"/>
          </a:xfrm>
          <a:prstGeom prst="rect">
            <a:avLst/>
          </a:prstGeom>
        </p:spPr>
        <p:txBody>
          <a:bodyPr vert="horz" lIns="91440" tIns="45720" rIns="91440" bIns="45720" rtlCol="0" anchor="t">
            <a:noAutofit/>
          </a:bodyPr>
          <a:lstStyle/>
          <a:p>
            <a:pPr indent="-228600">
              <a:lnSpc>
                <a:spcPct val="90000"/>
              </a:lnSpc>
              <a:spcAft>
                <a:spcPts val="600"/>
              </a:spcAft>
              <a:buFont typeface="Arial" panose="020B0604020202020204" pitchFamily="34" charset="0"/>
              <a:buChar char="•"/>
            </a:pPr>
            <a:endParaRPr lang="en-US" sz="1200" spc="21">
              <a:sym typeface="Gill Sans Light"/>
            </a:endParaRPr>
          </a:p>
        </p:txBody>
      </p:sp>
      <p:grpSp>
        <p:nvGrpSpPr>
          <p:cNvPr id="4" name="Group 4"/>
          <p:cNvGrpSpPr/>
          <p:nvPr/>
        </p:nvGrpSpPr>
        <p:grpSpPr>
          <a:xfrm>
            <a:off x="765813" y="1477976"/>
            <a:ext cx="4604966" cy="721942"/>
            <a:chOff x="0" y="-47625"/>
            <a:chExt cx="24858508" cy="4325559"/>
          </a:xfrm>
        </p:grpSpPr>
        <p:sp>
          <p:nvSpPr>
            <p:cNvPr id="5" name="Freeform 5"/>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txBody>
            <a:bodyPr/>
            <a:lstStyle/>
            <a:p>
              <a:endParaRPr lang="en-US" sz="1200"/>
            </a:p>
          </p:txBody>
        </p:sp>
        <p:sp>
          <p:nvSpPr>
            <p:cNvPr id="6" name="TextBox 6"/>
            <p:cNvSpPr txBox="1"/>
            <p:nvPr/>
          </p:nvSpPr>
          <p:spPr>
            <a:xfrm>
              <a:off x="0" y="-47625"/>
              <a:ext cx="24858508" cy="4325559"/>
            </a:xfrm>
            <a:prstGeom prst="rect">
              <a:avLst/>
            </a:prstGeom>
          </p:spPr>
          <p:txBody>
            <a:bodyPr lIns="0" tIns="0" rIns="0" bIns="0" rtlCol="0" anchor="ctr"/>
            <a:lstStyle/>
            <a:p>
              <a:pPr>
                <a:lnSpc>
                  <a:spcPts val="3888"/>
                </a:lnSpc>
              </a:pPr>
              <a:r>
                <a:rPr lang="en-US" sz="2800" b="1">
                  <a:solidFill>
                    <a:srgbClr val="000000"/>
                  </a:solidFill>
                  <a:latin typeface="Calibri"/>
                  <a:ea typeface="Gill Sans Bold"/>
                  <a:cs typeface="Gill Sans Bold"/>
                  <a:sym typeface="Gill Sans Bold"/>
                </a:rPr>
                <a:t>Persona 3: Marcus Johnson</a:t>
              </a:r>
            </a:p>
          </p:txBody>
        </p:sp>
      </p:grpSp>
      <p:sp>
        <p:nvSpPr>
          <p:cNvPr id="8" name="TextBox 7">
            <a:extLst>
              <a:ext uri="{FF2B5EF4-FFF2-40B4-BE49-F238E27FC236}">
                <a16:creationId xmlns:a16="http://schemas.microsoft.com/office/drawing/2014/main" id="{052AA139-9DCE-0AA4-BF5D-E7EF3B8DF568}"/>
              </a:ext>
            </a:extLst>
          </p:cNvPr>
          <p:cNvSpPr txBox="1"/>
          <p:nvPr/>
        </p:nvSpPr>
        <p:spPr>
          <a:xfrm>
            <a:off x="840828" y="4683567"/>
            <a:ext cx="4267200" cy="900246"/>
          </a:xfrm>
          <a:prstGeom prst="rect">
            <a:avLst/>
          </a:prstGeom>
          <a:noFill/>
        </p:spPr>
        <p:txBody>
          <a:bodyPr wrap="square" lIns="91440" tIns="45720" rIns="91440" bIns="45720" rtlCol="0" anchor="t">
            <a:spAutoFit/>
          </a:bodyPr>
          <a:lstStyle/>
          <a:p>
            <a:pPr marL="271145" lvl="1" indent="-135255">
              <a:lnSpc>
                <a:spcPts val="2069"/>
              </a:lnSpc>
              <a:buFont typeface="Arial"/>
              <a:buChar char="•"/>
            </a:pPr>
            <a:r>
              <a:rPr lang="en-US" sz="1800">
                <a:solidFill>
                  <a:srgbClr val="000000"/>
                </a:solidFill>
                <a:latin typeface="Calibri"/>
                <a:ea typeface="Gill Sans Light"/>
                <a:cs typeface="Gill Sans Light"/>
                <a:sym typeface="Gill Sans Light"/>
              </a:rPr>
              <a:t>Age: 49</a:t>
            </a:r>
            <a:endParaRPr lang="en-US" sz="1800">
              <a:solidFill>
                <a:srgbClr val="000000"/>
              </a:solidFill>
              <a:latin typeface="Calibri"/>
              <a:ea typeface="Gill Sans Light"/>
              <a:cs typeface="Gill Sans Light"/>
            </a:endParaRPr>
          </a:p>
          <a:p>
            <a:pPr marL="271145" lvl="1" indent="-135255">
              <a:lnSpc>
                <a:spcPts val="2069"/>
              </a:lnSpc>
              <a:buFont typeface="Arial"/>
              <a:buChar char="•"/>
            </a:pPr>
            <a:r>
              <a:rPr lang="en-US" sz="1800">
                <a:solidFill>
                  <a:srgbClr val="000000"/>
                </a:solidFill>
                <a:latin typeface="Calibri"/>
                <a:ea typeface="Gill Sans Light"/>
                <a:cs typeface="Gill Sans Light"/>
                <a:sym typeface="Gill Sans Light"/>
              </a:rPr>
              <a:t>Occupation: Head of Fraud Prevention at "Secure Bank"</a:t>
            </a:r>
            <a:endParaRPr lang="en-US">
              <a:latin typeface="Calibri"/>
              <a:ea typeface="Calibri"/>
              <a:cs typeface="Calibri"/>
            </a:endParaRPr>
          </a:p>
        </p:txBody>
      </p:sp>
      <p:sp>
        <p:nvSpPr>
          <p:cNvPr id="9" name="Freeform 2">
            <a:extLst>
              <a:ext uri="{FF2B5EF4-FFF2-40B4-BE49-F238E27FC236}">
                <a16:creationId xmlns:a16="http://schemas.microsoft.com/office/drawing/2014/main" id="{1873B635-8BA7-7CD2-3B4F-DABBE7F23D7B}"/>
              </a:ext>
            </a:extLst>
          </p:cNvPr>
          <p:cNvSpPr/>
          <p:nvPr/>
        </p:nvSpPr>
        <p:spPr>
          <a:xfrm>
            <a:off x="1764887" y="2355352"/>
            <a:ext cx="1976795" cy="1901265"/>
          </a:xfrm>
          <a:custGeom>
            <a:avLst/>
            <a:gdLst/>
            <a:ahLst/>
            <a:cxnLst/>
            <a:rect l="l" t="t" r="r" b="b"/>
            <a:pathLst>
              <a:path w="2836281" h="2851897">
                <a:moveTo>
                  <a:pt x="0" y="0"/>
                </a:moveTo>
                <a:lnTo>
                  <a:pt x="2836281" y="0"/>
                </a:lnTo>
                <a:lnTo>
                  <a:pt x="2836281" y="2851898"/>
                </a:lnTo>
                <a:lnTo>
                  <a:pt x="0" y="2851898"/>
                </a:lnTo>
                <a:lnTo>
                  <a:pt x="0" y="0"/>
                </a:lnTo>
                <a:close/>
              </a:path>
            </a:pathLst>
          </a:custGeom>
          <a:blipFill>
            <a:blip r:embed="rId2">
              <a:alphaModFix amt="83000"/>
            </a:blip>
            <a:stretch>
              <a:fillRect l="-275" r="-275"/>
            </a:stretch>
          </a:blipFill>
        </p:spPr>
        <p:txBody>
          <a:bodyPr/>
          <a:lstStyle/>
          <a:p>
            <a:endParaRPr lang="en-US" sz="1200"/>
          </a:p>
        </p:txBody>
      </p:sp>
      <p:sp>
        <p:nvSpPr>
          <p:cNvPr id="10" name="TextBox 9">
            <a:extLst>
              <a:ext uri="{FF2B5EF4-FFF2-40B4-BE49-F238E27FC236}">
                <a16:creationId xmlns:a16="http://schemas.microsoft.com/office/drawing/2014/main" id="{58FE5DD2-3AE3-2EFC-64A5-BCAB4E043D1C}"/>
              </a:ext>
            </a:extLst>
          </p:cNvPr>
          <p:cNvSpPr txBox="1"/>
          <p:nvPr/>
        </p:nvSpPr>
        <p:spPr>
          <a:xfrm>
            <a:off x="5119042" y="691179"/>
            <a:ext cx="6215970" cy="5539978"/>
          </a:xfrm>
          <a:prstGeom prst="rect">
            <a:avLst/>
          </a:prstGeom>
          <a:noFill/>
        </p:spPr>
        <p:txBody>
          <a:bodyPr wrap="square" lIns="91440" tIns="45720" rIns="91440" bIns="45720" rtlCol="0" anchor="t">
            <a:spAutoFit/>
          </a:bodyPr>
          <a:lstStyle/>
          <a:p>
            <a:pPr marL="271145" lvl="1" indent="-135255">
              <a:buFont typeface="Arial"/>
              <a:buChar char="•"/>
            </a:pPr>
            <a:r>
              <a:rPr lang="en-US" sz="1200">
                <a:solidFill>
                  <a:srgbClr val="000000"/>
                </a:solidFill>
                <a:latin typeface="Calibri"/>
                <a:ea typeface="Gill Sans Light"/>
                <a:cs typeface="Arial"/>
                <a:sym typeface="Gill Sans Light"/>
              </a:rPr>
              <a:t>Marcus leads the fraud prevention department at a mid-sized bank. His team handles thousands of credit card transactions daily, constantly battling sophisticated fraud schemes. With new tactics emerging all the time, his biggest challenge is staying ahead of the criminals while ensuring legitimate customer transactions are processed smoothly. He's looking for a powerful, scalable solution that can integrate with their existing systems, reduce false positives, and provide actionable intelligence to his team. He needs to improve detection rates, reduce operational costs associated with fraud investigation, and enhance customer trust.</a:t>
            </a:r>
            <a:endParaRPr lang="en-US">
              <a:latin typeface="Calibri"/>
              <a:ea typeface="Calibri"/>
              <a:cs typeface="Calibri"/>
            </a:endParaRPr>
          </a:p>
          <a:p>
            <a:pPr marL="271145" lvl="1" indent="-135255">
              <a:buFont typeface="Arial"/>
              <a:buChar char="•"/>
            </a:pPr>
            <a:endParaRPr lang="en-US" sz="1200">
              <a:solidFill>
                <a:srgbClr val="000000"/>
              </a:solidFill>
              <a:latin typeface="Calibri"/>
              <a:ea typeface="Gill Sans Light"/>
              <a:cs typeface="Arial" panose="020B0604020202020204" pitchFamily="34" charset="0"/>
            </a:endParaRPr>
          </a:p>
          <a:p>
            <a:pPr marL="271145" lvl="1" indent="-135255">
              <a:buFont typeface="Arial"/>
              <a:buChar char="•"/>
            </a:pPr>
            <a:r>
              <a:rPr lang="en-US" sz="1200">
                <a:solidFill>
                  <a:srgbClr val="000000"/>
                </a:solidFill>
                <a:latin typeface="Calibri"/>
                <a:ea typeface="Gill Sans Light"/>
                <a:cs typeface="Arial"/>
                <a:sym typeface="Gill Sans Light"/>
              </a:rPr>
              <a:t>Goals:</a:t>
            </a:r>
            <a:endParaRPr lang="en-US" sz="1200">
              <a:solidFill>
                <a:srgbClr val="000000"/>
              </a:solidFill>
              <a:latin typeface="Calibri"/>
              <a:ea typeface="Gill Sans Light"/>
              <a:cs typeface="Arial"/>
            </a:endParaRPr>
          </a:p>
          <a:p>
            <a:pPr marL="728345" lvl="2" indent="-242570">
              <a:buFont typeface="Arial"/>
              <a:buChar char="⚬"/>
            </a:pPr>
            <a:r>
              <a:rPr lang="en-US" sz="1200">
                <a:solidFill>
                  <a:srgbClr val="000000"/>
                </a:solidFill>
                <a:latin typeface="Calibri"/>
                <a:ea typeface="Gill Sans Light"/>
                <a:cs typeface="Arial"/>
                <a:sym typeface="Gill Sans Light"/>
              </a:rPr>
              <a:t>To significantly reduce the bank's annual losses from credit card fraud.</a:t>
            </a:r>
            <a:endParaRPr lang="en-US" sz="1200">
              <a:solidFill>
                <a:srgbClr val="000000"/>
              </a:solidFill>
              <a:latin typeface="Calibri"/>
              <a:ea typeface="Gill Sans Light"/>
              <a:cs typeface="Arial"/>
            </a:endParaRPr>
          </a:p>
          <a:p>
            <a:pPr marL="728345" lvl="2" indent="-242570">
              <a:buFont typeface="Arial"/>
              <a:buChar char="⚬"/>
            </a:pPr>
            <a:r>
              <a:rPr lang="en-US" sz="1200">
                <a:solidFill>
                  <a:srgbClr val="000000"/>
                </a:solidFill>
                <a:latin typeface="Calibri"/>
                <a:ea typeface="Gill Sans Light"/>
                <a:cs typeface="Arial"/>
                <a:sym typeface="Gill Sans Light"/>
              </a:rPr>
              <a:t>To decrease the rate of false positives, improving customer experience and reducing operational overhead.</a:t>
            </a:r>
            <a:endParaRPr lang="en-US" sz="1200">
              <a:solidFill>
                <a:srgbClr val="000000"/>
              </a:solidFill>
              <a:latin typeface="Calibri"/>
              <a:ea typeface="Gill Sans Light"/>
              <a:cs typeface="Arial"/>
            </a:endParaRPr>
          </a:p>
          <a:p>
            <a:pPr marL="728345" lvl="2" indent="-242570">
              <a:buFont typeface="Arial"/>
              <a:buChar char="⚬"/>
            </a:pPr>
            <a:r>
              <a:rPr lang="en-US" sz="1200">
                <a:solidFill>
                  <a:srgbClr val="000000"/>
                </a:solidFill>
                <a:latin typeface="Calibri"/>
                <a:ea typeface="Gill Sans Light"/>
                <a:cs typeface="Arial"/>
                <a:sym typeface="Gill Sans Light"/>
              </a:rPr>
              <a:t>To implement a system that provides real-time, adaptive fraud detection capable of learning new patterns.</a:t>
            </a:r>
            <a:endParaRPr lang="en-US" sz="1200">
              <a:solidFill>
                <a:srgbClr val="000000"/>
              </a:solidFill>
              <a:latin typeface="Calibri"/>
              <a:ea typeface="Gill Sans Light"/>
              <a:cs typeface="Arial"/>
            </a:endParaRPr>
          </a:p>
          <a:p>
            <a:pPr marL="728345" lvl="2" indent="-242570">
              <a:buFont typeface="Arial"/>
              <a:buChar char="⚬"/>
            </a:pPr>
            <a:endParaRPr lang="en-US" sz="1200">
              <a:solidFill>
                <a:srgbClr val="000000"/>
              </a:solidFill>
              <a:latin typeface="Calibri"/>
              <a:ea typeface="Gill Sans Light"/>
              <a:cs typeface="Arial" panose="020B0604020202020204" pitchFamily="34" charset="0"/>
            </a:endParaRPr>
          </a:p>
          <a:p>
            <a:pPr marL="271145" lvl="1" indent="-135255">
              <a:buFont typeface="Arial"/>
              <a:buChar char="•"/>
            </a:pPr>
            <a:r>
              <a:rPr lang="en-US" sz="1200">
                <a:solidFill>
                  <a:srgbClr val="000000"/>
                </a:solidFill>
                <a:latin typeface="Calibri"/>
                <a:ea typeface="Gill Sans Light"/>
                <a:cs typeface="Arial"/>
                <a:sym typeface="Gill Sans Light"/>
              </a:rPr>
              <a:t>Frustrations:</a:t>
            </a:r>
            <a:endParaRPr lang="en-US" sz="1200">
              <a:solidFill>
                <a:srgbClr val="000000"/>
              </a:solidFill>
              <a:latin typeface="Calibri"/>
              <a:ea typeface="Gill Sans Light"/>
              <a:cs typeface="Arial"/>
            </a:endParaRPr>
          </a:p>
          <a:p>
            <a:pPr marL="728345" lvl="2" indent="-242570">
              <a:buFont typeface="Arial"/>
              <a:buChar char="⚬"/>
            </a:pPr>
            <a:r>
              <a:rPr lang="en-US" sz="1200">
                <a:solidFill>
                  <a:srgbClr val="000000"/>
                </a:solidFill>
                <a:latin typeface="Calibri"/>
                <a:ea typeface="Gill Sans Light"/>
                <a:cs typeface="Arial"/>
                <a:sym typeface="Gill Sans Light"/>
              </a:rPr>
              <a:t>The constant arms race with fraudsters and the difficulty of keeping up with evolving tactics.</a:t>
            </a:r>
            <a:endParaRPr lang="en-US" sz="1200">
              <a:solidFill>
                <a:srgbClr val="000000"/>
              </a:solidFill>
              <a:latin typeface="Calibri"/>
              <a:ea typeface="Gill Sans Light"/>
              <a:cs typeface="Arial"/>
            </a:endParaRPr>
          </a:p>
          <a:p>
            <a:pPr marL="728345" lvl="2" indent="-242570">
              <a:buFont typeface="Arial"/>
              <a:buChar char="⚬"/>
            </a:pPr>
            <a:r>
              <a:rPr lang="en-US" sz="1200">
                <a:solidFill>
                  <a:srgbClr val="000000"/>
                </a:solidFill>
                <a:latin typeface="Calibri"/>
                <a:ea typeface="Gill Sans Light"/>
                <a:cs typeface="Arial"/>
                <a:sym typeface="Gill Sans Light"/>
              </a:rPr>
              <a:t>The pressure to maintain a high level of security without inconveniencing legitimate customers.</a:t>
            </a:r>
            <a:endParaRPr lang="en-US" sz="1200">
              <a:solidFill>
                <a:srgbClr val="000000"/>
              </a:solidFill>
              <a:latin typeface="Calibri"/>
              <a:ea typeface="Gill Sans Light"/>
              <a:cs typeface="Arial"/>
            </a:endParaRPr>
          </a:p>
          <a:p>
            <a:pPr marL="728345" lvl="2" indent="-242570">
              <a:buFont typeface="Arial"/>
              <a:buChar char="⚬"/>
            </a:pPr>
            <a:r>
              <a:rPr lang="en-US" sz="1200">
                <a:solidFill>
                  <a:srgbClr val="000000"/>
                </a:solidFill>
                <a:latin typeface="Calibri"/>
                <a:ea typeface="Gill Sans Light"/>
                <a:cs typeface="Arial"/>
                <a:sym typeface="Gill Sans Light"/>
              </a:rPr>
              <a:t>The sheer volume of data and the challenge of sifting through it to find genuine fraud.</a:t>
            </a:r>
            <a:endParaRPr lang="en-US" sz="1200">
              <a:solidFill>
                <a:srgbClr val="000000"/>
              </a:solidFill>
              <a:latin typeface="Calibri"/>
              <a:ea typeface="Gill Sans Light"/>
              <a:cs typeface="Arial"/>
            </a:endParaRPr>
          </a:p>
          <a:p>
            <a:pPr marL="728345" lvl="2" indent="-242570">
              <a:buFont typeface="Arial"/>
              <a:buChar char="⚬"/>
            </a:pPr>
            <a:endParaRPr lang="en-US" sz="1200">
              <a:solidFill>
                <a:srgbClr val="000000"/>
              </a:solidFill>
              <a:latin typeface="Calibri"/>
              <a:ea typeface="Gill Sans Light"/>
              <a:cs typeface="Arial" panose="020B0604020202020204" pitchFamily="34" charset="0"/>
            </a:endParaRPr>
          </a:p>
          <a:p>
            <a:pPr marL="271145" lvl="1" indent="-135255">
              <a:buFont typeface="Arial"/>
              <a:buChar char="•"/>
            </a:pPr>
            <a:r>
              <a:rPr lang="en-US" sz="1200">
                <a:solidFill>
                  <a:srgbClr val="000000"/>
                </a:solidFill>
                <a:latin typeface="Calibri"/>
                <a:ea typeface="Gill Sans Light"/>
                <a:cs typeface="Arial"/>
                <a:sym typeface="Gill Sans Light"/>
              </a:rPr>
              <a:t>Needs from the Solution:</a:t>
            </a:r>
            <a:endParaRPr lang="en-US" sz="1200">
              <a:solidFill>
                <a:srgbClr val="000000"/>
              </a:solidFill>
              <a:latin typeface="Calibri"/>
              <a:ea typeface="Gill Sans Light"/>
              <a:cs typeface="Arial"/>
            </a:endParaRPr>
          </a:p>
          <a:p>
            <a:pPr marL="728345" lvl="2" indent="-242570">
              <a:buFont typeface="Arial"/>
              <a:buChar char="⚬"/>
            </a:pPr>
            <a:r>
              <a:rPr lang="en-US" sz="1200">
                <a:solidFill>
                  <a:srgbClr val="000000"/>
                </a:solidFill>
                <a:latin typeface="Calibri"/>
                <a:ea typeface="Gill Sans Light"/>
                <a:cs typeface="Arial"/>
                <a:sym typeface="Gill Sans Light"/>
              </a:rPr>
              <a:t>A highly scalable system that can process millions of transactions in real time.</a:t>
            </a:r>
            <a:endParaRPr lang="en-US" sz="1200">
              <a:solidFill>
                <a:srgbClr val="000000"/>
              </a:solidFill>
              <a:latin typeface="Calibri"/>
              <a:ea typeface="Gill Sans Light"/>
              <a:cs typeface="Arial"/>
            </a:endParaRPr>
          </a:p>
          <a:p>
            <a:pPr marL="728345" lvl="2" indent="-242570">
              <a:buFont typeface="Arial"/>
              <a:buChar char="⚬"/>
            </a:pPr>
            <a:r>
              <a:rPr lang="en-US" sz="1200">
                <a:solidFill>
                  <a:srgbClr val="000000"/>
                </a:solidFill>
                <a:latin typeface="Calibri"/>
                <a:ea typeface="Gill Sans Light"/>
                <a:cs typeface="Arial"/>
                <a:sym typeface="Gill Sans Light"/>
              </a:rPr>
              <a:t>Advanced machine learning capabilities that can adapt to new fraud patterns and minimize false positives.</a:t>
            </a:r>
            <a:endParaRPr lang="en-US" sz="1200">
              <a:solidFill>
                <a:srgbClr val="000000"/>
              </a:solidFill>
              <a:latin typeface="Calibri"/>
              <a:ea typeface="Gill Sans Light"/>
              <a:cs typeface="Arial"/>
            </a:endParaRPr>
          </a:p>
          <a:p>
            <a:endParaRPr lang="en-US">
              <a:latin typeface="Calibri"/>
              <a:ea typeface="Calibri"/>
              <a:cs typeface="Calibri"/>
            </a:endParaRPr>
          </a:p>
        </p:txBody>
      </p:sp>
    </p:spTree>
    <p:extLst>
      <p:ext uri="{BB962C8B-B14F-4D97-AF65-F5344CB8AC3E}">
        <p14:creationId xmlns:p14="http://schemas.microsoft.com/office/powerpoint/2010/main" val="1688824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3FD1B-2AE2-63A2-E75A-7A8C38F09938}"/>
              </a:ext>
            </a:extLst>
          </p:cNvPr>
          <p:cNvSpPr>
            <a:spLocks noGrp="1"/>
          </p:cNvSpPr>
          <p:nvPr>
            <p:ph type="title"/>
          </p:nvPr>
        </p:nvSpPr>
        <p:spPr/>
        <p:txBody>
          <a:bodyPr>
            <a:normAutofit/>
          </a:bodyPr>
          <a:lstStyle/>
          <a:p>
            <a:r>
              <a:rPr lang="en-GB" sz="3600">
                <a:latin typeface="Calibri"/>
                <a:ea typeface="Calibri"/>
                <a:cs typeface="Calibri"/>
              </a:rPr>
              <a:t>MVP</a:t>
            </a:r>
          </a:p>
        </p:txBody>
      </p:sp>
      <p:sp>
        <p:nvSpPr>
          <p:cNvPr id="3" name="Content Placeholder 2">
            <a:extLst>
              <a:ext uri="{FF2B5EF4-FFF2-40B4-BE49-F238E27FC236}">
                <a16:creationId xmlns:a16="http://schemas.microsoft.com/office/drawing/2014/main" id="{52670855-6045-77C2-8F8C-25BD20C43FD4}"/>
              </a:ext>
            </a:extLst>
          </p:cNvPr>
          <p:cNvSpPr>
            <a:spLocks noGrp="1"/>
          </p:cNvSpPr>
          <p:nvPr>
            <p:ph idx="1"/>
          </p:nvPr>
        </p:nvSpPr>
        <p:spPr>
          <a:xfrm>
            <a:off x="838200" y="1825625"/>
            <a:ext cx="10515600" cy="3441488"/>
          </a:xfrm>
        </p:spPr>
        <p:txBody>
          <a:bodyPr vert="horz" lIns="91440" tIns="45720" rIns="91440" bIns="45720" rtlCol="0" anchor="t">
            <a:normAutofit/>
          </a:bodyPr>
          <a:lstStyle/>
          <a:p>
            <a:r>
              <a:rPr lang="en-GB" sz="1800" b="1">
                <a:latin typeface="Calibri"/>
                <a:ea typeface="+mn-lt"/>
                <a:cs typeface="+mn-lt"/>
              </a:rPr>
              <a:t>Real-Time Fraud Predictions –</a:t>
            </a:r>
            <a:r>
              <a:rPr lang="en-GB" sz="1800">
                <a:latin typeface="Calibri"/>
                <a:ea typeface="+mn-lt"/>
                <a:cs typeface="+mn-lt"/>
              </a:rPr>
              <a:t> System </a:t>
            </a:r>
            <a:r>
              <a:rPr lang="en-GB" sz="1800" err="1">
                <a:latin typeface="Calibri"/>
                <a:ea typeface="+mn-lt"/>
                <a:cs typeface="+mn-lt"/>
              </a:rPr>
              <a:t>analyzes</a:t>
            </a:r>
            <a:r>
              <a:rPr lang="en-GB" sz="1800">
                <a:latin typeface="Calibri"/>
                <a:ea typeface="+mn-lt"/>
                <a:cs typeface="+mn-lt"/>
              </a:rPr>
              <a:t> incoming transactions instantly.</a:t>
            </a:r>
          </a:p>
          <a:p>
            <a:pPr marL="0" indent="0">
              <a:buNone/>
            </a:pPr>
            <a:endParaRPr lang="en-GB" sz="1800">
              <a:latin typeface="Calibri"/>
              <a:ea typeface="+mn-lt"/>
              <a:cs typeface="+mn-lt"/>
            </a:endParaRPr>
          </a:p>
          <a:p>
            <a:r>
              <a:rPr lang="en-GB" sz="1800" b="1">
                <a:latin typeface="Calibri"/>
                <a:ea typeface="+mn-lt"/>
                <a:cs typeface="+mn-lt"/>
              </a:rPr>
              <a:t>Interactive Dashboard –</a:t>
            </a:r>
            <a:r>
              <a:rPr lang="en-GB" sz="1800">
                <a:latin typeface="Calibri"/>
                <a:ea typeface="+mn-lt"/>
                <a:cs typeface="+mn-lt"/>
              </a:rPr>
              <a:t> Users can visualize fraud alerts, risk scores, and patterns through graphs &amp; metrics.</a:t>
            </a:r>
          </a:p>
          <a:p>
            <a:pPr marL="0" indent="0">
              <a:buNone/>
            </a:pPr>
            <a:endParaRPr lang="en-GB" sz="1800">
              <a:latin typeface="Calibri"/>
              <a:ea typeface="+mn-lt"/>
              <a:cs typeface="+mn-lt"/>
            </a:endParaRPr>
          </a:p>
          <a:p>
            <a:r>
              <a:rPr lang="en-GB" sz="1800" b="1">
                <a:latin typeface="Calibri"/>
                <a:ea typeface="+mn-lt"/>
                <a:cs typeface="+mn-lt"/>
              </a:rPr>
              <a:t>Simple, Accessible UI –</a:t>
            </a:r>
            <a:r>
              <a:rPr lang="en-GB" sz="1800">
                <a:latin typeface="Calibri"/>
                <a:ea typeface="+mn-lt"/>
                <a:cs typeface="+mn-lt"/>
              </a:rPr>
              <a:t> Easy for non-technical users to understand fraud insights at a glance.</a:t>
            </a:r>
          </a:p>
          <a:p>
            <a:pPr marL="0" indent="0">
              <a:buNone/>
            </a:pPr>
            <a:endParaRPr lang="en-GB" sz="1800">
              <a:latin typeface="Calibri"/>
              <a:ea typeface="+mn-lt"/>
              <a:cs typeface="+mn-lt"/>
            </a:endParaRPr>
          </a:p>
          <a:p>
            <a:r>
              <a:rPr lang="en-GB" sz="1800" b="1">
                <a:latin typeface="Calibri"/>
                <a:ea typeface="+mn-lt"/>
                <a:cs typeface="+mn-lt"/>
              </a:rPr>
              <a:t>API-Driven Architecture –</a:t>
            </a:r>
            <a:r>
              <a:rPr lang="en-GB" sz="1800">
                <a:latin typeface="Calibri"/>
                <a:ea typeface="+mn-lt"/>
                <a:cs typeface="+mn-lt"/>
              </a:rPr>
              <a:t> Front-end fetches predictions seamlessly through backend REST APIs.</a:t>
            </a:r>
          </a:p>
          <a:p>
            <a:pPr marL="0" indent="0">
              <a:buNone/>
            </a:pPr>
            <a:endParaRPr lang="en-GB" sz="1800">
              <a:latin typeface="Calibri"/>
              <a:ea typeface="+mn-lt"/>
              <a:cs typeface="+mn-lt"/>
            </a:endParaRPr>
          </a:p>
          <a:p>
            <a:r>
              <a:rPr lang="en-GB" sz="1800" b="1">
                <a:latin typeface="Calibri"/>
                <a:ea typeface="+mn-lt"/>
                <a:cs typeface="+mn-lt"/>
              </a:rPr>
              <a:t>Notification/Alert System (TBD) –</a:t>
            </a:r>
            <a:r>
              <a:rPr lang="en-GB" sz="1800">
                <a:latin typeface="Calibri"/>
                <a:ea typeface="+mn-lt"/>
                <a:cs typeface="+mn-lt"/>
              </a:rPr>
              <a:t> Email/SMS alerts for high-risk transactions (future enhancement).</a:t>
            </a:r>
            <a:endParaRPr lang="en-GB" sz="1800">
              <a:latin typeface="Calibri"/>
            </a:endParaRPr>
          </a:p>
          <a:p>
            <a:endParaRPr lang="en-GB" sz="1800">
              <a:latin typeface="Aptos"/>
            </a:endParaRPr>
          </a:p>
          <a:p>
            <a:endParaRPr lang="en-GB" sz="1800">
              <a:latin typeface="Gill Sans Bold"/>
            </a:endParaRPr>
          </a:p>
        </p:txBody>
      </p:sp>
    </p:spTree>
    <p:extLst>
      <p:ext uri="{BB962C8B-B14F-4D97-AF65-F5344CB8AC3E}">
        <p14:creationId xmlns:p14="http://schemas.microsoft.com/office/powerpoint/2010/main" val="245652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430CA-7B74-EF30-54DA-FFD770200A56}"/>
              </a:ext>
            </a:extLst>
          </p:cNvPr>
          <p:cNvSpPr>
            <a:spLocks noGrp="1"/>
          </p:cNvSpPr>
          <p:nvPr>
            <p:ph type="title"/>
          </p:nvPr>
        </p:nvSpPr>
        <p:spPr>
          <a:xfrm>
            <a:off x="2231136" y="688831"/>
            <a:ext cx="7729728" cy="1188720"/>
          </a:xfrm>
        </p:spPr>
        <p:txBody>
          <a:bodyPr>
            <a:normAutofit/>
          </a:bodyPr>
          <a:lstStyle/>
          <a:p>
            <a:r>
              <a:rPr lang="en-US" sz="3600" b="1">
                <a:latin typeface="Calibri"/>
                <a:ea typeface="Calibri"/>
                <a:cs typeface="Calibri"/>
              </a:rPr>
              <a:t>Technology and Tools</a:t>
            </a:r>
          </a:p>
        </p:txBody>
      </p:sp>
      <p:graphicFrame>
        <p:nvGraphicFramePr>
          <p:cNvPr id="9" name="Content Placeholder 2">
            <a:extLst>
              <a:ext uri="{FF2B5EF4-FFF2-40B4-BE49-F238E27FC236}">
                <a16:creationId xmlns:a16="http://schemas.microsoft.com/office/drawing/2014/main" id="{CC320C14-48A0-E112-1838-EFE0051F2443}"/>
              </a:ext>
            </a:extLst>
          </p:cNvPr>
          <p:cNvGraphicFramePr>
            <a:graphicFrameLocks noGrp="1"/>
          </p:cNvGraphicFramePr>
          <p:nvPr>
            <p:ph idx="1"/>
            <p:extLst>
              <p:ext uri="{D42A27DB-BD31-4B8C-83A1-F6EECF244321}">
                <p14:modId xmlns:p14="http://schemas.microsoft.com/office/powerpoint/2010/main" val="3768319333"/>
              </p:ext>
            </p:extLst>
          </p:nvPr>
        </p:nvGraphicFramePr>
        <p:xfrm>
          <a:off x="1741280" y="1878818"/>
          <a:ext cx="8718514" cy="46672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descr="Python Logo PNG Transparent Images">
            <a:extLst>
              <a:ext uri="{FF2B5EF4-FFF2-40B4-BE49-F238E27FC236}">
                <a16:creationId xmlns:a16="http://schemas.microsoft.com/office/drawing/2014/main" id="{279618D0-E277-70C7-88CD-B5C0B86128F1}"/>
              </a:ext>
            </a:extLst>
          </p:cNvPr>
          <p:cNvPicPr>
            <a:picLocks noChangeAspect="1"/>
          </p:cNvPicPr>
          <p:nvPr/>
        </p:nvPicPr>
        <p:blipFill>
          <a:blip r:embed="rId7"/>
          <a:stretch>
            <a:fillRect/>
          </a:stretch>
        </p:blipFill>
        <p:spPr>
          <a:xfrm>
            <a:off x="137160" y="-693"/>
            <a:ext cx="2095500" cy="2797925"/>
          </a:xfrm>
          <a:prstGeom prst="rect">
            <a:avLst/>
          </a:prstGeom>
        </p:spPr>
      </p:pic>
      <p:pic>
        <p:nvPicPr>
          <p:cNvPr id="5" name="Picture 4" descr="A robot with headphones and a gear&#10;&#10;AI-generated content may be incorrect.">
            <a:extLst>
              <a:ext uri="{FF2B5EF4-FFF2-40B4-BE49-F238E27FC236}">
                <a16:creationId xmlns:a16="http://schemas.microsoft.com/office/drawing/2014/main" id="{AF3AF79B-EE69-1E3A-DEDC-8998B4087AF7}"/>
              </a:ext>
            </a:extLst>
          </p:cNvPr>
          <p:cNvPicPr>
            <a:picLocks noChangeAspect="1"/>
          </p:cNvPicPr>
          <p:nvPr/>
        </p:nvPicPr>
        <p:blipFill>
          <a:blip r:embed="rId8"/>
          <a:stretch>
            <a:fillRect/>
          </a:stretch>
        </p:blipFill>
        <p:spPr>
          <a:xfrm>
            <a:off x="10110414" y="330"/>
            <a:ext cx="2081586" cy="2013006"/>
          </a:xfrm>
          <a:prstGeom prst="rect">
            <a:avLst/>
          </a:prstGeom>
        </p:spPr>
      </p:pic>
    </p:spTree>
    <p:extLst>
      <p:ext uri="{BB962C8B-B14F-4D97-AF65-F5344CB8AC3E}">
        <p14:creationId xmlns:p14="http://schemas.microsoft.com/office/powerpoint/2010/main" val="2439709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BF36A8-926F-634E-D9E0-19739EBDF56F}"/>
              </a:ext>
            </a:extLst>
          </p:cNvPr>
          <p:cNvSpPr>
            <a:spLocks noGrp="1"/>
          </p:cNvSpPr>
          <p:nvPr>
            <p:ph type="title"/>
          </p:nvPr>
        </p:nvSpPr>
        <p:spPr>
          <a:xfrm>
            <a:off x="1371597" y="348865"/>
            <a:ext cx="10044023" cy="877729"/>
          </a:xfrm>
        </p:spPr>
        <p:txBody>
          <a:bodyPr anchor="ctr">
            <a:normAutofit/>
          </a:bodyPr>
          <a:lstStyle/>
          <a:p>
            <a:r>
              <a:rPr lang="en-US" sz="4000" b="1">
                <a:solidFill>
                  <a:srgbClr val="FFFFFF"/>
                </a:solidFill>
              </a:rPr>
              <a:t>Algorithms and Models</a:t>
            </a:r>
          </a:p>
        </p:txBody>
      </p:sp>
      <p:graphicFrame>
        <p:nvGraphicFramePr>
          <p:cNvPr id="5" name="Content Placeholder 4">
            <a:extLst>
              <a:ext uri="{FF2B5EF4-FFF2-40B4-BE49-F238E27FC236}">
                <a16:creationId xmlns:a16="http://schemas.microsoft.com/office/drawing/2014/main" id="{C040593D-37E4-4961-30C9-A1CD163CB054}"/>
              </a:ext>
            </a:extLst>
          </p:cNvPr>
          <p:cNvGraphicFramePr>
            <a:graphicFrameLocks noGrp="1"/>
          </p:cNvGraphicFramePr>
          <p:nvPr>
            <p:ph idx="1"/>
            <p:extLst>
              <p:ext uri="{D42A27DB-BD31-4B8C-83A1-F6EECF244321}">
                <p14:modId xmlns:p14="http://schemas.microsoft.com/office/powerpoint/2010/main" val="558122355"/>
              </p:ext>
            </p:extLst>
          </p:nvPr>
        </p:nvGraphicFramePr>
        <p:xfrm>
          <a:off x="644056" y="2667249"/>
          <a:ext cx="10927831" cy="4141600"/>
        </p:xfrm>
        <a:graphic>
          <a:graphicData uri="http://schemas.openxmlformats.org/drawingml/2006/table">
            <a:tbl>
              <a:tblPr bandRow="1">
                <a:tableStyleId>{5C22544A-7EE6-4342-B048-85BDC9FD1C3A}</a:tableStyleId>
              </a:tblPr>
              <a:tblGrid>
                <a:gridCol w="3764637">
                  <a:extLst>
                    <a:ext uri="{9D8B030D-6E8A-4147-A177-3AD203B41FA5}">
                      <a16:colId xmlns:a16="http://schemas.microsoft.com/office/drawing/2014/main" val="3779798723"/>
                    </a:ext>
                  </a:extLst>
                </a:gridCol>
                <a:gridCol w="2506253">
                  <a:extLst>
                    <a:ext uri="{9D8B030D-6E8A-4147-A177-3AD203B41FA5}">
                      <a16:colId xmlns:a16="http://schemas.microsoft.com/office/drawing/2014/main" val="853256460"/>
                    </a:ext>
                  </a:extLst>
                </a:gridCol>
                <a:gridCol w="4656941">
                  <a:extLst>
                    <a:ext uri="{9D8B030D-6E8A-4147-A177-3AD203B41FA5}">
                      <a16:colId xmlns:a16="http://schemas.microsoft.com/office/drawing/2014/main" val="3230106165"/>
                    </a:ext>
                  </a:extLst>
                </a:gridCol>
              </a:tblGrid>
              <a:tr h="1541733">
                <a:tc>
                  <a:txBody>
                    <a:bodyPr/>
                    <a:lstStyle/>
                    <a:p>
                      <a:pPr rtl="0">
                        <a:buNone/>
                      </a:pPr>
                      <a:r>
                        <a:rPr lang="en-US" sz="1800" b="1">
                          <a:solidFill>
                            <a:srgbClr val="1B1C1D"/>
                          </a:solidFill>
                          <a:effectLst/>
                          <a:latin typeface="Gill Sans Bold"/>
                        </a:rPr>
                        <a:t>Problem Solver</a:t>
                      </a:r>
                      <a:endParaRPr lang="en-US" sz="1800">
                        <a:solidFill>
                          <a:srgbClr val="1B1C1D"/>
                        </a:solidFill>
                        <a:effectLst/>
                        <a:latin typeface="Gill Sans Bold"/>
                      </a:endParaRPr>
                    </a:p>
                  </a:txBody>
                  <a:tcPr marL="112920" marR="112920" marT="75280" marB="752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b="1">
                          <a:solidFill>
                            <a:srgbClr val="1B1C1D"/>
                          </a:solidFill>
                          <a:effectLst/>
                          <a:latin typeface="Gill Sans Bold"/>
                        </a:rPr>
                        <a:t>SMOTE</a:t>
                      </a:r>
                      <a:endParaRPr lang="en-US" sz="1800">
                        <a:solidFill>
                          <a:srgbClr val="1B1C1D"/>
                        </a:solidFill>
                        <a:effectLst/>
                        <a:latin typeface="Gill Sans Bold"/>
                      </a:endParaRPr>
                    </a:p>
                  </a:txBody>
                  <a:tcPr marL="112920" marR="112920" marT="75280" marB="752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b="1">
                          <a:solidFill>
                            <a:srgbClr val="1B1C1D"/>
                          </a:solidFill>
                          <a:effectLst/>
                          <a:latin typeface="Gill Sans Bold"/>
                        </a:rPr>
                        <a:t>Synthetic Minority Over-sampling Technique.</a:t>
                      </a:r>
                      <a:r>
                        <a:rPr lang="en-US" sz="1800">
                          <a:solidFill>
                            <a:srgbClr val="1B1C1D"/>
                          </a:solidFill>
                          <a:effectLst/>
                          <a:latin typeface="Gill Sans Bold"/>
                        </a:rPr>
                        <a:t> Used to mathematically generate new fraud examples on the </a:t>
                      </a:r>
                      <a:r>
                        <a:rPr lang="en-US" sz="1800" b="1">
                          <a:solidFill>
                            <a:srgbClr val="1B1C1D"/>
                          </a:solidFill>
                          <a:effectLst/>
                          <a:latin typeface="Gill Sans Bold"/>
                        </a:rPr>
                        <a:t>training data</a:t>
                      </a:r>
                      <a:r>
                        <a:rPr lang="en-US" sz="1800">
                          <a:solidFill>
                            <a:srgbClr val="1B1C1D"/>
                          </a:solidFill>
                          <a:effectLst/>
                          <a:latin typeface="Gill Sans Bold"/>
                        </a:rPr>
                        <a:t> to address the severe </a:t>
                      </a:r>
                      <a:r>
                        <a:rPr lang="en-US" sz="1800" b="1">
                          <a:solidFill>
                            <a:srgbClr val="1B1C1D"/>
                          </a:solidFill>
                          <a:effectLst/>
                          <a:latin typeface="Gill Sans Bold"/>
                        </a:rPr>
                        <a:t>class imbalance</a:t>
                      </a:r>
                      <a:r>
                        <a:rPr lang="en-US" sz="1800">
                          <a:solidFill>
                            <a:srgbClr val="1B1C1D"/>
                          </a:solidFill>
                          <a:effectLst/>
                          <a:latin typeface="Gill Sans Bold"/>
                        </a:rPr>
                        <a:t> (99.83% legitimate) and ensure the model learns fraud patterns.</a:t>
                      </a:r>
                    </a:p>
                  </a:txBody>
                  <a:tcPr marL="112920" marR="112920" marT="75280" marB="752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4904707"/>
                  </a:ext>
                </a:extLst>
              </a:tr>
              <a:tr h="1541733">
                <a:tc>
                  <a:txBody>
                    <a:bodyPr/>
                    <a:lstStyle/>
                    <a:p>
                      <a:pPr rtl="0">
                        <a:buNone/>
                      </a:pPr>
                      <a:r>
                        <a:rPr lang="en-US" sz="1800" b="1">
                          <a:solidFill>
                            <a:srgbClr val="1B1C1D"/>
                          </a:solidFill>
                          <a:effectLst/>
                          <a:latin typeface="Gill Sans Bold"/>
                        </a:rPr>
                        <a:t>Classifier</a:t>
                      </a:r>
                      <a:endParaRPr lang="en-US" sz="1800">
                        <a:solidFill>
                          <a:srgbClr val="1B1C1D"/>
                        </a:solidFill>
                        <a:effectLst/>
                        <a:latin typeface="Gill Sans Bold"/>
                      </a:endParaRPr>
                    </a:p>
                  </a:txBody>
                  <a:tcPr marL="112920" marR="112920" marT="75280" marB="752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b="1">
                          <a:solidFill>
                            <a:srgbClr val="1B1C1D"/>
                          </a:solidFill>
                          <a:effectLst/>
                          <a:latin typeface="Gill Sans Bold"/>
                        </a:rPr>
                        <a:t>XGBoost</a:t>
                      </a:r>
                      <a:endParaRPr lang="en-US" sz="1800">
                        <a:solidFill>
                          <a:srgbClr val="1B1C1D"/>
                        </a:solidFill>
                        <a:effectLst/>
                        <a:latin typeface="Gill Sans Bold"/>
                      </a:endParaRPr>
                    </a:p>
                  </a:txBody>
                  <a:tcPr marL="112920" marR="112920" marT="75280" marB="752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a:solidFill>
                            <a:srgbClr val="1B1C1D"/>
                          </a:solidFill>
                          <a:effectLst/>
                          <a:latin typeface="Gill Sans Bold"/>
                        </a:rPr>
                        <a:t>The </a:t>
                      </a:r>
                      <a:r>
                        <a:rPr lang="en-US" sz="1800" b="1">
                          <a:solidFill>
                            <a:srgbClr val="1B1C1D"/>
                          </a:solidFill>
                          <a:effectLst/>
                          <a:latin typeface="Gill Sans Bold"/>
                        </a:rPr>
                        <a:t>eXtreme Gradient Boosting</a:t>
                      </a:r>
                      <a:r>
                        <a:rPr lang="en-US" sz="1800">
                          <a:solidFill>
                            <a:srgbClr val="1B1C1D"/>
                          </a:solidFill>
                          <a:effectLst/>
                          <a:latin typeface="Gill Sans Bold"/>
                        </a:rPr>
                        <a:t> algorithm. Selected for its strength with </a:t>
                      </a:r>
                      <a:r>
                        <a:rPr lang="en-US" sz="1800" b="1">
                          <a:solidFill>
                            <a:srgbClr val="1B1C1D"/>
                          </a:solidFill>
                          <a:effectLst/>
                          <a:latin typeface="Gill Sans Bold"/>
                        </a:rPr>
                        <a:t>tabular data</a:t>
                      </a:r>
                      <a:r>
                        <a:rPr lang="en-US" sz="1800">
                          <a:solidFill>
                            <a:srgbClr val="1B1C1D"/>
                          </a:solidFill>
                          <a:effectLst/>
                          <a:latin typeface="Gill Sans Bold"/>
                        </a:rPr>
                        <a:t> and internal mechanisms to effectively maximize </a:t>
                      </a:r>
                      <a:r>
                        <a:rPr lang="en-US" sz="1800" b="1">
                          <a:solidFill>
                            <a:srgbClr val="1B1C1D"/>
                          </a:solidFill>
                          <a:effectLst/>
                          <a:latin typeface="Gill Sans Bold"/>
                        </a:rPr>
                        <a:t>Recall</a:t>
                      </a:r>
                      <a:r>
                        <a:rPr lang="en-US" sz="1800">
                          <a:solidFill>
                            <a:srgbClr val="1B1C1D"/>
                          </a:solidFill>
                          <a:effectLst/>
                          <a:latin typeface="Gill Sans Bold"/>
                        </a:rPr>
                        <a:t> (catching fraud) and maintain high </a:t>
                      </a:r>
                      <a:r>
                        <a:rPr lang="en-US" sz="1800" b="1">
                          <a:solidFill>
                            <a:srgbClr val="1B1C1D"/>
                          </a:solidFill>
                          <a:effectLst/>
                          <a:latin typeface="Gill Sans Bold"/>
                        </a:rPr>
                        <a:t>Precision</a:t>
                      </a:r>
                      <a:r>
                        <a:rPr lang="en-US" sz="1800">
                          <a:solidFill>
                            <a:srgbClr val="1B1C1D"/>
                          </a:solidFill>
                          <a:effectLst/>
                          <a:latin typeface="Gill Sans Bold"/>
                        </a:rPr>
                        <a:t> (minimizing false positives).</a:t>
                      </a:r>
                    </a:p>
                  </a:txBody>
                  <a:tcPr marL="112920" marR="112920" marT="75280" marB="7528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43364992"/>
                  </a:ext>
                </a:extLst>
              </a:tr>
            </a:tbl>
          </a:graphicData>
        </a:graphic>
      </p:graphicFrame>
    </p:spTree>
    <p:extLst>
      <p:ext uri="{BB962C8B-B14F-4D97-AF65-F5344CB8AC3E}">
        <p14:creationId xmlns:p14="http://schemas.microsoft.com/office/powerpoint/2010/main" val="10160158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grpSp>
      <p:sp>
        <p:nvSpPr>
          <p:cNvPr id="2" name="Title 1">
            <a:extLst>
              <a:ext uri="{FF2B5EF4-FFF2-40B4-BE49-F238E27FC236}">
                <a16:creationId xmlns:a16="http://schemas.microsoft.com/office/drawing/2014/main" id="{90EAB460-5B92-237F-8CE7-0A62D078F292}"/>
              </a:ext>
            </a:extLst>
          </p:cNvPr>
          <p:cNvSpPr>
            <a:spLocks noGrp="1"/>
          </p:cNvSpPr>
          <p:nvPr>
            <p:ph type="title"/>
          </p:nvPr>
        </p:nvSpPr>
        <p:spPr>
          <a:xfrm>
            <a:off x="3502731" y="1542402"/>
            <a:ext cx="5186842" cy="2387918"/>
          </a:xfrm>
        </p:spPr>
        <p:txBody>
          <a:bodyPr vert="horz" lIns="91440" tIns="45720" rIns="91440" bIns="45720" rtlCol="0" anchor="b">
            <a:normAutofit/>
          </a:bodyPr>
          <a:lstStyle/>
          <a:p>
            <a:pPr algn="ctr"/>
            <a:r>
              <a:rPr lang="en-US" sz="5200" b="1">
                <a:solidFill>
                  <a:schemeClr val="tx2"/>
                </a:solidFill>
                <a:latin typeface="Gill Sans Bold"/>
              </a:rPr>
              <a:t>Diagrams</a:t>
            </a:r>
            <a:endParaRPr lang="en-US" sz="5200" b="1" kern="1200">
              <a:solidFill>
                <a:schemeClr val="tx2"/>
              </a:solidFill>
              <a:latin typeface="Gill Sans Bold"/>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94913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21C1BF-D70F-9024-C45B-C7B875D6C31A}"/>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State Diagram</a:t>
            </a:r>
          </a:p>
        </p:txBody>
      </p:sp>
      <p:pic>
        <p:nvPicPr>
          <p:cNvPr id="9" name="Picture 8" descr="A diagram of a cloud program&#10;&#10;AI-generated content may be incorrect.">
            <a:extLst>
              <a:ext uri="{FF2B5EF4-FFF2-40B4-BE49-F238E27FC236}">
                <a16:creationId xmlns:a16="http://schemas.microsoft.com/office/drawing/2014/main" id="{7AA1894A-2C16-E307-0120-7618A1CEEE90}"/>
              </a:ext>
            </a:extLst>
          </p:cNvPr>
          <p:cNvPicPr>
            <a:picLocks noChangeAspect="1"/>
          </p:cNvPicPr>
          <p:nvPr/>
        </p:nvPicPr>
        <p:blipFill>
          <a:blip r:embed="rId2"/>
          <a:stretch>
            <a:fillRect/>
          </a:stretch>
        </p:blipFill>
        <p:spPr>
          <a:xfrm>
            <a:off x="1309873" y="1389529"/>
            <a:ext cx="9583458" cy="5457265"/>
          </a:xfrm>
          <a:prstGeom prst="rect">
            <a:avLst/>
          </a:prstGeom>
        </p:spPr>
      </p:pic>
    </p:spTree>
    <p:extLst>
      <p:ext uri="{BB962C8B-B14F-4D97-AF65-F5344CB8AC3E}">
        <p14:creationId xmlns:p14="http://schemas.microsoft.com/office/powerpoint/2010/main" val="859737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21C1BF-D70F-9024-C45B-C7B875D6C31A}"/>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Sequence  Diagram</a:t>
            </a:r>
          </a:p>
        </p:txBody>
      </p:sp>
      <p:pic>
        <p:nvPicPr>
          <p:cNvPr id="3" name="Content Placeholder 2" descr="A diagram of a credit card&#10;&#10;AI-generated content may be incorrect.">
            <a:extLst>
              <a:ext uri="{FF2B5EF4-FFF2-40B4-BE49-F238E27FC236}">
                <a16:creationId xmlns:a16="http://schemas.microsoft.com/office/drawing/2014/main" id="{B53638E0-2AEB-62A4-15EB-7AE39332C5CE}"/>
              </a:ext>
            </a:extLst>
          </p:cNvPr>
          <p:cNvPicPr>
            <a:picLocks noGrp="1" noChangeAspect="1"/>
          </p:cNvPicPr>
          <p:nvPr>
            <p:ph idx="1"/>
          </p:nvPr>
        </p:nvPicPr>
        <p:blipFill>
          <a:blip r:embed="rId2"/>
          <a:stretch>
            <a:fillRect/>
          </a:stretch>
        </p:blipFill>
        <p:spPr>
          <a:xfrm>
            <a:off x="1213557" y="1675227"/>
            <a:ext cx="9764886" cy="4394199"/>
          </a:xfrm>
          <a:prstGeom prst="rect">
            <a:avLst/>
          </a:prstGeom>
        </p:spPr>
      </p:pic>
    </p:spTree>
    <p:extLst>
      <p:ext uri="{BB962C8B-B14F-4D97-AF65-F5344CB8AC3E}">
        <p14:creationId xmlns:p14="http://schemas.microsoft.com/office/powerpoint/2010/main" val="29293906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21C1BF-D70F-9024-C45B-C7B875D6C31A}"/>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Context  Diagram</a:t>
            </a:r>
          </a:p>
        </p:txBody>
      </p:sp>
      <p:pic>
        <p:nvPicPr>
          <p:cNvPr id="3" name="Content Placeholder 2" descr="A diagram of a credit card fraud detection model&#10;&#10;AI-generated content may be incorrect.">
            <a:extLst>
              <a:ext uri="{FF2B5EF4-FFF2-40B4-BE49-F238E27FC236}">
                <a16:creationId xmlns:a16="http://schemas.microsoft.com/office/drawing/2014/main" id="{D951A550-DAFE-FCD7-8955-5DCBC4405C78}"/>
              </a:ext>
            </a:extLst>
          </p:cNvPr>
          <p:cNvPicPr>
            <a:picLocks noGrp="1" noChangeAspect="1"/>
          </p:cNvPicPr>
          <p:nvPr>
            <p:ph idx="1"/>
          </p:nvPr>
        </p:nvPicPr>
        <p:blipFill>
          <a:blip r:embed="rId2"/>
          <a:stretch>
            <a:fillRect/>
          </a:stretch>
        </p:blipFill>
        <p:spPr>
          <a:xfrm>
            <a:off x="349557" y="1639227"/>
            <a:ext cx="11618886" cy="5216199"/>
          </a:xfrm>
          <a:prstGeom prst="rect">
            <a:avLst/>
          </a:prstGeom>
        </p:spPr>
      </p:pic>
    </p:spTree>
    <p:extLst>
      <p:ext uri="{BB962C8B-B14F-4D97-AF65-F5344CB8AC3E}">
        <p14:creationId xmlns:p14="http://schemas.microsoft.com/office/powerpoint/2010/main" val="2528931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21C1BF-D70F-9024-C45B-C7B875D6C31A}"/>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Class  Diagram</a:t>
            </a:r>
          </a:p>
        </p:txBody>
      </p:sp>
      <p:pic>
        <p:nvPicPr>
          <p:cNvPr id="3" name="Content Placeholder 2">
            <a:extLst>
              <a:ext uri="{FF2B5EF4-FFF2-40B4-BE49-F238E27FC236}">
                <a16:creationId xmlns:a16="http://schemas.microsoft.com/office/drawing/2014/main" id="{2B06A9EB-4206-7649-4281-D2B656EBC998}"/>
              </a:ext>
            </a:extLst>
          </p:cNvPr>
          <p:cNvPicPr>
            <a:picLocks noGrp="1" noChangeAspect="1"/>
          </p:cNvPicPr>
          <p:nvPr>
            <p:ph idx="1"/>
          </p:nvPr>
        </p:nvPicPr>
        <p:blipFill>
          <a:blip r:embed="rId3"/>
          <a:stretch>
            <a:fillRect/>
          </a:stretch>
        </p:blipFill>
        <p:spPr>
          <a:xfrm>
            <a:off x="755308" y="1393227"/>
            <a:ext cx="10807384" cy="5462199"/>
          </a:xfrm>
          <a:prstGeom prst="rect">
            <a:avLst/>
          </a:prstGeom>
        </p:spPr>
      </p:pic>
    </p:spTree>
    <p:extLst>
      <p:ext uri="{BB962C8B-B14F-4D97-AF65-F5344CB8AC3E}">
        <p14:creationId xmlns:p14="http://schemas.microsoft.com/office/powerpoint/2010/main" val="922577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0A39FD-7340-709F-9414-6894E50381CC}"/>
            </a:ext>
          </a:extLst>
        </p:cNvPr>
        <p:cNvGrpSpPr/>
        <p:nvPr/>
      </p:nvGrpSpPr>
      <p:grpSpPr>
        <a:xfrm>
          <a:off x="0" y="0"/>
          <a:ext cx="0" cy="0"/>
          <a:chOff x="0" y="0"/>
          <a:chExt cx="0" cy="0"/>
        </a:xfrm>
      </p:grpSpPr>
      <p:sp>
        <p:nvSpPr>
          <p:cNvPr id="90" name="Rectangle 89">
            <a:extLst>
              <a:ext uri="{FF2B5EF4-FFF2-40B4-BE49-F238E27FC236}">
                <a16:creationId xmlns:a16="http://schemas.microsoft.com/office/drawing/2014/main" id="{6F2D7691-5834-E754-5DFD-9E089080D5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191EB3-D0B8-FD8E-2283-C4B1EC3241EB}"/>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a:solidFill>
                  <a:schemeClr val="bg1"/>
                </a:solidFill>
              </a:rPr>
              <a:t>Entity-Relationship</a:t>
            </a:r>
            <a:r>
              <a:rPr lang="en-US" sz="3200" b="1" kern="1200">
                <a:solidFill>
                  <a:schemeClr val="bg1"/>
                </a:solidFill>
                <a:latin typeface="+mj-lt"/>
                <a:ea typeface="+mj-ea"/>
                <a:cs typeface="+mj-cs"/>
              </a:rPr>
              <a:t> Diagram</a:t>
            </a:r>
          </a:p>
        </p:txBody>
      </p:sp>
      <p:pic>
        <p:nvPicPr>
          <p:cNvPr id="6" name="Content Placeholder 5" descr="A diagram of a fraud&#10;&#10;AI-generated content may be incorrect.">
            <a:extLst>
              <a:ext uri="{FF2B5EF4-FFF2-40B4-BE49-F238E27FC236}">
                <a16:creationId xmlns:a16="http://schemas.microsoft.com/office/drawing/2014/main" id="{BEE67E80-9FDB-13CF-FB3B-3E79649D9C75}"/>
              </a:ext>
            </a:extLst>
          </p:cNvPr>
          <p:cNvPicPr>
            <a:picLocks noGrp="1" noChangeAspect="1"/>
          </p:cNvPicPr>
          <p:nvPr>
            <p:ph idx="1"/>
          </p:nvPr>
        </p:nvPicPr>
        <p:blipFill>
          <a:blip r:embed="rId2"/>
          <a:stretch>
            <a:fillRect/>
          </a:stretch>
        </p:blipFill>
        <p:spPr>
          <a:xfrm>
            <a:off x="1256666" y="1561625"/>
            <a:ext cx="9798667" cy="5269338"/>
          </a:xfrm>
          <a:prstGeom prst="rect">
            <a:avLst/>
          </a:prstGeom>
        </p:spPr>
      </p:pic>
    </p:spTree>
    <p:extLst>
      <p:ext uri="{BB962C8B-B14F-4D97-AF65-F5344CB8AC3E}">
        <p14:creationId xmlns:p14="http://schemas.microsoft.com/office/powerpoint/2010/main" val="13380842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99427F4-F048-8612-CD60-C63A0E905500}"/>
              </a:ext>
            </a:extLst>
          </p:cNvPr>
          <p:cNvSpPr>
            <a:spLocks noGrp="1"/>
          </p:cNvSpPr>
          <p:nvPr>
            <p:ph type="title"/>
          </p:nvPr>
        </p:nvSpPr>
        <p:spPr>
          <a:xfrm>
            <a:off x="264645" y="300446"/>
            <a:ext cx="4620584" cy="847610"/>
          </a:xfrm>
        </p:spPr>
        <p:txBody>
          <a:bodyPr vert="horz" lIns="91440" tIns="45720" rIns="91440" bIns="45720" rtlCol="0" anchor="b">
            <a:normAutofit/>
          </a:bodyPr>
          <a:lstStyle/>
          <a:p>
            <a:r>
              <a:rPr lang="en-US" kern="1200">
                <a:latin typeface="Calibri"/>
                <a:ea typeface="Calibri"/>
                <a:cs typeface="Calibri"/>
              </a:rPr>
              <a:t>Sprint-1 Recap</a:t>
            </a:r>
          </a:p>
        </p:txBody>
      </p:sp>
      <p:sp>
        <p:nvSpPr>
          <p:cNvPr id="5" name="TextBox 4">
            <a:extLst>
              <a:ext uri="{FF2B5EF4-FFF2-40B4-BE49-F238E27FC236}">
                <a16:creationId xmlns:a16="http://schemas.microsoft.com/office/drawing/2014/main" id="{EC2A7690-9466-B97D-CC07-8C1E8C511881}"/>
              </a:ext>
            </a:extLst>
          </p:cNvPr>
          <p:cNvSpPr txBox="1"/>
          <p:nvPr/>
        </p:nvSpPr>
        <p:spPr>
          <a:xfrm>
            <a:off x="408000" y="1506000"/>
            <a:ext cx="5868000"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a:latin typeface="Calibri"/>
                <a:ea typeface="Calibri"/>
                <a:cs typeface="Calibri"/>
              </a:rPr>
              <a:t>In our Sprint-1 we began the process of building our credit card fraud detection model</a:t>
            </a:r>
          </a:p>
          <a:p>
            <a:endParaRPr lang="en-US">
              <a:latin typeface="Calibri"/>
              <a:ea typeface="Calibri"/>
              <a:cs typeface="Calibri"/>
            </a:endParaRPr>
          </a:p>
          <a:p>
            <a:pPr marL="285750" indent="-285750">
              <a:buFont typeface="Calibri"/>
              <a:buChar char="-"/>
            </a:pPr>
            <a:r>
              <a:rPr lang="en-US">
                <a:latin typeface="Calibri"/>
                <a:ea typeface="Calibri"/>
                <a:cs typeface="Calibri"/>
              </a:rPr>
              <a:t>We built a working model to detect credit card fraud that leveraged </a:t>
            </a:r>
            <a:r>
              <a:rPr lang="en-US" err="1">
                <a:latin typeface="Calibri"/>
                <a:ea typeface="Calibri"/>
                <a:cs typeface="Calibri"/>
              </a:rPr>
              <a:t>XGBoost</a:t>
            </a:r>
            <a:r>
              <a:rPr lang="en-US">
                <a:latin typeface="Calibri"/>
                <a:ea typeface="Calibri"/>
                <a:cs typeface="Calibri"/>
              </a:rPr>
              <a:t>, SMOTE, and credit card transaction data from Kaggle</a:t>
            </a:r>
          </a:p>
          <a:p>
            <a:endParaRPr lang="en-US">
              <a:latin typeface="Calibri"/>
              <a:ea typeface="Calibri"/>
              <a:cs typeface="Calibri"/>
            </a:endParaRPr>
          </a:p>
          <a:p>
            <a:pPr marL="285750" indent="-285750">
              <a:buFont typeface="Calibri"/>
              <a:buChar char="-"/>
            </a:pPr>
            <a:r>
              <a:rPr lang="en-US">
                <a:latin typeface="Calibri"/>
                <a:ea typeface="Calibri"/>
                <a:cs typeface="Calibri"/>
              </a:rPr>
              <a:t>Our live demo consisted of a generator application that could generate a mock transaction with model features we could control</a:t>
            </a:r>
          </a:p>
          <a:p>
            <a:pPr marL="285750" indent="-285750">
              <a:buFont typeface="Calibri"/>
              <a:buChar char="-"/>
            </a:pPr>
            <a:endParaRPr lang="en-US">
              <a:latin typeface="Calibri"/>
              <a:ea typeface="Calibri"/>
              <a:cs typeface="Calibri"/>
            </a:endParaRPr>
          </a:p>
          <a:p>
            <a:pPr marL="285750" indent="-285750">
              <a:buFont typeface="Calibri"/>
              <a:buChar char="-"/>
            </a:pPr>
            <a:r>
              <a:rPr lang="en-US">
                <a:latin typeface="Calibri"/>
                <a:ea typeface="Calibri"/>
                <a:cs typeface="Calibri"/>
              </a:rPr>
              <a:t>To the right is a link to the start of our live demo to refresh your memory</a:t>
            </a:r>
          </a:p>
        </p:txBody>
      </p:sp>
      <p:pic>
        <p:nvPicPr>
          <p:cNvPr id="6" name="Online Media 5" title="CS691 Fall 2025 Capstone Sprint 1 Presentation">
            <a:hlinkClick r:id="" action="ppaction://noaction"/>
            <a:extLst>
              <a:ext uri="{FF2B5EF4-FFF2-40B4-BE49-F238E27FC236}">
                <a16:creationId xmlns:a16="http://schemas.microsoft.com/office/drawing/2014/main" id="{33D3F662-EEFB-9710-232E-3AADCD46A4FF}"/>
              </a:ext>
            </a:extLst>
          </p:cNvPr>
          <p:cNvPicPr>
            <a:picLocks noRot="1" noChangeAspect="1"/>
          </p:cNvPicPr>
          <p:nvPr>
            <a:videoFile r:link="rId1"/>
          </p:nvPr>
        </p:nvPicPr>
        <p:blipFill>
          <a:blip r:embed="rId3"/>
          <a:stretch>
            <a:fillRect/>
          </a:stretch>
        </p:blipFill>
        <p:spPr>
          <a:xfrm>
            <a:off x="6395425" y="1711800"/>
            <a:ext cx="5660738" cy="3206400"/>
          </a:xfrm>
          <a:prstGeom prst="rect">
            <a:avLst/>
          </a:prstGeom>
        </p:spPr>
      </p:pic>
    </p:spTree>
    <p:extLst>
      <p:ext uri="{BB962C8B-B14F-4D97-AF65-F5344CB8AC3E}">
        <p14:creationId xmlns:p14="http://schemas.microsoft.com/office/powerpoint/2010/main" val="14754127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D07DBF-38C7-57B0-2E8B-AC27ABD62D93}"/>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just"/>
            <a:r>
              <a:rPr lang="en-US" sz="3200" b="1" kern="1200" dirty="0">
                <a:solidFill>
                  <a:schemeClr val="bg1"/>
                </a:solidFill>
                <a:latin typeface="+mj-lt"/>
                <a:ea typeface="+mj-ea"/>
                <a:cs typeface="+mj-cs"/>
              </a:rPr>
              <a:t>Product Backlog</a:t>
            </a:r>
          </a:p>
        </p:txBody>
      </p:sp>
      <p:graphicFrame>
        <p:nvGraphicFramePr>
          <p:cNvPr id="3" name="Table 2">
            <a:extLst>
              <a:ext uri="{FF2B5EF4-FFF2-40B4-BE49-F238E27FC236}">
                <a16:creationId xmlns:a16="http://schemas.microsoft.com/office/drawing/2014/main" id="{0CE4335A-CAB5-19B2-F65F-63124284E0DC}"/>
              </a:ext>
            </a:extLst>
          </p:cNvPr>
          <p:cNvGraphicFramePr>
            <a:graphicFrameLocks noGrp="1"/>
          </p:cNvGraphicFramePr>
          <p:nvPr>
            <p:extLst>
              <p:ext uri="{D42A27DB-BD31-4B8C-83A1-F6EECF244321}">
                <p14:modId xmlns:p14="http://schemas.microsoft.com/office/powerpoint/2010/main" val="3135212863"/>
              </p:ext>
            </p:extLst>
          </p:nvPr>
        </p:nvGraphicFramePr>
        <p:xfrm>
          <a:off x="221673" y="1828800"/>
          <a:ext cx="11804072" cy="4668980"/>
        </p:xfrm>
        <a:graphic>
          <a:graphicData uri="http://schemas.openxmlformats.org/drawingml/2006/table">
            <a:tbl>
              <a:tblPr firstRow="1" bandRow="1">
                <a:tableStyleId>{5C22544A-7EE6-4342-B048-85BDC9FD1C3A}</a:tableStyleId>
              </a:tblPr>
              <a:tblGrid>
                <a:gridCol w="805890">
                  <a:extLst>
                    <a:ext uri="{9D8B030D-6E8A-4147-A177-3AD203B41FA5}">
                      <a16:colId xmlns:a16="http://schemas.microsoft.com/office/drawing/2014/main" val="2464638804"/>
                    </a:ext>
                  </a:extLst>
                </a:gridCol>
                <a:gridCol w="5385435">
                  <a:extLst>
                    <a:ext uri="{9D8B030D-6E8A-4147-A177-3AD203B41FA5}">
                      <a16:colId xmlns:a16="http://schemas.microsoft.com/office/drawing/2014/main" val="2729374138"/>
                    </a:ext>
                  </a:extLst>
                </a:gridCol>
                <a:gridCol w="4863683">
                  <a:extLst>
                    <a:ext uri="{9D8B030D-6E8A-4147-A177-3AD203B41FA5}">
                      <a16:colId xmlns:a16="http://schemas.microsoft.com/office/drawing/2014/main" val="3248680779"/>
                    </a:ext>
                  </a:extLst>
                </a:gridCol>
                <a:gridCol w="749064">
                  <a:extLst>
                    <a:ext uri="{9D8B030D-6E8A-4147-A177-3AD203B41FA5}">
                      <a16:colId xmlns:a16="http://schemas.microsoft.com/office/drawing/2014/main" val="1810283987"/>
                    </a:ext>
                  </a:extLst>
                </a:gridCol>
              </a:tblGrid>
              <a:tr h="725169">
                <a:tc>
                  <a:txBody>
                    <a:bodyPr/>
                    <a:lstStyle/>
                    <a:p>
                      <a:pPr algn="ctr" fontAlgn="t">
                        <a:lnSpc>
                          <a:spcPct val="100000"/>
                        </a:lnSpc>
                      </a:pPr>
                      <a:r>
                        <a:rPr lang="en-US" sz="1500" u="none" strike="noStrike">
                          <a:effectLst/>
                          <a:latin typeface="Calibri"/>
                        </a:rPr>
                        <a:t>S.NO</a:t>
                      </a:r>
                      <a:endParaRPr lang="en-US" sz="1500" b="1" i="0" u="none" strike="noStrike">
                        <a:solidFill>
                          <a:srgbClr val="000000"/>
                        </a:solidFill>
                        <a:effectLst/>
                        <a:latin typeface="Calibri"/>
                      </a:endParaRPr>
                    </a:p>
                  </a:txBody>
                  <a:tcPr marL="9312" marR="9312" marT="9312" marB="0"/>
                </a:tc>
                <a:tc>
                  <a:txBody>
                    <a:bodyPr/>
                    <a:lstStyle/>
                    <a:p>
                      <a:pPr algn="ctr" fontAlgn="t">
                        <a:lnSpc>
                          <a:spcPct val="100000"/>
                        </a:lnSpc>
                      </a:pPr>
                      <a:r>
                        <a:rPr lang="en-US" sz="1500" u="none" strike="noStrike">
                          <a:effectLst/>
                          <a:latin typeface="Calibri"/>
                        </a:rPr>
                        <a:t>User Story</a:t>
                      </a:r>
                      <a:endParaRPr lang="en-US" sz="1500" b="1" i="0" u="none" strike="noStrike">
                        <a:solidFill>
                          <a:srgbClr val="000000"/>
                        </a:solidFill>
                        <a:effectLst/>
                        <a:latin typeface="Calibri"/>
                      </a:endParaRPr>
                    </a:p>
                  </a:txBody>
                  <a:tcPr marL="9312" marR="9312" marT="9312" marB="0"/>
                </a:tc>
                <a:tc>
                  <a:txBody>
                    <a:bodyPr/>
                    <a:lstStyle/>
                    <a:p>
                      <a:pPr algn="ctr" fontAlgn="t">
                        <a:lnSpc>
                          <a:spcPct val="100000"/>
                        </a:lnSpc>
                      </a:pPr>
                      <a:r>
                        <a:rPr lang="en-US" sz="1500" u="none" strike="noStrike">
                          <a:effectLst/>
                          <a:latin typeface="Calibri"/>
                        </a:rPr>
                        <a:t>Acceptance Criteria</a:t>
                      </a:r>
                      <a:endParaRPr lang="en-US" sz="1500" b="1" i="0" u="none" strike="noStrike">
                        <a:solidFill>
                          <a:srgbClr val="000000"/>
                        </a:solidFill>
                        <a:effectLst/>
                        <a:latin typeface="Calibri"/>
                      </a:endParaRPr>
                    </a:p>
                  </a:txBody>
                  <a:tcPr marL="9312" marR="9312" marT="9312" marB="0"/>
                </a:tc>
                <a:tc>
                  <a:txBody>
                    <a:bodyPr/>
                    <a:lstStyle/>
                    <a:p>
                      <a:pPr algn="ctr" fontAlgn="t">
                        <a:lnSpc>
                          <a:spcPct val="100000"/>
                        </a:lnSpc>
                      </a:pPr>
                      <a:r>
                        <a:rPr lang="en-US" sz="1500" u="none" strike="noStrike">
                          <a:effectLst/>
                          <a:latin typeface="Calibri"/>
                        </a:rPr>
                        <a:t>Story Points</a:t>
                      </a:r>
                      <a:endParaRPr lang="en-US" sz="1500" b="1" i="0" u="none" strike="noStrike">
                        <a:solidFill>
                          <a:srgbClr val="000000"/>
                        </a:solidFill>
                        <a:effectLst/>
                        <a:latin typeface="Calibri"/>
                      </a:endParaRPr>
                    </a:p>
                  </a:txBody>
                  <a:tcPr marL="9312" marR="9312" marT="9312" marB="0"/>
                </a:tc>
                <a:extLst>
                  <a:ext uri="{0D108BD9-81ED-4DB2-BD59-A6C34878D82A}">
                    <a16:rowId xmlns:a16="http://schemas.microsoft.com/office/drawing/2014/main" val="177380489"/>
                  </a:ext>
                </a:extLst>
              </a:tr>
              <a:tr h="1043135">
                <a:tc>
                  <a:txBody>
                    <a:bodyPr/>
                    <a:lstStyle/>
                    <a:p>
                      <a:pPr algn="just" fontAlgn="b"/>
                      <a:r>
                        <a:rPr lang="en-US" sz="1500" u="none" strike="noStrike">
                          <a:effectLst/>
                          <a:latin typeface="Calibri"/>
                        </a:rPr>
                        <a:t>US_01</a:t>
                      </a:r>
                      <a:endParaRPr lang="en-US" sz="1500" b="0" i="0" u="none" strike="noStrike">
                        <a:solidFill>
                          <a:srgbClr val="000000"/>
                        </a:solidFill>
                        <a:effectLst/>
                        <a:latin typeface="Calibri"/>
                      </a:endParaRPr>
                    </a:p>
                  </a:txBody>
                  <a:tcPr marL="9312" marR="9312" marT="9312" marB="0" anchor="ctr"/>
                </a:tc>
                <a:tc>
                  <a:txBody>
                    <a:bodyPr/>
                    <a:lstStyle/>
                    <a:p>
                      <a:pPr algn="just" fontAlgn="b"/>
                      <a:r>
                        <a:rPr lang="en-US" sz="1500" u="none" strike="noStrike">
                          <a:effectLst/>
                          <a:latin typeface="Calibri"/>
                        </a:rPr>
                        <a:t>As a user, I want to securely register and log in so that my financial data remains protected.</a:t>
                      </a:r>
                      <a:endParaRPr lang="en-US" sz="1500" b="0" i="0" u="none" strike="noStrike">
                        <a:solidFill>
                          <a:srgbClr val="000000"/>
                        </a:solidFill>
                        <a:effectLst/>
                        <a:latin typeface="Calibri"/>
                      </a:endParaRPr>
                    </a:p>
                  </a:txBody>
                  <a:tcPr marL="9312" marR="9312" marT="9312" marB="0" anchor="ctr"/>
                </a:tc>
                <a:tc>
                  <a:txBody>
                    <a:bodyPr/>
                    <a:lstStyle/>
                    <a:p>
                      <a:pPr algn="just" fontAlgn="b"/>
                      <a:r>
                        <a:rPr lang="en-US" sz="1500" u="none" strike="noStrike">
                          <a:effectLst/>
                          <a:latin typeface="Calibri"/>
                        </a:rPr>
                        <a:t>User can sign up, log in, and authentication is validated using encrypted credentials and session tokens.</a:t>
                      </a:r>
                      <a:endParaRPr lang="en-US" sz="1500" b="0" i="0" u="none" strike="noStrike">
                        <a:solidFill>
                          <a:srgbClr val="000000"/>
                        </a:solidFill>
                        <a:effectLst/>
                        <a:latin typeface="Calibri"/>
                      </a:endParaRPr>
                    </a:p>
                  </a:txBody>
                  <a:tcPr marL="9312" marR="9312" marT="9312" marB="0" anchor="ctr"/>
                </a:tc>
                <a:tc>
                  <a:txBody>
                    <a:bodyPr/>
                    <a:lstStyle/>
                    <a:p>
                      <a:pPr algn="ctr" fontAlgn="b"/>
                      <a:r>
                        <a:rPr lang="en-US" sz="1500" u="none" strike="noStrike">
                          <a:effectLst/>
                          <a:latin typeface="Calibri"/>
                        </a:rPr>
                        <a:t>5</a:t>
                      </a:r>
                      <a:endParaRPr lang="en-US" sz="1500" b="0" i="0" u="none" strike="noStrike">
                        <a:solidFill>
                          <a:srgbClr val="000000"/>
                        </a:solidFill>
                        <a:effectLst/>
                        <a:latin typeface="Calibri"/>
                      </a:endParaRPr>
                    </a:p>
                  </a:txBody>
                  <a:tcPr marL="9312" marR="9312" marT="9312" marB="0"/>
                </a:tc>
                <a:extLst>
                  <a:ext uri="{0D108BD9-81ED-4DB2-BD59-A6C34878D82A}">
                    <a16:rowId xmlns:a16="http://schemas.microsoft.com/office/drawing/2014/main" val="1868524462"/>
                  </a:ext>
                </a:extLst>
              </a:tr>
              <a:tr h="725169">
                <a:tc>
                  <a:txBody>
                    <a:bodyPr/>
                    <a:lstStyle/>
                    <a:p>
                      <a:pPr algn="just" fontAlgn="b"/>
                      <a:r>
                        <a:rPr lang="en-US" sz="1500" u="none" strike="noStrike">
                          <a:effectLst/>
                          <a:latin typeface="Calibri"/>
                        </a:rPr>
                        <a:t>US_02</a:t>
                      </a:r>
                      <a:endParaRPr lang="en-US" sz="1500" b="0" i="0" u="none" strike="noStrike">
                        <a:solidFill>
                          <a:srgbClr val="000000"/>
                        </a:solidFill>
                        <a:effectLst/>
                        <a:latin typeface="Calibri"/>
                      </a:endParaRPr>
                    </a:p>
                  </a:txBody>
                  <a:tcPr marL="9312" marR="9312" marT="9312" marB="0" anchor="ctr"/>
                </a:tc>
                <a:tc>
                  <a:txBody>
                    <a:bodyPr/>
                    <a:lstStyle/>
                    <a:p>
                      <a:pPr algn="just" fontAlgn="b"/>
                      <a:r>
                        <a:rPr lang="en-US" sz="1500" u="none" strike="noStrike">
                          <a:effectLst/>
                          <a:latin typeface="Calibri"/>
                        </a:rPr>
                        <a:t>As a user, I want to link my credit card so that the system can analyze transactions for fraud.</a:t>
                      </a:r>
                      <a:endParaRPr lang="en-US" sz="1500" b="0" i="0" u="none" strike="noStrike">
                        <a:solidFill>
                          <a:srgbClr val="000000"/>
                        </a:solidFill>
                        <a:effectLst/>
                        <a:latin typeface="Calibri"/>
                      </a:endParaRPr>
                    </a:p>
                  </a:txBody>
                  <a:tcPr marL="9312" marR="9312" marT="9312" marB="0" anchor="ctr"/>
                </a:tc>
                <a:tc>
                  <a:txBody>
                    <a:bodyPr/>
                    <a:lstStyle/>
                    <a:p>
                      <a:pPr algn="just" fontAlgn="b"/>
                      <a:r>
                        <a:rPr lang="en-US" sz="1500" u="none" strike="noStrike">
                          <a:effectLst/>
                          <a:latin typeface="Calibri"/>
                        </a:rPr>
                        <a:t>User can add, validate, and save encrypted card details.</a:t>
                      </a:r>
                      <a:endParaRPr lang="en-US" sz="1500" b="0" i="0" u="none" strike="noStrike">
                        <a:solidFill>
                          <a:srgbClr val="000000"/>
                        </a:solidFill>
                        <a:effectLst/>
                        <a:latin typeface="Calibri"/>
                      </a:endParaRPr>
                    </a:p>
                  </a:txBody>
                  <a:tcPr marL="9312" marR="9312" marT="9312" marB="0" anchor="ctr"/>
                </a:tc>
                <a:tc>
                  <a:txBody>
                    <a:bodyPr/>
                    <a:lstStyle/>
                    <a:p>
                      <a:pPr algn="ctr" fontAlgn="b"/>
                      <a:r>
                        <a:rPr lang="en-US" sz="1500" u="none" strike="noStrike">
                          <a:effectLst/>
                          <a:latin typeface="Calibri"/>
                        </a:rPr>
                        <a:t>5</a:t>
                      </a:r>
                      <a:endParaRPr lang="en-US" sz="1500" b="0" i="0" u="none" strike="noStrike">
                        <a:solidFill>
                          <a:srgbClr val="000000"/>
                        </a:solidFill>
                        <a:effectLst/>
                        <a:latin typeface="Calibri"/>
                      </a:endParaRPr>
                    </a:p>
                  </a:txBody>
                  <a:tcPr marL="9312" marR="9312" marT="9312" marB="0"/>
                </a:tc>
                <a:extLst>
                  <a:ext uri="{0D108BD9-81ED-4DB2-BD59-A6C34878D82A}">
                    <a16:rowId xmlns:a16="http://schemas.microsoft.com/office/drawing/2014/main" val="3170538320"/>
                  </a:ext>
                </a:extLst>
              </a:tr>
              <a:tr h="725169">
                <a:tc>
                  <a:txBody>
                    <a:bodyPr/>
                    <a:lstStyle/>
                    <a:p>
                      <a:pPr algn="just" fontAlgn="b"/>
                      <a:r>
                        <a:rPr lang="en-US" sz="1500" u="none" strike="noStrike">
                          <a:effectLst/>
                          <a:latin typeface="Calibri"/>
                        </a:rPr>
                        <a:t>US_03</a:t>
                      </a:r>
                      <a:endParaRPr lang="en-US" sz="1500" b="0" i="0" u="none" strike="noStrike">
                        <a:solidFill>
                          <a:srgbClr val="000000"/>
                        </a:solidFill>
                        <a:effectLst/>
                        <a:latin typeface="Calibri"/>
                      </a:endParaRPr>
                    </a:p>
                  </a:txBody>
                  <a:tcPr marL="9312" marR="9312" marT="9312" marB="0" anchor="ctr"/>
                </a:tc>
                <a:tc>
                  <a:txBody>
                    <a:bodyPr/>
                    <a:lstStyle/>
                    <a:p>
                      <a:pPr algn="just" fontAlgn="b"/>
                      <a:r>
                        <a:rPr lang="en-US" sz="1500" u="none" strike="noStrike">
                          <a:effectLst/>
                          <a:latin typeface="Calibri"/>
                        </a:rPr>
                        <a:t>As the system, I want to ingest real-time transactions so that fraud detection happens instantly.</a:t>
                      </a:r>
                      <a:endParaRPr lang="en-US" sz="1500" b="0" i="0" u="none" strike="noStrike">
                        <a:solidFill>
                          <a:srgbClr val="000000"/>
                        </a:solidFill>
                        <a:effectLst/>
                        <a:latin typeface="Calibri"/>
                      </a:endParaRPr>
                    </a:p>
                  </a:txBody>
                  <a:tcPr marL="9312" marR="9312" marT="9312" marB="0" anchor="ctr"/>
                </a:tc>
                <a:tc>
                  <a:txBody>
                    <a:bodyPr/>
                    <a:lstStyle/>
                    <a:p>
                      <a:pPr algn="just" fontAlgn="b"/>
                      <a:r>
                        <a:rPr lang="en-US" sz="1500" u="none" strike="noStrike">
                          <a:effectLst/>
                          <a:latin typeface="Calibri"/>
                        </a:rPr>
                        <a:t>System successfully receives, validates, and stores transaction streams in the database.</a:t>
                      </a:r>
                      <a:endParaRPr lang="en-US" sz="1500" b="0" i="0" u="none" strike="noStrike">
                        <a:solidFill>
                          <a:srgbClr val="000000"/>
                        </a:solidFill>
                        <a:effectLst/>
                        <a:latin typeface="Calibri"/>
                      </a:endParaRPr>
                    </a:p>
                  </a:txBody>
                  <a:tcPr marL="9312" marR="9312" marT="9312" marB="0" anchor="ctr"/>
                </a:tc>
                <a:tc>
                  <a:txBody>
                    <a:bodyPr/>
                    <a:lstStyle/>
                    <a:p>
                      <a:pPr algn="ctr" fontAlgn="b"/>
                      <a:r>
                        <a:rPr lang="en-US" sz="1500" u="none" strike="noStrike">
                          <a:effectLst/>
                          <a:latin typeface="Calibri"/>
                        </a:rPr>
                        <a:t>8</a:t>
                      </a:r>
                      <a:endParaRPr lang="en-US" sz="1500" b="0" i="0" u="none" strike="noStrike">
                        <a:solidFill>
                          <a:srgbClr val="000000"/>
                        </a:solidFill>
                        <a:effectLst/>
                        <a:latin typeface="Calibri"/>
                      </a:endParaRPr>
                    </a:p>
                  </a:txBody>
                  <a:tcPr marL="9312" marR="9312" marT="9312" marB="0"/>
                </a:tc>
                <a:extLst>
                  <a:ext uri="{0D108BD9-81ED-4DB2-BD59-A6C34878D82A}">
                    <a16:rowId xmlns:a16="http://schemas.microsoft.com/office/drawing/2014/main" val="3400458735"/>
                  </a:ext>
                </a:extLst>
              </a:tr>
              <a:tr h="725169">
                <a:tc>
                  <a:txBody>
                    <a:bodyPr/>
                    <a:lstStyle/>
                    <a:p>
                      <a:pPr algn="just" fontAlgn="b"/>
                      <a:r>
                        <a:rPr lang="en-US" sz="1500" u="none" strike="noStrike">
                          <a:effectLst/>
                          <a:latin typeface="Calibri"/>
                        </a:rPr>
                        <a:t>US_04</a:t>
                      </a:r>
                      <a:endParaRPr lang="en-US" sz="1500" b="0" i="0" u="none" strike="noStrike">
                        <a:solidFill>
                          <a:srgbClr val="000000"/>
                        </a:solidFill>
                        <a:effectLst/>
                        <a:latin typeface="Calibri"/>
                      </a:endParaRPr>
                    </a:p>
                  </a:txBody>
                  <a:tcPr marL="9312" marR="9312" marT="9312" marB="0" anchor="ctr"/>
                </a:tc>
                <a:tc>
                  <a:txBody>
                    <a:bodyPr/>
                    <a:lstStyle/>
                    <a:p>
                      <a:pPr algn="just" fontAlgn="b"/>
                      <a:r>
                        <a:rPr lang="en-US" sz="1500" u="none" strike="noStrike">
                          <a:effectLst/>
                          <a:latin typeface="Calibri"/>
                        </a:rPr>
                        <a:t>As a fraud analyst, I want to review risky transactions so that I can quickly take action.</a:t>
                      </a:r>
                      <a:endParaRPr lang="en-US" sz="1500" b="0" i="0" u="none" strike="noStrike">
                        <a:solidFill>
                          <a:srgbClr val="000000"/>
                        </a:solidFill>
                        <a:effectLst/>
                        <a:latin typeface="Calibri"/>
                      </a:endParaRPr>
                    </a:p>
                  </a:txBody>
                  <a:tcPr marL="9312" marR="9312" marT="9312" marB="0" anchor="ctr"/>
                </a:tc>
                <a:tc>
                  <a:txBody>
                    <a:bodyPr/>
                    <a:lstStyle/>
                    <a:p>
                      <a:pPr algn="just" fontAlgn="b"/>
                      <a:r>
                        <a:rPr lang="en-US" sz="1500" u="none" strike="noStrike">
                          <a:effectLst/>
                          <a:latin typeface="Calibri"/>
                        </a:rPr>
                        <a:t>Analysts can view flagged transactions with risk scores and transaction details.</a:t>
                      </a:r>
                      <a:endParaRPr lang="en-US" sz="1500" b="0" i="0" u="none" strike="noStrike">
                        <a:solidFill>
                          <a:srgbClr val="000000"/>
                        </a:solidFill>
                        <a:effectLst/>
                        <a:latin typeface="Calibri"/>
                      </a:endParaRPr>
                    </a:p>
                  </a:txBody>
                  <a:tcPr marL="9312" marR="9312" marT="9312" marB="0" anchor="ctr"/>
                </a:tc>
                <a:tc>
                  <a:txBody>
                    <a:bodyPr/>
                    <a:lstStyle/>
                    <a:p>
                      <a:pPr algn="ctr" fontAlgn="b"/>
                      <a:r>
                        <a:rPr lang="en-US" sz="1500" u="none" strike="noStrike">
                          <a:effectLst/>
                          <a:latin typeface="Calibri"/>
                        </a:rPr>
                        <a:t>5</a:t>
                      </a:r>
                      <a:endParaRPr lang="en-US" sz="1500" b="0" i="0" u="none" strike="noStrike">
                        <a:solidFill>
                          <a:srgbClr val="000000"/>
                        </a:solidFill>
                        <a:effectLst/>
                        <a:latin typeface="Calibri"/>
                      </a:endParaRPr>
                    </a:p>
                  </a:txBody>
                  <a:tcPr marL="9312" marR="9312" marT="9312" marB="0"/>
                </a:tc>
                <a:extLst>
                  <a:ext uri="{0D108BD9-81ED-4DB2-BD59-A6C34878D82A}">
                    <a16:rowId xmlns:a16="http://schemas.microsoft.com/office/drawing/2014/main" val="1130040014"/>
                  </a:ext>
                </a:extLst>
              </a:tr>
              <a:tr h="725169">
                <a:tc>
                  <a:txBody>
                    <a:bodyPr/>
                    <a:lstStyle/>
                    <a:p>
                      <a:pPr algn="just" fontAlgn="b"/>
                      <a:r>
                        <a:rPr lang="en-US" sz="1500" u="none" strike="noStrike">
                          <a:effectLst/>
                          <a:latin typeface="Calibri"/>
                        </a:rPr>
                        <a:t>US_05</a:t>
                      </a:r>
                      <a:endParaRPr lang="en-US" sz="1500" b="0" i="0" u="none" strike="noStrike">
                        <a:solidFill>
                          <a:srgbClr val="000000"/>
                        </a:solidFill>
                        <a:effectLst/>
                        <a:latin typeface="Calibri"/>
                      </a:endParaRPr>
                    </a:p>
                  </a:txBody>
                  <a:tcPr marL="9312" marR="9312" marT="9312" marB="0" anchor="ctr"/>
                </a:tc>
                <a:tc>
                  <a:txBody>
                    <a:bodyPr/>
                    <a:lstStyle/>
                    <a:p>
                      <a:pPr algn="just" fontAlgn="b"/>
                      <a:r>
                        <a:rPr lang="en-US" sz="1500" u="none" strike="noStrike">
                          <a:effectLst/>
                          <a:latin typeface="Calibri"/>
                        </a:rPr>
                        <a:t>As a user, I want to receive alerts when suspicious activity occurs so that I can respond immediately.</a:t>
                      </a:r>
                      <a:endParaRPr lang="en-US" sz="1500" b="0" i="0" u="none" strike="noStrike">
                        <a:solidFill>
                          <a:srgbClr val="000000"/>
                        </a:solidFill>
                        <a:effectLst/>
                        <a:latin typeface="Calibri"/>
                      </a:endParaRPr>
                    </a:p>
                  </a:txBody>
                  <a:tcPr marL="9312" marR="9312" marT="9312" marB="0" anchor="ctr"/>
                </a:tc>
                <a:tc>
                  <a:txBody>
                    <a:bodyPr/>
                    <a:lstStyle/>
                    <a:p>
                      <a:pPr algn="just" fontAlgn="b"/>
                      <a:r>
                        <a:rPr lang="en-US" sz="1500" u="none" strike="noStrike">
                          <a:effectLst/>
                          <a:latin typeface="Calibri"/>
                        </a:rPr>
                        <a:t>Alerts trigger when fraud score exceeds threshold via dashboard notification.</a:t>
                      </a:r>
                      <a:endParaRPr lang="en-US" sz="1500" b="0" i="0" u="none" strike="noStrike">
                        <a:solidFill>
                          <a:srgbClr val="000000"/>
                        </a:solidFill>
                        <a:effectLst/>
                        <a:latin typeface="Calibri"/>
                      </a:endParaRPr>
                    </a:p>
                  </a:txBody>
                  <a:tcPr marL="9312" marR="9312" marT="9312" marB="0" anchor="ctr"/>
                </a:tc>
                <a:tc>
                  <a:txBody>
                    <a:bodyPr/>
                    <a:lstStyle/>
                    <a:p>
                      <a:pPr algn="ctr" fontAlgn="b"/>
                      <a:r>
                        <a:rPr lang="en-US" sz="1500" u="none" strike="noStrike">
                          <a:effectLst/>
                          <a:latin typeface="Calibri"/>
                        </a:rPr>
                        <a:t>5</a:t>
                      </a:r>
                      <a:endParaRPr lang="en-US" sz="1500" b="0" i="0" u="none" strike="noStrike">
                        <a:solidFill>
                          <a:srgbClr val="000000"/>
                        </a:solidFill>
                        <a:effectLst/>
                        <a:latin typeface="Calibri"/>
                      </a:endParaRPr>
                    </a:p>
                  </a:txBody>
                  <a:tcPr marL="9312" marR="9312" marT="9312" marB="0"/>
                </a:tc>
                <a:extLst>
                  <a:ext uri="{0D108BD9-81ED-4DB2-BD59-A6C34878D82A}">
                    <a16:rowId xmlns:a16="http://schemas.microsoft.com/office/drawing/2014/main" val="1024524961"/>
                  </a:ext>
                </a:extLst>
              </a:tr>
            </a:tbl>
          </a:graphicData>
        </a:graphic>
      </p:graphicFrame>
    </p:spTree>
    <p:extLst>
      <p:ext uri="{BB962C8B-B14F-4D97-AF65-F5344CB8AC3E}">
        <p14:creationId xmlns:p14="http://schemas.microsoft.com/office/powerpoint/2010/main" val="15906355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D07DBF-38C7-57B0-2E8B-AC27ABD62D93}"/>
              </a:ext>
            </a:extLst>
          </p:cNvPr>
          <p:cNvSpPr>
            <a:spLocks noGrp="1"/>
          </p:cNvSpPr>
          <p:nvPr>
            <p:ph type="title"/>
          </p:nvPr>
        </p:nvSpPr>
        <p:spPr>
          <a:xfrm>
            <a:off x="556532" y="643467"/>
            <a:ext cx="11210925" cy="744836"/>
          </a:xfrm>
        </p:spPr>
        <p:txBody>
          <a:bodyPr vert="horz" lIns="91440" tIns="45720" rIns="91440" bIns="45720" rtlCol="0" anchor="ctr">
            <a:normAutofit/>
          </a:bodyPr>
          <a:lstStyle/>
          <a:p>
            <a:r>
              <a:rPr lang="en-US" sz="3200" b="1" kern="1200">
                <a:solidFill>
                  <a:schemeClr val="bg1"/>
                </a:solidFill>
                <a:latin typeface="+mj-lt"/>
                <a:ea typeface="+mj-ea"/>
                <a:cs typeface="+mj-cs"/>
              </a:rPr>
              <a:t>Product Backlog</a:t>
            </a:r>
          </a:p>
        </p:txBody>
      </p:sp>
      <p:graphicFrame>
        <p:nvGraphicFramePr>
          <p:cNvPr id="3" name="Table 2">
            <a:extLst>
              <a:ext uri="{FF2B5EF4-FFF2-40B4-BE49-F238E27FC236}">
                <a16:creationId xmlns:a16="http://schemas.microsoft.com/office/drawing/2014/main" id="{0CE4335A-CAB5-19B2-F65F-63124284E0DC}"/>
              </a:ext>
            </a:extLst>
          </p:cNvPr>
          <p:cNvGraphicFramePr>
            <a:graphicFrameLocks noGrp="1"/>
          </p:cNvGraphicFramePr>
          <p:nvPr>
            <p:extLst>
              <p:ext uri="{D42A27DB-BD31-4B8C-83A1-F6EECF244321}">
                <p14:modId xmlns:p14="http://schemas.microsoft.com/office/powerpoint/2010/main" val="2675825809"/>
              </p:ext>
            </p:extLst>
          </p:nvPr>
        </p:nvGraphicFramePr>
        <p:xfrm>
          <a:off x="221673" y="1828800"/>
          <a:ext cx="11804072" cy="4668980"/>
        </p:xfrm>
        <a:graphic>
          <a:graphicData uri="http://schemas.openxmlformats.org/drawingml/2006/table">
            <a:tbl>
              <a:tblPr firstRow="1" bandRow="1">
                <a:tableStyleId>{5C22544A-7EE6-4342-B048-85BDC9FD1C3A}</a:tableStyleId>
              </a:tblPr>
              <a:tblGrid>
                <a:gridCol w="805890">
                  <a:extLst>
                    <a:ext uri="{9D8B030D-6E8A-4147-A177-3AD203B41FA5}">
                      <a16:colId xmlns:a16="http://schemas.microsoft.com/office/drawing/2014/main" val="2464638804"/>
                    </a:ext>
                  </a:extLst>
                </a:gridCol>
                <a:gridCol w="5385435">
                  <a:extLst>
                    <a:ext uri="{9D8B030D-6E8A-4147-A177-3AD203B41FA5}">
                      <a16:colId xmlns:a16="http://schemas.microsoft.com/office/drawing/2014/main" val="2729374138"/>
                    </a:ext>
                  </a:extLst>
                </a:gridCol>
                <a:gridCol w="4863683">
                  <a:extLst>
                    <a:ext uri="{9D8B030D-6E8A-4147-A177-3AD203B41FA5}">
                      <a16:colId xmlns:a16="http://schemas.microsoft.com/office/drawing/2014/main" val="3248680779"/>
                    </a:ext>
                  </a:extLst>
                </a:gridCol>
                <a:gridCol w="749064">
                  <a:extLst>
                    <a:ext uri="{9D8B030D-6E8A-4147-A177-3AD203B41FA5}">
                      <a16:colId xmlns:a16="http://schemas.microsoft.com/office/drawing/2014/main" val="1810283987"/>
                    </a:ext>
                  </a:extLst>
                </a:gridCol>
              </a:tblGrid>
              <a:tr h="725169">
                <a:tc>
                  <a:txBody>
                    <a:bodyPr/>
                    <a:lstStyle/>
                    <a:p>
                      <a:pPr algn="ctr" fontAlgn="t">
                        <a:lnSpc>
                          <a:spcPct val="100000"/>
                        </a:lnSpc>
                      </a:pPr>
                      <a:r>
                        <a:rPr lang="en-US" sz="1500" u="none" strike="noStrike">
                          <a:effectLst/>
                          <a:latin typeface="Calibri"/>
                        </a:rPr>
                        <a:t>S.NO</a:t>
                      </a:r>
                      <a:endParaRPr lang="en-US" sz="1500" b="1" i="0" u="none" strike="noStrike">
                        <a:solidFill>
                          <a:srgbClr val="000000"/>
                        </a:solidFill>
                        <a:effectLst/>
                        <a:latin typeface="Calibri"/>
                      </a:endParaRPr>
                    </a:p>
                  </a:txBody>
                  <a:tcPr marL="9312" marR="9312" marT="9312" marB="0" anchor="ctr"/>
                </a:tc>
                <a:tc>
                  <a:txBody>
                    <a:bodyPr/>
                    <a:lstStyle/>
                    <a:p>
                      <a:pPr algn="ctr" fontAlgn="t">
                        <a:lnSpc>
                          <a:spcPct val="100000"/>
                        </a:lnSpc>
                      </a:pPr>
                      <a:r>
                        <a:rPr lang="en-US" sz="1500" u="none" strike="noStrike">
                          <a:effectLst/>
                          <a:latin typeface="Calibri"/>
                        </a:rPr>
                        <a:t>User Story</a:t>
                      </a:r>
                      <a:endParaRPr lang="en-US" sz="1500" b="1" i="0" u="none" strike="noStrike">
                        <a:solidFill>
                          <a:srgbClr val="000000"/>
                        </a:solidFill>
                        <a:effectLst/>
                        <a:latin typeface="Calibri"/>
                      </a:endParaRPr>
                    </a:p>
                  </a:txBody>
                  <a:tcPr marL="9312" marR="9312" marT="9312" marB="0" anchor="ctr"/>
                </a:tc>
                <a:tc>
                  <a:txBody>
                    <a:bodyPr/>
                    <a:lstStyle/>
                    <a:p>
                      <a:pPr algn="ctr" fontAlgn="t">
                        <a:lnSpc>
                          <a:spcPct val="100000"/>
                        </a:lnSpc>
                      </a:pPr>
                      <a:r>
                        <a:rPr lang="en-US" sz="1500" u="none" strike="noStrike">
                          <a:effectLst/>
                          <a:latin typeface="Calibri"/>
                        </a:rPr>
                        <a:t>Acceptance Criteria</a:t>
                      </a:r>
                      <a:endParaRPr lang="en-US" sz="1500" b="1" i="0" u="none" strike="noStrike">
                        <a:solidFill>
                          <a:srgbClr val="000000"/>
                        </a:solidFill>
                        <a:effectLst/>
                        <a:latin typeface="Calibri"/>
                      </a:endParaRPr>
                    </a:p>
                  </a:txBody>
                  <a:tcPr marL="9312" marR="9312" marT="9312" marB="0" anchor="ctr"/>
                </a:tc>
                <a:tc>
                  <a:txBody>
                    <a:bodyPr/>
                    <a:lstStyle/>
                    <a:p>
                      <a:pPr algn="ctr" fontAlgn="t">
                        <a:lnSpc>
                          <a:spcPct val="100000"/>
                        </a:lnSpc>
                      </a:pPr>
                      <a:r>
                        <a:rPr lang="en-US" sz="1500" u="none" strike="noStrike">
                          <a:effectLst/>
                          <a:latin typeface="Calibri"/>
                        </a:rPr>
                        <a:t>Story Points</a:t>
                      </a:r>
                      <a:endParaRPr lang="en-US" sz="1500" b="1" i="0" u="none" strike="noStrike">
                        <a:solidFill>
                          <a:srgbClr val="000000"/>
                        </a:solidFill>
                        <a:effectLst/>
                        <a:latin typeface="Calibri"/>
                      </a:endParaRPr>
                    </a:p>
                  </a:txBody>
                  <a:tcPr marL="9312" marR="9312" marT="9312" marB="0" anchor="ctr"/>
                </a:tc>
                <a:extLst>
                  <a:ext uri="{0D108BD9-81ED-4DB2-BD59-A6C34878D82A}">
                    <a16:rowId xmlns:a16="http://schemas.microsoft.com/office/drawing/2014/main" val="177380489"/>
                  </a:ext>
                </a:extLst>
              </a:tr>
              <a:tr h="1043135">
                <a:tc>
                  <a:txBody>
                    <a:bodyPr/>
                    <a:lstStyle/>
                    <a:p>
                      <a:pPr algn="l" fontAlgn="b"/>
                      <a:r>
                        <a:rPr lang="en-US" sz="1400" b="0" i="0" u="none" strike="noStrike">
                          <a:solidFill>
                            <a:srgbClr val="000000"/>
                          </a:solidFill>
                          <a:effectLst/>
                          <a:latin typeface="Calibri"/>
                        </a:rPr>
                        <a:t>US_06</a:t>
                      </a:r>
                    </a:p>
                  </a:txBody>
                  <a:tcPr marL="9525" marR="9525" marT="9525" marB="0" anchor="ctr"/>
                </a:tc>
                <a:tc>
                  <a:txBody>
                    <a:bodyPr/>
                    <a:lstStyle/>
                    <a:p>
                      <a:pPr algn="l" fontAlgn="b"/>
                      <a:r>
                        <a:rPr lang="en-US" sz="1400" b="0" i="0" u="none" strike="noStrike">
                          <a:solidFill>
                            <a:srgbClr val="000000"/>
                          </a:solidFill>
                          <a:effectLst/>
                          <a:latin typeface="Calibri"/>
                        </a:rPr>
                        <a:t>As the system, I want to run ML models to detect fraudulent patterns so that high-risk transactions are identified.</a:t>
                      </a:r>
                    </a:p>
                  </a:txBody>
                  <a:tcPr marL="9525" marR="9525" marT="9525" marB="0" anchor="ctr"/>
                </a:tc>
                <a:tc>
                  <a:txBody>
                    <a:bodyPr/>
                    <a:lstStyle/>
                    <a:p>
                      <a:pPr algn="l" fontAlgn="b"/>
                      <a:r>
                        <a:rPr lang="en-US" sz="1400" b="0" i="0" u="none" strike="noStrike">
                          <a:solidFill>
                            <a:srgbClr val="000000"/>
                          </a:solidFill>
                          <a:effectLst/>
                          <a:latin typeface="Calibri"/>
                        </a:rPr>
                        <a:t>ML model generates fraud probability score for every transaction.</a:t>
                      </a:r>
                    </a:p>
                  </a:txBody>
                  <a:tcPr marL="9525" marR="9525" marT="9525" marB="0" anchor="ctr"/>
                </a:tc>
                <a:tc>
                  <a:txBody>
                    <a:bodyPr/>
                    <a:lstStyle/>
                    <a:p>
                      <a:pPr algn="ctr" fontAlgn="b"/>
                      <a:r>
                        <a:rPr lang="en-US" sz="1400" b="0" i="0" u="none" strike="noStrike">
                          <a:solidFill>
                            <a:srgbClr val="000000"/>
                          </a:solidFill>
                          <a:effectLst/>
                          <a:latin typeface="Calibri"/>
                        </a:rPr>
                        <a:t>8</a:t>
                      </a:r>
                    </a:p>
                  </a:txBody>
                  <a:tcPr marL="9525" marR="9525" marT="9525" marB="0" anchor="ctr"/>
                </a:tc>
                <a:extLst>
                  <a:ext uri="{0D108BD9-81ED-4DB2-BD59-A6C34878D82A}">
                    <a16:rowId xmlns:a16="http://schemas.microsoft.com/office/drawing/2014/main" val="1868524462"/>
                  </a:ext>
                </a:extLst>
              </a:tr>
              <a:tr h="725169">
                <a:tc>
                  <a:txBody>
                    <a:bodyPr/>
                    <a:lstStyle/>
                    <a:p>
                      <a:pPr algn="l" fontAlgn="b"/>
                      <a:r>
                        <a:rPr lang="en-US" sz="1400" b="0" i="0" u="none" strike="noStrike">
                          <a:solidFill>
                            <a:srgbClr val="000000"/>
                          </a:solidFill>
                          <a:effectLst/>
                          <a:latin typeface="Calibri"/>
                        </a:rPr>
                        <a:t>US_07</a:t>
                      </a:r>
                    </a:p>
                  </a:txBody>
                  <a:tcPr marL="9525" marR="9525" marT="9525" marB="0" anchor="ctr"/>
                </a:tc>
                <a:tc>
                  <a:txBody>
                    <a:bodyPr/>
                    <a:lstStyle/>
                    <a:p>
                      <a:pPr algn="l" fontAlgn="b"/>
                      <a:r>
                        <a:rPr lang="en-US" sz="1400" b="0" i="0" u="none" strike="noStrike">
                          <a:solidFill>
                            <a:srgbClr val="000000"/>
                          </a:solidFill>
                          <a:effectLst/>
                          <a:latin typeface="Calibri"/>
                        </a:rPr>
                        <a:t>As an admin, I need to secure access to my dashboard so that no unauthorized person can view sensitive data.</a:t>
                      </a:r>
                    </a:p>
                  </a:txBody>
                  <a:tcPr marL="9525" marR="9525" marT="9525" marB="0" anchor="ctr"/>
                </a:tc>
                <a:tc>
                  <a:txBody>
                    <a:bodyPr/>
                    <a:lstStyle/>
                    <a:p>
                      <a:pPr algn="l" fontAlgn="b"/>
                      <a:r>
                        <a:rPr lang="en-US" sz="1400" b="0" i="0" u="none" strike="noStrike">
                          <a:solidFill>
                            <a:srgbClr val="000000"/>
                          </a:solidFill>
                          <a:effectLst/>
                          <a:latin typeface="Calibri"/>
                        </a:rPr>
                        <a:t>Admin dashboard is protected with role-based access control and audit logging.</a:t>
                      </a:r>
                    </a:p>
                  </a:txBody>
                  <a:tcPr marL="9525" marR="9525" marT="9525" marB="0" anchor="ctr"/>
                </a:tc>
                <a:tc>
                  <a:txBody>
                    <a:bodyPr/>
                    <a:lstStyle/>
                    <a:p>
                      <a:pPr algn="ctr" fontAlgn="b"/>
                      <a:r>
                        <a:rPr lang="en-US" sz="1400" b="0" i="0" u="none" strike="noStrike">
                          <a:solidFill>
                            <a:srgbClr val="000000"/>
                          </a:solidFill>
                          <a:effectLst/>
                          <a:latin typeface="Calibri"/>
                        </a:rPr>
                        <a:t>5</a:t>
                      </a:r>
                    </a:p>
                  </a:txBody>
                  <a:tcPr marL="9525" marR="9525" marT="9525" marB="0" anchor="ctr"/>
                </a:tc>
                <a:extLst>
                  <a:ext uri="{0D108BD9-81ED-4DB2-BD59-A6C34878D82A}">
                    <a16:rowId xmlns:a16="http://schemas.microsoft.com/office/drawing/2014/main" val="3170538320"/>
                  </a:ext>
                </a:extLst>
              </a:tr>
              <a:tr h="725169">
                <a:tc>
                  <a:txBody>
                    <a:bodyPr/>
                    <a:lstStyle/>
                    <a:p>
                      <a:pPr algn="l" fontAlgn="b"/>
                      <a:r>
                        <a:rPr lang="en-US" sz="1400" b="0" i="0" u="none" strike="noStrike">
                          <a:solidFill>
                            <a:srgbClr val="000000"/>
                          </a:solidFill>
                          <a:effectLst/>
                          <a:latin typeface="Calibri"/>
                        </a:rPr>
                        <a:t>US_08</a:t>
                      </a:r>
                    </a:p>
                  </a:txBody>
                  <a:tcPr marL="9525" marR="9525" marT="9525" marB="0" anchor="ctr"/>
                </a:tc>
                <a:tc>
                  <a:txBody>
                    <a:bodyPr/>
                    <a:lstStyle/>
                    <a:p>
                      <a:pPr algn="l" fontAlgn="b"/>
                      <a:r>
                        <a:rPr lang="en-US" sz="1400" b="0" i="0" u="none" strike="noStrike">
                          <a:solidFill>
                            <a:srgbClr val="000000"/>
                          </a:solidFill>
                          <a:effectLst/>
                          <a:latin typeface="Calibri"/>
                        </a:rPr>
                        <a:t>As a fraud analyst, I want a rule-based engine so I can define custom fraud rules.</a:t>
                      </a:r>
                    </a:p>
                  </a:txBody>
                  <a:tcPr marL="9525" marR="9525" marT="9525" marB="0" anchor="ctr"/>
                </a:tc>
                <a:tc>
                  <a:txBody>
                    <a:bodyPr/>
                    <a:lstStyle/>
                    <a:p>
                      <a:pPr algn="l" fontAlgn="b"/>
                      <a:r>
                        <a:rPr lang="en-US" sz="1400" b="0" i="0" u="none" strike="noStrike">
                          <a:solidFill>
                            <a:srgbClr val="000000"/>
                          </a:solidFill>
                          <a:effectLst/>
                          <a:latin typeface="Calibri"/>
                        </a:rPr>
                        <a:t>Analysts can create and activate rules such as amount limits or location mismatch.</a:t>
                      </a:r>
                    </a:p>
                  </a:txBody>
                  <a:tcPr marL="9525" marR="9525" marT="9525" marB="0" anchor="ctr"/>
                </a:tc>
                <a:tc>
                  <a:txBody>
                    <a:bodyPr/>
                    <a:lstStyle/>
                    <a:p>
                      <a:pPr algn="ctr" fontAlgn="b"/>
                      <a:r>
                        <a:rPr lang="en-US" sz="1400" b="0" i="0" u="none" strike="noStrike">
                          <a:solidFill>
                            <a:srgbClr val="000000"/>
                          </a:solidFill>
                          <a:effectLst/>
                          <a:latin typeface="Calibri"/>
                        </a:rPr>
                        <a:t>5</a:t>
                      </a:r>
                    </a:p>
                  </a:txBody>
                  <a:tcPr marL="9525" marR="9525" marT="9525" marB="0" anchor="ctr"/>
                </a:tc>
                <a:extLst>
                  <a:ext uri="{0D108BD9-81ED-4DB2-BD59-A6C34878D82A}">
                    <a16:rowId xmlns:a16="http://schemas.microsoft.com/office/drawing/2014/main" val="3400458735"/>
                  </a:ext>
                </a:extLst>
              </a:tr>
              <a:tr h="725169">
                <a:tc>
                  <a:txBody>
                    <a:bodyPr/>
                    <a:lstStyle/>
                    <a:p>
                      <a:pPr algn="l" fontAlgn="b"/>
                      <a:r>
                        <a:rPr lang="en-US" sz="1400" b="0" i="0" u="none" strike="noStrike">
                          <a:solidFill>
                            <a:srgbClr val="000000"/>
                          </a:solidFill>
                          <a:effectLst/>
                          <a:latin typeface="Calibri"/>
                        </a:rPr>
                        <a:t>US_09</a:t>
                      </a:r>
                    </a:p>
                  </a:txBody>
                  <a:tcPr marL="9525" marR="9525" marT="9525" marB="0" anchor="ctr"/>
                </a:tc>
                <a:tc>
                  <a:txBody>
                    <a:bodyPr/>
                    <a:lstStyle/>
                    <a:p>
                      <a:pPr algn="l" fontAlgn="b"/>
                      <a:r>
                        <a:rPr lang="en-US" sz="1400" b="0" i="0" u="none" strike="noStrike">
                          <a:solidFill>
                            <a:srgbClr val="000000"/>
                          </a:solidFill>
                          <a:effectLst/>
                          <a:latin typeface="Calibri"/>
                        </a:rPr>
                        <a:t>As a user, I want to view spending analytics so I can understand my financial behavior.</a:t>
                      </a:r>
                    </a:p>
                  </a:txBody>
                  <a:tcPr marL="9525" marR="9525" marT="9525" marB="0" anchor="ctr"/>
                </a:tc>
                <a:tc>
                  <a:txBody>
                    <a:bodyPr/>
                    <a:lstStyle/>
                    <a:p>
                      <a:pPr algn="l" fontAlgn="b"/>
                      <a:r>
                        <a:rPr lang="en-US" sz="1400" b="0" i="0" u="none" strike="noStrike">
                          <a:solidFill>
                            <a:srgbClr val="000000"/>
                          </a:solidFill>
                          <a:effectLst/>
                          <a:latin typeface="Calibri"/>
                        </a:rPr>
                        <a:t>Dashboard displays charts for spending patterns, merchants, and time-based trends.</a:t>
                      </a:r>
                    </a:p>
                  </a:txBody>
                  <a:tcPr marL="9525" marR="9525" marT="9525" marB="0" anchor="ctr"/>
                </a:tc>
                <a:tc>
                  <a:txBody>
                    <a:bodyPr/>
                    <a:lstStyle/>
                    <a:p>
                      <a:pPr algn="ctr" fontAlgn="b"/>
                      <a:r>
                        <a:rPr lang="en-US" sz="1400" b="0" i="0" u="none" strike="noStrike">
                          <a:solidFill>
                            <a:srgbClr val="000000"/>
                          </a:solidFill>
                          <a:effectLst/>
                          <a:latin typeface="Calibri"/>
                        </a:rPr>
                        <a:t>3</a:t>
                      </a:r>
                    </a:p>
                  </a:txBody>
                  <a:tcPr marL="9525" marR="9525" marT="9525" marB="0" anchor="ctr"/>
                </a:tc>
                <a:extLst>
                  <a:ext uri="{0D108BD9-81ED-4DB2-BD59-A6C34878D82A}">
                    <a16:rowId xmlns:a16="http://schemas.microsoft.com/office/drawing/2014/main" val="1130040014"/>
                  </a:ext>
                </a:extLst>
              </a:tr>
              <a:tr h="725169">
                <a:tc>
                  <a:txBody>
                    <a:bodyPr/>
                    <a:lstStyle/>
                    <a:p>
                      <a:pPr algn="l" fontAlgn="b"/>
                      <a:r>
                        <a:rPr lang="en-US" sz="1400" b="0" i="0" u="none" strike="noStrike">
                          <a:solidFill>
                            <a:srgbClr val="000000"/>
                          </a:solidFill>
                          <a:effectLst/>
                          <a:latin typeface="Calibri"/>
                        </a:rPr>
                        <a:t>US_10</a:t>
                      </a:r>
                    </a:p>
                  </a:txBody>
                  <a:tcPr marL="9525" marR="9525" marT="9525" marB="0" anchor="ctr"/>
                </a:tc>
                <a:tc>
                  <a:txBody>
                    <a:bodyPr/>
                    <a:lstStyle/>
                    <a:p>
                      <a:pPr algn="l" fontAlgn="b"/>
                      <a:r>
                        <a:rPr lang="en-US" sz="1400" b="0" i="0" u="none" strike="noStrike">
                          <a:solidFill>
                            <a:srgbClr val="000000"/>
                          </a:solidFill>
                          <a:effectLst/>
                          <a:latin typeface="Calibri"/>
                        </a:rPr>
                        <a:t>As a fraud analyst, I want to mark transactions as fraud or safe for model learning.</a:t>
                      </a:r>
                    </a:p>
                  </a:txBody>
                  <a:tcPr marL="9525" marR="9525" marT="9525" marB="0" anchor="ctr"/>
                </a:tc>
                <a:tc>
                  <a:txBody>
                    <a:bodyPr/>
                    <a:lstStyle/>
                    <a:p>
                      <a:pPr algn="l" fontAlgn="b"/>
                      <a:r>
                        <a:rPr lang="en-US" sz="1400" b="0" i="0" u="none" strike="noStrike">
                          <a:solidFill>
                            <a:srgbClr val="000000"/>
                          </a:solidFill>
                          <a:effectLst/>
                          <a:latin typeface="Calibri"/>
                        </a:rPr>
                        <a:t>Analyst can update labels, add notes, and change case status.</a:t>
                      </a:r>
                    </a:p>
                  </a:txBody>
                  <a:tcPr marL="9525" marR="9525" marT="9525" marB="0" anchor="ctr"/>
                </a:tc>
                <a:tc>
                  <a:txBody>
                    <a:bodyPr/>
                    <a:lstStyle/>
                    <a:p>
                      <a:pPr algn="ctr" fontAlgn="b"/>
                      <a:r>
                        <a:rPr lang="en-US" sz="1400" b="0" i="0" u="none" strike="noStrike">
                          <a:solidFill>
                            <a:srgbClr val="000000"/>
                          </a:solidFill>
                          <a:effectLst/>
                          <a:latin typeface="Calibri"/>
                        </a:rPr>
                        <a:t>5</a:t>
                      </a:r>
                    </a:p>
                  </a:txBody>
                  <a:tcPr marL="9525" marR="9525" marT="9525" marB="0" anchor="ctr"/>
                </a:tc>
                <a:extLst>
                  <a:ext uri="{0D108BD9-81ED-4DB2-BD59-A6C34878D82A}">
                    <a16:rowId xmlns:a16="http://schemas.microsoft.com/office/drawing/2014/main" val="1024524961"/>
                  </a:ext>
                </a:extLst>
              </a:tr>
            </a:tbl>
          </a:graphicData>
        </a:graphic>
      </p:graphicFrame>
    </p:spTree>
    <p:extLst>
      <p:ext uri="{BB962C8B-B14F-4D97-AF65-F5344CB8AC3E}">
        <p14:creationId xmlns:p14="http://schemas.microsoft.com/office/powerpoint/2010/main" val="35076154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D07DBF-38C7-57B0-2E8B-AC27ABD62D93}"/>
              </a:ext>
            </a:extLst>
          </p:cNvPr>
          <p:cNvSpPr>
            <a:spLocks noGrp="1"/>
          </p:cNvSpPr>
          <p:nvPr>
            <p:ph type="title"/>
          </p:nvPr>
        </p:nvSpPr>
        <p:spPr>
          <a:xfrm>
            <a:off x="556532" y="643467"/>
            <a:ext cx="11210925" cy="744836"/>
          </a:xfrm>
        </p:spPr>
        <p:txBody>
          <a:bodyPr vert="horz" lIns="91440" tIns="45720" rIns="91440" bIns="45720" rtlCol="0" anchor="ctr">
            <a:normAutofit/>
          </a:bodyPr>
          <a:lstStyle/>
          <a:p>
            <a:r>
              <a:rPr lang="en-US" sz="3200" b="1" kern="1200">
                <a:solidFill>
                  <a:schemeClr val="bg1"/>
                </a:solidFill>
                <a:latin typeface="+mj-lt"/>
                <a:ea typeface="+mj-ea"/>
                <a:cs typeface="+mj-cs"/>
              </a:rPr>
              <a:t>Product Backlog</a:t>
            </a:r>
          </a:p>
        </p:txBody>
      </p:sp>
      <p:graphicFrame>
        <p:nvGraphicFramePr>
          <p:cNvPr id="3" name="Table 2">
            <a:extLst>
              <a:ext uri="{FF2B5EF4-FFF2-40B4-BE49-F238E27FC236}">
                <a16:creationId xmlns:a16="http://schemas.microsoft.com/office/drawing/2014/main" id="{0CE4335A-CAB5-19B2-F65F-63124284E0DC}"/>
              </a:ext>
            </a:extLst>
          </p:cNvPr>
          <p:cNvGraphicFramePr>
            <a:graphicFrameLocks noGrp="1"/>
          </p:cNvGraphicFramePr>
          <p:nvPr>
            <p:extLst>
              <p:ext uri="{D42A27DB-BD31-4B8C-83A1-F6EECF244321}">
                <p14:modId xmlns:p14="http://schemas.microsoft.com/office/powerpoint/2010/main" val="2725941590"/>
              </p:ext>
            </p:extLst>
          </p:nvPr>
        </p:nvGraphicFramePr>
        <p:xfrm>
          <a:off x="221673" y="1828800"/>
          <a:ext cx="11804072" cy="4668980"/>
        </p:xfrm>
        <a:graphic>
          <a:graphicData uri="http://schemas.openxmlformats.org/drawingml/2006/table">
            <a:tbl>
              <a:tblPr firstRow="1" bandRow="1">
                <a:tableStyleId>{5C22544A-7EE6-4342-B048-85BDC9FD1C3A}</a:tableStyleId>
              </a:tblPr>
              <a:tblGrid>
                <a:gridCol w="805890">
                  <a:extLst>
                    <a:ext uri="{9D8B030D-6E8A-4147-A177-3AD203B41FA5}">
                      <a16:colId xmlns:a16="http://schemas.microsoft.com/office/drawing/2014/main" val="2464638804"/>
                    </a:ext>
                  </a:extLst>
                </a:gridCol>
                <a:gridCol w="5385435">
                  <a:extLst>
                    <a:ext uri="{9D8B030D-6E8A-4147-A177-3AD203B41FA5}">
                      <a16:colId xmlns:a16="http://schemas.microsoft.com/office/drawing/2014/main" val="2729374138"/>
                    </a:ext>
                  </a:extLst>
                </a:gridCol>
                <a:gridCol w="4863683">
                  <a:extLst>
                    <a:ext uri="{9D8B030D-6E8A-4147-A177-3AD203B41FA5}">
                      <a16:colId xmlns:a16="http://schemas.microsoft.com/office/drawing/2014/main" val="3248680779"/>
                    </a:ext>
                  </a:extLst>
                </a:gridCol>
                <a:gridCol w="749064">
                  <a:extLst>
                    <a:ext uri="{9D8B030D-6E8A-4147-A177-3AD203B41FA5}">
                      <a16:colId xmlns:a16="http://schemas.microsoft.com/office/drawing/2014/main" val="1810283987"/>
                    </a:ext>
                  </a:extLst>
                </a:gridCol>
              </a:tblGrid>
              <a:tr h="725169">
                <a:tc>
                  <a:txBody>
                    <a:bodyPr/>
                    <a:lstStyle/>
                    <a:p>
                      <a:pPr algn="ctr" fontAlgn="t">
                        <a:lnSpc>
                          <a:spcPct val="100000"/>
                        </a:lnSpc>
                      </a:pPr>
                      <a:r>
                        <a:rPr lang="en-US" sz="1500" u="none" strike="noStrike">
                          <a:effectLst/>
                          <a:latin typeface="Calibri"/>
                        </a:rPr>
                        <a:t>S.NO</a:t>
                      </a:r>
                      <a:endParaRPr lang="en-US" sz="1500" b="1" i="0" u="none" strike="noStrike">
                        <a:solidFill>
                          <a:srgbClr val="000000"/>
                        </a:solidFill>
                        <a:effectLst/>
                        <a:latin typeface="Calibri"/>
                      </a:endParaRPr>
                    </a:p>
                  </a:txBody>
                  <a:tcPr marL="9312" marR="9312" marT="9312" marB="0" anchor="ctr"/>
                </a:tc>
                <a:tc>
                  <a:txBody>
                    <a:bodyPr/>
                    <a:lstStyle/>
                    <a:p>
                      <a:pPr algn="ctr" fontAlgn="t">
                        <a:lnSpc>
                          <a:spcPct val="100000"/>
                        </a:lnSpc>
                      </a:pPr>
                      <a:r>
                        <a:rPr lang="en-US" sz="1500" u="none" strike="noStrike">
                          <a:effectLst/>
                          <a:latin typeface="Calibri"/>
                        </a:rPr>
                        <a:t>User Story</a:t>
                      </a:r>
                      <a:endParaRPr lang="en-US" sz="1500" b="1" i="0" u="none" strike="noStrike">
                        <a:solidFill>
                          <a:srgbClr val="000000"/>
                        </a:solidFill>
                        <a:effectLst/>
                        <a:latin typeface="Calibri"/>
                      </a:endParaRPr>
                    </a:p>
                  </a:txBody>
                  <a:tcPr marL="9312" marR="9312" marT="9312" marB="0" anchor="ctr"/>
                </a:tc>
                <a:tc>
                  <a:txBody>
                    <a:bodyPr/>
                    <a:lstStyle/>
                    <a:p>
                      <a:pPr algn="ctr" fontAlgn="t">
                        <a:lnSpc>
                          <a:spcPct val="100000"/>
                        </a:lnSpc>
                      </a:pPr>
                      <a:r>
                        <a:rPr lang="en-US" sz="1500" u="none" strike="noStrike">
                          <a:effectLst/>
                          <a:latin typeface="Calibri"/>
                        </a:rPr>
                        <a:t>Acceptance Criteria</a:t>
                      </a:r>
                      <a:endParaRPr lang="en-US" sz="1500" b="1" i="0" u="none" strike="noStrike">
                        <a:solidFill>
                          <a:srgbClr val="000000"/>
                        </a:solidFill>
                        <a:effectLst/>
                        <a:latin typeface="Calibri"/>
                      </a:endParaRPr>
                    </a:p>
                  </a:txBody>
                  <a:tcPr marL="9312" marR="9312" marT="9312" marB="0" anchor="ctr"/>
                </a:tc>
                <a:tc>
                  <a:txBody>
                    <a:bodyPr/>
                    <a:lstStyle/>
                    <a:p>
                      <a:pPr algn="ctr" fontAlgn="t">
                        <a:lnSpc>
                          <a:spcPct val="100000"/>
                        </a:lnSpc>
                      </a:pPr>
                      <a:r>
                        <a:rPr lang="en-US" sz="1500" u="none" strike="noStrike">
                          <a:effectLst/>
                          <a:latin typeface="Calibri"/>
                        </a:rPr>
                        <a:t>Story Points</a:t>
                      </a:r>
                      <a:endParaRPr lang="en-US" sz="1500" b="1" i="0" u="none" strike="noStrike">
                        <a:solidFill>
                          <a:srgbClr val="000000"/>
                        </a:solidFill>
                        <a:effectLst/>
                        <a:latin typeface="Calibri"/>
                      </a:endParaRPr>
                    </a:p>
                  </a:txBody>
                  <a:tcPr marL="9312" marR="9312" marT="9312" marB="0" anchor="ctr"/>
                </a:tc>
                <a:extLst>
                  <a:ext uri="{0D108BD9-81ED-4DB2-BD59-A6C34878D82A}">
                    <a16:rowId xmlns:a16="http://schemas.microsoft.com/office/drawing/2014/main" val="177380489"/>
                  </a:ext>
                </a:extLst>
              </a:tr>
              <a:tr h="1043135">
                <a:tc>
                  <a:txBody>
                    <a:bodyPr/>
                    <a:lstStyle/>
                    <a:p>
                      <a:pPr algn="l" fontAlgn="b"/>
                      <a:r>
                        <a:rPr lang="en-US" sz="1400" b="0" i="0" u="none" strike="noStrike">
                          <a:solidFill>
                            <a:srgbClr val="000000"/>
                          </a:solidFill>
                          <a:effectLst/>
                          <a:latin typeface="Calibri"/>
                        </a:rPr>
                        <a:t>US_11</a:t>
                      </a:r>
                    </a:p>
                  </a:txBody>
                  <a:tcPr marL="9525" marR="9525" marT="9525" marB="0" anchor="ctr"/>
                </a:tc>
                <a:tc>
                  <a:txBody>
                    <a:bodyPr/>
                    <a:lstStyle/>
                    <a:p>
                      <a:pPr algn="l" fontAlgn="b"/>
                      <a:r>
                        <a:rPr lang="en-US" sz="1400" b="0" i="0" u="none" strike="noStrike">
                          <a:solidFill>
                            <a:srgbClr val="000000"/>
                          </a:solidFill>
                          <a:effectLst/>
                          <a:latin typeface="Calibri"/>
                        </a:rPr>
                        <a:t>As a user, I want to file a chargeback for confirmed fraudulent transactions.</a:t>
                      </a:r>
                    </a:p>
                  </a:txBody>
                  <a:tcPr marL="9525" marR="9525" marT="9525" marB="0" anchor="ctr"/>
                </a:tc>
                <a:tc>
                  <a:txBody>
                    <a:bodyPr/>
                    <a:lstStyle/>
                    <a:p>
                      <a:pPr algn="l" fontAlgn="b"/>
                      <a:r>
                        <a:rPr lang="en-US" sz="1400" b="0" i="0" u="none" strike="noStrike">
                          <a:solidFill>
                            <a:srgbClr val="000000"/>
                          </a:solidFill>
                          <a:effectLst/>
                          <a:latin typeface="Calibri"/>
                        </a:rPr>
                        <a:t>User can generate a chargeback request with required transaction information.</a:t>
                      </a:r>
                    </a:p>
                  </a:txBody>
                  <a:tcPr marL="9525" marR="9525" marT="9525" marB="0" anchor="ctr"/>
                </a:tc>
                <a:tc>
                  <a:txBody>
                    <a:bodyPr/>
                    <a:lstStyle/>
                    <a:p>
                      <a:pPr algn="ctr" fontAlgn="b"/>
                      <a:r>
                        <a:rPr lang="en-US" sz="1400" b="0" i="0" u="none" strike="noStrike">
                          <a:solidFill>
                            <a:srgbClr val="000000"/>
                          </a:solidFill>
                          <a:effectLst/>
                          <a:latin typeface="Calibri"/>
                        </a:rPr>
                        <a:t>5</a:t>
                      </a:r>
                    </a:p>
                  </a:txBody>
                  <a:tcPr marL="9525" marR="9525" marT="9525" marB="0" anchor="ctr"/>
                </a:tc>
                <a:extLst>
                  <a:ext uri="{0D108BD9-81ED-4DB2-BD59-A6C34878D82A}">
                    <a16:rowId xmlns:a16="http://schemas.microsoft.com/office/drawing/2014/main" val="1868524462"/>
                  </a:ext>
                </a:extLst>
              </a:tr>
              <a:tr h="725169">
                <a:tc>
                  <a:txBody>
                    <a:bodyPr/>
                    <a:lstStyle/>
                    <a:p>
                      <a:pPr algn="l" fontAlgn="b"/>
                      <a:r>
                        <a:rPr lang="en-US" sz="1400" b="0" i="0" u="none" strike="noStrike">
                          <a:solidFill>
                            <a:srgbClr val="000000"/>
                          </a:solidFill>
                          <a:effectLst/>
                          <a:latin typeface="Calibri"/>
                        </a:rPr>
                        <a:t>US_12</a:t>
                      </a:r>
                    </a:p>
                  </a:txBody>
                  <a:tcPr marL="9525" marR="9525" marT="9525" marB="0" anchor="ctr"/>
                </a:tc>
                <a:tc>
                  <a:txBody>
                    <a:bodyPr/>
                    <a:lstStyle/>
                    <a:p>
                      <a:pPr algn="l" fontAlgn="b"/>
                      <a:r>
                        <a:rPr lang="en-US" sz="1400" b="0" i="0" u="none" strike="noStrike">
                          <a:solidFill>
                            <a:srgbClr val="000000"/>
                          </a:solidFill>
                          <a:effectLst/>
                          <a:latin typeface="Calibri"/>
                        </a:rPr>
                        <a:t>As an admin, I want to manage and verify financial institutions integrating with our system.</a:t>
                      </a:r>
                    </a:p>
                  </a:txBody>
                  <a:tcPr marL="9525" marR="9525" marT="9525" marB="0" anchor="ctr"/>
                </a:tc>
                <a:tc>
                  <a:txBody>
                    <a:bodyPr/>
                    <a:lstStyle/>
                    <a:p>
                      <a:pPr algn="l" fontAlgn="b"/>
                      <a:r>
                        <a:rPr lang="en-US" sz="1400" b="0" i="0" u="none" strike="noStrike">
                          <a:solidFill>
                            <a:srgbClr val="000000"/>
                          </a:solidFill>
                          <a:effectLst/>
                          <a:latin typeface="Calibri"/>
                        </a:rPr>
                        <a:t>Admin can approve or reject banks after verifying API credentials.</a:t>
                      </a:r>
                    </a:p>
                  </a:txBody>
                  <a:tcPr marL="9525" marR="9525" marT="9525" marB="0" anchor="ctr"/>
                </a:tc>
                <a:tc>
                  <a:txBody>
                    <a:bodyPr/>
                    <a:lstStyle/>
                    <a:p>
                      <a:pPr algn="ctr" fontAlgn="b"/>
                      <a:r>
                        <a:rPr lang="en-US" sz="1400" b="0" i="0" u="none" strike="noStrike">
                          <a:solidFill>
                            <a:srgbClr val="000000"/>
                          </a:solidFill>
                          <a:effectLst/>
                          <a:latin typeface="Calibri"/>
                        </a:rPr>
                        <a:t>5</a:t>
                      </a:r>
                    </a:p>
                  </a:txBody>
                  <a:tcPr marL="9525" marR="9525" marT="9525" marB="0" anchor="ctr"/>
                </a:tc>
                <a:extLst>
                  <a:ext uri="{0D108BD9-81ED-4DB2-BD59-A6C34878D82A}">
                    <a16:rowId xmlns:a16="http://schemas.microsoft.com/office/drawing/2014/main" val="3170538320"/>
                  </a:ext>
                </a:extLst>
              </a:tr>
              <a:tr h="725169">
                <a:tc>
                  <a:txBody>
                    <a:bodyPr/>
                    <a:lstStyle/>
                    <a:p>
                      <a:pPr algn="l" fontAlgn="b"/>
                      <a:r>
                        <a:rPr lang="en-US" sz="1400" b="0" i="0" u="none" strike="noStrike">
                          <a:solidFill>
                            <a:srgbClr val="000000"/>
                          </a:solidFill>
                          <a:effectLst/>
                          <a:latin typeface="Calibri"/>
                        </a:rPr>
                        <a:t>US_13</a:t>
                      </a:r>
                    </a:p>
                  </a:txBody>
                  <a:tcPr marL="9525" marR="9525" marT="9525" marB="0" anchor="ctr"/>
                </a:tc>
                <a:tc>
                  <a:txBody>
                    <a:bodyPr/>
                    <a:lstStyle/>
                    <a:p>
                      <a:pPr algn="l" fontAlgn="b"/>
                      <a:r>
                        <a:rPr lang="en-US" sz="1400" b="0" i="0" u="none" strike="noStrike">
                          <a:solidFill>
                            <a:srgbClr val="000000"/>
                          </a:solidFill>
                          <a:effectLst/>
                          <a:latin typeface="Calibri"/>
                        </a:rPr>
                        <a:t>As the system, I want to log all fraud-related events so that investigators can review them later.</a:t>
                      </a:r>
                    </a:p>
                  </a:txBody>
                  <a:tcPr marL="9525" marR="9525" marT="9525" marB="0" anchor="ctr"/>
                </a:tc>
                <a:tc>
                  <a:txBody>
                    <a:bodyPr/>
                    <a:lstStyle/>
                    <a:p>
                      <a:pPr algn="l" fontAlgn="b"/>
                      <a:r>
                        <a:rPr lang="en-US" sz="1400" b="0" i="0" u="none" strike="noStrike">
                          <a:solidFill>
                            <a:srgbClr val="000000"/>
                          </a:solidFill>
                          <a:effectLst/>
                          <a:latin typeface="Calibri"/>
                        </a:rPr>
                        <a:t>Every fraud-related action is saved with timestamp, reviewer notes, and device metadata.</a:t>
                      </a:r>
                    </a:p>
                  </a:txBody>
                  <a:tcPr marL="9525" marR="9525" marT="9525" marB="0" anchor="ctr"/>
                </a:tc>
                <a:tc>
                  <a:txBody>
                    <a:bodyPr/>
                    <a:lstStyle/>
                    <a:p>
                      <a:pPr algn="ctr" fontAlgn="b"/>
                      <a:r>
                        <a:rPr lang="en-US" sz="1400" b="0" i="0" u="none" strike="noStrike">
                          <a:solidFill>
                            <a:srgbClr val="000000"/>
                          </a:solidFill>
                          <a:effectLst/>
                          <a:latin typeface="Calibri"/>
                        </a:rPr>
                        <a:t>3</a:t>
                      </a:r>
                    </a:p>
                  </a:txBody>
                  <a:tcPr marL="9525" marR="9525" marT="9525" marB="0" anchor="ctr"/>
                </a:tc>
                <a:extLst>
                  <a:ext uri="{0D108BD9-81ED-4DB2-BD59-A6C34878D82A}">
                    <a16:rowId xmlns:a16="http://schemas.microsoft.com/office/drawing/2014/main" val="3400458735"/>
                  </a:ext>
                </a:extLst>
              </a:tr>
              <a:tr h="725169">
                <a:tc>
                  <a:txBody>
                    <a:bodyPr/>
                    <a:lstStyle/>
                    <a:p>
                      <a:pPr algn="l" fontAlgn="b"/>
                      <a:r>
                        <a:rPr lang="en-US" sz="1400" b="0" i="0" u="none" strike="noStrike">
                          <a:solidFill>
                            <a:srgbClr val="000000"/>
                          </a:solidFill>
                          <a:effectLst/>
                          <a:latin typeface="Calibri"/>
                        </a:rPr>
                        <a:t>US_14</a:t>
                      </a:r>
                    </a:p>
                  </a:txBody>
                  <a:tcPr marL="9525" marR="9525" marT="9525" marB="0" anchor="ctr"/>
                </a:tc>
                <a:tc>
                  <a:txBody>
                    <a:bodyPr/>
                    <a:lstStyle/>
                    <a:p>
                      <a:pPr algn="l" fontAlgn="b"/>
                      <a:r>
                        <a:rPr lang="en-US" sz="1400" b="0" i="0" u="none" strike="noStrike">
                          <a:solidFill>
                            <a:srgbClr val="000000"/>
                          </a:solidFill>
                          <a:effectLst/>
                          <a:latin typeface="Calibri"/>
                        </a:rPr>
                        <a:t>As a fraud analyst, I want heatmaps of unusual behavior so that anomalies are easier to detect visually.</a:t>
                      </a:r>
                    </a:p>
                  </a:txBody>
                  <a:tcPr marL="9525" marR="9525" marT="9525" marB="0" anchor="ctr"/>
                </a:tc>
                <a:tc>
                  <a:txBody>
                    <a:bodyPr/>
                    <a:lstStyle/>
                    <a:p>
                      <a:pPr algn="l" fontAlgn="b"/>
                      <a:r>
                        <a:rPr lang="en-US" sz="1400" b="0" i="0" u="none" strike="noStrike">
                          <a:solidFill>
                            <a:srgbClr val="000000"/>
                          </a:solidFill>
                          <a:effectLst/>
                          <a:latin typeface="Calibri"/>
                        </a:rPr>
                        <a:t>System generates heatmaps for time-based, location-based, and merchant-based anomalies.</a:t>
                      </a:r>
                    </a:p>
                  </a:txBody>
                  <a:tcPr marL="9525" marR="9525" marT="9525" marB="0" anchor="ctr"/>
                </a:tc>
                <a:tc>
                  <a:txBody>
                    <a:bodyPr/>
                    <a:lstStyle/>
                    <a:p>
                      <a:pPr algn="ctr" fontAlgn="b"/>
                      <a:r>
                        <a:rPr lang="en-US" sz="1400" b="0" i="0" u="none" strike="noStrike">
                          <a:solidFill>
                            <a:srgbClr val="000000"/>
                          </a:solidFill>
                          <a:effectLst/>
                          <a:latin typeface="Calibri"/>
                        </a:rPr>
                        <a:t>8</a:t>
                      </a:r>
                    </a:p>
                  </a:txBody>
                  <a:tcPr marL="9525" marR="9525" marT="9525" marB="0" anchor="ctr"/>
                </a:tc>
                <a:extLst>
                  <a:ext uri="{0D108BD9-81ED-4DB2-BD59-A6C34878D82A}">
                    <a16:rowId xmlns:a16="http://schemas.microsoft.com/office/drawing/2014/main" val="1130040014"/>
                  </a:ext>
                </a:extLst>
              </a:tr>
              <a:tr h="725169">
                <a:tc>
                  <a:txBody>
                    <a:bodyPr/>
                    <a:lstStyle/>
                    <a:p>
                      <a:pPr algn="l" fontAlgn="b"/>
                      <a:r>
                        <a:rPr lang="en-US" sz="1400" b="0" i="0" u="none" strike="noStrike">
                          <a:solidFill>
                            <a:srgbClr val="000000"/>
                          </a:solidFill>
                          <a:effectLst/>
                          <a:latin typeface="Calibri"/>
                        </a:rPr>
                        <a:t>US_15</a:t>
                      </a:r>
                    </a:p>
                  </a:txBody>
                  <a:tcPr marL="9525" marR="9525" marT="9525" marB="0" anchor="ctr"/>
                </a:tc>
                <a:tc>
                  <a:txBody>
                    <a:bodyPr/>
                    <a:lstStyle/>
                    <a:p>
                      <a:pPr algn="l" fontAlgn="b"/>
                      <a:r>
                        <a:rPr lang="en-US" sz="1400" b="0" i="0" u="none" strike="noStrike">
                          <a:solidFill>
                            <a:srgbClr val="000000"/>
                          </a:solidFill>
                          <a:effectLst/>
                          <a:latin typeface="Calibri"/>
                        </a:rPr>
                        <a:t>As a user, I want OTP verification for high-risk login attempts so that my account stays protected.</a:t>
                      </a:r>
                    </a:p>
                  </a:txBody>
                  <a:tcPr marL="9525" marR="9525" marT="9525" marB="0" anchor="ctr"/>
                </a:tc>
                <a:tc>
                  <a:txBody>
                    <a:bodyPr/>
                    <a:lstStyle/>
                    <a:p>
                      <a:pPr algn="l" fontAlgn="b"/>
                      <a:r>
                        <a:rPr lang="en-US" sz="1400" b="0" i="0" u="none" strike="noStrike">
                          <a:solidFill>
                            <a:srgbClr val="000000"/>
                          </a:solidFill>
                          <a:effectLst/>
                          <a:latin typeface="Calibri"/>
                        </a:rPr>
                        <a:t>OTP is sent on suspicious logins and must be verified to continue.</a:t>
                      </a:r>
                    </a:p>
                  </a:txBody>
                  <a:tcPr marL="9525" marR="9525" marT="9525" marB="0" anchor="ctr"/>
                </a:tc>
                <a:tc>
                  <a:txBody>
                    <a:bodyPr/>
                    <a:lstStyle/>
                    <a:p>
                      <a:pPr algn="ctr" fontAlgn="b"/>
                      <a:r>
                        <a:rPr lang="en-US" sz="1400" b="0" i="0" u="none" strike="noStrike">
                          <a:solidFill>
                            <a:srgbClr val="000000"/>
                          </a:solidFill>
                          <a:effectLst/>
                          <a:latin typeface="Calibri"/>
                        </a:rPr>
                        <a:t>5</a:t>
                      </a:r>
                    </a:p>
                  </a:txBody>
                  <a:tcPr marL="9525" marR="9525" marT="9525" marB="0" anchor="ctr"/>
                </a:tc>
                <a:extLst>
                  <a:ext uri="{0D108BD9-81ED-4DB2-BD59-A6C34878D82A}">
                    <a16:rowId xmlns:a16="http://schemas.microsoft.com/office/drawing/2014/main" val="1024524961"/>
                  </a:ext>
                </a:extLst>
              </a:tr>
            </a:tbl>
          </a:graphicData>
        </a:graphic>
      </p:graphicFrame>
    </p:spTree>
    <p:extLst>
      <p:ext uri="{BB962C8B-B14F-4D97-AF65-F5344CB8AC3E}">
        <p14:creationId xmlns:p14="http://schemas.microsoft.com/office/powerpoint/2010/main" val="34657543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3729EC-7224-242B-7127-57EA0F02650E}"/>
              </a:ext>
            </a:extLst>
          </p:cNvPr>
          <p:cNvSpPr>
            <a:spLocks noGrp="1"/>
          </p:cNvSpPr>
          <p:nvPr>
            <p:ph type="title"/>
          </p:nvPr>
        </p:nvSpPr>
        <p:spPr>
          <a:xfrm>
            <a:off x="556532" y="643467"/>
            <a:ext cx="11210925" cy="744836"/>
          </a:xfrm>
        </p:spPr>
        <p:txBody>
          <a:bodyPr vert="horz" lIns="91440" tIns="45720" rIns="91440" bIns="45720" rtlCol="0" anchor="ctr">
            <a:normAutofit/>
          </a:bodyPr>
          <a:lstStyle/>
          <a:p>
            <a:r>
              <a:rPr lang="en-US" sz="3200" b="1" kern="1200" dirty="0">
                <a:solidFill>
                  <a:schemeClr val="bg1"/>
                </a:solidFill>
                <a:latin typeface="+mj-lt"/>
                <a:ea typeface="+mj-ea"/>
                <a:cs typeface="+mj-cs"/>
              </a:rPr>
              <a:t>Sprint-2 Stories</a:t>
            </a:r>
          </a:p>
        </p:txBody>
      </p:sp>
      <p:graphicFrame>
        <p:nvGraphicFramePr>
          <p:cNvPr id="3" name="Table 2">
            <a:extLst>
              <a:ext uri="{FF2B5EF4-FFF2-40B4-BE49-F238E27FC236}">
                <a16:creationId xmlns:a16="http://schemas.microsoft.com/office/drawing/2014/main" id="{B1B75F46-14C4-ED73-2FF8-20BF53DDFE2F}"/>
              </a:ext>
            </a:extLst>
          </p:cNvPr>
          <p:cNvGraphicFramePr>
            <a:graphicFrameLocks noGrp="1"/>
          </p:cNvGraphicFramePr>
          <p:nvPr>
            <p:extLst>
              <p:ext uri="{D42A27DB-BD31-4B8C-83A1-F6EECF244321}">
                <p14:modId xmlns:p14="http://schemas.microsoft.com/office/powerpoint/2010/main" val="516821355"/>
              </p:ext>
            </p:extLst>
          </p:nvPr>
        </p:nvGraphicFramePr>
        <p:xfrm>
          <a:off x="0" y="1668628"/>
          <a:ext cx="12053451" cy="4219216"/>
        </p:xfrm>
        <a:graphic>
          <a:graphicData uri="http://schemas.openxmlformats.org/drawingml/2006/table">
            <a:tbl>
              <a:tblPr firstRow="1" bandRow="1">
                <a:tableStyleId>{5C22544A-7EE6-4342-B048-85BDC9FD1C3A}</a:tableStyleId>
              </a:tblPr>
              <a:tblGrid>
                <a:gridCol w="810197">
                  <a:extLst>
                    <a:ext uri="{9D8B030D-6E8A-4147-A177-3AD203B41FA5}">
                      <a16:colId xmlns:a16="http://schemas.microsoft.com/office/drawing/2014/main" val="3368656161"/>
                    </a:ext>
                  </a:extLst>
                </a:gridCol>
                <a:gridCol w="2700000">
                  <a:extLst>
                    <a:ext uri="{9D8B030D-6E8A-4147-A177-3AD203B41FA5}">
                      <a16:colId xmlns:a16="http://schemas.microsoft.com/office/drawing/2014/main" val="3829799536"/>
                    </a:ext>
                  </a:extLst>
                </a:gridCol>
                <a:gridCol w="5207999">
                  <a:extLst>
                    <a:ext uri="{9D8B030D-6E8A-4147-A177-3AD203B41FA5}">
                      <a16:colId xmlns:a16="http://schemas.microsoft.com/office/drawing/2014/main" val="4234547149"/>
                    </a:ext>
                  </a:extLst>
                </a:gridCol>
                <a:gridCol w="1896000">
                  <a:extLst>
                    <a:ext uri="{9D8B030D-6E8A-4147-A177-3AD203B41FA5}">
                      <a16:colId xmlns:a16="http://schemas.microsoft.com/office/drawing/2014/main" val="422829654"/>
                    </a:ext>
                  </a:extLst>
                </a:gridCol>
                <a:gridCol w="1439255">
                  <a:extLst>
                    <a:ext uri="{9D8B030D-6E8A-4147-A177-3AD203B41FA5}">
                      <a16:colId xmlns:a16="http://schemas.microsoft.com/office/drawing/2014/main" val="173840191"/>
                    </a:ext>
                  </a:extLst>
                </a:gridCol>
              </a:tblGrid>
              <a:tr h="1054804">
                <a:tc>
                  <a:txBody>
                    <a:bodyPr/>
                    <a:lstStyle/>
                    <a:p>
                      <a:pPr algn="ctr" fontAlgn="t"/>
                      <a:r>
                        <a:rPr lang="en-US" sz="1500" u="none" strike="noStrike">
                          <a:effectLst/>
                          <a:latin typeface="Calibri"/>
                        </a:rPr>
                        <a:t>S.NO</a:t>
                      </a:r>
                      <a:endParaRPr lang="en-US" sz="1500" b="1" i="0" u="none" strike="noStrike">
                        <a:solidFill>
                          <a:srgbClr val="000000"/>
                        </a:solidFill>
                        <a:effectLst/>
                        <a:latin typeface="Calibri"/>
                      </a:endParaRPr>
                    </a:p>
                  </a:txBody>
                  <a:tcPr marL="8386" marR="8386" marT="8386" marB="0" anchor="ctr"/>
                </a:tc>
                <a:tc>
                  <a:txBody>
                    <a:bodyPr/>
                    <a:lstStyle/>
                    <a:p>
                      <a:pPr algn="ctr" fontAlgn="t"/>
                      <a:r>
                        <a:rPr lang="en-US" sz="1500" u="none" strike="noStrike">
                          <a:effectLst/>
                          <a:latin typeface="Calibri"/>
                        </a:rPr>
                        <a:t>User Story</a:t>
                      </a:r>
                      <a:endParaRPr lang="en-US" sz="1500" b="1" i="0" u="none" strike="noStrike">
                        <a:solidFill>
                          <a:srgbClr val="000000"/>
                        </a:solidFill>
                        <a:effectLst/>
                        <a:latin typeface="Calibri"/>
                      </a:endParaRPr>
                    </a:p>
                  </a:txBody>
                  <a:tcPr marL="8386" marR="8386" marT="8386" marB="0" anchor="ctr"/>
                </a:tc>
                <a:tc>
                  <a:txBody>
                    <a:bodyPr/>
                    <a:lstStyle/>
                    <a:p>
                      <a:pPr algn="ctr" fontAlgn="t"/>
                      <a:r>
                        <a:rPr lang="en-US" sz="1500" u="none" strike="noStrike">
                          <a:effectLst/>
                          <a:latin typeface="Calibri"/>
                        </a:rPr>
                        <a:t>Acceptance Criteria</a:t>
                      </a:r>
                      <a:endParaRPr lang="en-US" sz="1500" b="1" i="0" u="none" strike="noStrike">
                        <a:solidFill>
                          <a:srgbClr val="000000"/>
                        </a:solidFill>
                        <a:effectLst/>
                        <a:latin typeface="Calibri"/>
                      </a:endParaRPr>
                    </a:p>
                  </a:txBody>
                  <a:tcPr marL="8386" marR="8386" marT="8386" marB="0" anchor="ctr"/>
                </a:tc>
                <a:tc>
                  <a:txBody>
                    <a:bodyPr/>
                    <a:lstStyle/>
                    <a:p>
                      <a:pPr algn="ctr" fontAlgn="t"/>
                      <a:r>
                        <a:rPr lang="en-US" sz="1500" u="none" strike="noStrike">
                          <a:effectLst/>
                          <a:latin typeface="Calibri"/>
                        </a:rPr>
                        <a:t>Feature</a:t>
                      </a:r>
                      <a:endParaRPr lang="en-US" sz="1500" b="1" i="0" u="none" strike="noStrike">
                        <a:solidFill>
                          <a:srgbClr val="000000"/>
                        </a:solidFill>
                        <a:effectLst/>
                        <a:latin typeface="Calibri"/>
                      </a:endParaRPr>
                    </a:p>
                  </a:txBody>
                  <a:tcPr marL="8386" marR="8386" marT="8386" marB="0" anchor="ctr"/>
                </a:tc>
                <a:tc>
                  <a:txBody>
                    <a:bodyPr/>
                    <a:lstStyle/>
                    <a:p>
                      <a:pPr algn="ctr" fontAlgn="t"/>
                      <a:r>
                        <a:rPr lang="en-US" sz="1500" u="none" strike="noStrike">
                          <a:effectLst/>
                          <a:latin typeface="Calibri"/>
                        </a:rPr>
                        <a:t>Story Points</a:t>
                      </a:r>
                      <a:endParaRPr lang="en-US" sz="1500" b="1" i="0" u="none" strike="noStrike">
                        <a:solidFill>
                          <a:srgbClr val="000000"/>
                        </a:solidFill>
                        <a:effectLst/>
                        <a:latin typeface="Calibri"/>
                      </a:endParaRPr>
                    </a:p>
                  </a:txBody>
                  <a:tcPr marL="8386" marR="8386" marT="8386" marB="0" anchor="ctr"/>
                </a:tc>
                <a:extLst>
                  <a:ext uri="{0D108BD9-81ED-4DB2-BD59-A6C34878D82A}">
                    <a16:rowId xmlns:a16="http://schemas.microsoft.com/office/drawing/2014/main" val="4046513150"/>
                  </a:ext>
                </a:extLst>
              </a:tr>
              <a:tr h="1054804">
                <a:tc>
                  <a:txBody>
                    <a:bodyPr/>
                    <a:lstStyle/>
                    <a:p>
                      <a:pPr algn="l" fontAlgn="b"/>
                      <a:r>
                        <a:rPr lang="en-US" sz="1500" u="none" strike="noStrike">
                          <a:effectLst/>
                          <a:latin typeface="Calibri"/>
                        </a:rPr>
                        <a:t>US_02</a:t>
                      </a:r>
                      <a:endParaRPr lang="en-US" sz="1500" b="0" i="0" u="none" strike="noStrike">
                        <a:solidFill>
                          <a:srgbClr val="000000"/>
                        </a:solidFill>
                        <a:effectLst/>
                        <a:latin typeface="Calibri"/>
                      </a:endParaRPr>
                    </a:p>
                  </a:txBody>
                  <a:tcPr marL="8386" marR="8386" marT="8386" marB="0" anchor="ctr"/>
                </a:tc>
                <a:tc>
                  <a:txBody>
                    <a:bodyPr/>
                    <a:lstStyle/>
                    <a:p>
                      <a:pPr algn="l" fontAlgn="b"/>
                      <a:r>
                        <a:rPr lang="en-US" sz="1500" u="none" strike="noStrike">
                          <a:effectLst/>
                          <a:latin typeface="Calibri"/>
                        </a:rPr>
                        <a:t>As a user, I want to link my credit card so that the system can start monitoring transactions for fraud.</a:t>
                      </a:r>
                      <a:endParaRPr lang="en-US" sz="1500" b="0" i="0" u="none" strike="noStrike">
                        <a:solidFill>
                          <a:srgbClr val="000000"/>
                        </a:solidFill>
                        <a:effectLst/>
                        <a:latin typeface="Calibri"/>
                      </a:endParaRPr>
                    </a:p>
                  </a:txBody>
                  <a:tcPr marL="8386" marR="8386" marT="8386" marB="0" anchor="ctr"/>
                </a:tc>
                <a:tc>
                  <a:txBody>
                    <a:bodyPr/>
                    <a:lstStyle/>
                    <a:p>
                      <a:pPr algn="l" fontAlgn="b"/>
                      <a:r>
                        <a:rPr lang="en-US" sz="1500" u="none" strike="noStrike">
                          <a:effectLst/>
                          <a:latin typeface="Calibri"/>
                        </a:rPr>
                        <a:t>User can add a card, Luhn validation passes, and card is stored securely.</a:t>
                      </a:r>
                      <a:endParaRPr lang="en-US" sz="1500" b="0" i="0" u="none" strike="noStrike">
                        <a:solidFill>
                          <a:srgbClr val="000000"/>
                        </a:solidFill>
                        <a:effectLst/>
                        <a:latin typeface="Calibri"/>
                      </a:endParaRPr>
                    </a:p>
                  </a:txBody>
                  <a:tcPr marL="8386" marR="8386" marT="8386" marB="0" anchor="ctr"/>
                </a:tc>
                <a:tc>
                  <a:txBody>
                    <a:bodyPr/>
                    <a:lstStyle/>
                    <a:p>
                      <a:pPr algn="l" fontAlgn="b"/>
                      <a:r>
                        <a:rPr lang="en-US" sz="1500" u="none" strike="noStrike">
                          <a:effectLst/>
                          <a:latin typeface="Calibri"/>
                        </a:rPr>
                        <a:t>Credit Card Linking</a:t>
                      </a:r>
                      <a:endParaRPr lang="en-US" sz="1500" b="0" i="0" u="none" strike="noStrike">
                        <a:solidFill>
                          <a:srgbClr val="000000"/>
                        </a:solidFill>
                        <a:effectLst/>
                        <a:latin typeface="Calibri"/>
                      </a:endParaRPr>
                    </a:p>
                  </a:txBody>
                  <a:tcPr marL="8386" marR="8386" marT="8386" marB="0" anchor="ctr"/>
                </a:tc>
                <a:tc>
                  <a:txBody>
                    <a:bodyPr/>
                    <a:lstStyle/>
                    <a:p>
                      <a:pPr algn="ctr" fontAlgn="b"/>
                      <a:r>
                        <a:rPr lang="en-US" sz="1500" u="none" strike="noStrike">
                          <a:effectLst/>
                          <a:latin typeface="Calibri"/>
                        </a:rPr>
                        <a:t>3</a:t>
                      </a:r>
                      <a:endParaRPr lang="en-US" sz="1500" b="0" i="0" u="none" strike="noStrike">
                        <a:solidFill>
                          <a:srgbClr val="000000"/>
                        </a:solidFill>
                        <a:effectLst/>
                        <a:latin typeface="Calibri"/>
                      </a:endParaRPr>
                    </a:p>
                  </a:txBody>
                  <a:tcPr marL="8386" marR="8386" marT="8386" marB="0" anchor="ctr"/>
                </a:tc>
                <a:extLst>
                  <a:ext uri="{0D108BD9-81ED-4DB2-BD59-A6C34878D82A}">
                    <a16:rowId xmlns:a16="http://schemas.microsoft.com/office/drawing/2014/main" val="1832139782"/>
                  </a:ext>
                </a:extLst>
              </a:tr>
              <a:tr h="1054804">
                <a:tc>
                  <a:txBody>
                    <a:bodyPr/>
                    <a:lstStyle/>
                    <a:p>
                      <a:pPr algn="l" fontAlgn="b"/>
                      <a:r>
                        <a:rPr lang="en-US" sz="1500" u="none" strike="noStrike">
                          <a:effectLst/>
                          <a:latin typeface="Calibri"/>
                        </a:rPr>
                        <a:t>US_03</a:t>
                      </a:r>
                      <a:endParaRPr lang="en-US" sz="1500" b="0" i="0" u="none" strike="noStrike">
                        <a:solidFill>
                          <a:srgbClr val="000000"/>
                        </a:solidFill>
                        <a:effectLst/>
                        <a:latin typeface="Calibri"/>
                      </a:endParaRPr>
                    </a:p>
                  </a:txBody>
                  <a:tcPr marL="8386" marR="8386" marT="8386" marB="0" anchor="ctr"/>
                </a:tc>
                <a:tc>
                  <a:txBody>
                    <a:bodyPr/>
                    <a:lstStyle/>
                    <a:p>
                      <a:pPr algn="l" fontAlgn="b"/>
                      <a:r>
                        <a:rPr lang="en-US" sz="1500" u="none" strike="noStrike">
                          <a:effectLst/>
                          <a:latin typeface="Calibri"/>
                        </a:rPr>
                        <a:t>As the system, I want to ingest transactions so that fraud analysis can begin immediately.</a:t>
                      </a:r>
                      <a:endParaRPr lang="en-US" sz="1500" b="0" i="0" u="none" strike="noStrike">
                        <a:solidFill>
                          <a:srgbClr val="000000"/>
                        </a:solidFill>
                        <a:effectLst/>
                        <a:latin typeface="Calibri"/>
                      </a:endParaRPr>
                    </a:p>
                  </a:txBody>
                  <a:tcPr marL="8386" marR="8386" marT="8386" marB="0" anchor="ctr"/>
                </a:tc>
                <a:tc>
                  <a:txBody>
                    <a:bodyPr/>
                    <a:lstStyle/>
                    <a:p>
                      <a:pPr algn="l" fontAlgn="b"/>
                      <a:r>
                        <a:rPr lang="en-US" sz="1500" u="none" strike="noStrike">
                          <a:effectLst/>
                          <a:latin typeface="Calibri"/>
                        </a:rPr>
                        <a:t>System receives, validates, and stores transaction data automatically.</a:t>
                      </a:r>
                      <a:endParaRPr lang="en-US" sz="1500" b="0" i="0" u="none" strike="noStrike">
                        <a:solidFill>
                          <a:srgbClr val="000000"/>
                        </a:solidFill>
                        <a:effectLst/>
                        <a:latin typeface="Calibri"/>
                      </a:endParaRPr>
                    </a:p>
                  </a:txBody>
                  <a:tcPr marL="8386" marR="8386" marT="8386" marB="0" anchor="ctr"/>
                </a:tc>
                <a:tc>
                  <a:txBody>
                    <a:bodyPr/>
                    <a:lstStyle/>
                    <a:p>
                      <a:pPr algn="l" fontAlgn="b"/>
                      <a:r>
                        <a:rPr lang="en-US" sz="1500" u="none" strike="noStrike">
                          <a:effectLst/>
                          <a:latin typeface="Calibri"/>
                        </a:rPr>
                        <a:t>Transaction Ingestion</a:t>
                      </a:r>
                      <a:endParaRPr lang="en-US" sz="1500" b="0" i="0" u="none" strike="noStrike">
                        <a:solidFill>
                          <a:srgbClr val="000000"/>
                        </a:solidFill>
                        <a:effectLst/>
                        <a:latin typeface="Calibri"/>
                      </a:endParaRPr>
                    </a:p>
                  </a:txBody>
                  <a:tcPr marL="8386" marR="8386" marT="8386" marB="0" anchor="ctr"/>
                </a:tc>
                <a:tc>
                  <a:txBody>
                    <a:bodyPr/>
                    <a:lstStyle/>
                    <a:p>
                      <a:pPr algn="ctr" fontAlgn="b"/>
                      <a:r>
                        <a:rPr lang="en-US" sz="1500" u="none" strike="noStrike">
                          <a:effectLst/>
                          <a:latin typeface="Calibri"/>
                        </a:rPr>
                        <a:t>5</a:t>
                      </a:r>
                      <a:endParaRPr lang="en-US" sz="1500" b="0" i="0" u="none" strike="noStrike">
                        <a:solidFill>
                          <a:srgbClr val="000000"/>
                        </a:solidFill>
                        <a:effectLst/>
                        <a:latin typeface="Calibri"/>
                      </a:endParaRPr>
                    </a:p>
                  </a:txBody>
                  <a:tcPr marL="8386" marR="8386" marT="8386" marB="0" anchor="ctr"/>
                </a:tc>
                <a:extLst>
                  <a:ext uri="{0D108BD9-81ED-4DB2-BD59-A6C34878D82A}">
                    <a16:rowId xmlns:a16="http://schemas.microsoft.com/office/drawing/2014/main" val="2060717731"/>
                  </a:ext>
                </a:extLst>
              </a:tr>
              <a:tr h="1054804">
                <a:tc>
                  <a:txBody>
                    <a:bodyPr/>
                    <a:lstStyle/>
                    <a:p>
                      <a:pPr algn="l" fontAlgn="b"/>
                      <a:r>
                        <a:rPr lang="en-US" sz="1400" b="0" i="0" u="none" strike="noStrike">
                          <a:solidFill>
                            <a:srgbClr val="000000"/>
                          </a:solidFill>
                          <a:effectLst/>
                          <a:latin typeface="Calibri"/>
                        </a:rPr>
                        <a:t>US_15</a:t>
                      </a:r>
                    </a:p>
                  </a:txBody>
                  <a:tcPr marL="9525" marR="9525" marT="9525" marB="0" anchor="ctr"/>
                </a:tc>
                <a:tc>
                  <a:txBody>
                    <a:bodyPr/>
                    <a:lstStyle/>
                    <a:p>
                      <a:pPr algn="l" fontAlgn="b"/>
                      <a:r>
                        <a:rPr lang="en-US" sz="1400" b="0" i="0" u="none" strike="noStrike">
                          <a:solidFill>
                            <a:srgbClr val="000000"/>
                          </a:solidFill>
                          <a:effectLst/>
                          <a:latin typeface="Calibri"/>
                        </a:rPr>
                        <a:t>As an admin, I want analytic reports so that I can review overall fraud trends monthly.</a:t>
                      </a:r>
                    </a:p>
                  </a:txBody>
                  <a:tcPr marL="9525" marR="9525" marT="9525" marB="0" anchor="ctr"/>
                </a:tc>
                <a:tc>
                  <a:txBody>
                    <a:bodyPr/>
                    <a:lstStyle/>
                    <a:p>
                      <a:pPr algn="l" fontAlgn="b"/>
                      <a:r>
                        <a:rPr lang="en-US" sz="1400" b="0" i="0" u="none" strike="noStrike">
                          <a:solidFill>
                            <a:srgbClr val="000000"/>
                          </a:solidFill>
                          <a:effectLst/>
                          <a:latin typeface="Calibri"/>
                        </a:rPr>
                        <a:t>Monthly reports generated automatically with charts.</a:t>
                      </a:r>
                    </a:p>
                  </a:txBody>
                  <a:tcPr marL="9525" marR="9525" marT="9525" marB="0" anchor="ctr"/>
                </a:tc>
                <a:tc>
                  <a:txBody>
                    <a:bodyPr/>
                    <a:lstStyle/>
                    <a:p>
                      <a:pPr algn="l" fontAlgn="b"/>
                      <a:r>
                        <a:rPr lang="en-US" sz="1400" b="0" i="0" u="none" strike="noStrike">
                          <a:solidFill>
                            <a:srgbClr val="000000"/>
                          </a:solidFill>
                          <a:effectLst/>
                          <a:latin typeface="Calibri"/>
                        </a:rPr>
                        <a:t>Fraud Reporting Engine</a:t>
                      </a:r>
                    </a:p>
                  </a:txBody>
                  <a:tcPr marL="9525" marR="9525" marT="9525" marB="0" anchor="ctr"/>
                </a:tc>
                <a:tc>
                  <a:txBody>
                    <a:bodyPr/>
                    <a:lstStyle/>
                    <a:p>
                      <a:pPr algn="ctr" fontAlgn="b"/>
                      <a:r>
                        <a:rPr lang="en-US" sz="1400" b="0" i="0" u="none" strike="noStrike">
                          <a:solidFill>
                            <a:srgbClr val="000000"/>
                          </a:solidFill>
                          <a:effectLst/>
                          <a:latin typeface="Calibri"/>
                        </a:rPr>
                        <a:t>5</a:t>
                      </a:r>
                    </a:p>
                  </a:txBody>
                  <a:tcPr marL="9525" marR="9525" marT="9525" marB="0" anchor="ctr"/>
                </a:tc>
                <a:extLst>
                  <a:ext uri="{0D108BD9-81ED-4DB2-BD59-A6C34878D82A}">
                    <a16:rowId xmlns:a16="http://schemas.microsoft.com/office/drawing/2014/main" val="3042597131"/>
                  </a:ext>
                </a:extLst>
              </a:tr>
            </a:tbl>
          </a:graphicData>
        </a:graphic>
      </p:graphicFrame>
    </p:spTree>
    <p:extLst>
      <p:ext uri="{BB962C8B-B14F-4D97-AF65-F5344CB8AC3E}">
        <p14:creationId xmlns:p14="http://schemas.microsoft.com/office/powerpoint/2010/main" val="3446088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3729EC-7224-242B-7127-57EA0F02650E}"/>
              </a:ext>
            </a:extLst>
          </p:cNvPr>
          <p:cNvSpPr>
            <a:spLocks noGrp="1"/>
          </p:cNvSpPr>
          <p:nvPr>
            <p:ph type="title"/>
          </p:nvPr>
        </p:nvSpPr>
        <p:spPr>
          <a:xfrm>
            <a:off x="556532" y="643467"/>
            <a:ext cx="11210925" cy="744836"/>
          </a:xfrm>
        </p:spPr>
        <p:txBody>
          <a:bodyPr vert="horz" lIns="91440" tIns="45720" rIns="91440" bIns="45720" rtlCol="0" anchor="ctr">
            <a:normAutofit/>
          </a:bodyPr>
          <a:lstStyle/>
          <a:p>
            <a:r>
              <a:rPr lang="en-US" sz="3200" b="1" kern="1200" dirty="0">
                <a:solidFill>
                  <a:schemeClr val="bg1"/>
                </a:solidFill>
                <a:latin typeface="+mj-lt"/>
                <a:ea typeface="+mj-ea"/>
                <a:cs typeface="+mj-cs"/>
              </a:rPr>
              <a:t>Sprint-2 Stories</a:t>
            </a:r>
          </a:p>
        </p:txBody>
      </p:sp>
      <p:graphicFrame>
        <p:nvGraphicFramePr>
          <p:cNvPr id="3" name="Table 2">
            <a:extLst>
              <a:ext uri="{FF2B5EF4-FFF2-40B4-BE49-F238E27FC236}">
                <a16:creationId xmlns:a16="http://schemas.microsoft.com/office/drawing/2014/main" id="{B1B75F46-14C4-ED73-2FF8-20BF53DDFE2F}"/>
              </a:ext>
            </a:extLst>
          </p:cNvPr>
          <p:cNvGraphicFramePr>
            <a:graphicFrameLocks noGrp="1"/>
          </p:cNvGraphicFramePr>
          <p:nvPr>
            <p:extLst>
              <p:ext uri="{D42A27DB-BD31-4B8C-83A1-F6EECF244321}">
                <p14:modId xmlns:p14="http://schemas.microsoft.com/office/powerpoint/2010/main" val="11837660"/>
              </p:ext>
            </p:extLst>
          </p:nvPr>
        </p:nvGraphicFramePr>
        <p:xfrm>
          <a:off x="-1" y="1579417"/>
          <a:ext cx="12053454" cy="4721020"/>
        </p:xfrm>
        <a:graphic>
          <a:graphicData uri="http://schemas.openxmlformats.org/drawingml/2006/table">
            <a:tbl>
              <a:tblPr firstRow="1" bandRow="1">
                <a:tableStyleId>{5C22544A-7EE6-4342-B048-85BDC9FD1C3A}</a:tableStyleId>
              </a:tblPr>
              <a:tblGrid>
                <a:gridCol w="810197">
                  <a:extLst>
                    <a:ext uri="{9D8B030D-6E8A-4147-A177-3AD203B41FA5}">
                      <a16:colId xmlns:a16="http://schemas.microsoft.com/office/drawing/2014/main" val="3368656161"/>
                    </a:ext>
                  </a:extLst>
                </a:gridCol>
                <a:gridCol w="5166662">
                  <a:extLst>
                    <a:ext uri="{9D8B030D-6E8A-4147-A177-3AD203B41FA5}">
                      <a16:colId xmlns:a16="http://schemas.microsoft.com/office/drawing/2014/main" val="3829799536"/>
                    </a:ext>
                  </a:extLst>
                </a:gridCol>
                <a:gridCol w="3836821">
                  <a:extLst>
                    <a:ext uri="{9D8B030D-6E8A-4147-A177-3AD203B41FA5}">
                      <a16:colId xmlns:a16="http://schemas.microsoft.com/office/drawing/2014/main" val="4234547149"/>
                    </a:ext>
                  </a:extLst>
                </a:gridCol>
                <a:gridCol w="1486829">
                  <a:extLst>
                    <a:ext uri="{9D8B030D-6E8A-4147-A177-3AD203B41FA5}">
                      <a16:colId xmlns:a16="http://schemas.microsoft.com/office/drawing/2014/main" val="422829654"/>
                    </a:ext>
                  </a:extLst>
                </a:gridCol>
                <a:gridCol w="752945">
                  <a:extLst>
                    <a:ext uri="{9D8B030D-6E8A-4147-A177-3AD203B41FA5}">
                      <a16:colId xmlns:a16="http://schemas.microsoft.com/office/drawing/2014/main" val="173840191"/>
                    </a:ext>
                  </a:extLst>
                </a:gridCol>
              </a:tblGrid>
              <a:tr h="1180255">
                <a:tc>
                  <a:txBody>
                    <a:bodyPr/>
                    <a:lstStyle/>
                    <a:p>
                      <a:pPr algn="ctr" fontAlgn="t"/>
                      <a:r>
                        <a:rPr lang="en-US" sz="1500" u="none" strike="noStrike">
                          <a:effectLst/>
                          <a:latin typeface="Calibri"/>
                        </a:rPr>
                        <a:t>S.NO</a:t>
                      </a:r>
                      <a:endParaRPr lang="en-US" sz="1500" b="1" i="0" u="none" strike="noStrike">
                        <a:solidFill>
                          <a:srgbClr val="000000"/>
                        </a:solidFill>
                        <a:effectLst/>
                        <a:latin typeface="Calibri"/>
                      </a:endParaRPr>
                    </a:p>
                  </a:txBody>
                  <a:tcPr marL="8386" marR="8386" marT="8386" marB="0" anchor="ctr"/>
                </a:tc>
                <a:tc>
                  <a:txBody>
                    <a:bodyPr/>
                    <a:lstStyle/>
                    <a:p>
                      <a:pPr algn="ctr" fontAlgn="t"/>
                      <a:r>
                        <a:rPr lang="en-US" sz="1500" u="none" strike="noStrike">
                          <a:effectLst/>
                          <a:latin typeface="Calibri"/>
                        </a:rPr>
                        <a:t>User Story</a:t>
                      </a:r>
                      <a:endParaRPr lang="en-US" sz="1500" b="1" i="0" u="none" strike="noStrike">
                        <a:solidFill>
                          <a:srgbClr val="000000"/>
                        </a:solidFill>
                        <a:effectLst/>
                        <a:latin typeface="Calibri"/>
                      </a:endParaRPr>
                    </a:p>
                  </a:txBody>
                  <a:tcPr marL="8386" marR="8386" marT="8386" marB="0" anchor="ctr"/>
                </a:tc>
                <a:tc>
                  <a:txBody>
                    <a:bodyPr/>
                    <a:lstStyle/>
                    <a:p>
                      <a:pPr algn="ctr" fontAlgn="t"/>
                      <a:r>
                        <a:rPr lang="en-US" sz="1500" u="none" strike="noStrike">
                          <a:effectLst/>
                          <a:latin typeface="Calibri"/>
                        </a:rPr>
                        <a:t>Acceptance Criteria</a:t>
                      </a:r>
                      <a:endParaRPr lang="en-US" sz="1500" b="1" i="0" u="none" strike="noStrike">
                        <a:solidFill>
                          <a:srgbClr val="000000"/>
                        </a:solidFill>
                        <a:effectLst/>
                        <a:latin typeface="Calibri"/>
                      </a:endParaRPr>
                    </a:p>
                  </a:txBody>
                  <a:tcPr marL="8386" marR="8386" marT="8386" marB="0" anchor="ctr"/>
                </a:tc>
                <a:tc>
                  <a:txBody>
                    <a:bodyPr/>
                    <a:lstStyle/>
                    <a:p>
                      <a:pPr algn="ctr" fontAlgn="t"/>
                      <a:r>
                        <a:rPr lang="en-US" sz="1500" u="none" strike="noStrike">
                          <a:effectLst/>
                          <a:latin typeface="Calibri"/>
                        </a:rPr>
                        <a:t>Feature</a:t>
                      </a:r>
                      <a:endParaRPr lang="en-US" sz="1500" b="1" i="0" u="none" strike="noStrike">
                        <a:solidFill>
                          <a:srgbClr val="000000"/>
                        </a:solidFill>
                        <a:effectLst/>
                        <a:latin typeface="Calibri"/>
                      </a:endParaRPr>
                    </a:p>
                  </a:txBody>
                  <a:tcPr marL="8386" marR="8386" marT="8386" marB="0" anchor="ctr"/>
                </a:tc>
                <a:tc>
                  <a:txBody>
                    <a:bodyPr/>
                    <a:lstStyle/>
                    <a:p>
                      <a:pPr algn="ctr" fontAlgn="t"/>
                      <a:r>
                        <a:rPr lang="en-US" sz="1500" u="none" strike="noStrike">
                          <a:effectLst/>
                          <a:latin typeface="Calibri"/>
                        </a:rPr>
                        <a:t>Story Points</a:t>
                      </a:r>
                      <a:endParaRPr lang="en-US" sz="1500" b="1" i="0" u="none" strike="noStrike">
                        <a:solidFill>
                          <a:srgbClr val="000000"/>
                        </a:solidFill>
                        <a:effectLst/>
                        <a:latin typeface="Calibri"/>
                      </a:endParaRPr>
                    </a:p>
                  </a:txBody>
                  <a:tcPr marL="8386" marR="8386" marT="8386" marB="0" anchor="ctr"/>
                </a:tc>
                <a:extLst>
                  <a:ext uri="{0D108BD9-81ED-4DB2-BD59-A6C34878D82A}">
                    <a16:rowId xmlns:a16="http://schemas.microsoft.com/office/drawing/2014/main" val="4046513150"/>
                  </a:ext>
                </a:extLst>
              </a:tr>
              <a:tr h="1180255">
                <a:tc>
                  <a:txBody>
                    <a:bodyPr/>
                    <a:lstStyle/>
                    <a:p>
                      <a:pPr algn="l" fontAlgn="b"/>
                      <a:r>
                        <a:rPr lang="en-US" sz="1400" b="0" i="0" u="none" strike="noStrike">
                          <a:solidFill>
                            <a:srgbClr val="000000"/>
                          </a:solidFill>
                          <a:effectLst/>
                          <a:latin typeface="Calibri"/>
                        </a:rPr>
                        <a:t>US_06</a:t>
                      </a:r>
                    </a:p>
                  </a:txBody>
                  <a:tcPr marL="9525" marR="9525" marT="9525" marB="0" anchor="ctr"/>
                </a:tc>
                <a:tc>
                  <a:txBody>
                    <a:bodyPr/>
                    <a:lstStyle/>
                    <a:p>
                      <a:pPr algn="l" fontAlgn="b"/>
                      <a:r>
                        <a:rPr lang="en-US" sz="1400" b="0" i="0" u="none" strike="noStrike">
                          <a:solidFill>
                            <a:srgbClr val="000000"/>
                          </a:solidFill>
                          <a:effectLst/>
                          <a:latin typeface="Calibri"/>
                        </a:rPr>
                        <a:t>As the system, I want to run a machine learning fraud detection model so that fraudulent patterns can be identified.</a:t>
                      </a:r>
                    </a:p>
                  </a:txBody>
                  <a:tcPr marL="9525" marR="9525" marT="9525" marB="0" anchor="ctr"/>
                </a:tc>
                <a:tc>
                  <a:txBody>
                    <a:bodyPr/>
                    <a:lstStyle/>
                    <a:p>
                      <a:pPr algn="l" fontAlgn="b"/>
                      <a:r>
                        <a:rPr lang="en-US" sz="1400" b="0" i="0" u="none" strike="noStrike">
                          <a:solidFill>
                            <a:srgbClr val="000000"/>
                          </a:solidFill>
                          <a:effectLst/>
                          <a:latin typeface="Calibri"/>
                        </a:rPr>
                        <a:t>Model generates probability score (0–1) for each transaction.</a:t>
                      </a:r>
                    </a:p>
                  </a:txBody>
                  <a:tcPr marL="9525" marR="9525" marT="9525" marB="0" anchor="ctr"/>
                </a:tc>
                <a:tc>
                  <a:txBody>
                    <a:bodyPr/>
                    <a:lstStyle/>
                    <a:p>
                      <a:pPr algn="l" fontAlgn="b"/>
                      <a:r>
                        <a:rPr lang="en-US" sz="1400" b="0" i="0" u="none" strike="noStrike">
                          <a:solidFill>
                            <a:srgbClr val="000000"/>
                          </a:solidFill>
                          <a:effectLst/>
                          <a:latin typeface="Calibri"/>
                        </a:rPr>
                        <a:t>ML Fraud Detection Model</a:t>
                      </a:r>
                    </a:p>
                  </a:txBody>
                  <a:tcPr marL="9525" marR="9525" marT="9525" marB="0" anchor="ctr"/>
                </a:tc>
                <a:tc>
                  <a:txBody>
                    <a:bodyPr/>
                    <a:lstStyle/>
                    <a:p>
                      <a:pPr algn="ctr" fontAlgn="b"/>
                      <a:r>
                        <a:rPr lang="en-US" sz="1400" b="0" i="0" u="none" strike="noStrike">
                          <a:solidFill>
                            <a:srgbClr val="000000"/>
                          </a:solidFill>
                          <a:effectLst/>
                          <a:latin typeface="Calibri"/>
                        </a:rPr>
                        <a:t>8</a:t>
                      </a:r>
                    </a:p>
                  </a:txBody>
                  <a:tcPr marL="9525" marR="9525" marT="9525" marB="0" anchor="ctr"/>
                </a:tc>
                <a:extLst>
                  <a:ext uri="{0D108BD9-81ED-4DB2-BD59-A6C34878D82A}">
                    <a16:rowId xmlns:a16="http://schemas.microsoft.com/office/drawing/2014/main" val="473896281"/>
                  </a:ext>
                </a:extLst>
              </a:tr>
              <a:tr h="1180255">
                <a:tc>
                  <a:txBody>
                    <a:bodyPr/>
                    <a:lstStyle/>
                    <a:p>
                      <a:pPr algn="l" fontAlgn="b"/>
                      <a:r>
                        <a:rPr lang="en-US" sz="1400" b="0" i="0" u="none" strike="noStrike">
                          <a:solidFill>
                            <a:srgbClr val="000000"/>
                          </a:solidFill>
                          <a:effectLst/>
                          <a:latin typeface="Calibri"/>
                        </a:rPr>
                        <a:t>US_07</a:t>
                      </a:r>
                    </a:p>
                  </a:txBody>
                  <a:tcPr marL="9525" marR="9525" marT="9525" marB="0" anchor="ctr"/>
                </a:tc>
                <a:tc>
                  <a:txBody>
                    <a:bodyPr/>
                    <a:lstStyle/>
                    <a:p>
                      <a:pPr algn="l" fontAlgn="b"/>
                      <a:r>
                        <a:rPr lang="en-US" sz="1400" b="0" i="0" u="none" strike="noStrike">
                          <a:solidFill>
                            <a:srgbClr val="000000"/>
                          </a:solidFill>
                          <a:effectLst/>
                          <a:latin typeface="Calibri"/>
                        </a:rPr>
                        <a:t>As a fraud analyst, I want to mark transactions as fraud or safe so that the model improves over time.</a:t>
                      </a:r>
                    </a:p>
                  </a:txBody>
                  <a:tcPr marL="9525" marR="9525" marT="9525" marB="0" anchor="ctr"/>
                </a:tc>
                <a:tc>
                  <a:txBody>
                    <a:bodyPr/>
                    <a:lstStyle/>
                    <a:p>
                      <a:pPr algn="l" fontAlgn="b"/>
                      <a:r>
                        <a:rPr lang="en-US" sz="1400" b="0" i="0" u="none" strike="noStrike">
                          <a:solidFill>
                            <a:srgbClr val="000000"/>
                          </a:solidFill>
                          <a:effectLst/>
                          <a:latin typeface="Calibri"/>
                        </a:rPr>
                        <a:t>Analyst can label transactions and add case notes.</a:t>
                      </a:r>
                    </a:p>
                  </a:txBody>
                  <a:tcPr marL="9525" marR="9525" marT="9525" marB="0" anchor="ctr"/>
                </a:tc>
                <a:tc>
                  <a:txBody>
                    <a:bodyPr/>
                    <a:lstStyle/>
                    <a:p>
                      <a:pPr algn="l" fontAlgn="b"/>
                      <a:r>
                        <a:rPr lang="en-US" sz="1400" b="0" i="0" u="none" strike="noStrike">
                          <a:solidFill>
                            <a:srgbClr val="000000"/>
                          </a:solidFill>
                          <a:effectLst/>
                          <a:latin typeface="Calibri"/>
                        </a:rPr>
                        <a:t>Case Management</a:t>
                      </a:r>
                    </a:p>
                  </a:txBody>
                  <a:tcPr marL="9525" marR="9525" marT="9525" marB="0" anchor="ctr"/>
                </a:tc>
                <a:tc>
                  <a:txBody>
                    <a:bodyPr/>
                    <a:lstStyle/>
                    <a:p>
                      <a:pPr algn="ctr" fontAlgn="b"/>
                      <a:r>
                        <a:rPr lang="en-US" sz="1400" b="0" i="0" u="none" strike="noStrike">
                          <a:solidFill>
                            <a:srgbClr val="000000"/>
                          </a:solidFill>
                          <a:effectLst/>
                          <a:latin typeface="Calibri"/>
                        </a:rPr>
                        <a:t>3</a:t>
                      </a:r>
                    </a:p>
                  </a:txBody>
                  <a:tcPr marL="9525" marR="9525" marT="9525" marB="0" anchor="ctr"/>
                </a:tc>
                <a:extLst>
                  <a:ext uri="{0D108BD9-81ED-4DB2-BD59-A6C34878D82A}">
                    <a16:rowId xmlns:a16="http://schemas.microsoft.com/office/drawing/2014/main" val="1832139782"/>
                  </a:ext>
                </a:extLst>
              </a:tr>
              <a:tr h="1180255">
                <a:tc>
                  <a:txBody>
                    <a:bodyPr/>
                    <a:lstStyle/>
                    <a:p>
                      <a:pPr algn="l" fontAlgn="b"/>
                      <a:r>
                        <a:rPr lang="en-US" sz="1400" b="0" i="0" u="none" strike="noStrike">
                          <a:solidFill>
                            <a:srgbClr val="000000"/>
                          </a:solidFill>
                          <a:effectLst/>
                          <a:latin typeface="Calibri"/>
                        </a:rPr>
                        <a:t>US_10</a:t>
                      </a:r>
                    </a:p>
                  </a:txBody>
                  <a:tcPr marL="9525" marR="9525" marT="9525" marB="0" anchor="ctr"/>
                </a:tc>
                <a:tc>
                  <a:txBody>
                    <a:bodyPr/>
                    <a:lstStyle/>
                    <a:p>
                      <a:pPr algn="l" fontAlgn="b"/>
                      <a:r>
                        <a:rPr lang="en-US" sz="1400" b="0" i="0" u="none" strike="noStrike">
                          <a:solidFill>
                            <a:srgbClr val="000000"/>
                          </a:solidFill>
                          <a:effectLst/>
                          <a:latin typeface="Calibri"/>
                        </a:rPr>
                        <a:t>As an admin, I want to manage system roles so that access controls are enforced.</a:t>
                      </a:r>
                    </a:p>
                  </a:txBody>
                  <a:tcPr marL="9525" marR="9525" marT="9525" marB="0" anchor="ctr"/>
                </a:tc>
                <a:tc>
                  <a:txBody>
                    <a:bodyPr/>
                    <a:lstStyle/>
                    <a:p>
                      <a:pPr algn="l" fontAlgn="b"/>
                      <a:r>
                        <a:rPr lang="en-US" sz="1400" b="0" i="0" u="none" strike="noStrike">
                          <a:solidFill>
                            <a:srgbClr val="000000"/>
                          </a:solidFill>
                          <a:effectLst/>
                          <a:latin typeface="Calibri"/>
                        </a:rPr>
                        <a:t>Admin can assign roles (user, analyst, admin) with RBAC.</a:t>
                      </a:r>
                    </a:p>
                  </a:txBody>
                  <a:tcPr marL="9525" marR="9525" marT="9525" marB="0" anchor="ctr"/>
                </a:tc>
                <a:tc>
                  <a:txBody>
                    <a:bodyPr/>
                    <a:lstStyle/>
                    <a:p>
                      <a:pPr algn="l" fontAlgn="b"/>
                      <a:r>
                        <a:rPr lang="en-US" sz="1400" b="0" i="0" u="none" strike="noStrike">
                          <a:solidFill>
                            <a:srgbClr val="000000"/>
                          </a:solidFill>
                          <a:effectLst/>
                          <a:latin typeface="Calibri"/>
                        </a:rPr>
                        <a:t>Role-Based Access Control</a:t>
                      </a:r>
                    </a:p>
                  </a:txBody>
                  <a:tcPr marL="9525" marR="9525" marT="9525" marB="0" anchor="ctr"/>
                </a:tc>
                <a:tc>
                  <a:txBody>
                    <a:bodyPr/>
                    <a:lstStyle/>
                    <a:p>
                      <a:pPr algn="ctr" fontAlgn="b"/>
                      <a:r>
                        <a:rPr lang="en-US" sz="1400" b="0" i="0" u="none" strike="noStrike">
                          <a:solidFill>
                            <a:srgbClr val="000000"/>
                          </a:solidFill>
                          <a:effectLst/>
                          <a:latin typeface="Calibri"/>
                        </a:rPr>
                        <a:t>3</a:t>
                      </a:r>
                    </a:p>
                  </a:txBody>
                  <a:tcPr marL="9525" marR="9525" marT="9525" marB="0" anchor="ctr"/>
                </a:tc>
                <a:extLst>
                  <a:ext uri="{0D108BD9-81ED-4DB2-BD59-A6C34878D82A}">
                    <a16:rowId xmlns:a16="http://schemas.microsoft.com/office/drawing/2014/main" val="3548402929"/>
                  </a:ext>
                </a:extLst>
              </a:tr>
            </a:tbl>
          </a:graphicData>
        </a:graphic>
      </p:graphicFrame>
    </p:spTree>
    <p:extLst>
      <p:ext uri="{BB962C8B-B14F-4D97-AF65-F5344CB8AC3E}">
        <p14:creationId xmlns:p14="http://schemas.microsoft.com/office/powerpoint/2010/main" val="2975947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3729EC-7224-242B-7127-57EA0F02650E}"/>
              </a:ext>
            </a:extLst>
          </p:cNvPr>
          <p:cNvSpPr>
            <a:spLocks noGrp="1"/>
          </p:cNvSpPr>
          <p:nvPr>
            <p:ph type="title"/>
          </p:nvPr>
        </p:nvSpPr>
        <p:spPr>
          <a:xfrm>
            <a:off x="556532" y="643467"/>
            <a:ext cx="11210925" cy="744836"/>
          </a:xfrm>
        </p:spPr>
        <p:txBody>
          <a:bodyPr vert="horz" lIns="91440" tIns="45720" rIns="91440" bIns="45720" rtlCol="0" anchor="ctr">
            <a:normAutofit/>
          </a:bodyPr>
          <a:lstStyle/>
          <a:p>
            <a:r>
              <a:rPr lang="en-US" sz="3200" b="1" kern="1200">
                <a:solidFill>
                  <a:schemeClr val="bg1"/>
                </a:solidFill>
                <a:latin typeface="Calibri"/>
                <a:ea typeface="Calibri"/>
                <a:cs typeface="Calibri"/>
              </a:rPr>
              <a:t>Sprint-2 Stories</a:t>
            </a:r>
          </a:p>
        </p:txBody>
      </p:sp>
      <p:graphicFrame>
        <p:nvGraphicFramePr>
          <p:cNvPr id="3" name="Table 2">
            <a:extLst>
              <a:ext uri="{FF2B5EF4-FFF2-40B4-BE49-F238E27FC236}">
                <a16:creationId xmlns:a16="http://schemas.microsoft.com/office/drawing/2014/main" id="{B1B75F46-14C4-ED73-2FF8-20BF53DDFE2F}"/>
              </a:ext>
            </a:extLst>
          </p:cNvPr>
          <p:cNvGraphicFramePr>
            <a:graphicFrameLocks noGrp="1"/>
          </p:cNvGraphicFramePr>
          <p:nvPr>
            <p:extLst>
              <p:ext uri="{D42A27DB-BD31-4B8C-83A1-F6EECF244321}">
                <p14:modId xmlns:p14="http://schemas.microsoft.com/office/powerpoint/2010/main" val="3096791978"/>
              </p:ext>
            </p:extLst>
          </p:nvPr>
        </p:nvGraphicFramePr>
        <p:xfrm>
          <a:off x="-1" y="1579418"/>
          <a:ext cx="12053454" cy="4821384"/>
        </p:xfrm>
        <a:graphic>
          <a:graphicData uri="http://schemas.openxmlformats.org/drawingml/2006/table">
            <a:tbl>
              <a:tblPr firstRow="1" bandRow="1">
                <a:tableStyleId>{5C22544A-7EE6-4342-B048-85BDC9FD1C3A}</a:tableStyleId>
              </a:tblPr>
              <a:tblGrid>
                <a:gridCol w="810197">
                  <a:extLst>
                    <a:ext uri="{9D8B030D-6E8A-4147-A177-3AD203B41FA5}">
                      <a16:colId xmlns:a16="http://schemas.microsoft.com/office/drawing/2014/main" val="3368656161"/>
                    </a:ext>
                  </a:extLst>
                </a:gridCol>
                <a:gridCol w="5166662">
                  <a:extLst>
                    <a:ext uri="{9D8B030D-6E8A-4147-A177-3AD203B41FA5}">
                      <a16:colId xmlns:a16="http://schemas.microsoft.com/office/drawing/2014/main" val="3829799536"/>
                    </a:ext>
                  </a:extLst>
                </a:gridCol>
                <a:gridCol w="3836821">
                  <a:extLst>
                    <a:ext uri="{9D8B030D-6E8A-4147-A177-3AD203B41FA5}">
                      <a16:colId xmlns:a16="http://schemas.microsoft.com/office/drawing/2014/main" val="4234547149"/>
                    </a:ext>
                  </a:extLst>
                </a:gridCol>
                <a:gridCol w="1486829">
                  <a:extLst>
                    <a:ext uri="{9D8B030D-6E8A-4147-A177-3AD203B41FA5}">
                      <a16:colId xmlns:a16="http://schemas.microsoft.com/office/drawing/2014/main" val="422829654"/>
                    </a:ext>
                  </a:extLst>
                </a:gridCol>
                <a:gridCol w="752945">
                  <a:extLst>
                    <a:ext uri="{9D8B030D-6E8A-4147-A177-3AD203B41FA5}">
                      <a16:colId xmlns:a16="http://schemas.microsoft.com/office/drawing/2014/main" val="173840191"/>
                    </a:ext>
                  </a:extLst>
                </a:gridCol>
              </a:tblGrid>
              <a:tr h="1205346">
                <a:tc>
                  <a:txBody>
                    <a:bodyPr/>
                    <a:lstStyle/>
                    <a:p>
                      <a:pPr algn="ctr" fontAlgn="t"/>
                      <a:r>
                        <a:rPr lang="en-US" sz="1500" u="none" strike="noStrike">
                          <a:effectLst/>
                        </a:rPr>
                        <a:t>S.NO</a:t>
                      </a:r>
                      <a:endParaRPr lang="en-US" sz="1500" b="1" i="0" u="none" strike="noStrike">
                        <a:solidFill>
                          <a:srgbClr val="000000"/>
                        </a:solidFill>
                        <a:effectLst/>
                        <a:latin typeface="Calibri" panose="020F0502020204030204" pitchFamily="34" charset="0"/>
                      </a:endParaRPr>
                    </a:p>
                  </a:txBody>
                  <a:tcPr marL="8386" marR="8386" marT="8386" marB="0" anchor="ctr"/>
                </a:tc>
                <a:tc>
                  <a:txBody>
                    <a:bodyPr/>
                    <a:lstStyle/>
                    <a:p>
                      <a:pPr algn="ctr" fontAlgn="t"/>
                      <a:r>
                        <a:rPr lang="en-US" sz="1500" u="none" strike="noStrike" dirty="0">
                          <a:effectLst/>
                        </a:rPr>
                        <a:t>User Story</a:t>
                      </a:r>
                      <a:endParaRPr lang="en-US" sz="1500" b="1" i="0" u="none" strike="noStrike" dirty="0">
                        <a:solidFill>
                          <a:srgbClr val="000000"/>
                        </a:solidFill>
                        <a:effectLst/>
                        <a:latin typeface="Calibri" panose="020F0502020204030204" pitchFamily="34" charset="0"/>
                      </a:endParaRPr>
                    </a:p>
                  </a:txBody>
                  <a:tcPr marL="8386" marR="8386" marT="8386" marB="0" anchor="ctr"/>
                </a:tc>
                <a:tc>
                  <a:txBody>
                    <a:bodyPr/>
                    <a:lstStyle/>
                    <a:p>
                      <a:pPr algn="ctr" fontAlgn="t"/>
                      <a:r>
                        <a:rPr lang="en-US" sz="1500" u="none" strike="noStrike">
                          <a:effectLst/>
                        </a:rPr>
                        <a:t>Acceptance Criteria</a:t>
                      </a:r>
                      <a:endParaRPr lang="en-US" sz="1500" b="1" i="0" u="none" strike="noStrike">
                        <a:solidFill>
                          <a:srgbClr val="000000"/>
                        </a:solidFill>
                        <a:effectLst/>
                        <a:latin typeface="Calibri" panose="020F0502020204030204" pitchFamily="34" charset="0"/>
                      </a:endParaRPr>
                    </a:p>
                  </a:txBody>
                  <a:tcPr marL="8386" marR="8386" marT="8386" marB="0" anchor="ctr"/>
                </a:tc>
                <a:tc>
                  <a:txBody>
                    <a:bodyPr/>
                    <a:lstStyle/>
                    <a:p>
                      <a:pPr algn="ctr" fontAlgn="t"/>
                      <a:r>
                        <a:rPr lang="en-US" sz="1500" u="none" strike="noStrike">
                          <a:effectLst/>
                        </a:rPr>
                        <a:t>Feature</a:t>
                      </a:r>
                      <a:endParaRPr lang="en-US" sz="1500" b="1" i="0" u="none" strike="noStrike">
                        <a:solidFill>
                          <a:srgbClr val="000000"/>
                        </a:solidFill>
                        <a:effectLst/>
                        <a:latin typeface="Calibri" panose="020F0502020204030204" pitchFamily="34" charset="0"/>
                      </a:endParaRPr>
                    </a:p>
                  </a:txBody>
                  <a:tcPr marL="8386" marR="8386" marT="8386" marB="0" anchor="ctr"/>
                </a:tc>
                <a:tc>
                  <a:txBody>
                    <a:bodyPr/>
                    <a:lstStyle/>
                    <a:p>
                      <a:pPr algn="ctr" fontAlgn="t"/>
                      <a:r>
                        <a:rPr lang="en-US" sz="1500" u="none" strike="noStrike">
                          <a:effectLst/>
                        </a:rPr>
                        <a:t>Story Points</a:t>
                      </a:r>
                      <a:endParaRPr lang="en-US" sz="1500" b="1" i="0" u="none" strike="noStrike">
                        <a:solidFill>
                          <a:srgbClr val="000000"/>
                        </a:solidFill>
                        <a:effectLst/>
                        <a:latin typeface="Calibri" panose="020F0502020204030204" pitchFamily="34" charset="0"/>
                      </a:endParaRPr>
                    </a:p>
                  </a:txBody>
                  <a:tcPr marL="8386" marR="8386" marT="8386" marB="0" anchor="ctr"/>
                </a:tc>
                <a:extLst>
                  <a:ext uri="{0D108BD9-81ED-4DB2-BD59-A6C34878D82A}">
                    <a16:rowId xmlns:a16="http://schemas.microsoft.com/office/drawing/2014/main" val="4046513150"/>
                  </a:ext>
                </a:extLst>
              </a:tr>
              <a:tr h="1205346">
                <a:tc>
                  <a:txBody>
                    <a:bodyPr/>
                    <a:lstStyle/>
                    <a:p>
                      <a:pPr algn="l" fontAlgn="b"/>
                      <a:r>
                        <a:rPr lang="en-US" sz="1400" b="0" i="0" u="none" strike="noStrike">
                          <a:solidFill>
                            <a:srgbClr val="000000"/>
                          </a:solidFill>
                          <a:effectLst/>
                          <a:latin typeface="Calibri" panose="020F0502020204030204" pitchFamily="34" charset="0"/>
                        </a:rPr>
                        <a:t>US_12</a:t>
                      </a:r>
                    </a:p>
                  </a:txBody>
                  <a:tcPr marL="9525" marR="9525" marT="9525" marB="0" anchor="ctr"/>
                </a:tc>
                <a:tc>
                  <a:txBody>
                    <a:bodyPr/>
                    <a:lstStyle/>
                    <a:p>
                      <a:pPr algn="l" fontAlgn="b"/>
                      <a:r>
                        <a:rPr lang="en-US" sz="1400" b="0" i="0" u="none" strike="noStrike" dirty="0">
                          <a:solidFill>
                            <a:srgbClr val="000000"/>
                          </a:solidFill>
                          <a:effectLst/>
                          <a:latin typeface="Calibri" panose="020F0502020204030204" pitchFamily="34" charset="0"/>
                        </a:rPr>
                        <a:t>As a user, I want to file a dispute for fraudulent charges so the bank can take action.</a:t>
                      </a:r>
                    </a:p>
                  </a:txBody>
                  <a:tcPr marL="9525" marR="9525" marT="9525" marB="0" anchor="ctr"/>
                </a:tc>
                <a:tc>
                  <a:txBody>
                    <a:bodyPr/>
                    <a:lstStyle/>
                    <a:p>
                      <a:pPr algn="l" fontAlgn="b"/>
                      <a:r>
                        <a:rPr lang="en-US" sz="1400" b="0" i="0" u="none" strike="noStrike">
                          <a:solidFill>
                            <a:srgbClr val="000000"/>
                          </a:solidFill>
                          <a:effectLst/>
                          <a:latin typeface="Calibri" panose="020F0502020204030204" pitchFamily="34" charset="0"/>
                        </a:rPr>
                        <a:t>User fills dispute form linked to a specific transaction.</a:t>
                      </a:r>
                    </a:p>
                  </a:txBody>
                  <a:tcPr marL="9525" marR="9525" marT="9525" marB="0" anchor="ctr"/>
                </a:tc>
                <a:tc>
                  <a:txBody>
                    <a:bodyPr/>
                    <a:lstStyle/>
                    <a:p>
                      <a:pPr algn="l" fontAlgn="b"/>
                      <a:r>
                        <a:rPr lang="en-US" sz="1400" b="0" i="0" u="none" strike="noStrike">
                          <a:solidFill>
                            <a:srgbClr val="000000"/>
                          </a:solidFill>
                          <a:effectLst/>
                          <a:latin typeface="Calibri" panose="020F0502020204030204" pitchFamily="34" charset="0"/>
                        </a:rPr>
                        <a:t>Fraud Dispute Filing</a:t>
                      </a:r>
                    </a:p>
                  </a:txBody>
                  <a:tcPr marL="9525" marR="9525" marT="9525" marB="0" anchor="ctr"/>
                </a:tc>
                <a:tc>
                  <a:txBody>
                    <a:bodyPr/>
                    <a:lstStyle/>
                    <a:p>
                      <a:pPr algn="ctr" fontAlgn="b"/>
                      <a:r>
                        <a:rPr lang="en-US" sz="1400" b="0" i="0" u="none" strike="noStrike" dirty="0">
                          <a:solidFill>
                            <a:srgbClr val="000000"/>
                          </a:solidFill>
                          <a:effectLst/>
                          <a:latin typeface="Calibri" panose="020F0502020204030204" pitchFamily="34" charset="0"/>
                        </a:rPr>
                        <a:t>3</a:t>
                      </a:r>
                    </a:p>
                  </a:txBody>
                  <a:tcPr marL="9525" marR="9525" marT="9525" marB="0" anchor="ctr"/>
                </a:tc>
                <a:extLst>
                  <a:ext uri="{0D108BD9-81ED-4DB2-BD59-A6C34878D82A}">
                    <a16:rowId xmlns:a16="http://schemas.microsoft.com/office/drawing/2014/main" val="1832139782"/>
                  </a:ext>
                </a:extLst>
              </a:tr>
              <a:tr h="1205346">
                <a:tc>
                  <a:txBody>
                    <a:bodyPr/>
                    <a:lstStyle/>
                    <a:p>
                      <a:pPr algn="l" fontAlgn="b"/>
                      <a:r>
                        <a:rPr lang="en-US" sz="1400" b="0" i="0" u="none" strike="noStrike">
                          <a:solidFill>
                            <a:srgbClr val="000000"/>
                          </a:solidFill>
                          <a:effectLst/>
                          <a:latin typeface="Calibri" panose="020F0502020204030204" pitchFamily="34" charset="0"/>
                        </a:rPr>
                        <a:t>US_13</a:t>
                      </a:r>
                    </a:p>
                  </a:txBody>
                  <a:tcPr marL="9525" marR="9525" marT="9525" marB="0" anchor="ctr"/>
                </a:tc>
                <a:tc>
                  <a:txBody>
                    <a:bodyPr/>
                    <a:lstStyle/>
                    <a:p>
                      <a:pPr algn="l" fontAlgn="b"/>
                      <a:r>
                        <a:rPr lang="en-US" sz="1400" b="0" i="0" u="none" strike="noStrike">
                          <a:solidFill>
                            <a:srgbClr val="000000"/>
                          </a:solidFill>
                          <a:effectLst/>
                          <a:latin typeface="Calibri" panose="020F0502020204030204" pitchFamily="34" charset="0"/>
                        </a:rPr>
                        <a:t>As the system, I want to maintain audit logs so that all actions related to fraud can be reviewed.</a:t>
                      </a:r>
                    </a:p>
                  </a:txBody>
                  <a:tcPr marL="9525" marR="9525" marT="9525" marB="0" anchor="ctr"/>
                </a:tc>
                <a:tc>
                  <a:txBody>
                    <a:bodyPr/>
                    <a:lstStyle/>
                    <a:p>
                      <a:pPr algn="l" fontAlgn="b"/>
                      <a:r>
                        <a:rPr lang="en-US" sz="1400" b="0" i="0" u="none" strike="noStrike">
                          <a:solidFill>
                            <a:srgbClr val="000000"/>
                          </a:solidFill>
                          <a:effectLst/>
                          <a:latin typeface="Calibri" panose="020F0502020204030204" pitchFamily="34" charset="0"/>
                        </a:rPr>
                        <a:t>Every important action logged with timestamp, user, device info.</a:t>
                      </a:r>
                    </a:p>
                  </a:txBody>
                  <a:tcPr marL="9525" marR="9525" marT="9525" marB="0" anchor="ctr"/>
                </a:tc>
                <a:tc>
                  <a:txBody>
                    <a:bodyPr/>
                    <a:lstStyle/>
                    <a:p>
                      <a:pPr algn="l" fontAlgn="b"/>
                      <a:r>
                        <a:rPr lang="en-US" sz="1400" b="0" i="0" u="none" strike="noStrike">
                          <a:solidFill>
                            <a:srgbClr val="000000"/>
                          </a:solidFill>
                          <a:effectLst/>
                          <a:latin typeface="Calibri" panose="020F0502020204030204" pitchFamily="34" charset="0"/>
                        </a:rPr>
                        <a:t>Audit Log System</a:t>
                      </a:r>
                    </a:p>
                  </a:txBody>
                  <a:tcPr marL="9525" marR="9525" marT="9525" marB="0" anchor="ctr"/>
                </a:tc>
                <a:tc>
                  <a:txBody>
                    <a:bodyPr/>
                    <a:lstStyle/>
                    <a:p>
                      <a:pPr algn="ctr" fontAlgn="b"/>
                      <a:r>
                        <a:rPr lang="en-US" sz="1400" b="0" i="0" u="none" strike="noStrike" dirty="0">
                          <a:solidFill>
                            <a:srgbClr val="000000"/>
                          </a:solidFill>
                          <a:effectLst/>
                          <a:latin typeface="Calibri" panose="020F0502020204030204" pitchFamily="34" charset="0"/>
                        </a:rPr>
                        <a:t>2</a:t>
                      </a:r>
                    </a:p>
                  </a:txBody>
                  <a:tcPr marL="9525" marR="9525" marT="9525" marB="0" anchor="ctr"/>
                </a:tc>
                <a:extLst>
                  <a:ext uri="{0D108BD9-81ED-4DB2-BD59-A6C34878D82A}">
                    <a16:rowId xmlns:a16="http://schemas.microsoft.com/office/drawing/2014/main" val="2060717731"/>
                  </a:ext>
                </a:extLst>
              </a:tr>
              <a:tr h="1205346">
                <a:tc>
                  <a:txBody>
                    <a:bodyPr/>
                    <a:lstStyle/>
                    <a:p>
                      <a:pPr algn="l" fontAlgn="b"/>
                      <a:r>
                        <a:rPr lang="en-US" sz="1400" b="0" i="0" u="none" strike="noStrike">
                          <a:solidFill>
                            <a:srgbClr val="000000"/>
                          </a:solidFill>
                          <a:effectLst/>
                          <a:latin typeface="Calibri" panose="020F0502020204030204" pitchFamily="34" charset="0"/>
                        </a:rPr>
                        <a:t>US_14</a:t>
                      </a:r>
                    </a:p>
                  </a:txBody>
                  <a:tcPr marL="9525" marR="9525" marT="9525" marB="0" anchor="ctr"/>
                </a:tc>
                <a:tc>
                  <a:txBody>
                    <a:bodyPr/>
                    <a:lstStyle/>
                    <a:p>
                      <a:pPr algn="l" fontAlgn="b"/>
                      <a:r>
                        <a:rPr lang="en-US" sz="1400" b="0" i="0" u="none" strike="noStrike">
                          <a:solidFill>
                            <a:srgbClr val="000000"/>
                          </a:solidFill>
                          <a:effectLst/>
                          <a:latin typeface="Calibri" panose="020F0502020204030204" pitchFamily="34" charset="0"/>
                        </a:rPr>
                        <a:t>As a user, I want to enable/disable fraud notifications so I have control over alerts.</a:t>
                      </a:r>
                    </a:p>
                  </a:txBody>
                  <a:tcPr marL="9525" marR="9525" marT="9525" marB="0" anchor="ctr"/>
                </a:tc>
                <a:tc>
                  <a:txBody>
                    <a:bodyPr/>
                    <a:lstStyle/>
                    <a:p>
                      <a:pPr algn="l" fontAlgn="b"/>
                      <a:r>
                        <a:rPr lang="en-US" sz="1400" b="0" i="0" u="none" strike="noStrike">
                          <a:solidFill>
                            <a:srgbClr val="000000"/>
                          </a:solidFill>
                          <a:effectLst/>
                          <a:latin typeface="Calibri" panose="020F0502020204030204" pitchFamily="34" charset="0"/>
                        </a:rPr>
                        <a:t>User can toggle notification preferences in settings.</a:t>
                      </a:r>
                    </a:p>
                  </a:txBody>
                  <a:tcPr marL="9525" marR="9525" marT="9525" marB="0" anchor="ctr"/>
                </a:tc>
                <a:tc>
                  <a:txBody>
                    <a:bodyPr/>
                    <a:lstStyle/>
                    <a:p>
                      <a:pPr algn="l" fontAlgn="b"/>
                      <a:r>
                        <a:rPr lang="en-US" sz="1400" b="0" i="0" u="none" strike="noStrike">
                          <a:solidFill>
                            <a:srgbClr val="000000"/>
                          </a:solidFill>
                          <a:effectLst/>
                          <a:latin typeface="Calibri" panose="020F0502020204030204" pitchFamily="34" charset="0"/>
                        </a:rPr>
                        <a:t>Notification Settings</a:t>
                      </a:r>
                    </a:p>
                  </a:txBody>
                  <a:tcPr marL="9525" marR="9525" marT="9525" marB="0" anchor="ctr"/>
                </a:tc>
                <a:tc>
                  <a:txBody>
                    <a:bodyPr/>
                    <a:lstStyle/>
                    <a:p>
                      <a:pPr algn="ctr" fontAlgn="b"/>
                      <a:r>
                        <a:rPr lang="en-US" sz="1400" b="0" i="0" u="none" strike="noStrike" dirty="0">
                          <a:solidFill>
                            <a:srgbClr val="000000"/>
                          </a:solidFill>
                          <a:effectLst/>
                          <a:latin typeface="Calibri" panose="020F0502020204030204" pitchFamily="34" charset="0"/>
                        </a:rPr>
                        <a:t>2</a:t>
                      </a:r>
                    </a:p>
                  </a:txBody>
                  <a:tcPr marL="9525" marR="9525" marT="9525" marB="0" anchor="ctr"/>
                </a:tc>
                <a:extLst>
                  <a:ext uri="{0D108BD9-81ED-4DB2-BD59-A6C34878D82A}">
                    <a16:rowId xmlns:a16="http://schemas.microsoft.com/office/drawing/2014/main" val="2453607918"/>
                  </a:ext>
                </a:extLst>
              </a:tr>
            </a:tbl>
          </a:graphicData>
        </a:graphic>
      </p:graphicFrame>
    </p:spTree>
    <p:extLst>
      <p:ext uri="{BB962C8B-B14F-4D97-AF65-F5344CB8AC3E}">
        <p14:creationId xmlns:p14="http://schemas.microsoft.com/office/powerpoint/2010/main" val="2324692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EE2D9D-0B9B-2DEA-F6C0-D443B678060C}"/>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b="1" kern="1200">
                <a:solidFill>
                  <a:srgbClr val="FFFFFF"/>
                </a:solidFill>
                <a:latin typeface="Calibri"/>
                <a:ea typeface="Calibri"/>
                <a:cs typeface="Calibri"/>
              </a:rPr>
              <a:t>Sprint-2 Test Cases</a:t>
            </a:r>
          </a:p>
        </p:txBody>
      </p:sp>
      <p:graphicFrame>
        <p:nvGraphicFramePr>
          <p:cNvPr id="4" name="Table 3">
            <a:extLst>
              <a:ext uri="{FF2B5EF4-FFF2-40B4-BE49-F238E27FC236}">
                <a16:creationId xmlns:a16="http://schemas.microsoft.com/office/drawing/2014/main" id="{89998EED-C643-C5CA-2205-D8C187BB2DDB}"/>
              </a:ext>
            </a:extLst>
          </p:cNvPr>
          <p:cNvGraphicFramePr>
            <a:graphicFrameLocks noGrp="1"/>
          </p:cNvGraphicFramePr>
          <p:nvPr>
            <p:extLst>
              <p:ext uri="{D42A27DB-BD31-4B8C-83A1-F6EECF244321}">
                <p14:modId xmlns:p14="http://schemas.microsoft.com/office/powerpoint/2010/main" val="144151306"/>
              </p:ext>
            </p:extLst>
          </p:nvPr>
        </p:nvGraphicFramePr>
        <p:xfrm>
          <a:off x="-3" y="2020606"/>
          <a:ext cx="12191998" cy="4389946"/>
        </p:xfrm>
        <a:graphic>
          <a:graphicData uri="http://schemas.openxmlformats.org/drawingml/2006/table">
            <a:tbl>
              <a:tblPr firstRow="1" bandRow="1">
                <a:tableStyleId>{5C22544A-7EE6-4342-B048-85BDC9FD1C3A}</a:tableStyleId>
              </a:tblPr>
              <a:tblGrid>
                <a:gridCol w="750989">
                  <a:extLst>
                    <a:ext uri="{9D8B030D-6E8A-4147-A177-3AD203B41FA5}">
                      <a16:colId xmlns:a16="http://schemas.microsoft.com/office/drawing/2014/main" val="3024870283"/>
                    </a:ext>
                  </a:extLst>
                </a:gridCol>
                <a:gridCol w="750989">
                  <a:extLst>
                    <a:ext uri="{9D8B030D-6E8A-4147-A177-3AD203B41FA5}">
                      <a16:colId xmlns:a16="http://schemas.microsoft.com/office/drawing/2014/main" val="871049167"/>
                    </a:ext>
                  </a:extLst>
                </a:gridCol>
                <a:gridCol w="3599789">
                  <a:extLst>
                    <a:ext uri="{9D8B030D-6E8A-4147-A177-3AD203B41FA5}">
                      <a16:colId xmlns:a16="http://schemas.microsoft.com/office/drawing/2014/main" val="4063394581"/>
                    </a:ext>
                  </a:extLst>
                </a:gridCol>
                <a:gridCol w="4344089">
                  <a:extLst>
                    <a:ext uri="{9D8B030D-6E8A-4147-A177-3AD203B41FA5}">
                      <a16:colId xmlns:a16="http://schemas.microsoft.com/office/drawing/2014/main" val="1119478212"/>
                    </a:ext>
                  </a:extLst>
                </a:gridCol>
                <a:gridCol w="2102817">
                  <a:extLst>
                    <a:ext uri="{9D8B030D-6E8A-4147-A177-3AD203B41FA5}">
                      <a16:colId xmlns:a16="http://schemas.microsoft.com/office/drawing/2014/main" val="2777596622"/>
                    </a:ext>
                  </a:extLst>
                </a:gridCol>
                <a:gridCol w="643325">
                  <a:extLst>
                    <a:ext uri="{9D8B030D-6E8A-4147-A177-3AD203B41FA5}">
                      <a16:colId xmlns:a16="http://schemas.microsoft.com/office/drawing/2014/main" val="1822710263"/>
                    </a:ext>
                  </a:extLst>
                </a:gridCol>
              </a:tblGrid>
              <a:tr h="350436">
                <a:tc>
                  <a:txBody>
                    <a:bodyPr/>
                    <a:lstStyle/>
                    <a:p>
                      <a:pPr algn="ctr" fontAlgn="t"/>
                      <a:r>
                        <a:rPr lang="en-US" sz="1300" u="none" strike="noStrike">
                          <a:effectLst/>
                          <a:latin typeface="Calibri"/>
                        </a:rPr>
                        <a:t>US_ID</a:t>
                      </a:r>
                      <a:endParaRPr lang="en-US" sz="1300" b="1" i="0" u="none" strike="noStrike">
                        <a:solidFill>
                          <a:srgbClr val="000000"/>
                        </a:solidFill>
                        <a:effectLst/>
                        <a:latin typeface="Calibri"/>
                      </a:endParaRPr>
                    </a:p>
                  </a:txBody>
                  <a:tcPr marL="9832" marR="9832" marT="9832" marB="0" anchor="ctr"/>
                </a:tc>
                <a:tc>
                  <a:txBody>
                    <a:bodyPr/>
                    <a:lstStyle/>
                    <a:p>
                      <a:pPr algn="ctr" fontAlgn="t"/>
                      <a:r>
                        <a:rPr lang="en-US" sz="1300" u="none" strike="noStrike">
                          <a:effectLst/>
                          <a:latin typeface="Calibri"/>
                        </a:rPr>
                        <a:t>TC_ID</a:t>
                      </a:r>
                      <a:endParaRPr lang="en-US" sz="1300" b="1" i="0" u="none" strike="noStrike">
                        <a:solidFill>
                          <a:srgbClr val="000000"/>
                        </a:solidFill>
                        <a:effectLst/>
                        <a:latin typeface="Calibri"/>
                      </a:endParaRPr>
                    </a:p>
                  </a:txBody>
                  <a:tcPr marL="9832" marR="9832" marT="9832" marB="0" anchor="ctr"/>
                </a:tc>
                <a:tc>
                  <a:txBody>
                    <a:bodyPr/>
                    <a:lstStyle/>
                    <a:p>
                      <a:pPr algn="ctr" fontAlgn="t"/>
                      <a:r>
                        <a:rPr lang="en-US" sz="1300" u="none" strike="noStrike">
                          <a:effectLst/>
                          <a:latin typeface="Calibri"/>
                        </a:rPr>
                        <a:t>Test Case</a:t>
                      </a:r>
                      <a:endParaRPr lang="en-US" sz="1300" b="1" i="0" u="none" strike="noStrike">
                        <a:solidFill>
                          <a:srgbClr val="000000"/>
                        </a:solidFill>
                        <a:effectLst/>
                        <a:latin typeface="Calibri"/>
                      </a:endParaRPr>
                    </a:p>
                  </a:txBody>
                  <a:tcPr marL="9832" marR="9832" marT="9832" marB="0" anchor="ctr"/>
                </a:tc>
                <a:tc>
                  <a:txBody>
                    <a:bodyPr/>
                    <a:lstStyle/>
                    <a:p>
                      <a:pPr algn="ctr" fontAlgn="t"/>
                      <a:r>
                        <a:rPr lang="en-US" sz="1300" u="none" strike="noStrike">
                          <a:effectLst/>
                          <a:latin typeface="Calibri"/>
                        </a:rPr>
                        <a:t>Steps</a:t>
                      </a:r>
                      <a:endParaRPr lang="en-US" sz="1300" b="1" i="0" u="none" strike="noStrike">
                        <a:solidFill>
                          <a:srgbClr val="000000"/>
                        </a:solidFill>
                        <a:effectLst/>
                        <a:latin typeface="Calibri"/>
                      </a:endParaRPr>
                    </a:p>
                  </a:txBody>
                  <a:tcPr marL="9832" marR="9832" marT="9832" marB="0" anchor="ctr"/>
                </a:tc>
                <a:tc>
                  <a:txBody>
                    <a:bodyPr/>
                    <a:lstStyle/>
                    <a:p>
                      <a:pPr algn="ctr" fontAlgn="t"/>
                      <a:r>
                        <a:rPr lang="en-US" sz="1300" u="none" strike="noStrike">
                          <a:effectLst/>
                          <a:latin typeface="Calibri"/>
                        </a:rPr>
                        <a:t>Execution Status</a:t>
                      </a:r>
                      <a:endParaRPr lang="en-US" sz="1300" b="1" i="0" u="none" strike="noStrike">
                        <a:solidFill>
                          <a:srgbClr val="000000"/>
                        </a:solidFill>
                        <a:effectLst/>
                        <a:latin typeface="Calibri"/>
                      </a:endParaRPr>
                    </a:p>
                  </a:txBody>
                  <a:tcPr marL="9832" marR="9832" marT="9832" marB="0" anchor="ctr"/>
                </a:tc>
                <a:tc>
                  <a:txBody>
                    <a:bodyPr/>
                    <a:lstStyle/>
                    <a:p>
                      <a:pPr algn="ctr" fontAlgn="t"/>
                      <a:r>
                        <a:rPr lang="en-US" sz="1300" u="none" strike="noStrike">
                          <a:effectLst/>
                          <a:latin typeface="Calibri"/>
                        </a:rPr>
                        <a:t>Result</a:t>
                      </a:r>
                      <a:endParaRPr lang="en-US" sz="1300" b="1" i="0" u="none" strike="noStrike">
                        <a:solidFill>
                          <a:srgbClr val="000000"/>
                        </a:solidFill>
                        <a:effectLst/>
                        <a:latin typeface="Calibri"/>
                      </a:endParaRPr>
                    </a:p>
                  </a:txBody>
                  <a:tcPr marL="9832" marR="9832" marT="9832" marB="0" anchor="ctr"/>
                </a:tc>
                <a:extLst>
                  <a:ext uri="{0D108BD9-81ED-4DB2-BD59-A6C34878D82A}">
                    <a16:rowId xmlns:a16="http://schemas.microsoft.com/office/drawing/2014/main" val="326236406"/>
                  </a:ext>
                </a:extLst>
              </a:tr>
              <a:tr h="1165400">
                <a:tc>
                  <a:txBody>
                    <a:bodyPr/>
                    <a:lstStyle/>
                    <a:p>
                      <a:pPr algn="l" fontAlgn="b"/>
                      <a:r>
                        <a:rPr lang="en-US" sz="1300" u="none" strike="noStrike">
                          <a:effectLst/>
                          <a:latin typeface="Calibri"/>
                        </a:rPr>
                        <a:t>US_05</a:t>
                      </a:r>
                      <a:endParaRPr lang="en-US" sz="1300" b="0" i="0" u="none" strike="noStrike">
                        <a:solidFill>
                          <a:srgbClr val="000000"/>
                        </a:solidFill>
                        <a:effectLst/>
                        <a:latin typeface="Calibri"/>
                      </a:endParaRPr>
                    </a:p>
                  </a:txBody>
                  <a:tcPr marL="9832" marR="9832" marT="9832" marB="0" anchor="ctr"/>
                </a:tc>
                <a:tc>
                  <a:txBody>
                    <a:bodyPr/>
                    <a:lstStyle/>
                    <a:p>
                      <a:pPr algn="l" fontAlgn="b"/>
                      <a:r>
                        <a:rPr lang="en-US" sz="1300" u="none" strike="noStrike">
                          <a:effectLst/>
                          <a:latin typeface="Calibri"/>
                        </a:rPr>
                        <a:t>TC_31</a:t>
                      </a:r>
                      <a:endParaRPr lang="en-US" sz="1300" b="0" i="0" u="none" strike="noStrike">
                        <a:solidFill>
                          <a:srgbClr val="000000"/>
                        </a:solidFill>
                        <a:effectLst/>
                        <a:latin typeface="Calibri"/>
                      </a:endParaRPr>
                    </a:p>
                  </a:txBody>
                  <a:tcPr marL="9832" marR="9832" marT="9832" marB="0" anchor="ctr"/>
                </a:tc>
                <a:tc>
                  <a:txBody>
                    <a:bodyPr/>
                    <a:lstStyle/>
                    <a:p>
                      <a:pPr algn="l" fontAlgn="b"/>
                      <a:r>
                        <a:rPr lang="en-US" sz="1300" u="none" strike="noStrike">
                          <a:effectLst/>
                          <a:latin typeface="Calibri"/>
                        </a:rPr>
                        <a:t>Trigger Fraud Alert for Suspicious Transaction</a:t>
                      </a:r>
                      <a:endParaRPr lang="en-US" sz="1300" b="0" i="0" u="none" strike="noStrike">
                        <a:solidFill>
                          <a:srgbClr val="000000"/>
                        </a:solidFill>
                        <a:effectLst/>
                        <a:latin typeface="Calibri"/>
                      </a:endParaRPr>
                    </a:p>
                  </a:txBody>
                  <a:tcPr marL="9832" marR="9832" marT="9832" marB="0" anchor="ctr"/>
                </a:tc>
                <a:tc>
                  <a:txBody>
                    <a:bodyPr/>
                    <a:lstStyle/>
                    <a:p>
                      <a:pPr algn="l" fontAlgn="b"/>
                      <a:r>
                        <a:rPr lang="en-US" sz="1300" u="none" strike="noStrike">
                          <a:effectLst/>
                          <a:latin typeface="Calibri"/>
                        </a:rPr>
                        <a:t>1. Login as Customer</a:t>
                      </a:r>
                      <a:br>
                        <a:rPr lang="en-US" sz="1300" u="none" strike="noStrike">
                          <a:effectLst/>
                          <a:latin typeface="Calibri"/>
                        </a:rPr>
                      </a:br>
                      <a:r>
                        <a:rPr lang="en-US" sz="1300" u="none" strike="noStrike">
                          <a:effectLst/>
                          <a:latin typeface="Calibri"/>
                        </a:rPr>
                        <a:t>2. Perform high-value transaction</a:t>
                      </a:r>
                      <a:br>
                        <a:rPr lang="en-US" sz="1300" u="none" strike="noStrike">
                          <a:effectLst/>
                          <a:latin typeface="Calibri"/>
                        </a:rPr>
                      </a:br>
                      <a:r>
                        <a:rPr lang="en-US" sz="1300" u="none" strike="noStrike">
                          <a:effectLst/>
                          <a:latin typeface="Calibri"/>
                        </a:rPr>
                        <a:t>3. Check system fraud alert</a:t>
                      </a:r>
                      <a:br>
                        <a:rPr lang="en-US" sz="1300" u="none" strike="noStrike">
                          <a:effectLst/>
                          <a:latin typeface="Calibri"/>
                        </a:rPr>
                      </a:br>
                      <a:r>
                        <a:rPr lang="en-US" sz="1300" u="none" strike="noStrike">
                          <a:effectLst/>
                          <a:latin typeface="Calibri"/>
                        </a:rPr>
                        <a:t>4. Validate alert is logged</a:t>
                      </a:r>
                      <a:endParaRPr lang="en-US" sz="1300" b="0" i="0" u="none" strike="noStrike">
                        <a:solidFill>
                          <a:srgbClr val="000000"/>
                        </a:solidFill>
                        <a:effectLst/>
                        <a:latin typeface="Calibri"/>
                      </a:endParaRPr>
                    </a:p>
                  </a:txBody>
                  <a:tcPr marL="9832" marR="9832" marT="9832" marB="0" anchor="ctr"/>
                </a:tc>
                <a:tc>
                  <a:txBody>
                    <a:bodyPr/>
                    <a:lstStyle/>
                    <a:p>
                      <a:pPr algn="l" fontAlgn="b"/>
                      <a:r>
                        <a:rPr lang="en-US" sz="1300" u="none" strike="noStrike">
                          <a:effectLst/>
                          <a:latin typeface="Calibri"/>
                        </a:rPr>
                        <a:t>Fraud alert should trigger</a:t>
                      </a:r>
                      <a:endParaRPr lang="en-US" sz="1300" b="0" i="0" u="none" strike="noStrike">
                        <a:solidFill>
                          <a:srgbClr val="000000"/>
                        </a:solidFill>
                        <a:effectLst/>
                        <a:latin typeface="Calibri"/>
                      </a:endParaRPr>
                    </a:p>
                  </a:txBody>
                  <a:tcPr marL="9832" marR="9832" marT="9832" marB="0" anchor="ctr"/>
                </a:tc>
                <a:tc>
                  <a:txBody>
                    <a:bodyPr/>
                    <a:lstStyle/>
                    <a:p>
                      <a:pPr algn="l" fontAlgn="b"/>
                      <a:r>
                        <a:rPr lang="en-US" sz="1300" u="none" strike="noStrike">
                          <a:effectLst/>
                          <a:latin typeface="Calibri"/>
                        </a:rPr>
                        <a:t>Pass</a:t>
                      </a:r>
                      <a:endParaRPr lang="en-US" sz="1300" b="0" i="0" u="none" strike="noStrike">
                        <a:solidFill>
                          <a:srgbClr val="000000"/>
                        </a:solidFill>
                        <a:effectLst/>
                        <a:latin typeface="Calibri"/>
                      </a:endParaRPr>
                    </a:p>
                  </a:txBody>
                  <a:tcPr marL="9832" marR="9832" marT="9832" marB="0" anchor="ctr"/>
                </a:tc>
                <a:extLst>
                  <a:ext uri="{0D108BD9-81ED-4DB2-BD59-A6C34878D82A}">
                    <a16:rowId xmlns:a16="http://schemas.microsoft.com/office/drawing/2014/main" val="929835385"/>
                  </a:ext>
                </a:extLst>
              </a:tr>
              <a:tr h="1437055">
                <a:tc>
                  <a:txBody>
                    <a:bodyPr/>
                    <a:lstStyle/>
                    <a:p>
                      <a:pPr algn="l" fontAlgn="b"/>
                      <a:r>
                        <a:rPr lang="en-US" sz="1300" u="none" strike="noStrike">
                          <a:effectLst/>
                          <a:latin typeface="Calibri"/>
                        </a:rPr>
                        <a:t>US_06</a:t>
                      </a:r>
                      <a:endParaRPr lang="en-US" sz="1300" b="0" i="0" u="none" strike="noStrike">
                        <a:solidFill>
                          <a:srgbClr val="000000"/>
                        </a:solidFill>
                        <a:effectLst/>
                        <a:latin typeface="Calibri"/>
                      </a:endParaRPr>
                    </a:p>
                  </a:txBody>
                  <a:tcPr marL="9832" marR="9832" marT="9832" marB="0" anchor="ctr"/>
                </a:tc>
                <a:tc>
                  <a:txBody>
                    <a:bodyPr/>
                    <a:lstStyle/>
                    <a:p>
                      <a:pPr algn="l" fontAlgn="b"/>
                      <a:r>
                        <a:rPr lang="en-US" sz="1300" u="none" strike="noStrike">
                          <a:effectLst/>
                          <a:latin typeface="Calibri"/>
                        </a:rPr>
                        <a:t>TC_33</a:t>
                      </a:r>
                      <a:endParaRPr lang="en-US" sz="1300" b="0" i="0" u="none" strike="noStrike">
                        <a:solidFill>
                          <a:srgbClr val="000000"/>
                        </a:solidFill>
                        <a:effectLst/>
                        <a:latin typeface="Calibri"/>
                      </a:endParaRPr>
                    </a:p>
                  </a:txBody>
                  <a:tcPr marL="9832" marR="9832" marT="9832" marB="0" anchor="ctr"/>
                </a:tc>
                <a:tc>
                  <a:txBody>
                    <a:bodyPr/>
                    <a:lstStyle/>
                    <a:p>
                      <a:pPr algn="l" fontAlgn="b"/>
                      <a:r>
                        <a:rPr lang="en-US" sz="1300" u="none" strike="noStrike" dirty="0">
                          <a:effectLst/>
                          <a:latin typeface="Calibri"/>
                        </a:rPr>
                        <a:t>Approve/Decline Suspicious Transaction</a:t>
                      </a:r>
                      <a:endParaRPr lang="en-US" sz="1300" b="0" i="0" u="none" strike="noStrike" dirty="0">
                        <a:solidFill>
                          <a:srgbClr val="000000"/>
                        </a:solidFill>
                        <a:effectLst/>
                        <a:latin typeface="Calibri"/>
                      </a:endParaRPr>
                    </a:p>
                  </a:txBody>
                  <a:tcPr marL="9832" marR="9832" marT="9832" marB="0" anchor="ctr"/>
                </a:tc>
                <a:tc>
                  <a:txBody>
                    <a:bodyPr/>
                    <a:lstStyle/>
                    <a:p>
                      <a:pPr algn="l" fontAlgn="b"/>
                      <a:r>
                        <a:rPr lang="en-US" sz="1300" u="none" strike="noStrike">
                          <a:effectLst/>
                          <a:latin typeface="Calibri"/>
                        </a:rPr>
                        <a:t>1. Login as Analyst</a:t>
                      </a:r>
                      <a:br>
                        <a:rPr lang="en-US" sz="1300" u="none" strike="noStrike">
                          <a:effectLst/>
                          <a:latin typeface="Calibri"/>
                        </a:rPr>
                      </a:br>
                      <a:r>
                        <a:rPr lang="en-US" sz="1300" u="none" strike="noStrike">
                          <a:effectLst/>
                          <a:latin typeface="Calibri"/>
                        </a:rPr>
                        <a:t>2. Open fraud alert</a:t>
                      </a:r>
                      <a:br>
                        <a:rPr lang="en-US" sz="1300" u="none" strike="noStrike">
                          <a:effectLst/>
                          <a:latin typeface="Calibri"/>
                        </a:rPr>
                      </a:br>
                      <a:r>
                        <a:rPr lang="en-US" sz="1300" u="none" strike="noStrike">
                          <a:effectLst/>
                          <a:latin typeface="Calibri"/>
                        </a:rPr>
                        <a:t>3. Approve/Decline</a:t>
                      </a:r>
                      <a:br>
                        <a:rPr lang="en-US" sz="1300" u="none" strike="noStrike">
                          <a:effectLst/>
                          <a:latin typeface="Calibri"/>
                        </a:rPr>
                      </a:br>
                      <a:r>
                        <a:rPr lang="en-US" sz="1300" u="none" strike="noStrike">
                          <a:effectLst/>
                          <a:latin typeface="Calibri"/>
                        </a:rPr>
                        <a:t>4. Add notes</a:t>
                      </a:r>
                      <a:br>
                        <a:rPr lang="en-US" sz="1300" u="none" strike="noStrike">
                          <a:effectLst/>
                          <a:latin typeface="Calibri"/>
                        </a:rPr>
                      </a:br>
                      <a:r>
                        <a:rPr lang="en-US" sz="1300" u="none" strike="noStrike">
                          <a:effectLst/>
                          <a:latin typeface="Calibri"/>
                        </a:rPr>
                        <a:t>5. Submit</a:t>
                      </a:r>
                      <a:endParaRPr lang="en-US" sz="1300" b="0" i="0" u="none" strike="noStrike">
                        <a:solidFill>
                          <a:srgbClr val="000000"/>
                        </a:solidFill>
                        <a:effectLst/>
                        <a:latin typeface="Calibri"/>
                      </a:endParaRPr>
                    </a:p>
                  </a:txBody>
                  <a:tcPr marL="9832" marR="9832" marT="9832" marB="0" anchor="ctr"/>
                </a:tc>
                <a:tc>
                  <a:txBody>
                    <a:bodyPr/>
                    <a:lstStyle/>
                    <a:p>
                      <a:pPr algn="l" fontAlgn="b"/>
                      <a:r>
                        <a:rPr lang="en-US" sz="1300" u="none" strike="noStrike">
                          <a:effectLst/>
                          <a:latin typeface="Calibri"/>
                        </a:rPr>
                        <a:t>Decision recorded</a:t>
                      </a:r>
                      <a:endParaRPr lang="en-US" sz="1300" b="0" i="0" u="none" strike="noStrike">
                        <a:solidFill>
                          <a:srgbClr val="000000"/>
                        </a:solidFill>
                        <a:effectLst/>
                        <a:latin typeface="Calibri"/>
                      </a:endParaRPr>
                    </a:p>
                  </a:txBody>
                  <a:tcPr marL="9832" marR="9832" marT="9832" marB="0" anchor="ctr"/>
                </a:tc>
                <a:tc>
                  <a:txBody>
                    <a:bodyPr/>
                    <a:lstStyle/>
                    <a:p>
                      <a:pPr algn="l" fontAlgn="b"/>
                      <a:r>
                        <a:rPr lang="en-US" sz="1300" u="none" strike="noStrike">
                          <a:effectLst/>
                          <a:latin typeface="Calibri"/>
                        </a:rPr>
                        <a:t>Pass</a:t>
                      </a:r>
                      <a:endParaRPr lang="en-US" sz="1300" b="0" i="0" u="none" strike="noStrike">
                        <a:solidFill>
                          <a:srgbClr val="000000"/>
                        </a:solidFill>
                        <a:effectLst/>
                        <a:latin typeface="Calibri"/>
                      </a:endParaRPr>
                    </a:p>
                  </a:txBody>
                  <a:tcPr marL="9832" marR="9832" marT="9832" marB="0" anchor="ctr"/>
                </a:tc>
                <a:extLst>
                  <a:ext uri="{0D108BD9-81ED-4DB2-BD59-A6C34878D82A}">
                    <a16:rowId xmlns:a16="http://schemas.microsoft.com/office/drawing/2014/main" val="83586553"/>
                  </a:ext>
                </a:extLst>
              </a:tr>
              <a:tr h="1437055">
                <a:tc>
                  <a:txBody>
                    <a:bodyPr/>
                    <a:lstStyle/>
                    <a:p>
                      <a:pPr algn="l" fontAlgn="b"/>
                      <a:r>
                        <a:rPr lang="en-US" sz="1300" u="none" strike="noStrike">
                          <a:effectLst/>
                          <a:latin typeface="Calibri"/>
                        </a:rPr>
                        <a:t>US_12</a:t>
                      </a:r>
                      <a:endParaRPr lang="en-US" sz="1300" b="0" i="0" u="none" strike="noStrike">
                        <a:solidFill>
                          <a:srgbClr val="000000"/>
                        </a:solidFill>
                        <a:effectLst/>
                        <a:latin typeface="Calibri"/>
                      </a:endParaRPr>
                    </a:p>
                  </a:txBody>
                  <a:tcPr marL="7620" marR="7620" marT="7620" marB="0" anchor="ctr"/>
                </a:tc>
                <a:tc>
                  <a:txBody>
                    <a:bodyPr/>
                    <a:lstStyle/>
                    <a:p>
                      <a:pPr algn="l" fontAlgn="b"/>
                      <a:r>
                        <a:rPr lang="en-US" sz="1300" u="none" strike="noStrike">
                          <a:effectLst/>
                          <a:latin typeface="Calibri"/>
                        </a:rPr>
                        <a:t>TC_39</a:t>
                      </a:r>
                      <a:endParaRPr lang="en-US" sz="1300" b="0" i="0" u="none" strike="noStrike">
                        <a:solidFill>
                          <a:srgbClr val="000000"/>
                        </a:solidFill>
                        <a:effectLst/>
                        <a:latin typeface="Calibri"/>
                      </a:endParaRPr>
                    </a:p>
                  </a:txBody>
                  <a:tcPr marL="7620" marR="7620" marT="7620" marB="0" anchor="ctr"/>
                </a:tc>
                <a:tc>
                  <a:txBody>
                    <a:bodyPr/>
                    <a:lstStyle/>
                    <a:p>
                      <a:pPr algn="l" fontAlgn="b"/>
                      <a:r>
                        <a:rPr lang="en-US" sz="1300" u="none" strike="noStrike">
                          <a:effectLst/>
                          <a:latin typeface="Calibri"/>
                        </a:rPr>
                        <a:t>Export Monthly Fraud Report</a:t>
                      </a:r>
                      <a:endParaRPr lang="en-US" sz="1300" b="0" i="0" u="none" strike="noStrike">
                        <a:solidFill>
                          <a:srgbClr val="000000"/>
                        </a:solidFill>
                        <a:effectLst/>
                        <a:latin typeface="Calibri"/>
                      </a:endParaRPr>
                    </a:p>
                  </a:txBody>
                  <a:tcPr marL="7620" marR="7620" marT="7620" marB="0" anchor="ctr"/>
                </a:tc>
                <a:tc>
                  <a:txBody>
                    <a:bodyPr/>
                    <a:lstStyle/>
                    <a:p>
                      <a:pPr algn="l" fontAlgn="b"/>
                      <a:r>
                        <a:rPr lang="en-US" sz="1300" u="none" strike="noStrike">
                          <a:effectLst/>
                          <a:latin typeface="Calibri"/>
                        </a:rPr>
                        <a:t>1. Login as Admin</a:t>
                      </a:r>
                      <a:br>
                        <a:rPr lang="en-US" sz="1300" u="none" strike="noStrike">
                          <a:effectLst/>
                          <a:latin typeface="Calibri"/>
                        </a:rPr>
                      </a:br>
                      <a:r>
                        <a:rPr lang="en-US" sz="1300" u="none" strike="noStrike">
                          <a:effectLst/>
                          <a:latin typeface="Calibri"/>
                        </a:rPr>
                        <a:t>2. Go to Reports</a:t>
                      </a:r>
                      <a:br>
                        <a:rPr lang="en-US" sz="1300" u="none" strike="noStrike">
                          <a:effectLst/>
                          <a:latin typeface="Calibri"/>
                        </a:rPr>
                      </a:br>
                      <a:r>
                        <a:rPr lang="en-US" sz="1300" u="none" strike="noStrike">
                          <a:effectLst/>
                          <a:latin typeface="Calibri"/>
                        </a:rPr>
                        <a:t>3. Generate Monthly Report</a:t>
                      </a:r>
                      <a:br>
                        <a:rPr lang="en-US" sz="1300" u="none" strike="noStrike">
                          <a:effectLst/>
                          <a:latin typeface="Calibri"/>
                        </a:rPr>
                      </a:br>
                      <a:r>
                        <a:rPr lang="en-US" sz="1300" u="none" strike="noStrike">
                          <a:effectLst/>
                          <a:latin typeface="Calibri"/>
                        </a:rPr>
                        <a:t>4. Download PDF/Excel</a:t>
                      </a:r>
                      <a:endParaRPr lang="en-US" sz="1300" b="0" i="0" u="none" strike="noStrike">
                        <a:solidFill>
                          <a:srgbClr val="000000"/>
                        </a:solidFill>
                        <a:effectLst/>
                        <a:latin typeface="Calibri"/>
                      </a:endParaRPr>
                    </a:p>
                  </a:txBody>
                  <a:tcPr marL="7620" marR="7620" marT="7620" marB="0" anchor="ctr"/>
                </a:tc>
                <a:tc>
                  <a:txBody>
                    <a:bodyPr/>
                    <a:lstStyle/>
                    <a:p>
                      <a:pPr algn="l" fontAlgn="b"/>
                      <a:r>
                        <a:rPr lang="en-US" sz="1300" u="none" strike="noStrike">
                          <a:effectLst/>
                          <a:latin typeface="Calibri"/>
                        </a:rPr>
                        <a:t>Report exported</a:t>
                      </a:r>
                      <a:endParaRPr lang="en-US" sz="1300" b="0" i="0" u="none" strike="noStrike">
                        <a:solidFill>
                          <a:srgbClr val="000000"/>
                        </a:solidFill>
                        <a:effectLst/>
                        <a:latin typeface="Calibri"/>
                      </a:endParaRPr>
                    </a:p>
                  </a:txBody>
                  <a:tcPr marL="7620" marR="7620" marT="7620" marB="0" anchor="ctr"/>
                </a:tc>
                <a:tc>
                  <a:txBody>
                    <a:bodyPr/>
                    <a:lstStyle/>
                    <a:p>
                      <a:pPr algn="l" fontAlgn="b"/>
                      <a:r>
                        <a:rPr lang="en-US" sz="1300" u="none" strike="noStrike" dirty="0">
                          <a:effectLst/>
                          <a:latin typeface="Calibri"/>
                        </a:rPr>
                        <a:t>Pass</a:t>
                      </a:r>
                      <a:endParaRPr lang="en-US" sz="1300" b="0" i="0" u="none" strike="noStrike" dirty="0">
                        <a:solidFill>
                          <a:srgbClr val="000000"/>
                        </a:solidFill>
                        <a:effectLst/>
                        <a:latin typeface="Calibri"/>
                      </a:endParaRPr>
                    </a:p>
                  </a:txBody>
                  <a:tcPr marL="7620" marR="7620" marT="7620" marB="0" anchor="ctr"/>
                </a:tc>
                <a:extLst>
                  <a:ext uri="{0D108BD9-81ED-4DB2-BD59-A6C34878D82A}">
                    <a16:rowId xmlns:a16="http://schemas.microsoft.com/office/drawing/2014/main" val="442543891"/>
                  </a:ext>
                </a:extLst>
              </a:tr>
            </a:tbl>
          </a:graphicData>
        </a:graphic>
      </p:graphicFrame>
    </p:spTree>
    <p:extLst>
      <p:ext uri="{BB962C8B-B14F-4D97-AF65-F5344CB8AC3E}">
        <p14:creationId xmlns:p14="http://schemas.microsoft.com/office/powerpoint/2010/main" val="19001128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EE2D9D-0B9B-2DEA-F6C0-D443B678060C}"/>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a:solidFill>
                  <a:schemeClr val="bg1"/>
                </a:solidFill>
                <a:latin typeface="Calibri"/>
                <a:ea typeface="Calibri"/>
                <a:cs typeface="Calibri"/>
              </a:rPr>
              <a:t>Sprint-2 Test Cases</a:t>
            </a:r>
          </a:p>
        </p:txBody>
      </p:sp>
      <p:graphicFrame>
        <p:nvGraphicFramePr>
          <p:cNvPr id="4" name="Table 3">
            <a:extLst>
              <a:ext uri="{FF2B5EF4-FFF2-40B4-BE49-F238E27FC236}">
                <a16:creationId xmlns:a16="http://schemas.microsoft.com/office/drawing/2014/main" id="{89998EED-C643-C5CA-2205-D8C187BB2DDB}"/>
              </a:ext>
            </a:extLst>
          </p:cNvPr>
          <p:cNvGraphicFramePr>
            <a:graphicFrameLocks noGrp="1"/>
          </p:cNvGraphicFramePr>
          <p:nvPr>
            <p:extLst>
              <p:ext uri="{D42A27DB-BD31-4B8C-83A1-F6EECF244321}">
                <p14:modId xmlns:p14="http://schemas.microsoft.com/office/powerpoint/2010/main" val="2683749103"/>
              </p:ext>
            </p:extLst>
          </p:nvPr>
        </p:nvGraphicFramePr>
        <p:xfrm>
          <a:off x="-3" y="2042663"/>
          <a:ext cx="12191998" cy="4567299"/>
        </p:xfrm>
        <a:graphic>
          <a:graphicData uri="http://schemas.openxmlformats.org/drawingml/2006/table">
            <a:tbl>
              <a:tblPr firstRow="1" bandRow="1">
                <a:tableStyleId>{5C22544A-7EE6-4342-B048-85BDC9FD1C3A}</a:tableStyleId>
              </a:tblPr>
              <a:tblGrid>
                <a:gridCol w="750989">
                  <a:extLst>
                    <a:ext uri="{9D8B030D-6E8A-4147-A177-3AD203B41FA5}">
                      <a16:colId xmlns:a16="http://schemas.microsoft.com/office/drawing/2014/main" val="3024870283"/>
                    </a:ext>
                  </a:extLst>
                </a:gridCol>
                <a:gridCol w="750989">
                  <a:extLst>
                    <a:ext uri="{9D8B030D-6E8A-4147-A177-3AD203B41FA5}">
                      <a16:colId xmlns:a16="http://schemas.microsoft.com/office/drawing/2014/main" val="871049167"/>
                    </a:ext>
                  </a:extLst>
                </a:gridCol>
                <a:gridCol w="3599789">
                  <a:extLst>
                    <a:ext uri="{9D8B030D-6E8A-4147-A177-3AD203B41FA5}">
                      <a16:colId xmlns:a16="http://schemas.microsoft.com/office/drawing/2014/main" val="4063394581"/>
                    </a:ext>
                  </a:extLst>
                </a:gridCol>
                <a:gridCol w="4344089">
                  <a:extLst>
                    <a:ext uri="{9D8B030D-6E8A-4147-A177-3AD203B41FA5}">
                      <a16:colId xmlns:a16="http://schemas.microsoft.com/office/drawing/2014/main" val="1119478212"/>
                    </a:ext>
                  </a:extLst>
                </a:gridCol>
                <a:gridCol w="2102817">
                  <a:extLst>
                    <a:ext uri="{9D8B030D-6E8A-4147-A177-3AD203B41FA5}">
                      <a16:colId xmlns:a16="http://schemas.microsoft.com/office/drawing/2014/main" val="2777596622"/>
                    </a:ext>
                  </a:extLst>
                </a:gridCol>
                <a:gridCol w="643325">
                  <a:extLst>
                    <a:ext uri="{9D8B030D-6E8A-4147-A177-3AD203B41FA5}">
                      <a16:colId xmlns:a16="http://schemas.microsoft.com/office/drawing/2014/main" val="1822710263"/>
                    </a:ext>
                  </a:extLst>
                </a:gridCol>
              </a:tblGrid>
              <a:tr h="388643">
                <a:tc>
                  <a:txBody>
                    <a:bodyPr/>
                    <a:lstStyle/>
                    <a:p>
                      <a:pPr algn="ctr" fontAlgn="t"/>
                      <a:r>
                        <a:rPr lang="en-US" sz="1300" u="none" strike="noStrike">
                          <a:effectLst/>
                          <a:latin typeface="Calibri"/>
                        </a:rPr>
                        <a:t>US_ID</a:t>
                      </a:r>
                      <a:endParaRPr lang="en-US" sz="1300" b="1" i="0" u="none" strike="noStrike">
                        <a:solidFill>
                          <a:srgbClr val="000000"/>
                        </a:solidFill>
                        <a:effectLst/>
                        <a:latin typeface="Calibri"/>
                      </a:endParaRPr>
                    </a:p>
                  </a:txBody>
                  <a:tcPr marL="9832" marR="9832" marT="9832" marB="0" anchor="ctr"/>
                </a:tc>
                <a:tc>
                  <a:txBody>
                    <a:bodyPr/>
                    <a:lstStyle/>
                    <a:p>
                      <a:pPr algn="ctr" fontAlgn="t"/>
                      <a:r>
                        <a:rPr lang="en-US" sz="1300" u="none" strike="noStrike">
                          <a:effectLst/>
                          <a:latin typeface="Calibri"/>
                        </a:rPr>
                        <a:t>TC_ID</a:t>
                      </a:r>
                      <a:endParaRPr lang="en-US" sz="1300" b="1" i="0" u="none" strike="noStrike">
                        <a:solidFill>
                          <a:srgbClr val="000000"/>
                        </a:solidFill>
                        <a:effectLst/>
                        <a:latin typeface="Calibri"/>
                      </a:endParaRPr>
                    </a:p>
                  </a:txBody>
                  <a:tcPr marL="9832" marR="9832" marT="9832" marB="0" anchor="ctr"/>
                </a:tc>
                <a:tc>
                  <a:txBody>
                    <a:bodyPr/>
                    <a:lstStyle/>
                    <a:p>
                      <a:pPr algn="ctr" fontAlgn="t"/>
                      <a:r>
                        <a:rPr lang="en-US" sz="1300" u="none" strike="noStrike">
                          <a:effectLst/>
                          <a:latin typeface="Calibri"/>
                        </a:rPr>
                        <a:t>Test Case</a:t>
                      </a:r>
                      <a:endParaRPr lang="en-US" sz="1300" b="1" i="0" u="none" strike="noStrike">
                        <a:solidFill>
                          <a:srgbClr val="000000"/>
                        </a:solidFill>
                        <a:effectLst/>
                        <a:latin typeface="Calibri"/>
                      </a:endParaRPr>
                    </a:p>
                  </a:txBody>
                  <a:tcPr marL="9832" marR="9832" marT="9832" marB="0" anchor="ctr"/>
                </a:tc>
                <a:tc>
                  <a:txBody>
                    <a:bodyPr/>
                    <a:lstStyle/>
                    <a:p>
                      <a:pPr algn="ctr" fontAlgn="t"/>
                      <a:r>
                        <a:rPr lang="en-US" sz="1300" u="none" strike="noStrike">
                          <a:effectLst/>
                          <a:latin typeface="Calibri"/>
                        </a:rPr>
                        <a:t>Steps</a:t>
                      </a:r>
                      <a:endParaRPr lang="en-US" sz="1300" b="1" i="0" u="none" strike="noStrike">
                        <a:solidFill>
                          <a:srgbClr val="000000"/>
                        </a:solidFill>
                        <a:effectLst/>
                        <a:latin typeface="Calibri"/>
                      </a:endParaRPr>
                    </a:p>
                  </a:txBody>
                  <a:tcPr marL="9832" marR="9832" marT="9832" marB="0" anchor="ctr"/>
                </a:tc>
                <a:tc>
                  <a:txBody>
                    <a:bodyPr/>
                    <a:lstStyle/>
                    <a:p>
                      <a:pPr algn="ctr" fontAlgn="t"/>
                      <a:r>
                        <a:rPr lang="en-US" sz="1300" u="none" strike="noStrike">
                          <a:effectLst/>
                          <a:latin typeface="Calibri"/>
                        </a:rPr>
                        <a:t>Execution Status</a:t>
                      </a:r>
                      <a:endParaRPr lang="en-US" sz="1300" b="1" i="0" u="none" strike="noStrike">
                        <a:solidFill>
                          <a:srgbClr val="000000"/>
                        </a:solidFill>
                        <a:effectLst/>
                        <a:latin typeface="Calibri"/>
                      </a:endParaRPr>
                    </a:p>
                  </a:txBody>
                  <a:tcPr marL="9832" marR="9832" marT="9832" marB="0" anchor="ctr"/>
                </a:tc>
                <a:tc>
                  <a:txBody>
                    <a:bodyPr/>
                    <a:lstStyle/>
                    <a:p>
                      <a:pPr algn="ctr" fontAlgn="t"/>
                      <a:r>
                        <a:rPr lang="en-US" sz="1300" u="none" strike="noStrike">
                          <a:effectLst/>
                          <a:latin typeface="Calibri"/>
                        </a:rPr>
                        <a:t>Result</a:t>
                      </a:r>
                      <a:endParaRPr lang="en-US" sz="1300" b="1" i="0" u="none" strike="noStrike">
                        <a:solidFill>
                          <a:srgbClr val="000000"/>
                        </a:solidFill>
                        <a:effectLst/>
                        <a:latin typeface="Calibri"/>
                      </a:endParaRPr>
                    </a:p>
                  </a:txBody>
                  <a:tcPr marL="9832" marR="9832" marT="9832" marB="0" anchor="ctr"/>
                </a:tc>
                <a:extLst>
                  <a:ext uri="{0D108BD9-81ED-4DB2-BD59-A6C34878D82A}">
                    <a16:rowId xmlns:a16="http://schemas.microsoft.com/office/drawing/2014/main" val="326236406"/>
                  </a:ext>
                </a:extLst>
              </a:tr>
              <a:tr h="1292461">
                <a:tc>
                  <a:txBody>
                    <a:bodyPr/>
                    <a:lstStyle/>
                    <a:p>
                      <a:pPr algn="l" fontAlgn="b"/>
                      <a:r>
                        <a:rPr lang="en-US" sz="1100" b="0" i="0" u="none" strike="noStrike">
                          <a:solidFill>
                            <a:srgbClr val="000000"/>
                          </a:solidFill>
                          <a:effectLst/>
                          <a:latin typeface="Calibri"/>
                        </a:rPr>
                        <a:t>US_09</a:t>
                      </a:r>
                    </a:p>
                  </a:txBody>
                  <a:tcPr marL="9525" marR="9525" marT="9525" marB="0" anchor="ctr"/>
                </a:tc>
                <a:tc>
                  <a:txBody>
                    <a:bodyPr/>
                    <a:lstStyle/>
                    <a:p>
                      <a:pPr algn="l" fontAlgn="b"/>
                      <a:r>
                        <a:rPr lang="en-US" sz="1100" b="0" i="0" u="none" strike="noStrike">
                          <a:solidFill>
                            <a:srgbClr val="000000"/>
                          </a:solidFill>
                          <a:effectLst/>
                          <a:latin typeface="Calibri"/>
                        </a:rPr>
                        <a:t>TC_36</a:t>
                      </a:r>
                    </a:p>
                  </a:txBody>
                  <a:tcPr marL="9525" marR="9525" marT="9525" marB="0" anchor="ctr"/>
                </a:tc>
                <a:tc>
                  <a:txBody>
                    <a:bodyPr/>
                    <a:lstStyle/>
                    <a:p>
                      <a:pPr algn="l" fontAlgn="b"/>
                      <a:r>
                        <a:rPr lang="en-US" sz="1100" b="0" i="0" u="none" strike="noStrike">
                          <a:solidFill>
                            <a:srgbClr val="000000"/>
                          </a:solidFill>
                          <a:effectLst/>
                          <a:latin typeface="Calibri"/>
                        </a:rPr>
                        <a:t>Customer Receives Fraud Notification</a:t>
                      </a:r>
                    </a:p>
                  </a:txBody>
                  <a:tcPr marL="9525" marR="9525" marT="9525" marB="0" anchor="ctr"/>
                </a:tc>
                <a:tc>
                  <a:txBody>
                    <a:bodyPr/>
                    <a:lstStyle/>
                    <a:p>
                      <a:pPr algn="l" fontAlgn="b"/>
                      <a:r>
                        <a:rPr lang="en-US" sz="1100" b="0" i="0" u="none" strike="noStrike">
                          <a:solidFill>
                            <a:srgbClr val="000000"/>
                          </a:solidFill>
                          <a:effectLst/>
                          <a:latin typeface="Calibri"/>
                        </a:rPr>
                        <a:t>1. Trigger fraud</a:t>
                      </a:r>
                      <a:br>
                        <a:rPr lang="en-US" sz="1100" b="0" i="0" u="none" strike="noStrike">
                          <a:solidFill>
                            <a:srgbClr val="000000"/>
                          </a:solidFill>
                          <a:effectLst/>
                          <a:latin typeface="Calibri"/>
                        </a:rPr>
                      </a:br>
                      <a:r>
                        <a:rPr lang="en-US" sz="1100" b="0" i="0" u="none" strike="noStrike">
                          <a:solidFill>
                            <a:srgbClr val="000000"/>
                          </a:solidFill>
                          <a:effectLst/>
                          <a:latin typeface="Calibri"/>
                        </a:rPr>
                        <a:t>2. System blocks card</a:t>
                      </a:r>
                      <a:br>
                        <a:rPr lang="en-US" sz="1100" b="0" i="0" u="none" strike="noStrike">
                          <a:solidFill>
                            <a:srgbClr val="000000"/>
                          </a:solidFill>
                          <a:effectLst/>
                          <a:latin typeface="Calibri"/>
                        </a:rPr>
                      </a:br>
                      <a:r>
                        <a:rPr lang="en-US" sz="1100" b="0" i="0" u="none" strike="noStrike">
                          <a:solidFill>
                            <a:srgbClr val="000000"/>
                          </a:solidFill>
                          <a:effectLst/>
                          <a:latin typeface="Calibri"/>
                        </a:rPr>
                        <a:t>3. Notification sent SMS/Email</a:t>
                      </a:r>
                      <a:br>
                        <a:rPr lang="en-US" sz="1100" b="0" i="0" u="none" strike="noStrike">
                          <a:solidFill>
                            <a:srgbClr val="000000"/>
                          </a:solidFill>
                          <a:effectLst/>
                          <a:latin typeface="Calibri"/>
                        </a:rPr>
                      </a:br>
                      <a:r>
                        <a:rPr lang="en-US" sz="1100" b="0" i="0" u="none" strike="noStrike">
                          <a:solidFill>
                            <a:srgbClr val="000000"/>
                          </a:solidFill>
                          <a:effectLst/>
                          <a:latin typeface="Calibri"/>
                        </a:rPr>
                        <a:t>4. Verify message</a:t>
                      </a:r>
                    </a:p>
                  </a:txBody>
                  <a:tcPr marL="9525" marR="9525" marT="9525" marB="0" anchor="ctr"/>
                </a:tc>
                <a:tc>
                  <a:txBody>
                    <a:bodyPr/>
                    <a:lstStyle/>
                    <a:p>
                      <a:pPr algn="l" fontAlgn="b"/>
                      <a:r>
                        <a:rPr lang="en-US" sz="1100" b="0" i="0" u="none" strike="noStrike">
                          <a:solidFill>
                            <a:srgbClr val="000000"/>
                          </a:solidFill>
                          <a:effectLst/>
                          <a:latin typeface="Calibri"/>
                        </a:rPr>
                        <a:t>Notification received</a:t>
                      </a:r>
                    </a:p>
                  </a:txBody>
                  <a:tcPr marL="9525" marR="9525" marT="9525" marB="0" anchor="ctr"/>
                </a:tc>
                <a:tc>
                  <a:txBody>
                    <a:bodyPr/>
                    <a:lstStyle/>
                    <a:p>
                      <a:pPr algn="l" fontAlgn="b"/>
                      <a:r>
                        <a:rPr lang="en-US" sz="1100" b="0" i="0" u="none" strike="noStrike">
                          <a:solidFill>
                            <a:srgbClr val="000000"/>
                          </a:solidFill>
                          <a:effectLst/>
                          <a:latin typeface="Calibri"/>
                        </a:rPr>
                        <a:t>Pass</a:t>
                      </a:r>
                    </a:p>
                  </a:txBody>
                  <a:tcPr marL="9525" marR="9525" marT="9525" marB="0" anchor="ctr"/>
                </a:tc>
                <a:extLst>
                  <a:ext uri="{0D108BD9-81ED-4DB2-BD59-A6C34878D82A}">
                    <a16:rowId xmlns:a16="http://schemas.microsoft.com/office/drawing/2014/main" val="1481396234"/>
                  </a:ext>
                </a:extLst>
              </a:tr>
              <a:tr h="1593734">
                <a:tc>
                  <a:txBody>
                    <a:bodyPr/>
                    <a:lstStyle/>
                    <a:p>
                      <a:pPr algn="l" fontAlgn="b"/>
                      <a:r>
                        <a:rPr lang="en-US" sz="1100" b="0" i="0" u="none" strike="noStrike">
                          <a:solidFill>
                            <a:srgbClr val="000000"/>
                          </a:solidFill>
                          <a:effectLst/>
                          <a:latin typeface="Calibri"/>
                        </a:rPr>
                        <a:t>US_10</a:t>
                      </a:r>
                    </a:p>
                  </a:txBody>
                  <a:tcPr marL="9525" marR="9525" marT="9525" marB="0" anchor="ctr"/>
                </a:tc>
                <a:tc>
                  <a:txBody>
                    <a:bodyPr/>
                    <a:lstStyle/>
                    <a:p>
                      <a:pPr algn="l" fontAlgn="b"/>
                      <a:r>
                        <a:rPr lang="en-US" sz="1100" b="0" i="0" u="none" strike="noStrike">
                          <a:solidFill>
                            <a:srgbClr val="000000"/>
                          </a:solidFill>
                          <a:effectLst/>
                          <a:latin typeface="Calibri"/>
                        </a:rPr>
                        <a:t>TC_37</a:t>
                      </a:r>
                    </a:p>
                  </a:txBody>
                  <a:tcPr marL="9525" marR="9525" marT="9525" marB="0" anchor="ctr"/>
                </a:tc>
                <a:tc>
                  <a:txBody>
                    <a:bodyPr/>
                    <a:lstStyle/>
                    <a:p>
                      <a:pPr algn="l" fontAlgn="b"/>
                      <a:r>
                        <a:rPr lang="en-US" sz="1100" b="0" i="0" u="none" strike="noStrike">
                          <a:solidFill>
                            <a:srgbClr val="000000"/>
                          </a:solidFill>
                          <a:effectLst/>
                          <a:latin typeface="Calibri"/>
                        </a:rPr>
                        <a:t>False Positive Check – Legit Transaction</a:t>
                      </a:r>
                    </a:p>
                  </a:txBody>
                  <a:tcPr marL="9525" marR="9525" marT="9525" marB="0" anchor="ctr"/>
                </a:tc>
                <a:tc>
                  <a:txBody>
                    <a:bodyPr/>
                    <a:lstStyle/>
                    <a:p>
                      <a:pPr algn="l" fontAlgn="b"/>
                      <a:r>
                        <a:rPr lang="en-US" sz="1100" b="0" i="0" u="none" strike="noStrike">
                          <a:solidFill>
                            <a:srgbClr val="000000"/>
                          </a:solidFill>
                          <a:effectLst/>
                          <a:latin typeface="Calibri"/>
                        </a:rPr>
                        <a:t>1. Perform normal transaction</a:t>
                      </a:r>
                      <a:br>
                        <a:rPr lang="en-US" sz="1100" b="0" i="0" u="none" strike="noStrike">
                          <a:solidFill>
                            <a:srgbClr val="000000"/>
                          </a:solidFill>
                          <a:effectLst/>
                          <a:latin typeface="Calibri"/>
                        </a:rPr>
                      </a:br>
                      <a:r>
                        <a:rPr lang="en-US" sz="1100" b="0" i="0" u="none" strike="noStrike">
                          <a:solidFill>
                            <a:srgbClr val="000000"/>
                          </a:solidFill>
                          <a:effectLst/>
                          <a:latin typeface="Calibri"/>
                        </a:rPr>
                        <a:t>2. Model evaluates</a:t>
                      </a:r>
                      <a:br>
                        <a:rPr lang="en-US" sz="1100" b="0" i="0" u="none" strike="noStrike">
                          <a:solidFill>
                            <a:srgbClr val="000000"/>
                          </a:solidFill>
                          <a:effectLst/>
                          <a:latin typeface="Calibri"/>
                        </a:rPr>
                      </a:br>
                      <a:r>
                        <a:rPr lang="en-US" sz="1100" b="0" i="0" u="none" strike="noStrike">
                          <a:solidFill>
                            <a:srgbClr val="000000"/>
                          </a:solidFill>
                          <a:effectLst/>
                          <a:latin typeface="Calibri"/>
                        </a:rPr>
                        <a:t>3. No fraud alert</a:t>
                      </a:r>
                      <a:br>
                        <a:rPr lang="en-US" sz="1100" b="0" i="0" u="none" strike="noStrike">
                          <a:solidFill>
                            <a:srgbClr val="000000"/>
                          </a:solidFill>
                          <a:effectLst/>
                          <a:latin typeface="Calibri"/>
                        </a:rPr>
                      </a:br>
                      <a:r>
                        <a:rPr lang="en-US" sz="1100" b="0" i="0" u="none" strike="noStrike">
                          <a:solidFill>
                            <a:srgbClr val="000000"/>
                          </a:solidFill>
                          <a:effectLst/>
                          <a:latin typeface="Calibri"/>
                        </a:rPr>
                        <a:t>4. Transaction succeeds</a:t>
                      </a:r>
                    </a:p>
                  </a:txBody>
                  <a:tcPr marL="9525" marR="9525" marT="9525" marB="0" anchor="ctr"/>
                </a:tc>
                <a:tc>
                  <a:txBody>
                    <a:bodyPr/>
                    <a:lstStyle/>
                    <a:p>
                      <a:pPr algn="l" fontAlgn="b"/>
                      <a:r>
                        <a:rPr lang="en-US" sz="1100" b="0" i="0" u="none" strike="noStrike">
                          <a:solidFill>
                            <a:srgbClr val="000000"/>
                          </a:solidFill>
                          <a:effectLst/>
                          <a:latin typeface="Calibri"/>
                        </a:rPr>
                        <a:t>Transaction allowed</a:t>
                      </a:r>
                    </a:p>
                  </a:txBody>
                  <a:tcPr marL="9525" marR="9525" marT="9525" marB="0" anchor="ctr"/>
                </a:tc>
                <a:tc>
                  <a:txBody>
                    <a:bodyPr/>
                    <a:lstStyle/>
                    <a:p>
                      <a:pPr algn="l" fontAlgn="b"/>
                      <a:r>
                        <a:rPr lang="en-US" sz="1100" b="0" i="0" u="none" strike="noStrike">
                          <a:solidFill>
                            <a:srgbClr val="000000"/>
                          </a:solidFill>
                          <a:effectLst/>
                          <a:latin typeface="Calibri"/>
                        </a:rPr>
                        <a:t>Pass</a:t>
                      </a:r>
                    </a:p>
                  </a:txBody>
                  <a:tcPr marL="9525" marR="9525" marT="9525" marB="0" anchor="ctr"/>
                </a:tc>
                <a:extLst>
                  <a:ext uri="{0D108BD9-81ED-4DB2-BD59-A6C34878D82A}">
                    <a16:rowId xmlns:a16="http://schemas.microsoft.com/office/drawing/2014/main" val="83586553"/>
                  </a:ext>
                </a:extLst>
              </a:tr>
              <a:tr h="1292461">
                <a:tc>
                  <a:txBody>
                    <a:bodyPr/>
                    <a:lstStyle/>
                    <a:p>
                      <a:pPr algn="l" fontAlgn="b"/>
                      <a:r>
                        <a:rPr lang="en-US" sz="1100" b="0" i="0" u="none" strike="noStrike">
                          <a:solidFill>
                            <a:srgbClr val="000000"/>
                          </a:solidFill>
                          <a:effectLst/>
                          <a:latin typeface="Calibri"/>
                        </a:rPr>
                        <a:t>US_11</a:t>
                      </a:r>
                    </a:p>
                  </a:txBody>
                  <a:tcPr marL="9525" marR="9525" marT="9525" marB="0" anchor="ctr"/>
                </a:tc>
                <a:tc>
                  <a:txBody>
                    <a:bodyPr/>
                    <a:lstStyle/>
                    <a:p>
                      <a:pPr algn="l" fontAlgn="b"/>
                      <a:r>
                        <a:rPr lang="en-US" sz="1100" b="0" i="0" u="none" strike="noStrike">
                          <a:solidFill>
                            <a:srgbClr val="000000"/>
                          </a:solidFill>
                          <a:effectLst/>
                          <a:latin typeface="Calibri"/>
                        </a:rPr>
                        <a:t>TC_38</a:t>
                      </a:r>
                    </a:p>
                  </a:txBody>
                  <a:tcPr marL="9525" marR="9525" marT="9525" marB="0" anchor="ctr"/>
                </a:tc>
                <a:tc>
                  <a:txBody>
                    <a:bodyPr/>
                    <a:lstStyle/>
                    <a:p>
                      <a:pPr algn="l" fontAlgn="b"/>
                      <a:r>
                        <a:rPr lang="en-US" sz="1100" b="0" i="0" u="none" strike="noStrike">
                          <a:solidFill>
                            <a:srgbClr val="000000"/>
                          </a:solidFill>
                          <a:effectLst/>
                          <a:latin typeface="Calibri"/>
                        </a:rPr>
                        <a:t>Fraud Analyst Cannot View Restricted Cases</a:t>
                      </a:r>
                    </a:p>
                  </a:txBody>
                  <a:tcPr marL="9525" marR="9525" marT="9525" marB="0" anchor="ctr"/>
                </a:tc>
                <a:tc>
                  <a:txBody>
                    <a:bodyPr/>
                    <a:lstStyle/>
                    <a:p>
                      <a:pPr algn="l" fontAlgn="b"/>
                      <a:r>
                        <a:rPr lang="en-US" sz="1100" b="0" i="0" u="none" strike="noStrike">
                          <a:solidFill>
                            <a:srgbClr val="000000"/>
                          </a:solidFill>
                          <a:effectLst/>
                          <a:latin typeface="Calibri"/>
                        </a:rPr>
                        <a:t>1. Login as Analyst A</a:t>
                      </a:r>
                      <a:br>
                        <a:rPr lang="en-US" sz="1100" b="0" i="0" u="none" strike="noStrike">
                          <a:solidFill>
                            <a:srgbClr val="000000"/>
                          </a:solidFill>
                          <a:effectLst/>
                          <a:latin typeface="Calibri"/>
                        </a:rPr>
                      </a:br>
                      <a:r>
                        <a:rPr lang="en-US" sz="1100" b="0" i="0" u="none" strike="noStrike">
                          <a:solidFill>
                            <a:srgbClr val="000000"/>
                          </a:solidFill>
                          <a:effectLst/>
                          <a:latin typeface="Calibri"/>
                        </a:rPr>
                        <a:t>2. Try accessing Analyst B’s case</a:t>
                      </a:r>
                      <a:br>
                        <a:rPr lang="en-US" sz="1100" b="0" i="0" u="none" strike="noStrike">
                          <a:solidFill>
                            <a:srgbClr val="000000"/>
                          </a:solidFill>
                          <a:effectLst/>
                          <a:latin typeface="Calibri"/>
                        </a:rPr>
                      </a:br>
                      <a:r>
                        <a:rPr lang="en-US" sz="1100" b="0" i="0" u="none" strike="noStrike">
                          <a:solidFill>
                            <a:srgbClr val="000000"/>
                          </a:solidFill>
                          <a:effectLst/>
                          <a:latin typeface="Calibri"/>
                        </a:rPr>
                        <a:t>3. Access should be blocked</a:t>
                      </a:r>
                    </a:p>
                  </a:txBody>
                  <a:tcPr marL="9525" marR="9525" marT="9525" marB="0" anchor="ctr"/>
                </a:tc>
                <a:tc>
                  <a:txBody>
                    <a:bodyPr/>
                    <a:lstStyle/>
                    <a:p>
                      <a:pPr algn="l" fontAlgn="b"/>
                      <a:r>
                        <a:rPr lang="en-US" sz="1100" b="0" i="0" u="none" strike="noStrike">
                          <a:solidFill>
                            <a:srgbClr val="000000"/>
                          </a:solidFill>
                          <a:effectLst/>
                          <a:latin typeface="Calibri"/>
                        </a:rPr>
                        <a:t>Unauthorized access blocked</a:t>
                      </a:r>
                    </a:p>
                  </a:txBody>
                  <a:tcPr marL="9525" marR="9525" marT="9525" marB="0" anchor="ctr"/>
                </a:tc>
                <a:tc>
                  <a:txBody>
                    <a:bodyPr/>
                    <a:lstStyle/>
                    <a:p>
                      <a:pPr algn="l" fontAlgn="b"/>
                      <a:r>
                        <a:rPr lang="en-US" sz="1100" b="0" i="0" u="none" strike="noStrike">
                          <a:solidFill>
                            <a:srgbClr val="000000"/>
                          </a:solidFill>
                          <a:effectLst/>
                          <a:latin typeface="Calibri"/>
                        </a:rPr>
                        <a:t>Fail</a:t>
                      </a:r>
                    </a:p>
                  </a:txBody>
                  <a:tcPr marL="9525" marR="9525" marT="9525" marB="0" anchor="ctr"/>
                </a:tc>
                <a:extLst>
                  <a:ext uri="{0D108BD9-81ED-4DB2-BD59-A6C34878D82A}">
                    <a16:rowId xmlns:a16="http://schemas.microsoft.com/office/drawing/2014/main" val="597540560"/>
                  </a:ext>
                </a:extLst>
              </a:tr>
            </a:tbl>
          </a:graphicData>
        </a:graphic>
      </p:graphicFrame>
    </p:spTree>
    <p:extLst>
      <p:ext uri="{BB962C8B-B14F-4D97-AF65-F5344CB8AC3E}">
        <p14:creationId xmlns:p14="http://schemas.microsoft.com/office/powerpoint/2010/main" val="25191864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D7036-A5FD-B1AC-423B-05666B3FDA54}"/>
              </a:ext>
            </a:extLst>
          </p:cNvPr>
          <p:cNvSpPr>
            <a:spLocks noGrp="1"/>
          </p:cNvSpPr>
          <p:nvPr>
            <p:ph type="title"/>
          </p:nvPr>
        </p:nvSpPr>
        <p:spPr>
          <a:xfrm>
            <a:off x="591671" y="-4669"/>
            <a:ext cx="10515600" cy="1325563"/>
          </a:xfrm>
        </p:spPr>
        <p:txBody>
          <a:bodyPr>
            <a:normAutofit/>
          </a:bodyPr>
          <a:lstStyle/>
          <a:p>
            <a:r>
              <a:rPr lang="en-US" sz="3600" b="1">
                <a:latin typeface="Calibri"/>
                <a:ea typeface="Calibri"/>
                <a:cs typeface="Calibri"/>
              </a:rPr>
              <a:t>Stories Completed And Not Completed</a:t>
            </a:r>
          </a:p>
        </p:txBody>
      </p:sp>
      <p:graphicFrame>
        <p:nvGraphicFramePr>
          <p:cNvPr id="6" name="Table 5">
            <a:extLst>
              <a:ext uri="{FF2B5EF4-FFF2-40B4-BE49-F238E27FC236}">
                <a16:creationId xmlns:a16="http://schemas.microsoft.com/office/drawing/2014/main" id="{7AE223A0-4273-ED7C-1712-947F9981F449}"/>
              </a:ext>
            </a:extLst>
          </p:cNvPr>
          <p:cNvGraphicFramePr>
            <a:graphicFrameLocks noGrp="1"/>
          </p:cNvGraphicFramePr>
          <p:nvPr>
            <p:extLst>
              <p:ext uri="{D42A27DB-BD31-4B8C-83A1-F6EECF244321}">
                <p14:modId xmlns:p14="http://schemas.microsoft.com/office/powerpoint/2010/main" val="3846039442"/>
              </p:ext>
            </p:extLst>
          </p:nvPr>
        </p:nvGraphicFramePr>
        <p:xfrm>
          <a:off x="67235" y="973863"/>
          <a:ext cx="12017299" cy="3555392"/>
        </p:xfrm>
        <a:graphic>
          <a:graphicData uri="http://schemas.openxmlformats.org/drawingml/2006/table">
            <a:tbl>
              <a:tblPr firstRow="1" bandRow="1">
                <a:tableStyleId>{5C22544A-7EE6-4342-B048-85BDC9FD1C3A}</a:tableStyleId>
              </a:tblPr>
              <a:tblGrid>
                <a:gridCol w="1243792">
                  <a:extLst>
                    <a:ext uri="{9D8B030D-6E8A-4147-A177-3AD203B41FA5}">
                      <a16:colId xmlns:a16="http://schemas.microsoft.com/office/drawing/2014/main" val="3368656161"/>
                    </a:ext>
                  </a:extLst>
                </a:gridCol>
                <a:gridCol w="4144977">
                  <a:extLst>
                    <a:ext uri="{9D8B030D-6E8A-4147-A177-3AD203B41FA5}">
                      <a16:colId xmlns:a16="http://schemas.microsoft.com/office/drawing/2014/main" val="3829799536"/>
                    </a:ext>
                  </a:extLst>
                </a:gridCol>
                <a:gridCol w="2209510">
                  <a:extLst>
                    <a:ext uri="{9D8B030D-6E8A-4147-A177-3AD203B41FA5}">
                      <a16:colId xmlns:a16="http://schemas.microsoft.com/office/drawing/2014/main" val="173840191"/>
                    </a:ext>
                  </a:extLst>
                </a:gridCol>
                <a:gridCol w="2209510">
                  <a:extLst>
                    <a:ext uri="{9D8B030D-6E8A-4147-A177-3AD203B41FA5}">
                      <a16:colId xmlns:a16="http://schemas.microsoft.com/office/drawing/2014/main" val="788618954"/>
                    </a:ext>
                  </a:extLst>
                </a:gridCol>
                <a:gridCol w="2209510">
                  <a:extLst>
                    <a:ext uri="{9D8B030D-6E8A-4147-A177-3AD203B41FA5}">
                      <a16:colId xmlns:a16="http://schemas.microsoft.com/office/drawing/2014/main" val="4077433623"/>
                    </a:ext>
                  </a:extLst>
                </a:gridCol>
              </a:tblGrid>
              <a:tr h="888848">
                <a:tc>
                  <a:txBody>
                    <a:bodyPr/>
                    <a:lstStyle/>
                    <a:p>
                      <a:pPr algn="ctr" fontAlgn="t"/>
                      <a:r>
                        <a:rPr lang="en-US" sz="1500" u="none" strike="noStrike">
                          <a:effectLst/>
                          <a:latin typeface="Calibri"/>
                        </a:rPr>
                        <a:t>S.NO</a:t>
                      </a:r>
                      <a:endParaRPr lang="en-US" sz="1500" b="1" i="0" u="none" strike="noStrike">
                        <a:solidFill>
                          <a:srgbClr val="000000"/>
                        </a:solidFill>
                        <a:effectLst/>
                        <a:latin typeface="Calibri"/>
                      </a:endParaRPr>
                    </a:p>
                  </a:txBody>
                  <a:tcPr marL="8386" marR="8386" marT="8386" marB="0" anchor="ctr"/>
                </a:tc>
                <a:tc>
                  <a:txBody>
                    <a:bodyPr/>
                    <a:lstStyle/>
                    <a:p>
                      <a:pPr algn="ctr" fontAlgn="t"/>
                      <a:r>
                        <a:rPr lang="en-US" sz="1500" u="none" strike="noStrike">
                          <a:effectLst/>
                          <a:latin typeface="Calibri"/>
                        </a:rPr>
                        <a:t>User Story</a:t>
                      </a:r>
                      <a:endParaRPr lang="en-US" sz="1500" b="1" i="0" u="none" strike="noStrike">
                        <a:solidFill>
                          <a:srgbClr val="000000"/>
                        </a:solidFill>
                        <a:effectLst/>
                        <a:latin typeface="Calibri"/>
                      </a:endParaRPr>
                    </a:p>
                  </a:txBody>
                  <a:tcPr marL="8386" marR="8386" marT="8386" marB="0" anchor="ctr"/>
                </a:tc>
                <a:tc>
                  <a:txBody>
                    <a:bodyPr/>
                    <a:lstStyle/>
                    <a:p>
                      <a:pPr algn="ctr" fontAlgn="t"/>
                      <a:r>
                        <a:rPr lang="en-US" sz="1500" u="none" strike="noStrike">
                          <a:effectLst/>
                          <a:latin typeface="Calibri"/>
                        </a:rPr>
                        <a:t>Story Points</a:t>
                      </a:r>
                      <a:endParaRPr lang="en-US" sz="1500" b="1" i="0" u="none" strike="noStrike">
                        <a:solidFill>
                          <a:srgbClr val="000000"/>
                        </a:solidFill>
                        <a:effectLst/>
                        <a:latin typeface="Calibri"/>
                      </a:endParaRPr>
                    </a:p>
                  </a:txBody>
                  <a:tcPr marL="8386" marR="8386" marT="8386" marB="0" anchor="ctr"/>
                </a:tc>
                <a:tc>
                  <a:txBody>
                    <a:bodyPr/>
                    <a:lstStyle/>
                    <a:p>
                      <a:pPr lvl="0" algn="ctr">
                        <a:buNone/>
                      </a:pPr>
                      <a:r>
                        <a:rPr lang="en-US" sz="1500" u="none" strike="noStrike">
                          <a:effectLst/>
                          <a:latin typeface="Calibri"/>
                        </a:rPr>
                        <a:t>Completed</a:t>
                      </a:r>
                    </a:p>
                  </a:txBody>
                  <a:tcPr marL="8385" marR="8385" marT="8385" marB="0" anchor="ctr"/>
                </a:tc>
                <a:tc>
                  <a:txBody>
                    <a:bodyPr/>
                    <a:lstStyle/>
                    <a:p>
                      <a:pPr lvl="0" algn="ctr">
                        <a:buNone/>
                      </a:pPr>
                      <a:r>
                        <a:rPr lang="en-US" sz="1500" u="none" strike="noStrike">
                          <a:effectLst/>
                          <a:latin typeface="Calibri"/>
                        </a:rPr>
                        <a:t>Date Completed</a:t>
                      </a:r>
                      <a:endParaRPr lang="en-US">
                        <a:latin typeface="Calibri"/>
                      </a:endParaRPr>
                    </a:p>
                  </a:txBody>
                  <a:tcPr marL="8385" marR="8385" marT="8385" marB="0" anchor="ctr"/>
                </a:tc>
                <a:extLst>
                  <a:ext uri="{0D108BD9-81ED-4DB2-BD59-A6C34878D82A}">
                    <a16:rowId xmlns:a16="http://schemas.microsoft.com/office/drawing/2014/main" val="4046513150"/>
                  </a:ext>
                </a:extLst>
              </a:tr>
              <a:tr h="888848">
                <a:tc>
                  <a:txBody>
                    <a:bodyPr/>
                    <a:lstStyle/>
                    <a:p>
                      <a:pPr algn="l" fontAlgn="b"/>
                      <a:r>
                        <a:rPr lang="en-US" sz="1500" u="none" strike="noStrike">
                          <a:effectLst/>
                          <a:latin typeface="Calibri"/>
                        </a:rPr>
                        <a:t>US_02</a:t>
                      </a:r>
                      <a:endParaRPr lang="en-US" sz="1500" b="0" i="0" u="none" strike="noStrike">
                        <a:solidFill>
                          <a:srgbClr val="000000"/>
                        </a:solidFill>
                        <a:effectLst/>
                        <a:latin typeface="Calibri"/>
                      </a:endParaRPr>
                    </a:p>
                  </a:txBody>
                  <a:tcPr marL="8386" marR="8386" marT="8386" marB="0" anchor="ctr"/>
                </a:tc>
                <a:tc>
                  <a:txBody>
                    <a:bodyPr/>
                    <a:lstStyle/>
                    <a:p>
                      <a:pPr algn="l" fontAlgn="b"/>
                      <a:r>
                        <a:rPr lang="en-US" sz="1500" u="none" strike="noStrike">
                          <a:effectLst/>
                          <a:latin typeface="Calibri"/>
                        </a:rPr>
                        <a:t>As a user, I want to link my credit card so that the system can start monitoring transactions for fraud.</a:t>
                      </a:r>
                      <a:endParaRPr lang="en-US" sz="1500" b="0" i="0" u="none" strike="noStrike">
                        <a:solidFill>
                          <a:srgbClr val="000000"/>
                        </a:solidFill>
                        <a:effectLst/>
                        <a:latin typeface="Calibri"/>
                      </a:endParaRPr>
                    </a:p>
                  </a:txBody>
                  <a:tcPr marL="8386" marR="8386" marT="8386" marB="0" anchor="ctr"/>
                </a:tc>
                <a:tc>
                  <a:txBody>
                    <a:bodyPr/>
                    <a:lstStyle/>
                    <a:p>
                      <a:pPr algn="ctr" fontAlgn="b"/>
                      <a:r>
                        <a:rPr lang="en-US" sz="1500" u="none" strike="noStrike">
                          <a:effectLst/>
                          <a:latin typeface="Calibri"/>
                        </a:rPr>
                        <a:t>3</a:t>
                      </a:r>
                      <a:endParaRPr lang="en-US" sz="1500" b="0" i="0" u="none" strike="noStrike">
                        <a:solidFill>
                          <a:srgbClr val="000000"/>
                        </a:solidFill>
                        <a:effectLst/>
                        <a:latin typeface="Calibri"/>
                      </a:endParaRPr>
                    </a:p>
                  </a:txBody>
                  <a:tcPr marL="8386" marR="8386" marT="8386" marB="0" anchor="ctr"/>
                </a:tc>
                <a:tc>
                  <a:txBody>
                    <a:bodyPr/>
                    <a:lstStyle/>
                    <a:p>
                      <a:pPr lvl="0" algn="ctr">
                        <a:buNone/>
                      </a:pPr>
                      <a:r>
                        <a:rPr lang="en-US" sz="1500" u="none" strike="noStrike">
                          <a:effectLst/>
                          <a:latin typeface="Calibri"/>
                        </a:rPr>
                        <a:t>3</a:t>
                      </a:r>
                    </a:p>
                  </a:txBody>
                  <a:tcPr marL="8385" marR="8385" marT="8385" marB="0" anchor="ctr"/>
                </a:tc>
                <a:tc>
                  <a:txBody>
                    <a:bodyPr/>
                    <a:lstStyle/>
                    <a:p>
                      <a:pPr lvl="0" algn="ctr">
                        <a:buNone/>
                      </a:pPr>
                      <a:r>
                        <a:rPr lang="en-US" sz="1500" u="none" strike="noStrike">
                          <a:effectLst/>
                          <a:latin typeface="Calibri"/>
                        </a:rPr>
                        <a:t>Nov 4</a:t>
                      </a:r>
                      <a:endParaRPr lang="en-US">
                        <a:latin typeface="Calibri"/>
                      </a:endParaRPr>
                    </a:p>
                  </a:txBody>
                  <a:tcPr marL="8385" marR="8385" marT="8385" marB="0" anchor="ctr"/>
                </a:tc>
                <a:extLst>
                  <a:ext uri="{0D108BD9-81ED-4DB2-BD59-A6C34878D82A}">
                    <a16:rowId xmlns:a16="http://schemas.microsoft.com/office/drawing/2014/main" val="1832139782"/>
                  </a:ext>
                </a:extLst>
              </a:tr>
              <a:tr h="888848">
                <a:tc>
                  <a:txBody>
                    <a:bodyPr/>
                    <a:lstStyle/>
                    <a:p>
                      <a:pPr algn="l" fontAlgn="b"/>
                      <a:r>
                        <a:rPr lang="en-US" sz="1500" u="none" strike="noStrike">
                          <a:effectLst/>
                          <a:latin typeface="Calibri"/>
                        </a:rPr>
                        <a:t>US_03</a:t>
                      </a:r>
                      <a:endParaRPr lang="en-US" sz="1500" b="0" i="0" u="none" strike="noStrike">
                        <a:solidFill>
                          <a:srgbClr val="000000"/>
                        </a:solidFill>
                        <a:effectLst/>
                        <a:latin typeface="Calibri"/>
                      </a:endParaRPr>
                    </a:p>
                  </a:txBody>
                  <a:tcPr marL="8386" marR="8386" marT="8386" marB="0" anchor="ctr"/>
                </a:tc>
                <a:tc>
                  <a:txBody>
                    <a:bodyPr/>
                    <a:lstStyle/>
                    <a:p>
                      <a:pPr algn="l" fontAlgn="b"/>
                      <a:r>
                        <a:rPr lang="en-US" sz="1500" u="none" strike="noStrike">
                          <a:effectLst/>
                          <a:latin typeface="Calibri"/>
                        </a:rPr>
                        <a:t>As the system, I want to ingest transactions so that fraud analysis can begin immediately.</a:t>
                      </a:r>
                      <a:endParaRPr lang="en-US" sz="1500" b="0" i="0" u="none" strike="noStrike">
                        <a:solidFill>
                          <a:srgbClr val="000000"/>
                        </a:solidFill>
                        <a:effectLst/>
                        <a:latin typeface="Calibri"/>
                      </a:endParaRPr>
                    </a:p>
                  </a:txBody>
                  <a:tcPr marL="8386" marR="8386" marT="8386" marB="0" anchor="ctr"/>
                </a:tc>
                <a:tc>
                  <a:txBody>
                    <a:bodyPr/>
                    <a:lstStyle/>
                    <a:p>
                      <a:pPr algn="ctr" fontAlgn="b"/>
                      <a:r>
                        <a:rPr lang="en-US" sz="1500" u="none" strike="noStrike">
                          <a:effectLst/>
                          <a:latin typeface="Calibri"/>
                        </a:rPr>
                        <a:t>5</a:t>
                      </a:r>
                      <a:endParaRPr lang="en-US" sz="1500" b="0" i="0" u="none" strike="noStrike">
                        <a:solidFill>
                          <a:srgbClr val="000000"/>
                        </a:solidFill>
                        <a:effectLst/>
                        <a:latin typeface="Calibri"/>
                      </a:endParaRPr>
                    </a:p>
                  </a:txBody>
                  <a:tcPr marL="8386" marR="8386" marT="8386" marB="0" anchor="ctr"/>
                </a:tc>
                <a:tc>
                  <a:txBody>
                    <a:bodyPr/>
                    <a:lstStyle/>
                    <a:p>
                      <a:pPr lvl="0" algn="ctr">
                        <a:buNone/>
                      </a:pPr>
                      <a:r>
                        <a:rPr lang="en-US" sz="1500" u="none" strike="noStrike">
                          <a:effectLst/>
                          <a:latin typeface="Calibri"/>
                        </a:rPr>
                        <a:t>5</a:t>
                      </a:r>
                    </a:p>
                  </a:txBody>
                  <a:tcPr marL="8385" marR="8385" marT="8385" marB="0" anchor="ctr"/>
                </a:tc>
                <a:tc>
                  <a:txBody>
                    <a:bodyPr/>
                    <a:lstStyle/>
                    <a:p>
                      <a:pPr lvl="0" algn="ctr">
                        <a:buNone/>
                      </a:pPr>
                      <a:r>
                        <a:rPr lang="en-US" sz="1500" u="none" strike="noStrike">
                          <a:effectLst/>
                          <a:latin typeface="Calibri"/>
                        </a:rPr>
                        <a:t>Nov 12</a:t>
                      </a:r>
                    </a:p>
                  </a:txBody>
                  <a:tcPr marL="8385" marR="8385" marT="8385" marB="0" anchor="ctr"/>
                </a:tc>
                <a:extLst>
                  <a:ext uri="{0D108BD9-81ED-4DB2-BD59-A6C34878D82A}">
                    <a16:rowId xmlns:a16="http://schemas.microsoft.com/office/drawing/2014/main" val="2060717731"/>
                  </a:ext>
                </a:extLst>
              </a:tr>
              <a:tr h="888848">
                <a:tc>
                  <a:txBody>
                    <a:bodyPr/>
                    <a:lstStyle/>
                    <a:p>
                      <a:pPr algn="l" fontAlgn="b"/>
                      <a:r>
                        <a:rPr lang="en-US" sz="1400" b="0" i="0" u="none" strike="noStrike">
                          <a:solidFill>
                            <a:srgbClr val="000000"/>
                          </a:solidFill>
                          <a:effectLst/>
                          <a:latin typeface="Calibri"/>
                        </a:rPr>
                        <a:t>US_15</a:t>
                      </a:r>
                    </a:p>
                  </a:txBody>
                  <a:tcPr marL="9525" marR="9525" marT="9525" marB="0" anchor="ctr"/>
                </a:tc>
                <a:tc>
                  <a:txBody>
                    <a:bodyPr/>
                    <a:lstStyle/>
                    <a:p>
                      <a:pPr algn="l" fontAlgn="b"/>
                      <a:r>
                        <a:rPr lang="en-US" sz="1400" b="0" i="0" u="none" strike="noStrike">
                          <a:solidFill>
                            <a:srgbClr val="000000"/>
                          </a:solidFill>
                          <a:effectLst/>
                          <a:latin typeface="Calibri"/>
                        </a:rPr>
                        <a:t>As an admin, I want analytic reports so that I can review overall fraud trends monthly.</a:t>
                      </a:r>
                    </a:p>
                  </a:txBody>
                  <a:tcPr marL="9525" marR="9525" marT="9525" marB="0" anchor="ctr"/>
                </a:tc>
                <a:tc>
                  <a:txBody>
                    <a:bodyPr/>
                    <a:lstStyle/>
                    <a:p>
                      <a:pPr algn="ctr" fontAlgn="b"/>
                      <a:r>
                        <a:rPr lang="en-US" sz="1400" b="0" i="0" u="none" strike="noStrike">
                          <a:solidFill>
                            <a:srgbClr val="000000"/>
                          </a:solidFill>
                          <a:effectLst/>
                          <a:latin typeface="Calibri"/>
                        </a:rPr>
                        <a:t>5</a:t>
                      </a:r>
                    </a:p>
                  </a:txBody>
                  <a:tcPr marL="9525" marR="9525" marT="9525" marB="0" anchor="ctr"/>
                </a:tc>
                <a:tc>
                  <a:txBody>
                    <a:bodyPr/>
                    <a:lstStyle/>
                    <a:p>
                      <a:pPr lvl="0" algn="ctr">
                        <a:buNone/>
                      </a:pPr>
                      <a:r>
                        <a:rPr lang="en-US" sz="1400" b="0" i="0" u="none" strike="noStrike">
                          <a:solidFill>
                            <a:srgbClr val="000000"/>
                          </a:solidFill>
                          <a:effectLst/>
                          <a:latin typeface="Calibri"/>
                        </a:rPr>
                        <a:t>0</a:t>
                      </a:r>
                    </a:p>
                  </a:txBody>
                  <a:tcPr marL="9524" marR="9524" marT="9524" marB="0" anchor="ctr"/>
                </a:tc>
                <a:tc>
                  <a:txBody>
                    <a:bodyPr/>
                    <a:lstStyle/>
                    <a:p>
                      <a:pPr lvl="0" algn="ctr">
                        <a:buNone/>
                      </a:pPr>
                      <a:r>
                        <a:rPr lang="en-US" sz="1400" b="0" i="0" u="none" strike="noStrike">
                          <a:solidFill>
                            <a:srgbClr val="000000"/>
                          </a:solidFill>
                          <a:effectLst/>
                          <a:latin typeface="Calibri"/>
                        </a:rPr>
                        <a:t>-</a:t>
                      </a:r>
                    </a:p>
                  </a:txBody>
                  <a:tcPr marL="9524" marR="9524" marT="9524" marB="0" anchor="ctr"/>
                </a:tc>
                <a:extLst>
                  <a:ext uri="{0D108BD9-81ED-4DB2-BD59-A6C34878D82A}">
                    <a16:rowId xmlns:a16="http://schemas.microsoft.com/office/drawing/2014/main" val="3042597131"/>
                  </a:ext>
                </a:extLst>
              </a:tr>
            </a:tbl>
          </a:graphicData>
        </a:graphic>
      </p:graphicFrame>
      <p:graphicFrame>
        <p:nvGraphicFramePr>
          <p:cNvPr id="8" name="Table 7">
            <a:extLst>
              <a:ext uri="{FF2B5EF4-FFF2-40B4-BE49-F238E27FC236}">
                <a16:creationId xmlns:a16="http://schemas.microsoft.com/office/drawing/2014/main" id="{766130F8-00A4-B58F-36F3-4800762980D2}"/>
              </a:ext>
            </a:extLst>
          </p:cNvPr>
          <p:cNvGraphicFramePr>
            <a:graphicFrameLocks noGrp="1"/>
          </p:cNvGraphicFramePr>
          <p:nvPr>
            <p:extLst>
              <p:ext uri="{D42A27DB-BD31-4B8C-83A1-F6EECF244321}">
                <p14:modId xmlns:p14="http://schemas.microsoft.com/office/powerpoint/2010/main" val="1394544962"/>
              </p:ext>
            </p:extLst>
          </p:nvPr>
        </p:nvGraphicFramePr>
        <p:xfrm>
          <a:off x="67235" y="4482352"/>
          <a:ext cx="12021624" cy="2346074"/>
        </p:xfrm>
        <a:graphic>
          <a:graphicData uri="http://schemas.openxmlformats.org/drawingml/2006/table">
            <a:tbl>
              <a:tblPr bandRow="1">
                <a:tableStyleId>{5C22544A-7EE6-4342-B048-85BDC9FD1C3A}</a:tableStyleId>
              </a:tblPr>
              <a:tblGrid>
                <a:gridCol w="1259686">
                  <a:extLst>
                    <a:ext uri="{9D8B030D-6E8A-4147-A177-3AD203B41FA5}">
                      <a16:colId xmlns:a16="http://schemas.microsoft.com/office/drawing/2014/main" val="575970552"/>
                    </a:ext>
                  </a:extLst>
                </a:gridCol>
                <a:gridCol w="4140000">
                  <a:extLst>
                    <a:ext uri="{9D8B030D-6E8A-4147-A177-3AD203B41FA5}">
                      <a16:colId xmlns:a16="http://schemas.microsoft.com/office/drawing/2014/main" val="3620716438"/>
                    </a:ext>
                  </a:extLst>
                </a:gridCol>
                <a:gridCol w="2232000">
                  <a:extLst>
                    <a:ext uri="{9D8B030D-6E8A-4147-A177-3AD203B41FA5}">
                      <a16:colId xmlns:a16="http://schemas.microsoft.com/office/drawing/2014/main" val="3705313365"/>
                    </a:ext>
                  </a:extLst>
                </a:gridCol>
                <a:gridCol w="2183999">
                  <a:extLst>
                    <a:ext uri="{9D8B030D-6E8A-4147-A177-3AD203B41FA5}">
                      <a16:colId xmlns:a16="http://schemas.microsoft.com/office/drawing/2014/main" val="1125232925"/>
                    </a:ext>
                  </a:extLst>
                </a:gridCol>
                <a:gridCol w="2205939">
                  <a:extLst>
                    <a:ext uri="{9D8B030D-6E8A-4147-A177-3AD203B41FA5}">
                      <a16:colId xmlns:a16="http://schemas.microsoft.com/office/drawing/2014/main" val="1589413076"/>
                    </a:ext>
                  </a:extLst>
                </a:gridCol>
              </a:tblGrid>
              <a:tr h="840000">
                <a:tc>
                  <a:txBody>
                    <a:bodyPr/>
                    <a:lstStyle/>
                    <a:p>
                      <a:pPr rtl="0" fontAlgn="base">
                        <a:lnSpc>
                          <a:spcPts val="1350"/>
                        </a:lnSpc>
                        <a:buNone/>
                      </a:pPr>
                      <a:r>
                        <a:rPr lang="en-US" sz="1400">
                          <a:effectLst/>
                          <a:latin typeface="Calibri"/>
                        </a:rPr>
                        <a:t>US_06</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30242"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rtl="0" fontAlgn="base">
                        <a:lnSpc>
                          <a:spcPts val="1350"/>
                        </a:lnSpc>
                        <a:buNone/>
                      </a:pPr>
                      <a:r>
                        <a:rPr lang="en-US" sz="1400">
                          <a:effectLst/>
                          <a:latin typeface="Calibri"/>
                        </a:rPr>
                        <a:t>As the system, I want to run a machine learning fraud detection model so that fraudulent patterns can be identified.</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30242"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algn="ctr" rtl="0" fontAlgn="base">
                        <a:lnSpc>
                          <a:spcPts val="1350"/>
                        </a:lnSpc>
                        <a:buNone/>
                      </a:pPr>
                      <a:r>
                        <a:rPr lang="en-US" sz="1400">
                          <a:effectLst/>
                          <a:latin typeface="Calibri"/>
                        </a:rPr>
                        <a:t>8</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30242"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lvl="0" algn="ctr">
                        <a:lnSpc>
                          <a:spcPts val="1350"/>
                        </a:lnSpc>
                        <a:buNone/>
                      </a:pPr>
                      <a:r>
                        <a:rPr lang="en-US" sz="1400">
                          <a:effectLst/>
                          <a:latin typeface="Calibri"/>
                        </a:rPr>
                        <a:t>8</a:t>
                      </a:r>
                    </a:p>
                  </a:txBody>
                  <a:tcPr marL="7552" marR="7552" marT="7552" anchor="ctr">
                    <a:lnL w="10077">
                      <a:solidFill>
                        <a:srgbClr val="FFFFFF"/>
                      </a:solidFill>
                    </a:lnL>
                    <a:lnR w="10077" cap="flat" cmpd="sng" algn="ctr">
                      <a:solidFill>
                        <a:srgbClr val="FFFFFF"/>
                      </a:solidFill>
                      <a:prstDash val="solid"/>
                      <a:round/>
                      <a:headEnd type="none" w="med" len="med"/>
                      <a:tailEnd type="none" w="med" len="med"/>
                    </a:lnR>
                    <a:lnT w="30241">
                      <a:solidFill>
                        <a:srgbClr val="FFFFFF"/>
                      </a:solidFill>
                    </a:lnT>
                    <a:lnB w="10077">
                      <a:solidFill>
                        <a:srgbClr val="FFFFFF"/>
                      </a:solidFill>
                    </a:lnB>
                    <a:solidFill>
                      <a:srgbClr val="CCD2D8"/>
                    </a:solidFill>
                  </a:tcPr>
                </a:tc>
                <a:tc>
                  <a:txBody>
                    <a:bodyPr/>
                    <a:lstStyle/>
                    <a:p>
                      <a:pPr lvl="0" algn="ctr">
                        <a:lnSpc>
                          <a:spcPts val="1350"/>
                        </a:lnSpc>
                        <a:buNone/>
                      </a:pPr>
                      <a:r>
                        <a:rPr lang="en-US" sz="1400">
                          <a:effectLst/>
                          <a:latin typeface="Calibri"/>
                        </a:rPr>
                        <a:t>Nov 16</a:t>
                      </a:r>
                    </a:p>
                  </a:txBody>
                  <a:tcPr marL="7551" marR="7551" marT="7551" anchor="ctr">
                    <a:lnL w="10077">
                      <a:solidFill>
                        <a:srgbClr val="FFFFFF"/>
                      </a:solidFill>
                    </a:lnL>
                    <a:lnR w="10077">
                      <a:solidFill>
                        <a:srgbClr val="FFFFFF"/>
                      </a:solidFill>
                    </a:lnR>
                    <a:lnT w="30240">
                      <a:solidFill>
                        <a:srgbClr val="FFFFFF"/>
                      </a:solidFill>
                    </a:lnT>
                    <a:lnB w="10077">
                      <a:solidFill>
                        <a:srgbClr val="FFFFFF"/>
                      </a:solidFill>
                    </a:lnB>
                    <a:solidFill>
                      <a:srgbClr val="CCD2D8"/>
                    </a:solidFill>
                  </a:tcPr>
                </a:tc>
                <a:extLst>
                  <a:ext uri="{0D108BD9-81ED-4DB2-BD59-A6C34878D82A}">
                    <a16:rowId xmlns:a16="http://schemas.microsoft.com/office/drawing/2014/main" val="509414492"/>
                  </a:ext>
                </a:extLst>
              </a:tr>
              <a:tr h="753037">
                <a:tc>
                  <a:txBody>
                    <a:bodyPr/>
                    <a:lstStyle/>
                    <a:p>
                      <a:pPr rtl="0" fontAlgn="base">
                        <a:lnSpc>
                          <a:spcPts val="1350"/>
                        </a:lnSpc>
                        <a:buNone/>
                      </a:pPr>
                      <a:r>
                        <a:rPr lang="en-US" sz="1400">
                          <a:effectLst/>
                          <a:latin typeface="Calibri"/>
                        </a:rPr>
                        <a:t>US_07</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E7EAED"/>
                    </a:solidFill>
                  </a:tcPr>
                </a:tc>
                <a:tc>
                  <a:txBody>
                    <a:bodyPr/>
                    <a:lstStyle/>
                    <a:p>
                      <a:pPr rtl="0" fontAlgn="base">
                        <a:lnSpc>
                          <a:spcPts val="1350"/>
                        </a:lnSpc>
                        <a:buNone/>
                      </a:pPr>
                      <a:r>
                        <a:rPr lang="en-US" sz="1400">
                          <a:effectLst/>
                          <a:latin typeface="Calibri"/>
                        </a:rPr>
                        <a:t>As a fraud analyst, I want to mark transactions as fraud or safe so that the model improves over time.</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E7EAED"/>
                    </a:solidFill>
                  </a:tcPr>
                </a:tc>
                <a:tc>
                  <a:txBody>
                    <a:bodyPr/>
                    <a:lstStyle/>
                    <a:p>
                      <a:pPr algn="ctr" rtl="0" fontAlgn="base">
                        <a:lnSpc>
                          <a:spcPts val="1350"/>
                        </a:lnSpc>
                        <a:buNone/>
                      </a:pPr>
                      <a:r>
                        <a:rPr lang="en-US" sz="1400">
                          <a:effectLst/>
                          <a:latin typeface="Calibri"/>
                        </a:rPr>
                        <a:t>3</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E7EAED"/>
                    </a:solidFill>
                  </a:tcPr>
                </a:tc>
                <a:tc>
                  <a:txBody>
                    <a:bodyPr/>
                    <a:lstStyle/>
                    <a:p>
                      <a:pPr lvl="0" algn="ctr">
                        <a:lnSpc>
                          <a:spcPts val="1350"/>
                        </a:lnSpc>
                        <a:buNone/>
                      </a:pPr>
                      <a:r>
                        <a:rPr lang="en-US" sz="1400">
                          <a:effectLst/>
                          <a:latin typeface="Calibri"/>
                        </a:rPr>
                        <a:t>3</a:t>
                      </a:r>
                    </a:p>
                  </a:txBody>
                  <a:tcPr marL="7552" marR="7552" marT="7552" anchor="ctr">
                    <a:lnL w="10077">
                      <a:solidFill>
                        <a:srgbClr val="FFFFFF"/>
                      </a:solidFill>
                    </a:lnL>
                    <a:lnR w="10077" cap="flat" cmpd="sng" algn="ctr">
                      <a:solidFill>
                        <a:srgbClr val="FFFFFF"/>
                      </a:solidFill>
                      <a:prstDash val="solid"/>
                      <a:round/>
                      <a:headEnd type="none" w="med" len="med"/>
                      <a:tailEnd type="none" w="med" len="med"/>
                    </a:lnR>
                    <a:lnT w="10077">
                      <a:solidFill>
                        <a:srgbClr val="FFFFFF"/>
                      </a:solidFill>
                    </a:lnT>
                    <a:lnB w="10077">
                      <a:solidFill>
                        <a:srgbClr val="FFFFFF"/>
                      </a:solidFill>
                    </a:lnB>
                    <a:solidFill>
                      <a:srgbClr val="E7EAED"/>
                    </a:solidFill>
                  </a:tcPr>
                </a:tc>
                <a:tc>
                  <a:txBody>
                    <a:bodyPr/>
                    <a:lstStyle/>
                    <a:p>
                      <a:pPr lvl="0" algn="ctr">
                        <a:lnSpc>
                          <a:spcPts val="1350"/>
                        </a:lnSpc>
                        <a:buNone/>
                      </a:pPr>
                      <a:r>
                        <a:rPr lang="en-US" sz="1400">
                          <a:effectLst/>
                          <a:latin typeface="Calibri"/>
                        </a:rPr>
                        <a:t>Nov 12</a:t>
                      </a:r>
                    </a:p>
                  </a:txBody>
                  <a:tcPr marL="7551" marR="7551" marT="7551" anchor="ctr">
                    <a:lnL w="10077">
                      <a:solidFill>
                        <a:srgbClr val="FFFFFF"/>
                      </a:solidFill>
                    </a:lnL>
                    <a:lnR w="10077">
                      <a:solidFill>
                        <a:srgbClr val="FFFFFF"/>
                      </a:solidFill>
                    </a:lnR>
                    <a:lnT w="10077">
                      <a:solidFill>
                        <a:srgbClr val="FFFFFF"/>
                      </a:solidFill>
                    </a:lnT>
                    <a:lnB w="10077">
                      <a:solidFill>
                        <a:srgbClr val="FFFFFF"/>
                      </a:solidFill>
                    </a:lnB>
                    <a:solidFill>
                      <a:srgbClr val="E7EAED"/>
                    </a:solidFill>
                  </a:tcPr>
                </a:tc>
                <a:extLst>
                  <a:ext uri="{0D108BD9-81ED-4DB2-BD59-A6C34878D82A}">
                    <a16:rowId xmlns:a16="http://schemas.microsoft.com/office/drawing/2014/main" val="2477527898"/>
                  </a:ext>
                </a:extLst>
              </a:tr>
              <a:tr h="753037">
                <a:tc>
                  <a:txBody>
                    <a:bodyPr/>
                    <a:lstStyle/>
                    <a:p>
                      <a:pPr rtl="0" fontAlgn="base">
                        <a:lnSpc>
                          <a:spcPts val="1350"/>
                        </a:lnSpc>
                        <a:buNone/>
                      </a:pPr>
                      <a:r>
                        <a:rPr lang="en-US" sz="1400">
                          <a:effectLst/>
                          <a:latin typeface="Calibri"/>
                        </a:rPr>
                        <a:t>US_10</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rtl="0" fontAlgn="base">
                        <a:lnSpc>
                          <a:spcPts val="1350"/>
                        </a:lnSpc>
                        <a:buNone/>
                      </a:pPr>
                      <a:r>
                        <a:rPr lang="en-US" sz="1400">
                          <a:effectLst/>
                          <a:latin typeface="Calibri"/>
                        </a:rPr>
                        <a:t>As an admin, I want to manage system roles so that access controls are enforced.</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algn="ctr" rtl="0" fontAlgn="base">
                        <a:lnSpc>
                          <a:spcPts val="1350"/>
                        </a:lnSpc>
                        <a:buNone/>
                      </a:pPr>
                      <a:r>
                        <a:rPr lang="en-US" sz="1400">
                          <a:effectLst/>
                          <a:latin typeface="Calibri"/>
                        </a:rPr>
                        <a:t>3</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lvl="0" algn="ctr">
                        <a:lnSpc>
                          <a:spcPts val="1350"/>
                        </a:lnSpc>
                        <a:buNone/>
                      </a:pPr>
                      <a:r>
                        <a:rPr lang="en-US" sz="1400">
                          <a:effectLst/>
                          <a:latin typeface="Calibri"/>
                        </a:rPr>
                        <a:t>0</a:t>
                      </a:r>
                    </a:p>
                  </a:txBody>
                  <a:tcPr marL="7552" marR="7552" marT="7552" anchor="ctr">
                    <a:lnL w="10077">
                      <a:solidFill>
                        <a:srgbClr val="FFFFFF"/>
                      </a:solidFill>
                    </a:lnL>
                    <a:lnR w="10077" cap="flat" cmpd="sng" algn="ctr">
                      <a:solidFill>
                        <a:srgbClr val="FFFFFF"/>
                      </a:solidFill>
                      <a:prstDash val="solid"/>
                      <a:round/>
                      <a:headEnd type="none" w="med" len="med"/>
                      <a:tailEnd type="none" w="med" len="med"/>
                    </a:lnR>
                    <a:lnT w="10077">
                      <a:solidFill>
                        <a:srgbClr val="FFFFFF"/>
                      </a:solidFill>
                    </a:lnT>
                    <a:lnB w="10077">
                      <a:solidFill>
                        <a:srgbClr val="FFFFFF"/>
                      </a:solidFill>
                    </a:lnB>
                    <a:solidFill>
                      <a:srgbClr val="CCD2D8"/>
                    </a:solidFill>
                  </a:tcPr>
                </a:tc>
                <a:tc>
                  <a:txBody>
                    <a:bodyPr/>
                    <a:lstStyle/>
                    <a:p>
                      <a:pPr lvl="0" algn="ctr">
                        <a:lnSpc>
                          <a:spcPts val="1350"/>
                        </a:lnSpc>
                        <a:buNone/>
                      </a:pPr>
                      <a:r>
                        <a:rPr lang="en-US" sz="1400">
                          <a:effectLst/>
                          <a:latin typeface="Calibri"/>
                        </a:rPr>
                        <a:t>_</a:t>
                      </a:r>
                    </a:p>
                  </a:txBody>
                  <a:tcPr marL="7551" marR="7551" marT="7551" anchor="ctr">
                    <a:lnL w="10077">
                      <a:solidFill>
                        <a:srgbClr val="FFFFFF"/>
                      </a:solidFill>
                    </a:lnL>
                    <a:lnR w="10077">
                      <a:solidFill>
                        <a:srgbClr val="FFFFFF"/>
                      </a:solidFill>
                    </a:lnR>
                    <a:lnT w="10077">
                      <a:solidFill>
                        <a:srgbClr val="FFFFFF"/>
                      </a:solidFill>
                    </a:lnT>
                    <a:lnB w="10077">
                      <a:solidFill>
                        <a:srgbClr val="FFFFFF"/>
                      </a:solidFill>
                    </a:lnB>
                    <a:solidFill>
                      <a:srgbClr val="CCD2D8"/>
                    </a:solidFill>
                  </a:tcPr>
                </a:tc>
                <a:extLst>
                  <a:ext uri="{0D108BD9-81ED-4DB2-BD59-A6C34878D82A}">
                    <a16:rowId xmlns:a16="http://schemas.microsoft.com/office/drawing/2014/main" val="2174144502"/>
                  </a:ext>
                </a:extLst>
              </a:tr>
            </a:tbl>
          </a:graphicData>
        </a:graphic>
      </p:graphicFrame>
    </p:spTree>
    <p:extLst>
      <p:ext uri="{BB962C8B-B14F-4D97-AF65-F5344CB8AC3E}">
        <p14:creationId xmlns:p14="http://schemas.microsoft.com/office/powerpoint/2010/main" val="36518353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053DA-0550-410D-D496-0F5F6B792A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14364-4AF7-0735-065A-B78A8AF9191E}"/>
              </a:ext>
            </a:extLst>
          </p:cNvPr>
          <p:cNvSpPr>
            <a:spLocks noGrp="1"/>
          </p:cNvSpPr>
          <p:nvPr>
            <p:ph type="title"/>
          </p:nvPr>
        </p:nvSpPr>
        <p:spPr>
          <a:xfrm>
            <a:off x="591671" y="-4669"/>
            <a:ext cx="10515600" cy="1325563"/>
          </a:xfrm>
        </p:spPr>
        <p:txBody>
          <a:bodyPr/>
          <a:lstStyle/>
          <a:p>
            <a:r>
              <a:rPr lang="en-US" sz="3800" b="1">
                <a:latin typeface="Aptos Display"/>
              </a:rPr>
              <a:t>Stories Completed And Not Completed</a:t>
            </a:r>
          </a:p>
        </p:txBody>
      </p:sp>
      <p:graphicFrame>
        <p:nvGraphicFramePr>
          <p:cNvPr id="7" name="Table 6">
            <a:extLst>
              <a:ext uri="{FF2B5EF4-FFF2-40B4-BE49-F238E27FC236}">
                <a16:creationId xmlns:a16="http://schemas.microsoft.com/office/drawing/2014/main" id="{885AC7AC-2BC5-442D-4730-870CFE7AF4C3}"/>
              </a:ext>
            </a:extLst>
          </p:cNvPr>
          <p:cNvGraphicFramePr>
            <a:graphicFrameLocks noGrp="1"/>
          </p:cNvGraphicFramePr>
          <p:nvPr>
            <p:extLst>
              <p:ext uri="{D42A27DB-BD31-4B8C-83A1-F6EECF244321}">
                <p14:modId xmlns:p14="http://schemas.microsoft.com/office/powerpoint/2010/main" val="340369056"/>
              </p:ext>
            </p:extLst>
          </p:nvPr>
        </p:nvGraphicFramePr>
        <p:xfrm>
          <a:off x="90437" y="2024114"/>
          <a:ext cx="12002929" cy="3599994"/>
        </p:xfrm>
        <a:graphic>
          <a:graphicData uri="http://schemas.openxmlformats.org/drawingml/2006/table">
            <a:tbl>
              <a:tblPr bandRow="1">
                <a:tableStyleId>{5C22544A-7EE6-4342-B048-85BDC9FD1C3A}</a:tableStyleId>
              </a:tblPr>
              <a:tblGrid>
                <a:gridCol w="1260000">
                  <a:extLst>
                    <a:ext uri="{9D8B030D-6E8A-4147-A177-3AD203B41FA5}">
                      <a16:colId xmlns:a16="http://schemas.microsoft.com/office/drawing/2014/main" val="694733962"/>
                    </a:ext>
                  </a:extLst>
                </a:gridCol>
                <a:gridCol w="4176812">
                  <a:extLst>
                    <a:ext uri="{9D8B030D-6E8A-4147-A177-3AD203B41FA5}">
                      <a16:colId xmlns:a16="http://schemas.microsoft.com/office/drawing/2014/main" val="1142781901"/>
                    </a:ext>
                  </a:extLst>
                </a:gridCol>
                <a:gridCol w="2171998">
                  <a:extLst>
                    <a:ext uri="{9D8B030D-6E8A-4147-A177-3AD203B41FA5}">
                      <a16:colId xmlns:a16="http://schemas.microsoft.com/office/drawing/2014/main" val="2575816368"/>
                    </a:ext>
                  </a:extLst>
                </a:gridCol>
                <a:gridCol w="2220000">
                  <a:extLst>
                    <a:ext uri="{9D8B030D-6E8A-4147-A177-3AD203B41FA5}">
                      <a16:colId xmlns:a16="http://schemas.microsoft.com/office/drawing/2014/main" val="2616169518"/>
                    </a:ext>
                  </a:extLst>
                </a:gridCol>
                <a:gridCol w="2174119">
                  <a:extLst>
                    <a:ext uri="{9D8B030D-6E8A-4147-A177-3AD203B41FA5}">
                      <a16:colId xmlns:a16="http://schemas.microsoft.com/office/drawing/2014/main" val="4165658920"/>
                    </a:ext>
                  </a:extLst>
                </a:gridCol>
              </a:tblGrid>
              <a:tr h="1199998">
                <a:tc>
                  <a:txBody>
                    <a:bodyPr/>
                    <a:lstStyle/>
                    <a:p>
                      <a:pPr rtl="0" fontAlgn="base">
                        <a:lnSpc>
                          <a:spcPts val="1350"/>
                        </a:lnSpc>
                        <a:buNone/>
                      </a:pPr>
                      <a:r>
                        <a:rPr lang="en-US" sz="1400">
                          <a:effectLst/>
                          <a:latin typeface="Calibri"/>
                        </a:rPr>
                        <a:t>US_12</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30242"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rtl="0" fontAlgn="base">
                        <a:lnSpc>
                          <a:spcPts val="1350"/>
                        </a:lnSpc>
                        <a:buNone/>
                      </a:pPr>
                      <a:r>
                        <a:rPr lang="en-US" sz="1400">
                          <a:effectLst/>
                          <a:latin typeface="Calibri"/>
                        </a:rPr>
                        <a:t>As a user, I want to file a dispute for fraudulent charges so the bank can take action.</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30242"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algn="ctr" rtl="0" fontAlgn="base">
                        <a:lnSpc>
                          <a:spcPts val="1350"/>
                        </a:lnSpc>
                        <a:buNone/>
                      </a:pPr>
                      <a:r>
                        <a:rPr lang="en-US" sz="1400">
                          <a:effectLst/>
                          <a:latin typeface="Calibri"/>
                        </a:rPr>
                        <a:t>3</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30242"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lvl="0" algn="ctr">
                        <a:lnSpc>
                          <a:spcPts val="1350"/>
                        </a:lnSpc>
                        <a:buNone/>
                      </a:pPr>
                      <a:r>
                        <a:rPr lang="en-US" sz="1400">
                          <a:effectLst/>
                          <a:latin typeface="Calibri"/>
                        </a:rPr>
                        <a:t>0</a:t>
                      </a:r>
                    </a:p>
                  </a:txBody>
                  <a:tcPr marL="7552" marR="7552" marT="7552" anchor="ctr">
                    <a:lnL w="10077">
                      <a:solidFill>
                        <a:srgbClr val="FFFFFF"/>
                      </a:solidFill>
                    </a:lnL>
                    <a:lnR w="10077" cap="flat" cmpd="sng" algn="ctr">
                      <a:solidFill>
                        <a:srgbClr val="FFFFFF"/>
                      </a:solidFill>
                      <a:prstDash val="solid"/>
                      <a:round/>
                      <a:headEnd type="none" w="med" len="med"/>
                      <a:tailEnd type="none" w="med" len="med"/>
                    </a:lnR>
                    <a:lnT w="30241">
                      <a:solidFill>
                        <a:srgbClr val="FFFFFF"/>
                      </a:solidFill>
                    </a:lnT>
                    <a:lnB w="10077">
                      <a:solidFill>
                        <a:srgbClr val="FFFFFF"/>
                      </a:solidFill>
                    </a:lnB>
                    <a:solidFill>
                      <a:srgbClr val="CCD2D8"/>
                    </a:solidFill>
                  </a:tcPr>
                </a:tc>
                <a:tc>
                  <a:txBody>
                    <a:bodyPr/>
                    <a:lstStyle/>
                    <a:p>
                      <a:pPr lvl="0" algn="ctr">
                        <a:lnSpc>
                          <a:spcPts val="1350"/>
                        </a:lnSpc>
                        <a:buNone/>
                      </a:pPr>
                      <a:r>
                        <a:rPr lang="en-US" sz="1400">
                          <a:effectLst/>
                          <a:latin typeface="Calibri"/>
                        </a:rPr>
                        <a:t>-</a:t>
                      </a:r>
                    </a:p>
                  </a:txBody>
                  <a:tcPr marL="7551" marR="7551" marT="7551" anchor="ctr">
                    <a:lnL w="10077">
                      <a:solidFill>
                        <a:srgbClr val="FFFFFF"/>
                      </a:solidFill>
                    </a:lnL>
                    <a:lnR w="10077">
                      <a:solidFill>
                        <a:srgbClr val="FFFFFF"/>
                      </a:solidFill>
                    </a:lnR>
                    <a:lnT w="30240">
                      <a:solidFill>
                        <a:srgbClr val="FFFFFF"/>
                      </a:solidFill>
                    </a:lnT>
                    <a:lnB w="10077">
                      <a:solidFill>
                        <a:srgbClr val="FFFFFF"/>
                      </a:solidFill>
                    </a:lnB>
                    <a:solidFill>
                      <a:srgbClr val="CCD2D8"/>
                    </a:solidFill>
                  </a:tcPr>
                </a:tc>
                <a:extLst>
                  <a:ext uri="{0D108BD9-81ED-4DB2-BD59-A6C34878D82A}">
                    <a16:rowId xmlns:a16="http://schemas.microsoft.com/office/drawing/2014/main" val="2188963083"/>
                  </a:ext>
                </a:extLst>
              </a:tr>
              <a:tr h="1199998">
                <a:tc>
                  <a:txBody>
                    <a:bodyPr/>
                    <a:lstStyle/>
                    <a:p>
                      <a:pPr rtl="0" fontAlgn="base">
                        <a:lnSpc>
                          <a:spcPts val="1350"/>
                        </a:lnSpc>
                        <a:buNone/>
                      </a:pPr>
                      <a:r>
                        <a:rPr lang="en-US" sz="1400">
                          <a:effectLst/>
                          <a:latin typeface="Calibri"/>
                        </a:rPr>
                        <a:t>US_13</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E7EAED"/>
                    </a:solidFill>
                  </a:tcPr>
                </a:tc>
                <a:tc>
                  <a:txBody>
                    <a:bodyPr/>
                    <a:lstStyle/>
                    <a:p>
                      <a:pPr rtl="0" fontAlgn="base">
                        <a:lnSpc>
                          <a:spcPts val="1350"/>
                        </a:lnSpc>
                        <a:buNone/>
                      </a:pPr>
                      <a:r>
                        <a:rPr lang="en-US" sz="1400">
                          <a:effectLst/>
                          <a:latin typeface="Calibri"/>
                        </a:rPr>
                        <a:t>As the system, I want to maintain audit logs so that all actions related to fraud can be reviewed.</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E7EAED"/>
                    </a:solidFill>
                  </a:tcPr>
                </a:tc>
                <a:tc>
                  <a:txBody>
                    <a:bodyPr/>
                    <a:lstStyle/>
                    <a:p>
                      <a:pPr algn="ctr" rtl="0" fontAlgn="base">
                        <a:lnSpc>
                          <a:spcPts val="1350"/>
                        </a:lnSpc>
                        <a:buNone/>
                      </a:pPr>
                      <a:r>
                        <a:rPr lang="en-US" sz="1400">
                          <a:effectLst/>
                          <a:latin typeface="Calibri"/>
                        </a:rPr>
                        <a:t>2</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E7EAED"/>
                    </a:solidFill>
                  </a:tcPr>
                </a:tc>
                <a:tc>
                  <a:txBody>
                    <a:bodyPr/>
                    <a:lstStyle/>
                    <a:p>
                      <a:pPr lvl="0" algn="ctr">
                        <a:lnSpc>
                          <a:spcPts val="1350"/>
                        </a:lnSpc>
                        <a:buNone/>
                      </a:pPr>
                      <a:r>
                        <a:rPr lang="en-US" sz="1400">
                          <a:effectLst/>
                          <a:latin typeface="Calibri"/>
                        </a:rPr>
                        <a:t>0</a:t>
                      </a:r>
                    </a:p>
                  </a:txBody>
                  <a:tcPr marL="7552" marR="7552" marT="7552" anchor="ctr">
                    <a:lnL w="10077">
                      <a:solidFill>
                        <a:srgbClr val="FFFFFF"/>
                      </a:solidFill>
                    </a:lnL>
                    <a:lnR w="10077" cap="flat" cmpd="sng" algn="ctr">
                      <a:solidFill>
                        <a:srgbClr val="FFFFFF"/>
                      </a:solidFill>
                      <a:prstDash val="solid"/>
                      <a:round/>
                      <a:headEnd type="none" w="med" len="med"/>
                      <a:tailEnd type="none" w="med" len="med"/>
                    </a:lnR>
                    <a:lnT w="10077">
                      <a:solidFill>
                        <a:srgbClr val="FFFFFF"/>
                      </a:solidFill>
                    </a:lnT>
                    <a:lnB w="10077">
                      <a:solidFill>
                        <a:srgbClr val="FFFFFF"/>
                      </a:solidFill>
                    </a:lnB>
                    <a:solidFill>
                      <a:srgbClr val="E7EAED"/>
                    </a:solidFill>
                  </a:tcPr>
                </a:tc>
                <a:tc>
                  <a:txBody>
                    <a:bodyPr/>
                    <a:lstStyle/>
                    <a:p>
                      <a:pPr lvl="0" algn="ctr">
                        <a:lnSpc>
                          <a:spcPts val="1350"/>
                        </a:lnSpc>
                        <a:buNone/>
                      </a:pPr>
                      <a:r>
                        <a:rPr lang="en-US" sz="1400">
                          <a:effectLst/>
                          <a:latin typeface="Calibri"/>
                        </a:rPr>
                        <a:t>-</a:t>
                      </a:r>
                    </a:p>
                  </a:txBody>
                  <a:tcPr marL="7551" marR="7551" marT="7551" anchor="ctr">
                    <a:lnL w="10077">
                      <a:solidFill>
                        <a:srgbClr val="FFFFFF"/>
                      </a:solidFill>
                    </a:lnL>
                    <a:lnR w="10077">
                      <a:solidFill>
                        <a:srgbClr val="FFFFFF"/>
                      </a:solidFill>
                    </a:lnR>
                    <a:lnT w="10077">
                      <a:solidFill>
                        <a:srgbClr val="FFFFFF"/>
                      </a:solidFill>
                    </a:lnT>
                    <a:lnB w="10077">
                      <a:solidFill>
                        <a:srgbClr val="FFFFFF"/>
                      </a:solidFill>
                    </a:lnB>
                    <a:solidFill>
                      <a:srgbClr val="E7EAED"/>
                    </a:solidFill>
                  </a:tcPr>
                </a:tc>
                <a:extLst>
                  <a:ext uri="{0D108BD9-81ED-4DB2-BD59-A6C34878D82A}">
                    <a16:rowId xmlns:a16="http://schemas.microsoft.com/office/drawing/2014/main" val="3343777677"/>
                  </a:ext>
                </a:extLst>
              </a:tr>
              <a:tr h="1199998">
                <a:tc>
                  <a:txBody>
                    <a:bodyPr/>
                    <a:lstStyle/>
                    <a:p>
                      <a:pPr rtl="0" fontAlgn="base">
                        <a:lnSpc>
                          <a:spcPts val="1350"/>
                        </a:lnSpc>
                        <a:buNone/>
                      </a:pPr>
                      <a:r>
                        <a:rPr lang="en-US" sz="1400">
                          <a:effectLst/>
                          <a:latin typeface="Calibri"/>
                        </a:rPr>
                        <a:t>US_14</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rtl="0" fontAlgn="base">
                        <a:lnSpc>
                          <a:spcPts val="1350"/>
                        </a:lnSpc>
                        <a:buNone/>
                      </a:pPr>
                      <a:r>
                        <a:rPr lang="en-US" sz="1400">
                          <a:effectLst/>
                          <a:latin typeface="Calibri"/>
                        </a:rPr>
                        <a:t>As a user, I want to enable/disable fraud notifications so I have control over alerts.</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algn="ctr" rtl="0" fontAlgn="base">
                        <a:lnSpc>
                          <a:spcPts val="1350"/>
                        </a:lnSpc>
                        <a:buNone/>
                      </a:pPr>
                      <a:r>
                        <a:rPr lang="en-US" sz="1400">
                          <a:effectLst/>
                          <a:latin typeface="Calibri"/>
                        </a:rPr>
                        <a:t>2</a:t>
                      </a:r>
                      <a:endParaRPr lang="en-US">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10077" cap="flat" cmpd="sng" algn="ctr">
                      <a:solidFill>
                        <a:srgbClr val="FFFFFF"/>
                      </a:solidFill>
                      <a:prstDash val="solid"/>
                      <a:round/>
                      <a:headEnd type="none" w="med" len="med"/>
                      <a:tailEnd type="none" w="med" len="med"/>
                    </a:lnB>
                    <a:solidFill>
                      <a:srgbClr val="CCD2D8"/>
                    </a:solidFill>
                  </a:tcPr>
                </a:tc>
                <a:tc>
                  <a:txBody>
                    <a:bodyPr/>
                    <a:lstStyle/>
                    <a:p>
                      <a:pPr lvl="0" algn="ctr">
                        <a:lnSpc>
                          <a:spcPts val="1350"/>
                        </a:lnSpc>
                        <a:buNone/>
                      </a:pPr>
                      <a:r>
                        <a:rPr lang="en-US" sz="1400">
                          <a:effectLst/>
                          <a:latin typeface="Calibri"/>
                        </a:rPr>
                        <a:t>0</a:t>
                      </a:r>
                    </a:p>
                  </a:txBody>
                  <a:tcPr marL="7552" marR="7552" marT="7552" anchor="ctr">
                    <a:lnL w="10077">
                      <a:solidFill>
                        <a:srgbClr val="FFFFFF"/>
                      </a:solidFill>
                    </a:lnL>
                    <a:lnR w="10077" cap="flat" cmpd="sng" algn="ctr">
                      <a:solidFill>
                        <a:srgbClr val="FFFFFF"/>
                      </a:solidFill>
                      <a:prstDash val="solid"/>
                      <a:round/>
                      <a:headEnd type="none" w="med" len="med"/>
                      <a:tailEnd type="none" w="med" len="med"/>
                    </a:lnR>
                    <a:lnT w="10077">
                      <a:solidFill>
                        <a:srgbClr val="FFFFFF"/>
                      </a:solidFill>
                    </a:lnT>
                    <a:lnB w="10077">
                      <a:solidFill>
                        <a:srgbClr val="FFFFFF"/>
                      </a:solidFill>
                    </a:lnB>
                    <a:solidFill>
                      <a:srgbClr val="CCD2D8"/>
                    </a:solidFill>
                  </a:tcPr>
                </a:tc>
                <a:tc>
                  <a:txBody>
                    <a:bodyPr/>
                    <a:lstStyle/>
                    <a:p>
                      <a:pPr lvl="0" algn="ctr">
                        <a:lnSpc>
                          <a:spcPts val="1350"/>
                        </a:lnSpc>
                        <a:buNone/>
                      </a:pPr>
                      <a:r>
                        <a:rPr lang="en-US" sz="1400">
                          <a:effectLst/>
                          <a:latin typeface="Calibri"/>
                        </a:rPr>
                        <a:t>-</a:t>
                      </a:r>
                    </a:p>
                  </a:txBody>
                  <a:tcPr marL="7551" marR="7551" marT="7551" anchor="ctr">
                    <a:lnL w="10077">
                      <a:solidFill>
                        <a:srgbClr val="FFFFFF"/>
                      </a:solidFill>
                    </a:lnL>
                    <a:lnR w="10077">
                      <a:solidFill>
                        <a:srgbClr val="FFFFFF"/>
                      </a:solidFill>
                    </a:lnR>
                    <a:lnT w="10077">
                      <a:solidFill>
                        <a:srgbClr val="FFFFFF"/>
                      </a:solidFill>
                    </a:lnT>
                    <a:lnB w="10077">
                      <a:solidFill>
                        <a:srgbClr val="FFFFFF"/>
                      </a:solidFill>
                    </a:lnB>
                    <a:solidFill>
                      <a:srgbClr val="CCD2D8"/>
                    </a:solidFill>
                  </a:tcPr>
                </a:tc>
                <a:extLst>
                  <a:ext uri="{0D108BD9-81ED-4DB2-BD59-A6C34878D82A}">
                    <a16:rowId xmlns:a16="http://schemas.microsoft.com/office/drawing/2014/main" val="155347773"/>
                  </a:ext>
                </a:extLst>
              </a:tr>
            </a:tbl>
          </a:graphicData>
        </a:graphic>
      </p:graphicFrame>
      <p:graphicFrame>
        <p:nvGraphicFramePr>
          <p:cNvPr id="9" name="Table 8">
            <a:extLst>
              <a:ext uri="{FF2B5EF4-FFF2-40B4-BE49-F238E27FC236}">
                <a16:creationId xmlns:a16="http://schemas.microsoft.com/office/drawing/2014/main" id="{684CD8D9-473E-25CE-355D-89D5875A6DDE}"/>
              </a:ext>
            </a:extLst>
          </p:cNvPr>
          <p:cNvGraphicFramePr>
            <a:graphicFrameLocks noGrp="1"/>
          </p:cNvGraphicFramePr>
          <p:nvPr>
            <p:extLst>
              <p:ext uri="{D42A27DB-BD31-4B8C-83A1-F6EECF244321}">
                <p14:modId xmlns:p14="http://schemas.microsoft.com/office/powerpoint/2010/main" val="2493603153"/>
              </p:ext>
            </p:extLst>
          </p:nvPr>
        </p:nvGraphicFramePr>
        <p:xfrm>
          <a:off x="87344" y="1135945"/>
          <a:ext cx="12017311" cy="888997"/>
        </p:xfrm>
        <a:graphic>
          <a:graphicData uri="http://schemas.openxmlformats.org/drawingml/2006/table">
            <a:tbl>
              <a:tblPr bandRow="1">
                <a:tableStyleId>{5C22544A-7EE6-4342-B048-85BDC9FD1C3A}</a:tableStyleId>
              </a:tblPr>
              <a:tblGrid>
                <a:gridCol w="1243794">
                  <a:extLst>
                    <a:ext uri="{9D8B030D-6E8A-4147-A177-3AD203B41FA5}">
                      <a16:colId xmlns:a16="http://schemas.microsoft.com/office/drawing/2014/main" val="3619701278"/>
                    </a:ext>
                  </a:extLst>
                </a:gridCol>
                <a:gridCol w="4144975">
                  <a:extLst>
                    <a:ext uri="{9D8B030D-6E8A-4147-A177-3AD203B41FA5}">
                      <a16:colId xmlns:a16="http://schemas.microsoft.com/office/drawing/2014/main" val="3687698885"/>
                    </a:ext>
                  </a:extLst>
                </a:gridCol>
                <a:gridCol w="2209514">
                  <a:extLst>
                    <a:ext uri="{9D8B030D-6E8A-4147-A177-3AD203B41FA5}">
                      <a16:colId xmlns:a16="http://schemas.microsoft.com/office/drawing/2014/main" val="3281985301"/>
                    </a:ext>
                  </a:extLst>
                </a:gridCol>
                <a:gridCol w="2209514">
                  <a:extLst>
                    <a:ext uri="{9D8B030D-6E8A-4147-A177-3AD203B41FA5}">
                      <a16:colId xmlns:a16="http://schemas.microsoft.com/office/drawing/2014/main" val="2777516335"/>
                    </a:ext>
                  </a:extLst>
                </a:gridCol>
                <a:gridCol w="2209514">
                  <a:extLst>
                    <a:ext uri="{9D8B030D-6E8A-4147-A177-3AD203B41FA5}">
                      <a16:colId xmlns:a16="http://schemas.microsoft.com/office/drawing/2014/main" val="2315140396"/>
                    </a:ext>
                  </a:extLst>
                </a:gridCol>
              </a:tblGrid>
              <a:tr h="888997">
                <a:tc>
                  <a:txBody>
                    <a:bodyPr/>
                    <a:lstStyle/>
                    <a:p>
                      <a:pPr algn="ctr" rtl="0" fontAlgn="base">
                        <a:lnSpc>
                          <a:spcPts val="1200"/>
                        </a:lnSpc>
                        <a:buNone/>
                      </a:pPr>
                      <a:r>
                        <a:rPr lang="en-US" sz="1500" b="1">
                          <a:solidFill>
                            <a:srgbClr val="FFFFFF"/>
                          </a:solidFill>
                          <a:effectLst/>
                          <a:latin typeface="Calibri"/>
                        </a:rPr>
                        <a:t>S.NO</a:t>
                      </a:r>
                      <a:endParaRPr lang="en-US" b="1">
                        <a:solidFill>
                          <a:srgbClr val="FFFFFF"/>
                        </a:solidFill>
                        <a:effectLst/>
                        <a:latin typeface="Calibri"/>
                      </a:endParaRPr>
                    </a:p>
                  </a:txBody>
                  <a:tcPr marL="5658" marR="5658" marT="565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5718" cap="flat" cmpd="sng" algn="ctr">
                      <a:solidFill>
                        <a:srgbClr val="FFFFFF"/>
                      </a:solidFill>
                      <a:prstDash val="solid"/>
                      <a:round/>
                      <a:headEnd type="none" w="med" len="med"/>
                      <a:tailEnd type="none" w="med" len="med"/>
                    </a:lnB>
                    <a:solidFill>
                      <a:srgbClr val="156082"/>
                    </a:solidFill>
                  </a:tcPr>
                </a:tc>
                <a:tc>
                  <a:txBody>
                    <a:bodyPr/>
                    <a:lstStyle/>
                    <a:p>
                      <a:pPr algn="ctr" rtl="0" fontAlgn="base">
                        <a:lnSpc>
                          <a:spcPts val="1200"/>
                        </a:lnSpc>
                        <a:buNone/>
                      </a:pPr>
                      <a:r>
                        <a:rPr lang="en-US" sz="1500" b="1">
                          <a:solidFill>
                            <a:srgbClr val="FFFFFF"/>
                          </a:solidFill>
                          <a:effectLst/>
                          <a:latin typeface="Calibri"/>
                        </a:rPr>
                        <a:t>User Story</a:t>
                      </a:r>
                      <a:endParaRPr lang="en-US" b="1">
                        <a:solidFill>
                          <a:srgbClr val="FFFFFF"/>
                        </a:solidFill>
                        <a:effectLst/>
                        <a:latin typeface="Calibri"/>
                      </a:endParaRPr>
                    </a:p>
                  </a:txBody>
                  <a:tcPr marL="5658" marR="5658" marT="565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5718" cap="flat" cmpd="sng" algn="ctr">
                      <a:solidFill>
                        <a:srgbClr val="FFFFFF"/>
                      </a:solidFill>
                      <a:prstDash val="solid"/>
                      <a:round/>
                      <a:headEnd type="none" w="med" len="med"/>
                      <a:tailEnd type="none" w="med" len="med"/>
                    </a:lnB>
                    <a:solidFill>
                      <a:srgbClr val="156082"/>
                    </a:solidFill>
                  </a:tcPr>
                </a:tc>
                <a:tc>
                  <a:txBody>
                    <a:bodyPr/>
                    <a:lstStyle/>
                    <a:p>
                      <a:pPr algn="ctr" rtl="0" fontAlgn="base">
                        <a:lnSpc>
                          <a:spcPts val="1200"/>
                        </a:lnSpc>
                        <a:buNone/>
                      </a:pPr>
                      <a:r>
                        <a:rPr lang="en-US" sz="1500" b="1">
                          <a:solidFill>
                            <a:srgbClr val="FFFFFF"/>
                          </a:solidFill>
                          <a:effectLst/>
                          <a:latin typeface="Calibri"/>
                        </a:rPr>
                        <a:t>Story Points</a:t>
                      </a:r>
                      <a:endParaRPr lang="en-US" b="1">
                        <a:solidFill>
                          <a:srgbClr val="FFFFFF"/>
                        </a:solidFill>
                        <a:effectLst/>
                        <a:latin typeface="Calibri"/>
                      </a:endParaRPr>
                    </a:p>
                  </a:txBody>
                  <a:tcPr marL="5658" marR="5658" marT="565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5718" cap="flat" cmpd="sng" algn="ctr">
                      <a:solidFill>
                        <a:srgbClr val="FFFFFF"/>
                      </a:solidFill>
                      <a:prstDash val="solid"/>
                      <a:round/>
                      <a:headEnd type="none" w="med" len="med"/>
                      <a:tailEnd type="none" w="med" len="med"/>
                    </a:lnB>
                    <a:solidFill>
                      <a:srgbClr val="156082"/>
                    </a:solidFill>
                  </a:tcPr>
                </a:tc>
                <a:tc>
                  <a:txBody>
                    <a:bodyPr/>
                    <a:lstStyle/>
                    <a:p>
                      <a:pPr algn="ctr" rtl="0" fontAlgn="base">
                        <a:lnSpc>
                          <a:spcPts val="1200"/>
                        </a:lnSpc>
                        <a:buNone/>
                      </a:pPr>
                      <a:r>
                        <a:rPr lang="en-US" sz="1500" b="1">
                          <a:solidFill>
                            <a:srgbClr val="FFFFFF"/>
                          </a:solidFill>
                          <a:effectLst/>
                          <a:latin typeface="Calibri"/>
                        </a:rPr>
                        <a:t>Completed</a:t>
                      </a:r>
                      <a:endParaRPr lang="en-US" b="1">
                        <a:solidFill>
                          <a:srgbClr val="FFFFFF"/>
                        </a:solidFill>
                        <a:effectLst/>
                        <a:latin typeface="Calibri"/>
                      </a:endParaRPr>
                    </a:p>
                  </a:txBody>
                  <a:tcPr marL="5658" marR="5658" marT="565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5718" cap="flat" cmpd="sng" algn="ctr">
                      <a:solidFill>
                        <a:srgbClr val="FFFFFF"/>
                      </a:solidFill>
                      <a:prstDash val="solid"/>
                      <a:round/>
                      <a:headEnd type="none" w="med" len="med"/>
                      <a:tailEnd type="none" w="med" len="med"/>
                    </a:lnB>
                    <a:solidFill>
                      <a:srgbClr val="156082"/>
                    </a:solidFill>
                  </a:tcPr>
                </a:tc>
                <a:tc>
                  <a:txBody>
                    <a:bodyPr/>
                    <a:lstStyle/>
                    <a:p>
                      <a:pPr algn="ctr" rtl="0" fontAlgn="base">
                        <a:lnSpc>
                          <a:spcPts val="1200"/>
                        </a:lnSpc>
                        <a:buNone/>
                      </a:pPr>
                      <a:r>
                        <a:rPr lang="en-US" sz="1500" b="1">
                          <a:solidFill>
                            <a:srgbClr val="FFFFFF"/>
                          </a:solidFill>
                          <a:effectLst/>
                          <a:latin typeface="Calibri"/>
                        </a:rPr>
                        <a:t>Date Completed</a:t>
                      </a:r>
                      <a:endParaRPr lang="en-US" b="1">
                        <a:solidFill>
                          <a:srgbClr val="FFFFFF"/>
                        </a:solidFill>
                        <a:effectLst/>
                        <a:latin typeface="Calibri"/>
                      </a:endParaRPr>
                    </a:p>
                  </a:txBody>
                  <a:tcPr marL="5658" marR="5658" marT="565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5718" cap="flat" cmpd="sng" algn="ctr">
                      <a:solidFill>
                        <a:srgbClr val="FFFFFF"/>
                      </a:solidFill>
                      <a:prstDash val="solid"/>
                      <a:round/>
                      <a:headEnd type="none" w="med" len="med"/>
                      <a:tailEnd type="none" w="med" len="med"/>
                    </a:lnB>
                    <a:solidFill>
                      <a:srgbClr val="156082"/>
                    </a:solidFill>
                  </a:tcPr>
                </a:tc>
                <a:extLst>
                  <a:ext uri="{0D108BD9-81ED-4DB2-BD59-A6C34878D82A}">
                    <a16:rowId xmlns:a16="http://schemas.microsoft.com/office/drawing/2014/main" val="2213173454"/>
                  </a:ext>
                </a:extLst>
              </a:tr>
            </a:tbl>
          </a:graphicData>
        </a:graphic>
      </p:graphicFrame>
    </p:spTree>
    <p:extLst>
      <p:ext uri="{BB962C8B-B14F-4D97-AF65-F5344CB8AC3E}">
        <p14:creationId xmlns:p14="http://schemas.microsoft.com/office/powerpoint/2010/main" val="27207386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DCDAE5-62B1-C0C5-FC8C-B20EAB53652C}"/>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C9A06A6D-1AC0-1B55-6E04-BFEB58C60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C83102BA-1964-1C1C-9CDC-FCF61F4266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84A8D1-AF17-CD39-F63F-4845C8EBDFF8}"/>
              </a:ext>
            </a:extLst>
          </p:cNvPr>
          <p:cNvSpPr>
            <a:spLocks noGrp="1"/>
          </p:cNvSpPr>
          <p:nvPr>
            <p:ph type="title"/>
          </p:nvPr>
        </p:nvSpPr>
        <p:spPr>
          <a:xfrm>
            <a:off x="2756662" y="2779832"/>
            <a:ext cx="6258109" cy="1297115"/>
          </a:xfrm>
          <a:prstGeom prst="ellipse">
            <a:avLst/>
          </a:prstGeom>
        </p:spPr>
        <p:txBody>
          <a:bodyPr vert="horz" lIns="91440" tIns="45720" rIns="91440" bIns="45720" rtlCol="0" anchor="t">
            <a:noAutofit/>
          </a:bodyPr>
          <a:lstStyle/>
          <a:p>
            <a:pPr algn="ctr"/>
            <a:r>
              <a:rPr lang="en-US" sz="7200" b="1">
                <a:solidFill>
                  <a:schemeClr val="tx2"/>
                </a:solidFill>
                <a:latin typeface="Aptos Display"/>
              </a:rPr>
              <a:t>Metrics</a:t>
            </a:r>
            <a:endParaRPr lang="en-US" sz="7200">
              <a:solidFill>
                <a:schemeClr val="tx2"/>
              </a:solidFill>
            </a:endParaRPr>
          </a:p>
        </p:txBody>
      </p:sp>
      <p:grpSp>
        <p:nvGrpSpPr>
          <p:cNvPr id="43" name="Group 42">
            <a:extLst>
              <a:ext uri="{FF2B5EF4-FFF2-40B4-BE49-F238E27FC236}">
                <a16:creationId xmlns:a16="http://schemas.microsoft.com/office/drawing/2014/main" id="{6B1C5CB7-E36A-3015-F340-9CA7D25759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44" name="Freeform: Shape 43">
              <a:extLst>
                <a:ext uri="{FF2B5EF4-FFF2-40B4-BE49-F238E27FC236}">
                  <a16:creationId xmlns:a16="http://schemas.microsoft.com/office/drawing/2014/main" id="{F16E1720-2F10-463D-0E2B-FB6B6E8194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47D672C1-1468-1AF6-13A5-1B37202993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1CC8E763-3B37-ED39-F6C7-9373690663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747311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D528BB-F4A4-89FC-9CB0-D82E4C1FCE19}"/>
              </a:ext>
            </a:extLst>
          </p:cNvPr>
          <p:cNvSpPr>
            <a:spLocks noGrp="1"/>
          </p:cNvSpPr>
          <p:nvPr>
            <p:ph type="title"/>
          </p:nvPr>
        </p:nvSpPr>
        <p:spPr>
          <a:xfrm>
            <a:off x="8662" y="-4168"/>
            <a:ext cx="6258109" cy="1297115"/>
          </a:xfrm>
          <a:prstGeom prst="ellipse">
            <a:avLst/>
          </a:prstGeom>
        </p:spPr>
        <p:txBody>
          <a:bodyPr vert="horz" lIns="91440" tIns="45720" rIns="91440" bIns="45720" rtlCol="0" anchor="t">
            <a:noAutofit/>
          </a:bodyPr>
          <a:lstStyle/>
          <a:p>
            <a:r>
              <a:rPr lang="en-US" sz="3600" b="1" kern="1200">
                <a:solidFill>
                  <a:schemeClr val="tx2"/>
                </a:solidFill>
                <a:latin typeface="Aptos Display"/>
              </a:rPr>
              <a:t>Burn-down chart</a:t>
            </a:r>
          </a:p>
        </p:txBody>
      </p:sp>
      <p:grpSp>
        <p:nvGrpSpPr>
          <p:cNvPr id="43" name="Group 42">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44" name="Freeform: Shape 4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6" name="Chart 15">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1938078554"/>
              </p:ext>
            </p:extLst>
          </p:nvPr>
        </p:nvGraphicFramePr>
        <p:xfrm>
          <a:off x="317500" y="1016000"/>
          <a:ext cx="11480800" cy="53086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20916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1561AEE4-4E38-4BAC-976D-E0DE523FC5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5" name="Group 54">
            <a:extLst>
              <a:ext uri="{FF2B5EF4-FFF2-40B4-BE49-F238E27FC236}">
                <a16:creationId xmlns:a16="http://schemas.microsoft.com/office/drawing/2014/main" id="{F0BC676B-D19A-44DB-910A-0C0E6D4339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431" y="3985"/>
            <a:ext cx="9772765" cy="6858000"/>
            <a:chOff x="1303402" y="3985"/>
            <a:chExt cx="9772765" cy="6858000"/>
          </a:xfrm>
        </p:grpSpPr>
        <p:sp>
          <p:nvSpPr>
            <p:cNvPr id="56" name="Freeform: Shape 55">
              <a:extLst>
                <a:ext uri="{FF2B5EF4-FFF2-40B4-BE49-F238E27FC236}">
                  <a16:creationId xmlns:a16="http://schemas.microsoft.com/office/drawing/2014/main" id="{999AA485-A13F-4455-814E-C116AD7E0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9C90D55F-0AFB-45E5-8815-A4701774CE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8" name="Freeform: Shape 57">
              <a:extLst>
                <a:ext uri="{FF2B5EF4-FFF2-40B4-BE49-F238E27FC236}">
                  <a16:creationId xmlns:a16="http://schemas.microsoft.com/office/drawing/2014/main" id="{D476B6C1-4A41-48E6-8540-FC48FCD769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Shape 58">
              <a:extLst>
                <a:ext uri="{FF2B5EF4-FFF2-40B4-BE49-F238E27FC236}">
                  <a16:creationId xmlns:a16="http://schemas.microsoft.com/office/drawing/2014/main" id="{3347F445-D2CA-4FEB-AB8E-7A47AB57C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Shape 59">
              <a:extLst>
                <a:ext uri="{FF2B5EF4-FFF2-40B4-BE49-F238E27FC236}">
                  <a16:creationId xmlns:a16="http://schemas.microsoft.com/office/drawing/2014/main" id="{12F1B3D8-301E-4A54-9284-EB14E9056B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61" name="Freeform: Shape 60">
              <a:extLst>
                <a:ext uri="{FF2B5EF4-FFF2-40B4-BE49-F238E27FC236}">
                  <a16:creationId xmlns:a16="http://schemas.microsoft.com/office/drawing/2014/main" id="{CE4B9C67-860A-4569-AC84-3ADE433D1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Shape 61">
              <a:extLst>
                <a:ext uri="{FF2B5EF4-FFF2-40B4-BE49-F238E27FC236}">
                  <a16:creationId xmlns:a16="http://schemas.microsoft.com/office/drawing/2014/main" id="{1175B763-A6E6-4AD1-9138-9B1164A7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0DD528BB-F4A4-89FC-9CB0-D82E4C1FCE19}"/>
              </a:ext>
            </a:extLst>
          </p:cNvPr>
          <p:cNvSpPr>
            <a:spLocks noGrp="1"/>
          </p:cNvSpPr>
          <p:nvPr>
            <p:ph type="title"/>
          </p:nvPr>
        </p:nvSpPr>
        <p:spPr>
          <a:xfrm>
            <a:off x="-3161" y="-237038"/>
            <a:ext cx="5754696" cy="1837349"/>
          </a:xfrm>
        </p:spPr>
        <p:txBody>
          <a:bodyPr anchor="ctr">
            <a:normAutofit/>
          </a:bodyPr>
          <a:lstStyle/>
          <a:p>
            <a:pPr algn="ctr"/>
            <a:r>
              <a:rPr lang="en-US">
                <a:latin typeface="Calibri"/>
                <a:ea typeface="Calibri"/>
                <a:cs typeface="Calibri"/>
              </a:rPr>
              <a:t>Sprint 2 Velocity Chart</a:t>
            </a:r>
          </a:p>
        </p:txBody>
      </p:sp>
      <p:pic>
        <p:nvPicPr>
          <p:cNvPr id="3" name="Picture 2" descr="A blue rectangle with white lines&#10;&#10;AI-generated content may be incorrect.">
            <a:extLst>
              <a:ext uri="{FF2B5EF4-FFF2-40B4-BE49-F238E27FC236}">
                <a16:creationId xmlns:a16="http://schemas.microsoft.com/office/drawing/2014/main" id="{6A1AAF79-5C89-DA8B-FB8D-363E75554984}"/>
              </a:ext>
            </a:extLst>
          </p:cNvPr>
          <p:cNvPicPr>
            <a:picLocks noChangeAspect="1"/>
          </p:cNvPicPr>
          <p:nvPr/>
        </p:nvPicPr>
        <p:blipFill>
          <a:blip r:embed="rId2"/>
          <a:stretch>
            <a:fillRect/>
          </a:stretch>
        </p:blipFill>
        <p:spPr>
          <a:xfrm>
            <a:off x="1568634" y="994833"/>
            <a:ext cx="9054732" cy="5609167"/>
          </a:xfrm>
          <a:prstGeom prst="rect">
            <a:avLst/>
          </a:prstGeom>
        </p:spPr>
      </p:pic>
    </p:spTree>
    <p:extLst>
      <p:ext uri="{BB962C8B-B14F-4D97-AF65-F5344CB8AC3E}">
        <p14:creationId xmlns:p14="http://schemas.microsoft.com/office/powerpoint/2010/main" val="34588801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4F3988-F7B9-687F-4FC8-38DFF5FE34F5}"/>
            </a:ext>
          </a:extLst>
        </p:cNvPr>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EBC86150-BDF9-724C-4B1E-821D3F6366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6E17B54A-48DA-C052-0621-267F94B3B7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5" name="Group 54">
            <a:extLst>
              <a:ext uri="{FF2B5EF4-FFF2-40B4-BE49-F238E27FC236}">
                <a16:creationId xmlns:a16="http://schemas.microsoft.com/office/drawing/2014/main" id="{0C692E08-49AE-65FC-81DB-4BD9A1778B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431" y="3985"/>
            <a:ext cx="9772765" cy="6858000"/>
            <a:chOff x="1303402" y="3985"/>
            <a:chExt cx="9772765" cy="6858000"/>
          </a:xfrm>
        </p:grpSpPr>
        <p:sp>
          <p:nvSpPr>
            <p:cNvPr id="56" name="Freeform: Shape 55">
              <a:extLst>
                <a:ext uri="{FF2B5EF4-FFF2-40B4-BE49-F238E27FC236}">
                  <a16:creationId xmlns:a16="http://schemas.microsoft.com/office/drawing/2014/main" id="{C433BD43-5FAD-F155-380C-4D666F2A65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ACCAF2D7-BE51-CFDD-85D0-E064849DB7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8" name="Freeform: Shape 57">
              <a:extLst>
                <a:ext uri="{FF2B5EF4-FFF2-40B4-BE49-F238E27FC236}">
                  <a16:creationId xmlns:a16="http://schemas.microsoft.com/office/drawing/2014/main" id="{C49DA990-5EB5-EF98-C564-443DBDBBD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Shape 58">
              <a:extLst>
                <a:ext uri="{FF2B5EF4-FFF2-40B4-BE49-F238E27FC236}">
                  <a16:creationId xmlns:a16="http://schemas.microsoft.com/office/drawing/2014/main" id="{13750C48-8426-6ADC-D7DC-ED00E9272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Shape 59">
              <a:extLst>
                <a:ext uri="{FF2B5EF4-FFF2-40B4-BE49-F238E27FC236}">
                  <a16:creationId xmlns:a16="http://schemas.microsoft.com/office/drawing/2014/main" id="{3DD529E5-2A64-1F99-0AE1-1653FC2AD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61" name="Freeform: Shape 60">
              <a:extLst>
                <a:ext uri="{FF2B5EF4-FFF2-40B4-BE49-F238E27FC236}">
                  <a16:creationId xmlns:a16="http://schemas.microsoft.com/office/drawing/2014/main" id="{1AE5AD30-DD4D-3768-64C1-D840DA86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Shape 61">
              <a:extLst>
                <a:ext uri="{FF2B5EF4-FFF2-40B4-BE49-F238E27FC236}">
                  <a16:creationId xmlns:a16="http://schemas.microsoft.com/office/drawing/2014/main" id="{5FE330C4-C685-CC78-9E4D-FD62D7FD0B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1D6BD358-3FE0-18B7-1835-FC8401D879FE}"/>
              </a:ext>
            </a:extLst>
          </p:cNvPr>
          <p:cNvSpPr>
            <a:spLocks noGrp="1"/>
          </p:cNvSpPr>
          <p:nvPr>
            <p:ph type="title"/>
          </p:nvPr>
        </p:nvSpPr>
        <p:spPr>
          <a:xfrm>
            <a:off x="-843161" y="-369038"/>
            <a:ext cx="9677584" cy="1837349"/>
          </a:xfrm>
        </p:spPr>
        <p:txBody>
          <a:bodyPr anchor="ctr">
            <a:normAutofit/>
          </a:bodyPr>
          <a:lstStyle/>
          <a:p>
            <a:pPr algn="ctr"/>
            <a:r>
              <a:rPr lang="en-US">
                <a:latin typeface="Calibri"/>
                <a:ea typeface="Calibri"/>
                <a:cs typeface="Calibri"/>
              </a:rPr>
              <a:t>Historical &amp; Average Velocities</a:t>
            </a:r>
          </a:p>
        </p:txBody>
      </p:sp>
      <p:pic>
        <p:nvPicPr>
          <p:cNvPr id="4" name="Picture 3">
            <a:extLst>
              <a:ext uri="{FF2B5EF4-FFF2-40B4-BE49-F238E27FC236}">
                <a16:creationId xmlns:a16="http://schemas.microsoft.com/office/drawing/2014/main" id="{01360CCB-7DC8-1330-9D92-E90B71D1E262}"/>
              </a:ext>
            </a:extLst>
          </p:cNvPr>
          <p:cNvPicPr>
            <a:picLocks noChangeAspect="1"/>
          </p:cNvPicPr>
          <p:nvPr/>
        </p:nvPicPr>
        <p:blipFill>
          <a:blip r:embed="rId2"/>
          <a:stretch>
            <a:fillRect/>
          </a:stretch>
        </p:blipFill>
        <p:spPr>
          <a:xfrm>
            <a:off x="1655047" y="1093611"/>
            <a:ext cx="8881904" cy="5482167"/>
          </a:xfrm>
          <a:prstGeom prst="rect">
            <a:avLst/>
          </a:prstGeom>
        </p:spPr>
      </p:pic>
    </p:spTree>
    <p:extLst>
      <p:ext uri="{BB962C8B-B14F-4D97-AF65-F5344CB8AC3E}">
        <p14:creationId xmlns:p14="http://schemas.microsoft.com/office/powerpoint/2010/main" val="41000467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675C24-64F3-F25E-4463-8EB4FF4BC0B4}"/>
            </a:ext>
          </a:extLst>
        </p:cNvPr>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A510F8EA-3BCD-CF56-51C0-C5E4ACD67E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E4CC625-BA5E-DF24-0AC1-69BABC5421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5" name="Group 54">
            <a:extLst>
              <a:ext uri="{FF2B5EF4-FFF2-40B4-BE49-F238E27FC236}">
                <a16:creationId xmlns:a16="http://schemas.microsoft.com/office/drawing/2014/main" id="{A2985419-2487-15F8-E722-B1957C22D42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431" y="3985"/>
            <a:ext cx="9772765" cy="6858000"/>
            <a:chOff x="1303402" y="3985"/>
            <a:chExt cx="9772765" cy="6858000"/>
          </a:xfrm>
        </p:grpSpPr>
        <p:sp>
          <p:nvSpPr>
            <p:cNvPr id="56" name="Freeform: Shape 55">
              <a:extLst>
                <a:ext uri="{FF2B5EF4-FFF2-40B4-BE49-F238E27FC236}">
                  <a16:creationId xmlns:a16="http://schemas.microsoft.com/office/drawing/2014/main" id="{0B095BB0-8C55-0910-C38B-361FA3D3DB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17C301BA-546F-8BC6-3018-F74933C679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8" name="Freeform: Shape 57">
              <a:extLst>
                <a:ext uri="{FF2B5EF4-FFF2-40B4-BE49-F238E27FC236}">
                  <a16:creationId xmlns:a16="http://schemas.microsoft.com/office/drawing/2014/main" id="{B3E3A5F6-DE82-0582-078D-64DEA8155C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Shape 58">
              <a:extLst>
                <a:ext uri="{FF2B5EF4-FFF2-40B4-BE49-F238E27FC236}">
                  <a16:creationId xmlns:a16="http://schemas.microsoft.com/office/drawing/2014/main" id="{024DABD8-71D2-476B-3594-7AEC93351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Shape 59">
              <a:extLst>
                <a:ext uri="{FF2B5EF4-FFF2-40B4-BE49-F238E27FC236}">
                  <a16:creationId xmlns:a16="http://schemas.microsoft.com/office/drawing/2014/main" id="{2B29C681-3AD5-3808-322E-1A8A9B15E0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61" name="Freeform: Shape 60">
              <a:extLst>
                <a:ext uri="{FF2B5EF4-FFF2-40B4-BE49-F238E27FC236}">
                  <a16:creationId xmlns:a16="http://schemas.microsoft.com/office/drawing/2014/main" id="{984A71DD-98A2-FC3D-2BC7-47FC2BBF72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Shape 61">
              <a:extLst>
                <a:ext uri="{FF2B5EF4-FFF2-40B4-BE49-F238E27FC236}">
                  <a16:creationId xmlns:a16="http://schemas.microsoft.com/office/drawing/2014/main" id="{9CBEE4B7-AA5E-75E3-2F9E-80E025D8B8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968BD34-E3B6-EF68-944E-607609DD233E}"/>
              </a:ext>
            </a:extLst>
          </p:cNvPr>
          <p:cNvSpPr>
            <a:spLocks noGrp="1"/>
          </p:cNvSpPr>
          <p:nvPr>
            <p:ph type="title"/>
          </p:nvPr>
        </p:nvSpPr>
        <p:spPr>
          <a:xfrm>
            <a:off x="-735161" y="-237038"/>
            <a:ext cx="9677584" cy="1837349"/>
          </a:xfrm>
        </p:spPr>
        <p:txBody>
          <a:bodyPr anchor="ctr">
            <a:normAutofit/>
          </a:bodyPr>
          <a:lstStyle/>
          <a:p>
            <a:pPr algn="ctr"/>
            <a:r>
              <a:rPr lang="en-US">
                <a:latin typeface="Calibri"/>
                <a:ea typeface="Calibri"/>
                <a:cs typeface="Calibri"/>
              </a:rPr>
              <a:t>Committed &amp; Completed Ratios</a:t>
            </a:r>
          </a:p>
        </p:txBody>
      </p:sp>
      <p:pic>
        <p:nvPicPr>
          <p:cNvPr id="3" name="Picture 2" descr="A graph of a graph showing a number of red and blue bars&#10;&#10;AI-generated content may be incorrect.">
            <a:extLst>
              <a:ext uri="{FF2B5EF4-FFF2-40B4-BE49-F238E27FC236}">
                <a16:creationId xmlns:a16="http://schemas.microsoft.com/office/drawing/2014/main" id="{C1F80089-3409-BB41-88A8-9521FEA3A3B8}"/>
              </a:ext>
            </a:extLst>
          </p:cNvPr>
          <p:cNvPicPr>
            <a:picLocks noChangeAspect="1"/>
          </p:cNvPicPr>
          <p:nvPr/>
        </p:nvPicPr>
        <p:blipFill>
          <a:blip r:embed="rId2"/>
          <a:stretch>
            <a:fillRect/>
          </a:stretch>
        </p:blipFill>
        <p:spPr>
          <a:xfrm>
            <a:off x="1715996" y="1093611"/>
            <a:ext cx="8760009" cy="5425722"/>
          </a:xfrm>
          <a:prstGeom prst="rect">
            <a:avLst/>
          </a:prstGeom>
        </p:spPr>
      </p:pic>
    </p:spTree>
    <p:extLst>
      <p:ext uri="{BB962C8B-B14F-4D97-AF65-F5344CB8AC3E}">
        <p14:creationId xmlns:p14="http://schemas.microsoft.com/office/powerpoint/2010/main" val="14395495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5ED7E3-045A-D0BA-3011-0A2A85AB9B7A}"/>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52F03988-BA72-174E-64C3-9AC6A0559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C83BF7-54FE-B04D-B4EB-BA695F00745E}"/>
              </a:ext>
            </a:extLst>
          </p:cNvPr>
          <p:cNvSpPr>
            <a:spLocks noGrp="1"/>
          </p:cNvSpPr>
          <p:nvPr>
            <p:ph type="title"/>
          </p:nvPr>
        </p:nvSpPr>
        <p:spPr>
          <a:xfrm>
            <a:off x="638881" y="670218"/>
            <a:ext cx="10909640" cy="1065836"/>
          </a:xfrm>
        </p:spPr>
        <p:txBody>
          <a:bodyPr vert="horz" lIns="91440" tIns="45720" rIns="91440" bIns="45720" rtlCol="0" anchor="ctr">
            <a:normAutofit/>
          </a:bodyPr>
          <a:lstStyle/>
          <a:p>
            <a:pPr algn="ctr"/>
            <a:r>
              <a:rPr lang="en-US" sz="6600">
                <a:latin typeface="Calibri"/>
                <a:ea typeface="Calibri"/>
                <a:cs typeface="Calibri"/>
              </a:rPr>
              <a:t>Sprint Retrospective</a:t>
            </a:r>
          </a:p>
        </p:txBody>
      </p:sp>
      <p:sp>
        <p:nvSpPr>
          <p:cNvPr id="48" name="sketch line">
            <a:extLst>
              <a:ext uri="{FF2B5EF4-FFF2-40B4-BE49-F238E27FC236}">
                <a16:creationId xmlns:a16="http://schemas.microsoft.com/office/drawing/2014/main" id="{74509993-C62C-9E1A-8238-463EA1B95D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C69C392A-27C4-426F-F408-DDA7B349F810}"/>
              </a:ext>
            </a:extLst>
          </p:cNvPr>
          <p:cNvSpPr>
            <a:spLocks noGrp="1"/>
          </p:cNvSpPr>
          <p:nvPr>
            <p:ph idx="1"/>
          </p:nvPr>
        </p:nvSpPr>
        <p:spPr>
          <a:xfrm>
            <a:off x="838200" y="2664789"/>
            <a:ext cx="10515600" cy="3512174"/>
          </a:xfrm>
        </p:spPr>
        <p:txBody>
          <a:bodyPr vert="horz" lIns="91440" tIns="45720" rIns="91440" bIns="45720" rtlCol="0" anchor="t">
            <a:normAutofit/>
          </a:bodyPr>
          <a:lstStyle/>
          <a:p>
            <a:r>
              <a:rPr lang="en-US"/>
              <a:t>Video can be viewed here:</a:t>
            </a:r>
            <a:br>
              <a:rPr lang="en-US"/>
            </a:br>
            <a:r>
              <a:rPr lang="en-US">
                <a:ea typeface="+mn-lt"/>
                <a:cs typeface="+mn-lt"/>
                <a:hlinkClick r:id="rId2"/>
              </a:rPr>
              <a:t>https://youtu.be/Yizxb-Xj3eM</a:t>
            </a:r>
            <a:endParaRPr lang="en-US"/>
          </a:p>
          <a:p>
            <a:endParaRPr lang="en-US"/>
          </a:p>
          <a:p>
            <a:endParaRPr lang="en-US"/>
          </a:p>
        </p:txBody>
      </p:sp>
    </p:spTree>
    <p:extLst>
      <p:ext uri="{BB962C8B-B14F-4D97-AF65-F5344CB8AC3E}">
        <p14:creationId xmlns:p14="http://schemas.microsoft.com/office/powerpoint/2010/main" val="14491453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E67F0A-3BEE-F790-A7ED-24BD1C877FAC}"/>
              </a:ext>
            </a:extLst>
          </p:cNvPr>
          <p:cNvSpPr>
            <a:spLocks noGrp="1"/>
          </p:cNvSpPr>
          <p:nvPr>
            <p:ph type="title"/>
          </p:nvPr>
        </p:nvSpPr>
        <p:spPr>
          <a:xfrm>
            <a:off x="638881" y="243861"/>
            <a:ext cx="10909640" cy="1065836"/>
          </a:xfrm>
        </p:spPr>
        <p:txBody>
          <a:bodyPr vert="horz" lIns="91440" tIns="45720" rIns="91440" bIns="45720" rtlCol="0" anchor="ctr">
            <a:normAutofit/>
          </a:bodyPr>
          <a:lstStyle/>
          <a:p>
            <a:pPr algn="ctr"/>
            <a:r>
              <a:rPr lang="en-US" sz="6600">
                <a:latin typeface="Calibri"/>
                <a:ea typeface="Calibri"/>
                <a:cs typeface="Calibri"/>
              </a:rPr>
              <a:t>Sprint Retrospective</a:t>
            </a:r>
          </a:p>
        </p:txBody>
      </p:sp>
      <p:sp>
        <p:nvSpPr>
          <p:cNvPr id="48"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white background with black and white clouds&#10;&#10;AI-generated content may be incorrect.">
            <a:extLst>
              <a:ext uri="{FF2B5EF4-FFF2-40B4-BE49-F238E27FC236}">
                <a16:creationId xmlns:a16="http://schemas.microsoft.com/office/drawing/2014/main" id="{D2A249E2-0B77-EF69-A409-05EA6A35DDE5}"/>
              </a:ext>
            </a:extLst>
          </p:cNvPr>
          <p:cNvPicPr>
            <a:picLocks noChangeAspect="1"/>
          </p:cNvPicPr>
          <p:nvPr/>
        </p:nvPicPr>
        <p:blipFill>
          <a:blip r:embed="rId2"/>
          <a:stretch>
            <a:fillRect/>
          </a:stretch>
        </p:blipFill>
        <p:spPr>
          <a:xfrm>
            <a:off x="8451939" y="1440499"/>
            <a:ext cx="3597459" cy="4652326"/>
          </a:xfrm>
          <a:prstGeom prst="rect">
            <a:avLst/>
          </a:prstGeom>
        </p:spPr>
      </p:pic>
      <p:pic>
        <p:nvPicPr>
          <p:cNvPr id="4" name="Picture 3" descr="A list of tasks with text&#10;&#10;AI-generated content may be incorrect.">
            <a:extLst>
              <a:ext uri="{FF2B5EF4-FFF2-40B4-BE49-F238E27FC236}">
                <a16:creationId xmlns:a16="http://schemas.microsoft.com/office/drawing/2014/main" id="{9966A164-1867-AF18-AF35-26AB7A1425A8}"/>
              </a:ext>
            </a:extLst>
          </p:cNvPr>
          <p:cNvPicPr>
            <a:picLocks noChangeAspect="1"/>
          </p:cNvPicPr>
          <p:nvPr/>
        </p:nvPicPr>
        <p:blipFill>
          <a:blip r:embed="rId3"/>
          <a:stretch>
            <a:fillRect/>
          </a:stretch>
        </p:blipFill>
        <p:spPr>
          <a:xfrm>
            <a:off x="4509508" y="1440499"/>
            <a:ext cx="3947649" cy="4779326"/>
          </a:xfrm>
          <a:prstGeom prst="rect">
            <a:avLst/>
          </a:prstGeom>
        </p:spPr>
      </p:pic>
      <p:pic>
        <p:nvPicPr>
          <p:cNvPr id="3" name="Content Placeholder 2">
            <a:extLst>
              <a:ext uri="{FF2B5EF4-FFF2-40B4-BE49-F238E27FC236}">
                <a16:creationId xmlns:a16="http://schemas.microsoft.com/office/drawing/2014/main" id="{9E5C7F52-F3A1-8F4E-54F0-EAE0F3EC35F1}"/>
              </a:ext>
            </a:extLst>
          </p:cNvPr>
          <p:cNvPicPr>
            <a:picLocks noGrp="1" noChangeAspect="1"/>
          </p:cNvPicPr>
          <p:nvPr>
            <p:ph idx="1"/>
          </p:nvPr>
        </p:nvPicPr>
        <p:blipFill>
          <a:blip r:embed="rId4"/>
          <a:stretch>
            <a:fillRect/>
          </a:stretch>
        </p:blipFill>
        <p:spPr>
          <a:xfrm>
            <a:off x="632458" y="1204642"/>
            <a:ext cx="3878674" cy="5015183"/>
          </a:xfrm>
          <a:prstGeom prst="rect">
            <a:avLst/>
          </a:prstGeom>
        </p:spPr>
      </p:pic>
    </p:spTree>
    <p:extLst>
      <p:ext uri="{BB962C8B-B14F-4D97-AF65-F5344CB8AC3E}">
        <p14:creationId xmlns:p14="http://schemas.microsoft.com/office/powerpoint/2010/main" val="32189851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04FB27-D707-1E3A-C449-A45C676DA0A0}"/>
              </a:ext>
            </a:extLst>
          </p:cNvPr>
          <p:cNvSpPr>
            <a:spLocks noGrp="1"/>
          </p:cNvSpPr>
          <p:nvPr>
            <p:ph type="title"/>
          </p:nvPr>
        </p:nvSpPr>
        <p:spPr>
          <a:xfrm>
            <a:off x="574469" y="1889"/>
            <a:ext cx="11314399" cy="961185"/>
          </a:xfrm>
        </p:spPr>
        <p:txBody>
          <a:bodyPr vert="horz" lIns="91440" tIns="45720" rIns="91440" bIns="45720" rtlCol="0" anchor="b">
            <a:normAutofit/>
          </a:bodyPr>
          <a:lstStyle/>
          <a:p>
            <a:r>
              <a:rPr lang="en-US" sz="5200" kern="1200">
                <a:latin typeface="Calibri"/>
                <a:ea typeface="Calibri"/>
                <a:cs typeface="Calibri"/>
              </a:rPr>
              <a:t>Sprint-3 Planning</a:t>
            </a:r>
            <a:r>
              <a:rPr lang="en-US" sz="5200">
                <a:latin typeface="Calibri"/>
                <a:ea typeface="Calibri"/>
                <a:cs typeface="Calibri"/>
              </a:rPr>
              <a:t> Stories Carried Over</a:t>
            </a:r>
            <a:endParaRPr lang="en-US" sz="5200" kern="1200">
              <a:latin typeface="Calibri"/>
              <a:ea typeface="Calibri"/>
              <a:cs typeface="Calibri"/>
            </a:endParaRPr>
          </a:p>
        </p:txBody>
      </p:sp>
      <p:pic>
        <p:nvPicPr>
          <p:cNvPr id="9" name="Graphic 8" descr="Run">
            <a:extLst>
              <a:ext uri="{FF2B5EF4-FFF2-40B4-BE49-F238E27FC236}">
                <a16:creationId xmlns:a16="http://schemas.microsoft.com/office/drawing/2014/main" id="{A3EECB02-A7EA-4DBB-AD1B-B3AA5BEA5D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7815" y="716407"/>
            <a:ext cx="5411343" cy="5411343"/>
          </a:xfrm>
          <a:prstGeom prst="rect">
            <a:avLst/>
          </a:prstGeom>
        </p:spPr>
      </p:pic>
      <p:sp>
        <p:nvSpPr>
          <p:cNvPr id="4" name="TextBox 3">
            <a:extLst>
              <a:ext uri="{FF2B5EF4-FFF2-40B4-BE49-F238E27FC236}">
                <a16:creationId xmlns:a16="http://schemas.microsoft.com/office/drawing/2014/main" id="{B4D71ADE-9A1C-C834-8BF2-CDE9866C24AB}"/>
              </a:ext>
            </a:extLst>
          </p:cNvPr>
          <p:cNvSpPr txBox="1"/>
          <p:nvPr/>
        </p:nvSpPr>
        <p:spPr>
          <a:xfrm>
            <a:off x="583096" y="1470991"/>
            <a:ext cx="1073426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a:latin typeface="Aptos"/>
                <a:ea typeface="Calibri"/>
                <a:cs typeface="Calibri"/>
              </a:rPr>
              <a:t>As an admin, I want analytic reports so that I can review overall fraud trends monthly.</a:t>
            </a:r>
          </a:p>
          <a:p>
            <a:endParaRPr lang="en-US">
              <a:latin typeface="Aptos"/>
              <a:ea typeface="Calibri"/>
              <a:cs typeface="Calibri"/>
            </a:endParaRPr>
          </a:p>
        </p:txBody>
      </p:sp>
      <p:graphicFrame>
        <p:nvGraphicFramePr>
          <p:cNvPr id="7" name="Table 6">
            <a:extLst>
              <a:ext uri="{FF2B5EF4-FFF2-40B4-BE49-F238E27FC236}">
                <a16:creationId xmlns:a16="http://schemas.microsoft.com/office/drawing/2014/main" id="{D5177CCC-8A83-EB3D-589E-45F1F8F58030}"/>
              </a:ext>
            </a:extLst>
          </p:cNvPr>
          <p:cNvGraphicFramePr>
            <a:graphicFrameLocks noGrp="1"/>
          </p:cNvGraphicFramePr>
          <p:nvPr>
            <p:extLst>
              <p:ext uri="{D42A27DB-BD31-4B8C-83A1-F6EECF244321}">
                <p14:modId xmlns:p14="http://schemas.microsoft.com/office/powerpoint/2010/main" val="2543929305"/>
              </p:ext>
            </p:extLst>
          </p:nvPr>
        </p:nvGraphicFramePr>
        <p:xfrm>
          <a:off x="132000" y="1158000"/>
          <a:ext cx="11957456" cy="5256846"/>
        </p:xfrm>
        <a:graphic>
          <a:graphicData uri="http://schemas.openxmlformats.org/drawingml/2006/table">
            <a:tbl>
              <a:tblPr bandRow="1">
                <a:tableStyleId>{5C22544A-7EE6-4342-B048-85BDC9FD1C3A}</a:tableStyleId>
              </a:tblPr>
              <a:tblGrid>
                <a:gridCol w="803744">
                  <a:extLst>
                    <a:ext uri="{9D8B030D-6E8A-4147-A177-3AD203B41FA5}">
                      <a16:colId xmlns:a16="http://schemas.microsoft.com/office/drawing/2014/main" val="3439165704"/>
                    </a:ext>
                  </a:extLst>
                </a:gridCol>
                <a:gridCol w="2678499">
                  <a:extLst>
                    <a:ext uri="{9D8B030D-6E8A-4147-A177-3AD203B41FA5}">
                      <a16:colId xmlns:a16="http://schemas.microsoft.com/office/drawing/2014/main" val="523203684"/>
                    </a:ext>
                  </a:extLst>
                </a:gridCol>
                <a:gridCol w="5166523">
                  <a:extLst>
                    <a:ext uri="{9D8B030D-6E8A-4147-A177-3AD203B41FA5}">
                      <a16:colId xmlns:a16="http://schemas.microsoft.com/office/drawing/2014/main" val="3208642894"/>
                    </a:ext>
                  </a:extLst>
                </a:gridCol>
                <a:gridCol w="1880898">
                  <a:extLst>
                    <a:ext uri="{9D8B030D-6E8A-4147-A177-3AD203B41FA5}">
                      <a16:colId xmlns:a16="http://schemas.microsoft.com/office/drawing/2014/main" val="3177029620"/>
                    </a:ext>
                  </a:extLst>
                </a:gridCol>
                <a:gridCol w="1427792">
                  <a:extLst>
                    <a:ext uri="{9D8B030D-6E8A-4147-A177-3AD203B41FA5}">
                      <a16:colId xmlns:a16="http://schemas.microsoft.com/office/drawing/2014/main" val="1086596952"/>
                    </a:ext>
                  </a:extLst>
                </a:gridCol>
              </a:tblGrid>
              <a:tr h="876141">
                <a:tc>
                  <a:txBody>
                    <a:bodyPr/>
                    <a:lstStyle/>
                    <a:p>
                      <a:pPr algn="ctr" rtl="0" fontAlgn="base">
                        <a:lnSpc>
                          <a:spcPts val="1425"/>
                        </a:lnSpc>
                        <a:buNone/>
                      </a:pPr>
                      <a:r>
                        <a:rPr lang="en-US" sz="1500" b="1" i="0" u="none" strike="noStrike">
                          <a:solidFill>
                            <a:srgbClr val="FFFFFF"/>
                          </a:solidFill>
                          <a:effectLst/>
                          <a:latin typeface="Calibri"/>
                        </a:rPr>
                        <a:t>S.NO</a:t>
                      </a:r>
                      <a:endParaRPr lang="en-US" b="1" i="0">
                        <a:solidFill>
                          <a:srgbClr val="FFFFFF"/>
                        </a:solidFill>
                        <a:effectLst/>
                        <a:latin typeface="Calibri"/>
                      </a:endParaRPr>
                    </a:p>
                  </a:txBody>
                  <a:tcPr marL="6648" marR="6648" marT="6648"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30242" cap="flat" cmpd="sng" algn="ctr">
                      <a:solidFill>
                        <a:srgbClr val="FFFFFF"/>
                      </a:solidFill>
                      <a:prstDash val="solid"/>
                      <a:round/>
                      <a:headEnd type="none" w="med" len="med"/>
                      <a:tailEnd type="none" w="med" len="med"/>
                    </a:lnB>
                    <a:solidFill>
                      <a:srgbClr val="156082"/>
                    </a:solidFill>
                  </a:tcPr>
                </a:tc>
                <a:tc>
                  <a:txBody>
                    <a:bodyPr/>
                    <a:lstStyle/>
                    <a:p>
                      <a:pPr algn="ctr" rtl="0" fontAlgn="base">
                        <a:lnSpc>
                          <a:spcPts val="1425"/>
                        </a:lnSpc>
                        <a:buNone/>
                      </a:pPr>
                      <a:r>
                        <a:rPr lang="en-US" sz="1500" b="1" i="0" u="none" strike="noStrike">
                          <a:solidFill>
                            <a:srgbClr val="FFFFFF"/>
                          </a:solidFill>
                          <a:effectLst/>
                          <a:latin typeface="Calibri"/>
                        </a:rPr>
                        <a:t>User Story</a:t>
                      </a:r>
                      <a:endParaRPr lang="en-US" b="1" i="0">
                        <a:solidFill>
                          <a:srgbClr val="FFFFFF"/>
                        </a:solidFill>
                        <a:effectLst/>
                        <a:latin typeface="Calibri"/>
                      </a:endParaRPr>
                    </a:p>
                  </a:txBody>
                  <a:tcPr marL="6648" marR="6648" marT="6648"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30242" cap="flat" cmpd="sng" algn="ctr">
                      <a:solidFill>
                        <a:srgbClr val="FFFFFF"/>
                      </a:solidFill>
                      <a:prstDash val="solid"/>
                      <a:round/>
                      <a:headEnd type="none" w="med" len="med"/>
                      <a:tailEnd type="none" w="med" len="med"/>
                    </a:lnB>
                    <a:solidFill>
                      <a:srgbClr val="156082"/>
                    </a:solidFill>
                  </a:tcPr>
                </a:tc>
                <a:tc>
                  <a:txBody>
                    <a:bodyPr/>
                    <a:lstStyle/>
                    <a:p>
                      <a:pPr algn="ctr" rtl="0" fontAlgn="base">
                        <a:lnSpc>
                          <a:spcPts val="1425"/>
                        </a:lnSpc>
                        <a:buNone/>
                      </a:pPr>
                      <a:r>
                        <a:rPr lang="en-US" sz="1500" b="1" i="0" u="none" strike="noStrike">
                          <a:solidFill>
                            <a:srgbClr val="FFFFFF"/>
                          </a:solidFill>
                          <a:effectLst/>
                          <a:latin typeface="Calibri"/>
                        </a:rPr>
                        <a:t>Acceptance Criteria</a:t>
                      </a:r>
                      <a:endParaRPr lang="en-US" b="1" i="0">
                        <a:solidFill>
                          <a:srgbClr val="FFFFFF"/>
                        </a:solidFill>
                        <a:effectLst/>
                        <a:latin typeface="Calibri"/>
                      </a:endParaRPr>
                    </a:p>
                  </a:txBody>
                  <a:tcPr marL="6648" marR="6648" marT="6648"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30242" cap="flat" cmpd="sng" algn="ctr">
                      <a:solidFill>
                        <a:srgbClr val="FFFFFF"/>
                      </a:solidFill>
                      <a:prstDash val="solid"/>
                      <a:round/>
                      <a:headEnd type="none" w="med" len="med"/>
                      <a:tailEnd type="none" w="med" len="med"/>
                    </a:lnB>
                    <a:solidFill>
                      <a:srgbClr val="156082"/>
                    </a:solidFill>
                  </a:tcPr>
                </a:tc>
                <a:tc>
                  <a:txBody>
                    <a:bodyPr/>
                    <a:lstStyle/>
                    <a:p>
                      <a:pPr algn="ctr" rtl="0" fontAlgn="base">
                        <a:lnSpc>
                          <a:spcPts val="1425"/>
                        </a:lnSpc>
                        <a:buNone/>
                      </a:pPr>
                      <a:r>
                        <a:rPr lang="en-US" sz="1500" b="1" i="0" u="none" strike="noStrike">
                          <a:solidFill>
                            <a:srgbClr val="FFFFFF"/>
                          </a:solidFill>
                          <a:effectLst/>
                          <a:latin typeface="Calibri"/>
                        </a:rPr>
                        <a:t>Feature</a:t>
                      </a:r>
                      <a:endParaRPr lang="en-US" b="1" i="0">
                        <a:solidFill>
                          <a:srgbClr val="FFFFFF"/>
                        </a:solidFill>
                        <a:effectLst/>
                        <a:latin typeface="Calibri"/>
                      </a:endParaRPr>
                    </a:p>
                  </a:txBody>
                  <a:tcPr marL="6648" marR="6648" marT="6648"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30242" cap="flat" cmpd="sng" algn="ctr">
                      <a:solidFill>
                        <a:srgbClr val="FFFFFF"/>
                      </a:solidFill>
                      <a:prstDash val="solid"/>
                      <a:round/>
                      <a:headEnd type="none" w="med" len="med"/>
                      <a:tailEnd type="none" w="med" len="med"/>
                    </a:lnB>
                    <a:solidFill>
                      <a:srgbClr val="156082"/>
                    </a:solidFill>
                  </a:tcPr>
                </a:tc>
                <a:tc>
                  <a:txBody>
                    <a:bodyPr/>
                    <a:lstStyle/>
                    <a:p>
                      <a:pPr algn="ctr" rtl="0" fontAlgn="base">
                        <a:lnSpc>
                          <a:spcPts val="1425"/>
                        </a:lnSpc>
                        <a:buNone/>
                      </a:pPr>
                      <a:r>
                        <a:rPr lang="en-US" sz="1500" b="1" i="0" u="none" strike="noStrike">
                          <a:solidFill>
                            <a:srgbClr val="FFFFFF"/>
                          </a:solidFill>
                          <a:effectLst/>
                          <a:latin typeface="Calibri"/>
                        </a:rPr>
                        <a:t>Story Points</a:t>
                      </a:r>
                      <a:endParaRPr lang="en-US" b="1" i="0">
                        <a:solidFill>
                          <a:srgbClr val="FFFFFF"/>
                        </a:solidFill>
                        <a:effectLst/>
                        <a:latin typeface="Calibri"/>
                      </a:endParaRPr>
                    </a:p>
                  </a:txBody>
                  <a:tcPr marL="6648" marR="6648" marT="6648"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T w="10077" cap="flat" cmpd="sng" algn="ctr">
                      <a:solidFill>
                        <a:srgbClr val="FFFFFF"/>
                      </a:solidFill>
                      <a:prstDash val="solid"/>
                      <a:round/>
                      <a:headEnd type="none" w="med" len="med"/>
                      <a:tailEnd type="none" w="med" len="med"/>
                    </a:lnT>
                    <a:lnB w="30242" cap="flat" cmpd="sng" algn="ctr">
                      <a:solidFill>
                        <a:srgbClr val="FFFFFF"/>
                      </a:solidFill>
                      <a:prstDash val="solid"/>
                      <a:round/>
                      <a:headEnd type="none" w="med" len="med"/>
                      <a:tailEnd type="none" w="med" len="med"/>
                    </a:lnB>
                    <a:solidFill>
                      <a:srgbClr val="156082"/>
                    </a:solidFill>
                  </a:tcPr>
                </a:tc>
                <a:extLst>
                  <a:ext uri="{0D108BD9-81ED-4DB2-BD59-A6C34878D82A}">
                    <a16:rowId xmlns:a16="http://schemas.microsoft.com/office/drawing/2014/main" val="3708966356"/>
                  </a:ext>
                </a:extLst>
              </a:tr>
              <a:tr h="876141">
                <a:tc>
                  <a:txBody>
                    <a:bodyPr/>
                    <a:lstStyle/>
                    <a:p>
                      <a:pPr lvl="0" algn="l">
                        <a:buNone/>
                      </a:pPr>
                      <a:r>
                        <a:rPr lang="en-US" sz="1400" b="0" i="0" u="none" strike="noStrike">
                          <a:solidFill>
                            <a:srgbClr val="000000"/>
                          </a:solidFill>
                          <a:effectLst/>
                          <a:latin typeface="Calibri"/>
                        </a:rPr>
                        <a:t>US_10</a:t>
                      </a:r>
                      <a:endParaRPr lang="en-US">
                        <a:latin typeface="Calibri"/>
                      </a:endParaRPr>
                    </a:p>
                  </a:txBody>
                  <a:tcPr marL="9525" marR="9525" marT="9525" marB="0" anchor="ctr">
                    <a:lnT w="30242" cap="flat" cmpd="sng" algn="ctr">
                      <a:solidFill>
                        <a:srgbClr val="FFFFFF"/>
                      </a:solidFill>
                      <a:prstDash val="solid"/>
                      <a:round/>
                      <a:headEnd type="none" w="med" len="med"/>
                      <a:tailEnd type="none" w="med" len="med"/>
                    </a:lnT>
                  </a:tcPr>
                </a:tc>
                <a:tc>
                  <a:txBody>
                    <a:bodyPr/>
                    <a:lstStyle/>
                    <a:p>
                      <a:pPr lvl="0" algn="l">
                        <a:buNone/>
                      </a:pPr>
                      <a:r>
                        <a:rPr lang="en-US" sz="1400" b="0" i="0" u="none" strike="noStrike">
                          <a:solidFill>
                            <a:srgbClr val="000000"/>
                          </a:solidFill>
                          <a:effectLst/>
                          <a:latin typeface="Calibri"/>
                        </a:rPr>
                        <a:t>As an admin, I want to manage system roles so that access controls are enforced.</a:t>
                      </a:r>
                      <a:endParaRPr lang="en-US">
                        <a:latin typeface="Calibri"/>
                      </a:endParaRPr>
                    </a:p>
                  </a:txBody>
                  <a:tcPr marL="9525" marR="9525" marT="9525" marB="0" anchor="ctr">
                    <a:lnT w="30242" cap="flat" cmpd="sng" algn="ctr">
                      <a:solidFill>
                        <a:srgbClr val="FFFFFF"/>
                      </a:solidFill>
                      <a:prstDash val="solid"/>
                      <a:round/>
                      <a:headEnd type="none" w="med" len="med"/>
                      <a:tailEnd type="none" w="med" len="med"/>
                    </a:lnT>
                  </a:tcPr>
                </a:tc>
                <a:tc>
                  <a:txBody>
                    <a:bodyPr/>
                    <a:lstStyle/>
                    <a:p>
                      <a:pPr lvl="0" algn="l">
                        <a:buNone/>
                      </a:pPr>
                      <a:r>
                        <a:rPr lang="en-US" sz="1400" b="0" i="0" u="none" strike="noStrike">
                          <a:solidFill>
                            <a:srgbClr val="000000"/>
                          </a:solidFill>
                          <a:effectLst/>
                          <a:latin typeface="Calibri"/>
                        </a:rPr>
                        <a:t>Admin can assign roles (user, analyst, admin) with RBAC.</a:t>
                      </a:r>
                      <a:endParaRPr lang="en-US">
                        <a:latin typeface="Calibri"/>
                      </a:endParaRPr>
                    </a:p>
                  </a:txBody>
                  <a:tcPr marL="9525" marR="9525" marT="9525" marB="0" anchor="ctr">
                    <a:lnT w="30242" cap="flat" cmpd="sng" algn="ctr">
                      <a:solidFill>
                        <a:srgbClr val="FFFFFF"/>
                      </a:solidFill>
                      <a:prstDash val="solid"/>
                      <a:round/>
                      <a:headEnd type="none" w="med" len="med"/>
                      <a:tailEnd type="none" w="med" len="med"/>
                    </a:lnT>
                  </a:tcPr>
                </a:tc>
                <a:tc>
                  <a:txBody>
                    <a:bodyPr/>
                    <a:lstStyle/>
                    <a:p>
                      <a:pPr lvl="0" algn="l">
                        <a:buNone/>
                      </a:pPr>
                      <a:r>
                        <a:rPr lang="en-US" sz="1400" b="0" i="0" u="none" strike="noStrike">
                          <a:solidFill>
                            <a:srgbClr val="000000"/>
                          </a:solidFill>
                          <a:effectLst/>
                          <a:latin typeface="Calibri"/>
                        </a:rPr>
                        <a:t>Role-Based Access Control</a:t>
                      </a:r>
                      <a:endParaRPr lang="en-US">
                        <a:latin typeface="Calibri"/>
                      </a:endParaRPr>
                    </a:p>
                  </a:txBody>
                  <a:tcPr marL="9525" marR="9525" marT="9525" marB="0" anchor="ctr">
                    <a:lnT w="30242" cap="flat" cmpd="sng" algn="ctr">
                      <a:solidFill>
                        <a:srgbClr val="FFFFFF"/>
                      </a:solidFill>
                      <a:prstDash val="solid"/>
                      <a:round/>
                      <a:headEnd type="none" w="med" len="med"/>
                      <a:tailEnd type="none" w="med" len="med"/>
                    </a:lnT>
                  </a:tcPr>
                </a:tc>
                <a:tc>
                  <a:txBody>
                    <a:bodyPr/>
                    <a:lstStyle/>
                    <a:p>
                      <a:pPr lvl="0" algn="ctr">
                        <a:buNone/>
                      </a:pPr>
                      <a:r>
                        <a:rPr lang="en-US" sz="1400" b="0" i="0" u="none" strike="noStrike">
                          <a:solidFill>
                            <a:srgbClr val="000000"/>
                          </a:solidFill>
                          <a:effectLst/>
                          <a:latin typeface="Calibri"/>
                        </a:rPr>
                        <a:t>3</a:t>
                      </a:r>
                      <a:endParaRPr lang="en-US">
                        <a:latin typeface="Calibri"/>
                      </a:endParaRPr>
                    </a:p>
                  </a:txBody>
                  <a:tcPr marL="9525" marR="9525" marT="9525" marB="0" anchor="ctr">
                    <a:lnT w="30242" cap="flat" cmpd="sng" algn="ctr">
                      <a:solidFill>
                        <a:srgbClr val="FFFFFF"/>
                      </a:solidFill>
                      <a:prstDash val="solid"/>
                      <a:round/>
                      <a:headEnd type="none" w="med" len="med"/>
                      <a:tailEnd type="none" w="med" len="med"/>
                    </a:lnT>
                  </a:tcPr>
                </a:tc>
                <a:extLst>
                  <a:ext uri="{0D108BD9-81ED-4DB2-BD59-A6C34878D82A}">
                    <a16:rowId xmlns:a16="http://schemas.microsoft.com/office/drawing/2014/main" val="541146502"/>
                  </a:ext>
                </a:extLst>
              </a:tr>
              <a:tr h="876141">
                <a:tc>
                  <a:txBody>
                    <a:bodyPr/>
                    <a:lstStyle/>
                    <a:p>
                      <a:pPr lvl="0" algn="l">
                        <a:buNone/>
                      </a:pPr>
                      <a:r>
                        <a:rPr lang="en-US" sz="1400" b="0" i="0" u="none" strike="noStrike">
                          <a:solidFill>
                            <a:srgbClr val="000000"/>
                          </a:solidFill>
                          <a:effectLst/>
                          <a:latin typeface="Calibri"/>
                        </a:rPr>
                        <a:t>US_12</a:t>
                      </a:r>
                      <a:endParaRPr lang="en-US">
                        <a:latin typeface="Calibri"/>
                      </a:endParaRPr>
                    </a:p>
                  </a:txBody>
                  <a:tcPr marL="9525" marR="9525" marT="9525" marB="0" anchor="ctr"/>
                </a:tc>
                <a:tc>
                  <a:txBody>
                    <a:bodyPr/>
                    <a:lstStyle/>
                    <a:p>
                      <a:pPr lvl="0" algn="l">
                        <a:buNone/>
                      </a:pPr>
                      <a:r>
                        <a:rPr lang="en-US" sz="1400" b="0" i="0" u="none" strike="noStrike">
                          <a:solidFill>
                            <a:srgbClr val="000000"/>
                          </a:solidFill>
                          <a:effectLst/>
                          <a:latin typeface="Calibri"/>
                        </a:rPr>
                        <a:t>As a user, I want to file a dispute for fraudulent charges so the bank can take action.</a:t>
                      </a:r>
                      <a:endParaRPr lang="en-US">
                        <a:latin typeface="Calibri"/>
                      </a:endParaRPr>
                    </a:p>
                  </a:txBody>
                  <a:tcPr marL="9525" marR="9525" marT="9525" marB="0" anchor="ctr"/>
                </a:tc>
                <a:tc>
                  <a:txBody>
                    <a:bodyPr/>
                    <a:lstStyle/>
                    <a:p>
                      <a:pPr lvl="0" algn="l">
                        <a:buNone/>
                      </a:pPr>
                      <a:r>
                        <a:rPr lang="en-US" sz="1400" b="0" i="0" u="none" strike="noStrike">
                          <a:solidFill>
                            <a:srgbClr val="000000"/>
                          </a:solidFill>
                          <a:effectLst/>
                          <a:latin typeface="Calibri"/>
                        </a:rPr>
                        <a:t>User fills dispute form linked to a specific transaction.</a:t>
                      </a:r>
                      <a:endParaRPr lang="en-US">
                        <a:latin typeface="Calibri"/>
                      </a:endParaRPr>
                    </a:p>
                  </a:txBody>
                  <a:tcPr marL="9525" marR="9525" marT="9525" marB="0" anchor="ctr"/>
                </a:tc>
                <a:tc>
                  <a:txBody>
                    <a:bodyPr/>
                    <a:lstStyle/>
                    <a:p>
                      <a:pPr lvl="0" algn="l">
                        <a:buNone/>
                      </a:pPr>
                      <a:r>
                        <a:rPr lang="en-US" sz="1400" b="0" i="0" u="none" strike="noStrike">
                          <a:solidFill>
                            <a:srgbClr val="000000"/>
                          </a:solidFill>
                          <a:effectLst/>
                          <a:latin typeface="Calibri"/>
                        </a:rPr>
                        <a:t>Fraud Dispute Filing</a:t>
                      </a:r>
                      <a:endParaRPr lang="en-US">
                        <a:latin typeface="Calibri"/>
                      </a:endParaRPr>
                    </a:p>
                  </a:txBody>
                  <a:tcPr marL="9525" marR="9525" marT="9525" marB="0" anchor="ctr"/>
                </a:tc>
                <a:tc>
                  <a:txBody>
                    <a:bodyPr/>
                    <a:lstStyle/>
                    <a:p>
                      <a:pPr lvl="0" algn="ctr">
                        <a:buNone/>
                      </a:pPr>
                      <a:r>
                        <a:rPr lang="en-US" sz="1400" b="0" i="0" u="none" strike="noStrike">
                          <a:solidFill>
                            <a:srgbClr val="000000"/>
                          </a:solidFill>
                          <a:effectLst/>
                          <a:latin typeface="Calibri"/>
                        </a:rPr>
                        <a:t>3</a:t>
                      </a:r>
                      <a:endParaRPr lang="en-US">
                        <a:latin typeface="Calibri"/>
                      </a:endParaRPr>
                    </a:p>
                  </a:txBody>
                  <a:tcPr marL="9525" marR="9525" marT="9525" marB="0" anchor="ctr"/>
                </a:tc>
                <a:extLst>
                  <a:ext uri="{0D108BD9-81ED-4DB2-BD59-A6C34878D82A}">
                    <a16:rowId xmlns:a16="http://schemas.microsoft.com/office/drawing/2014/main" val="4035058953"/>
                  </a:ext>
                </a:extLst>
              </a:tr>
              <a:tr h="876141">
                <a:tc>
                  <a:txBody>
                    <a:bodyPr/>
                    <a:lstStyle/>
                    <a:p>
                      <a:pPr lvl="0" algn="l">
                        <a:buNone/>
                      </a:pPr>
                      <a:r>
                        <a:rPr lang="en-US" sz="1400" b="0" i="0" u="none" strike="noStrike">
                          <a:solidFill>
                            <a:srgbClr val="000000"/>
                          </a:solidFill>
                          <a:effectLst/>
                          <a:latin typeface="Calibri"/>
                        </a:rPr>
                        <a:t>US_13</a:t>
                      </a:r>
                      <a:endParaRPr lang="en-US">
                        <a:latin typeface="Calibri"/>
                      </a:endParaRPr>
                    </a:p>
                  </a:txBody>
                  <a:tcPr marL="9525" marR="9525" marT="9525" marB="0" anchor="ctr"/>
                </a:tc>
                <a:tc>
                  <a:txBody>
                    <a:bodyPr/>
                    <a:lstStyle/>
                    <a:p>
                      <a:pPr lvl="0" algn="l">
                        <a:buNone/>
                      </a:pPr>
                      <a:r>
                        <a:rPr lang="en-US" sz="1400" b="0" i="0" u="none" strike="noStrike">
                          <a:solidFill>
                            <a:srgbClr val="000000"/>
                          </a:solidFill>
                          <a:effectLst/>
                          <a:latin typeface="Calibri"/>
                        </a:rPr>
                        <a:t>As the system, I want to maintain audit logs so that all actions related to fraud can be reviewed.</a:t>
                      </a:r>
                      <a:endParaRPr lang="en-US">
                        <a:latin typeface="Calibri"/>
                      </a:endParaRPr>
                    </a:p>
                  </a:txBody>
                  <a:tcPr marL="9525" marR="9525" marT="9525" marB="0" anchor="ctr"/>
                </a:tc>
                <a:tc>
                  <a:txBody>
                    <a:bodyPr/>
                    <a:lstStyle/>
                    <a:p>
                      <a:pPr lvl="0" algn="l">
                        <a:buNone/>
                      </a:pPr>
                      <a:r>
                        <a:rPr lang="en-US" sz="1400" b="0" i="0" u="none" strike="noStrike">
                          <a:solidFill>
                            <a:srgbClr val="000000"/>
                          </a:solidFill>
                          <a:effectLst/>
                          <a:latin typeface="Calibri"/>
                        </a:rPr>
                        <a:t>Every important action logged with timestamp, user, device info.</a:t>
                      </a:r>
                      <a:endParaRPr lang="en-US">
                        <a:latin typeface="Calibri"/>
                      </a:endParaRPr>
                    </a:p>
                  </a:txBody>
                  <a:tcPr marL="9525" marR="9525" marT="9525" marB="0" anchor="ctr"/>
                </a:tc>
                <a:tc>
                  <a:txBody>
                    <a:bodyPr/>
                    <a:lstStyle/>
                    <a:p>
                      <a:pPr lvl="0" algn="l">
                        <a:buNone/>
                      </a:pPr>
                      <a:r>
                        <a:rPr lang="en-US" sz="1400" b="0" i="0" u="none" strike="noStrike">
                          <a:solidFill>
                            <a:srgbClr val="000000"/>
                          </a:solidFill>
                          <a:effectLst/>
                          <a:latin typeface="Calibri"/>
                        </a:rPr>
                        <a:t>Audit Log System</a:t>
                      </a:r>
                      <a:endParaRPr lang="en-US">
                        <a:latin typeface="Calibri"/>
                      </a:endParaRPr>
                    </a:p>
                  </a:txBody>
                  <a:tcPr marL="9525" marR="9525" marT="9525" marB="0" anchor="ctr"/>
                </a:tc>
                <a:tc>
                  <a:txBody>
                    <a:bodyPr/>
                    <a:lstStyle/>
                    <a:p>
                      <a:pPr lvl="0" algn="ctr">
                        <a:buNone/>
                      </a:pPr>
                      <a:r>
                        <a:rPr lang="en-US" sz="1400" b="0" i="0" u="none" strike="noStrike">
                          <a:solidFill>
                            <a:srgbClr val="000000"/>
                          </a:solidFill>
                          <a:effectLst/>
                          <a:latin typeface="Calibri"/>
                        </a:rPr>
                        <a:t>2</a:t>
                      </a:r>
                      <a:endParaRPr lang="en-US">
                        <a:latin typeface="Calibri"/>
                      </a:endParaRPr>
                    </a:p>
                  </a:txBody>
                  <a:tcPr marL="9525" marR="9525" marT="9525" marB="0" anchor="ctr"/>
                </a:tc>
                <a:extLst>
                  <a:ext uri="{0D108BD9-81ED-4DB2-BD59-A6C34878D82A}">
                    <a16:rowId xmlns:a16="http://schemas.microsoft.com/office/drawing/2014/main" val="1261076482"/>
                  </a:ext>
                </a:extLst>
              </a:tr>
              <a:tr h="876141">
                <a:tc>
                  <a:txBody>
                    <a:bodyPr/>
                    <a:lstStyle/>
                    <a:p>
                      <a:pPr lvl="0" algn="l">
                        <a:buNone/>
                      </a:pPr>
                      <a:r>
                        <a:rPr lang="en-US" sz="1400" b="0" i="0" u="none" strike="noStrike">
                          <a:solidFill>
                            <a:srgbClr val="000000"/>
                          </a:solidFill>
                          <a:effectLst/>
                          <a:latin typeface="Calibri"/>
                        </a:rPr>
                        <a:t>US_14</a:t>
                      </a:r>
                      <a:endParaRPr lang="en-US">
                        <a:latin typeface="Calibri"/>
                      </a:endParaRPr>
                    </a:p>
                  </a:txBody>
                  <a:tcPr marL="9525" marR="9525" marT="9525" marB="0" anchor="ctr"/>
                </a:tc>
                <a:tc>
                  <a:txBody>
                    <a:bodyPr/>
                    <a:lstStyle/>
                    <a:p>
                      <a:pPr lvl="0" algn="l">
                        <a:buNone/>
                      </a:pPr>
                      <a:r>
                        <a:rPr lang="en-US" sz="1400" b="0" i="0" u="none" strike="noStrike">
                          <a:solidFill>
                            <a:srgbClr val="000000"/>
                          </a:solidFill>
                          <a:effectLst/>
                          <a:latin typeface="Calibri"/>
                        </a:rPr>
                        <a:t>As a user, I want to enable/disable fraud notifications so I have control over alerts.</a:t>
                      </a:r>
                      <a:endParaRPr lang="en-US">
                        <a:latin typeface="Calibri"/>
                      </a:endParaRPr>
                    </a:p>
                  </a:txBody>
                  <a:tcPr marL="9525" marR="9525" marT="9525" marB="0" anchor="ctr"/>
                </a:tc>
                <a:tc>
                  <a:txBody>
                    <a:bodyPr/>
                    <a:lstStyle/>
                    <a:p>
                      <a:pPr lvl="0" algn="l">
                        <a:buNone/>
                      </a:pPr>
                      <a:r>
                        <a:rPr lang="en-US" sz="1400" b="0" i="0" u="none" strike="noStrike">
                          <a:solidFill>
                            <a:srgbClr val="000000"/>
                          </a:solidFill>
                          <a:effectLst/>
                          <a:latin typeface="Calibri"/>
                        </a:rPr>
                        <a:t>User can toggle notification preferences in settings.</a:t>
                      </a:r>
                      <a:endParaRPr lang="en-US">
                        <a:latin typeface="Calibri"/>
                      </a:endParaRPr>
                    </a:p>
                  </a:txBody>
                  <a:tcPr marL="9525" marR="9525" marT="9525" marB="0" anchor="ctr"/>
                </a:tc>
                <a:tc>
                  <a:txBody>
                    <a:bodyPr/>
                    <a:lstStyle/>
                    <a:p>
                      <a:pPr lvl="0" algn="l">
                        <a:buNone/>
                      </a:pPr>
                      <a:r>
                        <a:rPr lang="en-US" sz="1400" b="0" i="0" u="none" strike="noStrike">
                          <a:solidFill>
                            <a:srgbClr val="000000"/>
                          </a:solidFill>
                          <a:effectLst/>
                          <a:latin typeface="Calibri"/>
                        </a:rPr>
                        <a:t>Notification Settings</a:t>
                      </a:r>
                      <a:endParaRPr lang="en-US">
                        <a:latin typeface="Calibri"/>
                      </a:endParaRPr>
                    </a:p>
                  </a:txBody>
                  <a:tcPr marL="9525" marR="9525" marT="9525" marB="0" anchor="ctr"/>
                </a:tc>
                <a:tc>
                  <a:txBody>
                    <a:bodyPr/>
                    <a:lstStyle/>
                    <a:p>
                      <a:pPr lvl="0" algn="ctr">
                        <a:buNone/>
                      </a:pPr>
                      <a:r>
                        <a:rPr lang="en-US" sz="1400" b="0" i="0" u="none" strike="noStrike">
                          <a:solidFill>
                            <a:srgbClr val="000000"/>
                          </a:solidFill>
                          <a:effectLst/>
                          <a:latin typeface="Calibri"/>
                        </a:rPr>
                        <a:t>2</a:t>
                      </a:r>
                      <a:endParaRPr lang="en-US">
                        <a:latin typeface="Calibri"/>
                      </a:endParaRPr>
                    </a:p>
                  </a:txBody>
                  <a:tcPr marL="9525" marR="9525" marT="9525" marB="0" anchor="ctr"/>
                </a:tc>
                <a:extLst>
                  <a:ext uri="{0D108BD9-81ED-4DB2-BD59-A6C34878D82A}">
                    <a16:rowId xmlns:a16="http://schemas.microsoft.com/office/drawing/2014/main" val="1153405369"/>
                  </a:ext>
                </a:extLst>
              </a:tr>
              <a:tr h="876141">
                <a:tc>
                  <a:txBody>
                    <a:bodyPr/>
                    <a:lstStyle/>
                    <a:p>
                      <a:pPr algn="l" rtl="0" fontAlgn="base">
                        <a:lnSpc>
                          <a:spcPts val="1350"/>
                        </a:lnSpc>
                        <a:buNone/>
                      </a:pPr>
                      <a:r>
                        <a:rPr lang="en-US" sz="1400" b="0" i="0" u="none" strike="noStrike">
                          <a:solidFill>
                            <a:srgbClr val="000000"/>
                          </a:solidFill>
                          <a:effectLst/>
                          <a:latin typeface="Calibri"/>
                        </a:rPr>
                        <a:t>US_15</a:t>
                      </a:r>
                      <a:endParaRPr lang="en-US" b="0" i="0">
                        <a:solidFill>
                          <a:srgbClr val="000000"/>
                        </a:solidFill>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B w="10077" cap="flat" cmpd="sng" algn="ctr">
                      <a:solidFill>
                        <a:srgbClr val="FFFFFF"/>
                      </a:solidFill>
                      <a:prstDash val="solid"/>
                      <a:round/>
                      <a:headEnd type="none" w="med" len="med"/>
                      <a:tailEnd type="none" w="med" len="med"/>
                    </a:lnB>
                    <a:solidFill>
                      <a:srgbClr val="E7E9EC"/>
                    </a:solidFill>
                  </a:tcPr>
                </a:tc>
                <a:tc>
                  <a:txBody>
                    <a:bodyPr/>
                    <a:lstStyle/>
                    <a:p>
                      <a:pPr algn="l" rtl="0" fontAlgn="base">
                        <a:lnSpc>
                          <a:spcPts val="1350"/>
                        </a:lnSpc>
                        <a:buNone/>
                      </a:pPr>
                      <a:r>
                        <a:rPr lang="en-US" sz="1400" b="0" i="0" u="none" strike="noStrike">
                          <a:solidFill>
                            <a:srgbClr val="000000"/>
                          </a:solidFill>
                          <a:effectLst/>
                          <a:latin typeface="Calibri"/>
                        </a:rPr>
                        <a:t>As an admin, I want analytic reports so that I can review overall fraud trends monthly.</a:t>
                      </a:r>
                      <a:endParaRPr lang="en-US" b="0" i="0">
                        <a:solidFill>
                          <a:srgbClr val="000000"/>
                        </a:solidFill>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B w="10077" cap="flat" cmpd="sng" algn="ctr">
                      <a:solidFill>
                        <a:srgbClr val="FFFFFF"/>
                      </a:solidFill>
                      <a:prstDash val="solid"/>
                      <a:round/>
                      <a:headEnd type="none" w="med" len="med"/>
                      <a:tailEnd type="none" w="med" len="med"/>
                    </a:lnB>
                    <a:solidFill>
                      <a:srgbClr val="E7E9EC"/>
                    </a:solidFill>
                  </a:tcPr>
                </a:tc>
                <a:tc>
                  <a:txBody>
                    <a:bodyPr/>
                    <a:lstStyle/>
                    <a:p>
                      <a:pPr algn="l" rtl="0" fontAlgn="base">
                        <a:lnSpc>
                          <a:spcPts val="1350"/>
                        </a:lnSpc>
                        <a:buNone/>
                      </a:pPr>
                      <a:r>
                        <a:rPr lang="en-US" sz="1400" b="0" i="0" u="none" strike="noStrike">
                          <a:solidFill>
                            <a:srgbClr val="000000"/>
                          </a:solidFill>
                          <a:effectLst/>
                          <a:latin typeface="Calibri"/>
                        </a:rPr>
                        <a:t>Monthly reports generated automatically with charts.</a:t>
                      </a:r>
                      <a:endParaRPr lang="en-US" b="0" i="0">
                        <a:solidFill>
                          <a:srgbClr val="000000"/>
                        </a:solidFill>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B w="10077" cap="flat" cmpd="sng" algn="ctr">
                      <a:solidFill>
                        <a:srgbClr val="FFFFFF"/>
                      </a:solidFill>
                      <a:prstDash val="solid"/>
                      <a:round/>
                      <a:headEnd type="none" w="med" len="med"/>
                      <a:tailEnd type="none" w="med" len="med"/>
                    </a:lnB>
                    <a:solidFill>
                      <a:srgbClr val="E7E9EC"/>
                    </a:solidFill>
                  </a:tcPr>
                </a:tc>
                <a:tc>
                  <a:txBody>
                    <a:bodyPr/>
                    <a:lstStyle/>
                    <a:p>
                      <a:pPr algn="l" rtl="0" fontAlgn="base">
                        <a:lnSpc>
                          <a:spcPts val="1350"/>
                        </a:lnSpc>
                        <a:buNone/>
                      </a:pPr>
                      <a:r>
                        <a:rPr lang="en-US" sz="1400" b="0" i="0" u="none" strike="noStrike">
                          <a:solidFill>
                            <a:srgbClr val="000000"/>
                          </a:solidFill>
                          <a:effectLst/>
                          <a:latin typeface="Calibri"/>
                        </a:rPr>
                        <a:t>Fraud Reporting Engine</a:t>
                      </a:r>
                      <a:endParaRPr lang="en-US" b="0" i="0">
                        <a:solidFill>
                          <a:srgbClr val="000000"/>
                        </a:solidFill>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B w="10077" cap="flat" cmpd="sng" algn="ctr">
                      <a:solidFill>
                        <a:srgbClr val="FFFFFF"/>
                      </a:solidFill>
                      <a:prstDash val="solid"/>
                      <a:round/>
                      <a:headEnd type="none" w="med" len="med"/>
                      <a:tailEnd type="none" w="med" len="med"/>
                    </a:lnB>
                    <a:solidFill>
                      <a:srgbClr val="E7E9EC"/>
                    </a:solidFill>
                  </a:tcPr>
                </a:tc>
                <a:tc>
                  <a:txBody>
                    <a:bodyPr/>
                    <a:lstStyle/>
                    <a:p>
                      <a:pPr algn="ctr" rtl="0" fontAlgn="base">
                        <a:lnSpc>
                          <a:spcPts val="1350"/>
                        </a:lnSpc>
                        <a:buNone/>
                      </a:pPr>
                      <a:r>
                        <a:rPr lang="en-US" sz="1400" b="0" i="0" u="none" strike="noStrike">
                          <a:solidFill>
                            <a:srgbClr val="000000"/>
                          </a:solidFill>
                          <a:effectLst/>
                          <a:latin typeface="Calibri"/>
                        </a:rPr>
                        <a:t>5</a:t>
                      </a:r>
                      <a:endParaRPr lang="en-US" b="0" i="0">
                        <a:solidFill>
                          <a:srgbClr val="000000"/>
                        </a:solidFill>
                        <a:effectLst/>
                        <a:latin typeface="Calibri"/>
                      </a:endParaRPr>
                    </a:p>
                  </a:txBody>
                  <a:tcPr marL="7553" marR="7553" marT="7553" anchor="ctr">
                    <a:lnL w="10077" cap="flat" cmpd="sng" algn="ctr">
                      <a:solidFill>
                        <a:srgbClr val="FFFFFF"/>
                      </a:solidFill>
                      <a:prstDash val="solid"/>
                      <a:round/>
                      <a:headEnd type="none" w="med" len="med"/>
                      <a:tailEnd type="none" w="med" len="med"/>
                    </a:lnL>
                    <a:lnR w="10077" cap="flat" cmpd="sng" algn="ctr">
                      <a:solidFill>
                        <a:srgbClr val="FFFFFF"/>
                      </a:solidFill>
                      <a:prstDash val="solid"/>
                      <a:round/>
                      <a:headEnd type="none" w="med" len="med"/>
                      <a:tailEnd type="none" w="med" len="med"/>
                    </a:lnR>
                    <a:lnB w="10077" cap="flat" cmpd="sng" algn="ctr">
                      <a:solidFill>
                        <a:srgbClr val="FFFFFF"/>
                      </a:solidFill>
                      <a:prstDash val="solid"/>
                      <a:round/>
                      <a:headEnd type="none" w="med" len="med"/>
                      <a:tailEnd type="none" w="med" len="med"/>
                    </a:lnB>
                    <a:solidFill>
                      <a:srgbClr val="E7E9EC"/>
                    </a:solidFill>
                  </a:tcPr>
                </a:tc>
                <a:extLst>
                  <a:ext uri="{0D108BD9-81ED-4DB2-BD59-A6C34878D82A}">
                    <a16:rowId xmlns:a16="http://schemas.microsoft.com/office/drawing/2014/main" val="1728198461"/>
                  </a:ext>
                </a:extLst>
              </a:tr>
            </a:tbl>
          </a:graphicData>
        </a:graphic>
      </p:graphicFrame>
    </p:spTree>
    <p:extLst>
      <p:ext uri="{BB962C8B-B14F-4D97-AF65-F5344CB8AC3E}">
        <p14:creationId xmlns:p14="http://schemas.microsoft.com/office/powerpoint/2010/main" val="1073021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1FABBDD-BEEB-47CC-9DC2-83E0BCD19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72E14A10-F6FE-46B8-9F62-D170790442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7625" y="0"/>
            <a:ext cx="11097905" cy="6858000"/>
            <a:chOff x="547625" y="0"/>
            <a:chExt cx="11097905" cy="6858000"/>
          </a:xfrm>
        </p:grpSpPr>
        <p:sp>
          <p:nvSpPr>
            <p:cNvPr id="11" name="Freeform: Shape 10">
              <a:extLst>
                <a:ext uri="{FF2B5EF4-FFF2-40B4-BE49-F238E27FC236}">
                  <a16:creationId xmlns:a16="http://schemas.microsoft.com/office/drawing/2014/main" id="{CF9D6573-DAA5-4FC7-9CC6-80FFE63718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907575" y="0"/>
              <a:ext cx="10345003" cy="6858000"/>
            </a:xfrm>
            <a:custGeom>
              <a:avLst/>
              <a:gdLst>
                <a:gd name="connsiteX0" fmla="*/ 7551973 w 9174595"/>
                <a:gd name="connsiteY0" fmla="*/ 0 h 6858000"/>
                <a:gd name="connsiteX1" fmla="*/ 5634635 w 9174595"/>
                <a:gd name="connsiteY1" fmla="*/ 0 h 6858000"/>
                <a:gd name="connsiteX2" fmla="*/ 5550590 w 9174595"/>
                <a:gd name="connsiteY2" fmla="*/ 0 h 6858000"/>
                <a:gd name="connsiteX3" fmla="*/ 5480986 w 9174595"/>
                <a:gd name="connsiteY3" fmla="*/ 0 h 6858000"/>
                <a:gd name="connsiteX4" fmla="*/ 4886240 w 9174595"/>
                <a:gd name="connsiteY4" fmla="*/ 0 h 6858000"/>
                <a:gd name="connsiteX5" fmla="*/ 4816638 w 9174595"/>
                <a:gd name="connsiteY5" fmla="*/ 0 h 6858000"/>
                <a:gd name="connsiteX6" fmla="*/ 4357958 w 9174595"/>
                <a:gd name="connsiteY6" fmla="*/ 0 h 6858000"/>
                <a:gd name="connsiteX7" fmla="*/ 4288354 w 9174595"/>
                <a:gd name="connsiteY7" fmla="*/ 0 h 6858000"/>
                <a:gd name="connsiteX8" fmla="*/ 3693608 w 9174595"/>
                <a:gd name="connsiteY8" fmla="*/ 0 h 6858000"/>
                <a:gd name="connsiteX9" fmla="*/ 3624006 w 9174595"/>
                <a:gd name="connsiteY9" fmla="*/ 0 h 6858000"/>
                <a:gd name="connsiteX10" fmla="*/ 3276448 w 9174595"/>
                <a:gd name="connsiteY10" fmla="*/ 0 h 6858000"/>
                <a:gd name="connsiteX11" fmla="*/ 1622622 w 9174595"/>
                <a:gd name="connsiteY11" fmla="*/ 0 h 6858000"/>
                <a:gd name="connsiteX12" fmla="*/ 1600504 w 9174595"/>
                <a:gd name="connsiteY12" fmla="*/ 14997 h 6858000"/>
                <a:gd name="connsiteX13" fmla="*/ 0 w 9174595"/>
                <a:gd name="connsiteY13" fmla="*/ 3621656 h 6858000"/>
                <a:gd name="connsiteX14" fmla="*/ 1873886 w 9174595"/>
                <a:gd name="connsiteY14" fmla="*/ 6374814 h 6858000"/>
                <a:gd name="connsiteX15" fmla="*/ 2390406 w 9174595"/>
                <a:gd name="connsiteY15" fmla="*/ 6780599 h 6858000"/>
                <a:gd name="connsiteX16" fmla="*/ 2502136 w 9174595"/>
                <a:gd name="connsiteY16" fmla="*/ 6858000 h 6858000"/>
                <a:gd name="connsiteX17" fmla="*/ 3276448 w 9174595"/>
                <a:gd name="connsiteY17" fmla="*/ 6858000 h 6858000"/>
                <a:gd name="connsiteX18" fmla="*/ 3624006 w 9174595"/>
                <a:gd name="connsiteY18" fmla="*/ 6858000 h 6858000"/>
                <a:gd name="connsiteX19" fmla="*/ 3693608 w 9174595"/>
                <a:gd name="connsiteY19" fmla="*/ 6858000 h 6858000"/>
                <a:gd name="connsiteX20" fmla="*/ 4288354 w 9174595"/>
                <a:gd name="connsiteY20" fmla="*/ 6858000 h 6858000"/>
                <a:gd name="connsiteX21" fmla="*/ 4357958 w 9174595"/>
                <a:gd name="connsiteY21" fmla="*/ 6858000 h 6858000"/>
                <a:gd name="connsiteX22" fmla="*/ 4816638 w 9174595"/>
                <a:gd name="connsiteY22" fmla="*/ 6858000 h 6858000"/>
                <a:gd name="connsiteX23" fmla="*/ 4886240 w 9174595"/>
                <a:gd name="connsiteY23" fmla="*/ 6858000 h 6858000"/>
                <a:gd name="connsiteX24" fmla="*/ 5480986 w 9174595"/>
                <a:gd name="connsiteY24" fmla="*/ 6858000 h 6858000"/>
                <a:gd name="connsiteX25" fmla="*/ 5550590 w 9174595"/>
                <a:gd name="connsiteY25" fmla="*/ 6858000 h 6858000"/>
                <a:gd name="connsiteX26" fmla="*/ 5634635 w 9174595"/>
                <a:gd name="connsiteY26" fmla="*/ 6858000 h 6858000"/>
                <a:gd name="connsiteX27" fmla="*/ 6672460 w 9174595"/>
                <a:gd name="connsiteY27" fmla="*/ 6858000 h 6858000"/>
                <a:gd name="connsiteX28" fmla="*/ 6784188 w 9174595"/>
                <a:gd name="connsiteY28" fmla="*/ 6780599 h 6858000"/>
                <a:gd name="connsiteX29" fmla="*/ 7300708 w 9174595"/>
                <a:gd name="connsiteY29" fmla="*/ 6374814 h 6858000"/>
                <a:gd name="connsiteX30" fmla="*/ 9174595 w 9174595"/>
                <a:gd name="connsiteY30" fmla="*/ 3621656 h 6858000"/>
                <a:gd name="connsiteX31" fmla="*/ 7574092 w 9174595"/>
                <a:gd name="connsiteY3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174595" h="6858000">
                  <a:moveTo>
                    <a:pt x="7551973" y="0"/>
                  </a:moveTo>
                  <a:lnTo>
                    <a:pt x="5634635" y="0"/>
                  </a:lnTo>
                  <a:lnTo>
                    <a:pt x="5550590" y="0"/>
                  </a:lnTo>
                  <a:lnTo>
                    <a:pt x="5480986" y="0"/>
                  </a:lnTo>
                  <a:lnTo>
                    <a:pt x="4886240" y="0"/>
                  </a:lnTo>
                  <a:lnTo>
                    <a:pt x="4816638" y="0"/>
                  </a:lnTo>
                  <a:lnTo>
                    <a:pt x="4357958" y="0"/>
                  </a:lnTo>
                  <a:lnTo>
                    <a:pt x="4288354" y="0"/>
                  </a:lnTo>
                  <a:lnTo>
                    <a:pt x="3693608" y="0"/>
                  </a:lnTo>
                  <a:lnTo>
                    <a:pt x="3624006" y="0"/>
                  </a:lnTo>
                  <a:lnTo>
                    <a:pt x="3276448" y="0"/>
                  </a:lnTo>
                  <a:lnTo>
                    <a:pt x="1622622" y="0"/>
                  </a:lnTo>
                  <a:lnTo>
                    <a:pt x="1600504" y="14997"/>
                  </a:lnTo>
                  <a:cubicBezTo>
                    <a:pt x="573594" y="754641"/>
                    <a:pt x="0" y="2093192"/>
                    <a:pt x="0" y="3621656"/>
                  </a:cubicBezTo>
                  <a:cubicBezTo>
                    <a:pt x="0" y="4969131"/>
                    <a:pt x="928496" y="5602839"/>
                    <a:pt x="1873886" y="6374814"/>
                  </a:cubicBezTo>
                  <a:cubicBezTo>
                    <a:pt x="2046046" y="6515397"/>
                    <a:pt x="2216632" y="6653108"/>
                    <a:pt x="2390406" y="6780599"/>
                  </a:cubicBezTo>
                  <a:lnTo>
                    <a:pt x="2502136" y="6858000"/>
                  </a:lnTo>
                  <a:lnTo>
                    <a:pt x="3276448" y="6858000"/>
                  </a:lnTo>
                  <a:lnTo>
                    <a:pt x="3624006" y="6858000"/>
                  </a:lnTo>
                  <a:lnTo>
                    <a:pt x="3693608" y="6858000"/>
                  </a:lnTo>
                  <a:lnTo>
                    <a:pt x="4288354" y="6858000"/>
                  </a:lnTo>
                  <a:lnTo>
                    <a:pt x="4357958" y="6858000"/>
                  </a:lnTo>
                  <a:lnTo>
                    <a:pt x="4816638" y="6858000"/>
                  </a:lnTo>
                  <a:lnTo>
                    <a:pt x="4886240" y="6858000"/>
                  </a:lnTo>
                  <a:lnTo>
                    <a:pt x="5480986" y="6858000"/>
                  </a:lnTo>
                  <a:lnTo>
                    <a:pt x="5550590" y="6858000"/>
                  </a:lnTo>
                  <a:lnTo>
                    <a:pt x="5634635" y="6858000"/>
                  </a:lnTo>
                  <a:lnTo>
                    <a:pt x="6672460" y="6858000"/>
                  </a:lnTo>
                  <a:lnTo>
                    <a:pt x="6784188" y="6780599"/>
                  </a:lnTo>
                  <a:cubicBezTo>
                    <a:pt x="6957963" y="6653108"/>
                    <a:pt x="7128548" y="6515397"/>
                    <a:pt x="7300708" y="6374814"/>
                  </a:cubicBezTo>
                  <a:cubicBezTo>
                    <a:pt x="8246100" y="5602839"/>
                    <a:pt x="9174595" y="4969131"/>
                    <a:pt x="9174595" y="3621656"/>
                  </a:cubicBezTo>
                  <a:cubicBezTo>
                    <a:pt x="9174595" y="2093192"/>
                    <a:pt x="8601001" y="754641"/>
                    <a:pt x="7574092" y="14997"/>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99300304-8097-4497-B7D7-CF98A9A74F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708673"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916BEB36-8C72-450B-A22A-48D547666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75235"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9D8BC9E3-E539-449C-B557-4074751AEF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547625" y="0"/>
              <a:ext cx="2209181" cy="6858000"/>
            </a:xfrm>
            <a:custGeom>
              <a:avLst/>
              <a:gdLst>
                <a:gd name="connsiteX0" fmla="*/ 955085 w 2209181"/>
                <a:gd name="connsiteY0" fmla="*/ 0 h 6858000"/>
                <a:gd name="connsiteX1" fmla="*/ 937727 w 2209181"/>
                <a:gd name="connsiteY1" fmla="*/ 0 h 6858000"/>
                <a:gd name="connsiteX2" fmla="*/ 963738 w 2209181"/>
                <a:gd name="connsiteY2" fmla="*/ 24346 h 6858000"/>
                <a:gd name="connsiteX3" fmla="*/ 2184004 w 2209181"/>
                <a:gd name="connsiteY3" fmla="*/ 3809420 h 6858000"/>
                <a:gd name="connsiteX4" fmla="*/ 218679 w 2209181"/>
                <a:gd name="connsiteY4" fmla="*/ 6681644 h 6858000"/>
                <a:gd name="connsiteX5" fmla="*/ 0 w 2209181"/>
                <a:gd name="connsiteY5" fmla="*/ 6858000 h 6858000"/>
                <a:gd name="connsiteX6" fmla="*/ 19349 w 2209181"/>
                <a:gd name="connsiteY6" fmla="*/ 6858000 h 6858000"/>
                <a:gd name="connsiteX7" fmla="*/ 236958 w 2209181"/>
                <a:gd name="connsiteY7" fmla="*/ 6682507 h 6858000"/>
                <a:gd name="connsiteX8" fmla="*/ 2202283 w 2209181"/>
                <a:gd name="connsiteY8" fmla="*/ 3810283 h 6858000"/>
                <a:gd name="connsiteX9" fmla="*/ 982018 w 2209181"/>
                <a:gd name="connsiteY9" fmla="*/ 252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55085" y="0"/>
                  </a:moveTo>
                  <a:lnTo>
                    <a:pt x="937727" y="0"/>
                  </a:lnTo>
                  <a:lnTo>
                    <a:pt x="963738" y="24346"/>
                  </a:lnTo>
                  <a:cubicBezTo>
                    <a:pt x="1818009" y="885455"/>
                    <a:pt x="2251801" y="2269402"/>
                    <a:pt x="2184004" y="3809420"/>
                  </a:cubicBezTo>
                  <a:cubicBezTo>
                    <a:pt x="2120250" y="5257592"/>
                    <a:pt x="1181008" y="5895709"/>
                    <a:pt x="218679" y="6681644"/>
                  </a:cubicBezTo>
                  <a:lnTo>
                    <a:pt x="0" y="6858000"/>
                  </a:lnTo>
                  <a:lnTo>
                    <a:pt x="19349" y="6858000"/>
                  </a:lnTo>
                  <a:lnTo>
                    <a:pt x="236958" y="6682507"/>
                  </a:lnTo>
                  <a:cubicBezTo>
                    <a:pt x="1199288" y="5896573"/>
                    <a:pt x="2138530" y="5258455"/>
                    <a:pt x="2202283" y="3810283"/>
                  </a:cubicBezTo>
                  <a:cubicBezTo>
                    <a:pt x="2270080" y="2270266"/>
                    <a:pt x="1836289" y="886318"/>
                    <a:pt x="982018" y="25210"/>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074FC277-4245-45E3-A41E-BE1CFF33C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36349" y="0"/>
              <a:ext cx="2209181" cy="6858000"/>
            </a:xfrm>
            <a:custGeom>
              <a:avLst/>
              <a:gdLst>
                <a:gd name="connsiteX0" fmla="*/ 937727 w 2209181"/>
                <a:gd name="connsiteY0" fmla="*/ 0 h 6858000"/>
                <a:gd name="connsiteX1" fmla="*/ 955085 w 2209181"/>
                <a:gd name="connsiteY1" fmla="*/ 0 h 6858000"/>
                <a:gd name="connsiteX2" fmla="*/ 982018 w 2209181"/>
                <a:gd name="connsiteY2" fmla="*/ 25210 h 6858000"/>
                <a:gd name="connsiteX3" fmla="*/ 2202283 w 2209181"/>
                <a:gd name="connsiteY3" fmla="*/ 3810283 h 6858000"/>
                <a:gd name="connsiteX4" fmla="*/ 236958 w 2209181"/>
                <a:gd name="connsiteY4" fmla="*/ 6682507 h 6858000"/>
                <a:gd name="connsiteX5" fmla="*/ 19349 w 2209181"/>
                <a:gd name="connsiteY5" fmla="*/ 6858000 h 6858000"/>
                <a:gd name="connsiteX6" fmla="*/ 0 w 2209181"/>
                <a:gd name="connsiteY6" fmla="*/ 6858000 h 6858000"/>
                <a:gd name="connsiteX7" fmla="*/ 218679 w 2209181"/>
                <a:gd name="connsiteY7" fmla="*/ 6681644 h 6858000"/>
                <a:gd name="connsiteX8" fmla="*/ 2184004 w 2209181"/>
                <a:gd name="connsiteY8" fmla="*/ 3809420 h 6858000"/>
                <a:gd name="connsiteX9" fmla="*/ 963738 w 2209181"/>
                <a:gd name="connsiteY9" fmla="*/ 24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37727" y="0"/>
                  </a:moveTo>
                  <a:lnTo>
                    <a:pt x="955085" y="0"/>
                  </a:lnTo>
                  <a:lnTo>
                    <a:pt x="982018" y="25210"/>
                  </a:lnTo>
                  <a:cubicBezTo>
                    <a:pt x="1836289" y="886318"/>
                    <a:pt x="2270080" y="2270266"/>
                    <a:pt x="2202283" y="3810283"/>
                  </a:cubicBezTo>
                  <a:cubicBezTo>
                    <a:pt x="2138530" y="5258455"/>
                    <a:pt x="1199288" y="5896573"/>
                    <a:pt x="236958" y="6682507"/>
                  </a:cubicBezTo>
                  <a:lnTo>
                    <a:pt x="19349" y="6858000"/>
                  </a:lnTo>
                  <a:lnTo>
                    <a:pt x="0" y="6858000"/>
                  </a:lnTo>
                  <a:lnTo>
                    <a:pt x="218679" y="6681644"/>
                  </a:lnTo>
                  <a:cubicBezTo>
                    <a:pt x="1181008" y="5895709"/>
                    <a:pt x="2120250" y="5257592"/>
                    <a:pt x="2184004" y="3809420"/>
                  </a:cubicBezTo>
                  <a:cubicBezTo>
                    <a:pt x="2251801" y="2269402"/>
                    <a:pt x="1818009" y="885455"/>
                    <a:pt x="963738" y="24346"/>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1CC5A682-E89A-B8A9-EF46-735D9E1CD19D}"/>
              </a:ext>
            </a:extLst>
          </p:cNvPr>
          <p:cNvSpPr>
            <a:spLocks noGrp="1"/>
          </p:cNvSpPr>
          <p:nvPr>
            <p:ph type="title"/>
          </p:nvPr>
        </p:nvSpPr>
        <p:spPr>
          <a:xfrm>
            <a:off x="550879" y="1249"/>
            <a:ext cx="7178026" cy="896659"/>
          </a:xfrm>
        </p:spPr>
        <p:txBody>
          <a:bodyPr anchor="b">
            <a:normAutofit/>
          </a:bodyPr>
          <a:lstStyle/>
          <a:p>
            <a:r>
              <a:rPr lang="en-US" sz="3600" b="1">
                <a:latin typeface="Calibri"/>
                <a:ea typeface="Calibri"/>
                <a:cs typeface="Calibri"/>
              </a:rPr>
              <a:t>Application Screenshots</a:t>
            </a:r>
          </a:p>
        </p:txBody>
      </p:sp>
      <p:pic>
        <p:nvPicPr>
          <p:cNvPr id="5" name="Picture 4" descr="A screenshot of a cell phone&#10;&#10;AI-generated content may be incorrect.">
            <a:extLst>
              <a:ext uri="{FF2B5EF4-FFF2-40B4-BE49-F238E27FC236}">
                <a16:creationId xmlns:a16="http://schemas.microsoft.com/office/drawing/2014/main" id="{25A056E2-B40B-5B69-C6EC-5D31E658688A}"/>
              </a:ext>
            </a:extLst>
          </p:cNvPr>
          <p:cNvPicPr>
            <a:picLocks noChangeAspect="1"/>
          </p:cNvPicPr>
          <p:nvPr/>
        </p:nvPicPr>
        <p:blipFill>
          <a:blip r:embed="rId2"/>
          <a:stretch>
            <a:fillRect/>
          </a:stretch>
        </p:blipFill>
        <p:spPr>
          <a:xfrm>
            <a:off x="8486257" y="2611"/>
            <a:ext cx="3163373" cy="6858000"/>
          </a:xfrm>
          <a:prstGeom prst="rect">
            <a:avLst/>
          </a:prstGeom>
        </p:spPr>
      </p:pic>
      <p:sp>
        <p:nvSpPr>
          <p:cNvPr id="3" name="TextBox 2">
            <a:extLst>
              <a:ext uri="{FF2B5EF4-FFF2-40B4-BE49-F238E27FC236}">
                <a16:creationId xmlns:a16="http://schemas.microsoft.com/office/drawing/2014/main" id="{9512CC2F-1C96-993E-FBD0-00F6D0526855}"/>
              </a:ext>
            </a:extLst>
          </p:cNvPr>
          <p:cNvSpPr txBox="1"/>
          <p:nvPr/>
        </p:nvSpPr>
        <p:spPr>
          <a:xfrm>
            <a:off x="677333" y="1192389"/>
            <a:ext cx="7450666"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2400">
                <a:latin typeface="Calibri"/>
                <a:ea typeface="Calibri"/>
                <a:cs typeface="Calibri"/>
              </a:rPr>
              <a:t>The Homepage shows a list of user credit cards, cards that have experienced fraudulent transactions will have a red exclamation badge to indicate the fraud to the user</a:t>
            </a:r>
          </a:p>
          <a:p>
            <a:pPr marL="285750" indent="-285750">
              <a:buFont typeface="Calibri"/>
              <a:buChar char="-"/>
            </a:pPr>
            <a:endParaRPr lang="en-US" sz="2400">
              <a:latin typeface="Calibri"/>
              <a:ea typeface="Calibri"/>
              <a:cs typeface="Calibri"/>
            </a:endParaRPr>
          </a:p>
          <a:p>
            <a:pPr marL="285750" indent="-285750">
              <a:buFont typeface="Calibri"/>
              <a:buChar char="-"/>
            </a:pPr>
            <a:r>
              <a:rPr lang="en-US" sz="2400">
                <a:latin typeface="Calibri"/>
                <a:ea typeface="Calibri"/>
                <a:cs typeface="Calibri"/>
              </a:rPr>
              <a:t>The User can scroll their list of credit cards and can click into a credit card to view the transactions for that card (shown on the next page)</a:t>
            </a:r>
          </a:p>
        </p:txBody>
      </p:sp>
    </p:spTree>
    <p:extLst>
      <p:ext uri="{BB962C8B-B14F-4D97-AF65-F5344CB8AC3E}">
        <p14:creationId xmlns:p14="http://schemas.microsoft.com/office/powerpoint/2010/main" val="30233343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1FABBDD-BEEB-47CC-9DC2-83E0BCD19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72E14A10-F6FE-46B8-9F62-D170790442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7625" y="0"/>
            <a:ext cx="11097905" cy="6858000"/>
            <a:chOff x="547625" y="0"/>
            <a:chExt cx="11097905" cy="6858000"/>
          </a:xfrm>
        </p:grpSpPr>
        <p:sp>
          <p:nvSpPr>
            <p:cNvPr id="11" name="Freeform: Shape 10">
              <a:extLst>
                <a:ext uri="{FF2B5EF4-FFF2-40B4-BE49-F238E27FC236}">
                  <a16:creationId xmlns:a16="http://schemas.microsoft.com/office/drawing/2014/main" id="{CF9D6573-DAA5-4FC7-9CC6-80FFE63718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907575" y="0"/>
              <a:ext cx="10345003" cy="6858000"/>
            </a:xfrm>
            <a:custGeom>
              <a:avLst/>
              <a:gdLst>
                <a:gd name="connsiteX0" fmla="*/ 7551973 w 9174595"/>
                <a:gd name="connsiteY0" fmla="*/ 0 h 6858000"/>
                <a:gd name="connsiteX1" fmla="*/ 5634635 w 9174595"/>
                <a:gd name="connsiteY1" fmla="*/ 0 h 6858000"/>
                <a:gd name="connsiteX2" fmla="*/ 5550590 w 9174595"/>
                <a:gd name="connsiteY2" fmla="*/ 0 h 6858000"/>
                <a:gd name="connsiteX3" fmla="*/ 5480986 w 9174595"/>
                <a:gd name="connsiteY3" fmla="*/ 0 h 6858000"/>
                <a:gd name="connsiteX4" fmla="*/ 4886240 w 9174595"/>
                <a:gd name="connsiteY4" fmla="*/ 0 h 6858000"/>
                <a:gd name="connsiteX5" fmla="*/ 4816638 w 9174595"/>
                <a:gd name="connsiteY5" fmla="*/ 0 h 6858000"/>
                <a:gd name="connsiteX6" fmla="*/ 4357958 w 9174595"/>
                <a:gd name="connsiteY6" fmla="*/ 0 h 6858000"/>
                <a:gd name="connsiteX7" fmla="*/ 4288354 w 9174595"/>
                <a:gd name="connsiteY7" fmla="*/ 0 h 6858000"/>
                <a:gd name="connsiteX8" fmla="*/ 3693608 w 9174595"/>
                <a:gd name="connsiteY8" fmla="*/ 0 h 6858000"/>
                <a:gd name="connsiteX9" fmla="*/ 3624006 w 9174595"/>
                <a:gd name="connsiteY9" fmla="*/ 0 h 6858000"/>
                <a:gd name="connsiteX10" fmla="*/ 3276448 w 9174595"/>
                <a:gd name="connsiteY10" fmla="*/ 0 h 6858000"/>
                <a:gd name="connsiteX11" fmla="*/ 1622622 w 9174595"/>
                <a:gd name="connsiteY11" fmla="*/ 0 h 6858000"/>
                <a:gd name="connsiteX12" fmla="*/ 1600504 w 9174595"/>
                <a:gd name="connsiteY12" fmla="*/ 14997 h 6858000"/>
                <a:gd name="connsiteX13" fmla="*/ 0 w 9174595"/>
                <a:gd name="connsiteY13" fmla="*/ 3621656 h 6858000"/>
                <a:gd name="connsiteX14" fmla="*/ 1873886 w 9174595"/>
                <a:gd name="connsiteY14" fmla="*/ 6374814 h 6858000"/>
                <a:gd name="connsiteX15" fmla="*/ 2390406 w 9174595"/>
                <a:gd name="connsiteY15" fmla="*/ 6780599 h 6858000"/>
                <a:gd name="connsiteX16" fmla="*/ 2502136 w 9174595"/>
                <a:gd name="connsiteY16" fmla="*/ 6858000 h 6858000"/>
                <a:gd name="connsiteX17" fmla="*/ 3276448 w 9174595"/>
                <a:gd name="connsiteY17" fmla="*/ 6858000 h 6858000"/>
                <a:gd name="connsiteX18" fmla="*/ 3624006 w 9174595"/>
                <a:gd name="connsiteY18" fmla="*/ 6858000 h 6858000"/>
                <a:gd name="connsiteX19" fmla="*/ 3693608 w 9174595"/>
                <a:gd name="connsiteY19" fmla="*/ 6858000 h 6858000"/>
                <a:gd name="connsiteX20" fmla="*/ 4288354 w 9174595"/>
                <a:gd name="connsiteY20" fmla="*/ 6858000 h 6858000"/>
                <a:gd name="connsiteX21" fmla="*/ 4357958 w 9174595"/>
                <a:gd name="connsiteY21" fmla="*/ 6858000 h 6858000"/>
                <a:gd name="connsiteX22" fmla="*/ 4816638 w 9174595"/>
                <a:gd name="connsiteY22" fmla="*/ 6858000 h 6858000"/>
                <a:gd name="connsiteX23" fmla="*/ 4886240 w 9174595"/>
                <a:gd name="connsiteY23" fmla="*/ 6858000 h 6858000"/>
                <a:gd name="connsiteX24" fmla="*/ 5480986 w 9174595"/>
                <a:gd name="connsiteY24" fmla="*/ 6858000 h 6858000"/>
                <a:gd name="connsiteX25" fmla="*/ 5550590 w 9174595"/>
                <a:gd name="connsiteY25" fmla="*/ 6858000 h 6858000"/>
                <a:gd name="connsiteX26" fmla="*/ 5634635 w 9174595"/>
                <a:gd name="connsiteY26" fmla="*/ 6858000 h 6858000"/>
                <a:gd name="connsiteX27" fmla="*/ 6672460 w 9174595"/>
                <a:gd name="connsiteY27" fmla="*/ 6858000 h 6858000"/>
                <a:gd name="connsiteX28" fmla="*/ 6784188 w 9174595"/>
                <a:gd name="connsiteY28" fmla="*/ 6780599 h 6858000"/>
                <a:gd name="connsiteX29" fmla="*/ 7300708 w 9174595"/>
                <a:gd name="connsiteY29" fmla="*/ 6374814 h 6858000"/>
                <a:gd name="connsiteX30" fmla="*/ 9174595 w 9174595"/>
                <a:gd name="connsiteY30" fmla="*/ 3621656 h 6858000"/>
                <a:gd name="connsiteX31" fmla="*/ 7574092 w 9174595"/>
                <a:gd name="connsiteY3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174595" h="6858000">
                  <a:moveTo>
                    <a:pt x="7551973" y="0"/>
                  </a:moveTo>
                  <a:lnTo>
                    <a:pt x="5634635" y="0"/>
                  </a:lnTo>
                  <a:lnTo>
                    <a:pt x="5550590" y="0"/>
                  </a:lnTo>
                  <a:lnTo>
                    <a:pt x="5480986" y="0"/>
                  </a:lnTo>
                  <a:lnTo>
                    <a:pt x="4886240" y="0"/>
                  </a:lnTo>
                  <a:lnTo>
                    <a:pt x="4816638" y="0"/>
                  </a:lnTo>
                  <a:lnTo>
                    <a:pt x="4357958" y="0"/>
                  </a:lnTo>
                  <a:lnTo>
                    <a:pt x="4288354" y="0"/>
                  </a:lnTo>
                  <a:lnTo>
                    <a:pt x="3693608" y="0"/>
                  </a:lnTo>
                  <a:lnTo>
                    <a:pt x="3624006" y="0"/>
                  </a:lnTo>
                  <a:lnTo>
                    <a:pt x="3276448" y="0"/>
                  </a:lnTo>
                  <a:lnTo>
                    <a:pt x="1622622" y="0"/>
                  </a:lnTo>
                  <a:lnTo>
                    <a:pt x="1600504" y="14997"/>
                  </a:lnTo>
                  <a:cubicBezTo>
                    <a:pt x="573594" y="754641"/>
                    <a:pt x="0" y="2093192"/>
                    <a:pt x="0" y="3621656"/>
                  </a:cubicBezTo>
                  <a:cubicBezTo>
                    <a:pt x="0" y="4969131"/>
                    <a:pt x="928496" y="5602839"/>
                    <a:pt x="1873886" y="6374814"/>
                  </a:cubicBezTo>
                  <a:cubicBezTo>
                    <a:pt x="2046046" y="6515397"/>
                    <a:pt x="2216632" y="6653108"/>
                    <a:pt x="2390406" y="6780599"/>
                  </a:cubicBezTo>
                  <a:lnTo>
                    <a:pt x="2502136" y="6858000"/>
                  </a:lnTo>
                  <a:lnTo>
                    <a:pt x="3276448" y="6858000"/>
                  </a:lnTo>
                  <a:lnTo>
                    <a:pt x="3624006" y="6858000"/>
                  </a:lnTo>
                  <a:lnTo>
                    <a:pt x="3693608" y="6858000"/>
                  </a:lnTo>
                  <a:lnTo>
                    <a:pt x="4288354" y="6858000"/>
                  </a:lnTo>
                  <a:lnTo>
                    <a:pt x="4357958" y="6858000"/>
                  </a:lnTo>
                  <a:lnTo>
                    <a:pt x="4816638" y="6858000"/>
                  </a:lnTo>
                  <a:lnTo>
                    <a:pt x="4886240" y="6858000"/>
                  </a:lnTo>
                  <a:lnTo>
                    <a:pt x="5480986" y="6858000"/>
                  </a:lnTo>
                  <a:lnTo>
                    <a:pt x="5550590" y="6858000"/>
                  </a:lnTo>
                  <a:lnTo>
                    <a:pt x="5634635" y="6858000"/>
                  </a:lnTo>
                  <a:lnTo>
                    <a:pt x="6672460" y="6858000"/>
                  </a:lnTo>
                  <a:lnTo>
                    <a:pt x="6784188" y="6780599"/>
                  </a:lnTo>
                  <a:cubicBezTo>
                    <a:pt x="6957963" y="6653108"/>
                    <a:pt x="7128548" y="6515397"/>
                    <a:pt x="7300708" y="6374814"/>
                  </a:cubicBezTo>
                  <a:cubicBezTo>
                    <a:pt x="8246100" y="5602839"/>
                    <a:pt x="9174595" y="4969131"/>
                    <a:pt x="9174595" y="3621656"/>
                  </a:cubicBezTo>
                  <a:cubicBezTo>
                    <a:pt x="9174595" y="2093192"/>
                    <a:pt x="8601001" y="754641"/>
                    <a:pt x="7574092" y="14997"/>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99300304-8097-4497-B7D7-CF98A9A74F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708673"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916BEB36-8C72-450B-A22A-48D547666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75235"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9D8BC9E3-E539-449C-B557-4074751AEF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547625" y="0"/>
              <a:ext cx="2209181" cy="6858000"/>
            </a:xfrm>
            <a:custGeom>
              <a:avLst/>
              <a:gdLst>
                <a:gd name="connsiteX0" fmla="*/ 955085 w 2209181"/>
                <a:gd name="connsiteY0" fmla="*/ 0 h 6858000"/>
                <a:gd name="connsiteX1" fmla="*/ 937727 w 2209181"/>
                <a:gd name="connsiteY1" fmla="*/ 0 h 6858000"/>
                <a:gd name="connsiteX2" fmla="*/ 963738 w 2209181"/>
                <a:gd name="connsiteY2" fmla="*/ 24346 h 6858000"/>
                <a:gd name="connsiteX3" fmla="*/ 2184004 w 2209181"/>
                <a:gd name="connsiteY3" fmla="*/ 3809420 h 6858000"/>
                <a:gd name="connsiteX4" fmla="*/ 218679 w 2209181"/>
                <a:gd name="connsiteY4" fmla="*/ 6681644 h 6858000"/>
                <a:gd name="connsiteX5" fmla="*/ 0 w 2209181"/>
                <a:gd name="connsiteY5" fmla="*/ 6858000 h 6858000"/>
                <a:gd name="connsiteX6" fmla="*/ 19349 w 2209181"/>
                <a:gd name="connsiteY6" fmla="*/ 6858000 h 6858000"/>
                <a:gd name="connsiteX7" fmla="*/ 236958 w 2209181"/>
                <a:gd name="connsiteY7" fmla="*/ 6682507 h 6858000"/>
                <a:gd name="connsiteX8" fmla="*/ 2202283 w 2209181"/>
                <a:gd name="connsiteY8" fmla="*/ 3810283 h 6858000"/>
                <a:gd name="connsiteX9" fmla="*/ 982018 w 2209181"/>
                <a:gd name="connsiteY9" fmla="*/ 252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55085" y="0"/>
                  </a:moveTo>
                  <a:lnTo>
                    <a:pt x="937727" y="0"/>
                  </a:lnTo>
                  <a:lnTo>
                    <a:pt x="963738" y="24346"/>
                  </a:lnTo>
                  <a:cubicBezTo>
                    <a:pt x="1818009" y="885455"/>
                    <a:pt x="2251801" y="2269402"/>
                    <a:pt x="2184004" y="3809420"/>
                  </a:cubicBezTo>
                  <a:cubicBezTo>
                    <a:pt x="2120250" y="5257592"/>
                    <a:pt x="1181008" y="5895709"/>
                    <a:pt x="218679" y="6681644"/>
                  </a:cubicBezTo>
                  <a:lnTo>
                    <a:pt x="0" y="6858000"/>
                  </a:lnTo>
                  <a:lnTo>
                    <a:pt x="19349" y="6858000"/>
                  </a:lnTo>
                  <a:lnTo>
                    <a:pt x="236958" y="6682507"/>
                  </a:lnTo>
                  <a:cubicBezTo>
                    <a:pt x="1199288" y="5896573"/>
                    <a:pt x="2138530" y="5258455"/>
                    <a:pt x="2202283" y="3810283"/>
                  </a:cubicBezTo>
                  <a:cubicBezTo>
                    <a:pt x="2270080" y="2270266"/>
                    <a:pt x="1836289" y="886318"/>
                    <a:pt x="982018" y="25210"/>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074FC277-4245-45E3-A41E-BE1CFF33C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36349" y="0"/>
              <a:ext cx="2209181" cy="6858000"/>
            </a:xfrm>
            <a:custGeom>
              <a:avLst/>
              <a:gdLst>
                <a:gd name="connsiteX0" fmla="*/ 937727 w 2209181"/>
                <a:gd name="connsiteY0" fmla="*/ 0 h 6858000"/>
                <a:gd name="connsiteX1" fmla="*/ 955085 w 2209181"/>
                <a:gd name="connsiteY1" fmla="*/ 0 h 6858000"/>
                <a:gd name="connsiteX2" fmla="*/ 982018 w 2209181"/>
                <a:gd name="connsiteY2" fmla="*/ 25210 h 6858000"/>
                <a:gd name="connsiteX3" fmla="*/ 2202283 w 2209181"/>
                <a:gd name="connsiteY3" fmla="*/ 3810283 h 6858000"/>
                <a:gd name="connsiteX4" fmla="*/ 236958 w 2209181"/>
                <a:gd name="connsiteY4" fmla="*/ 6682507 h 6858000"/>
                <a:gd name="connsiteX5" fmla="*/ 19349 w 2209181"/>
                <a:gd name="connsiteY5" fmla="*/ 6858000 h 6858000"/>
                <a:gd name="connsiteX6" fmla="*/ 0 w 2209181"/>
                <a:gd name="connsiteY6" fmla="*/ 6858000 h 6858000"/>
                <a:gd name="connsiteX7" fmla="*/ 218679 w 2209181"/>
                <a:gd name="connsiteY7" fmla="*/ 6681644 h 6858000"/>
                <a:gd name="connsiteX8" fmla="*/ 2184004 w 2209181"/>
                <a:gd name="connsiteY8" fmla="*/ 3809420 h 6858000"/>
                <a:gd name="connsiteX9" fmla="*/ 963738 w 2209181"/>
                <a:gd name="connsiteY9" fmla="*/ 24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37727" y="0"/>
                  </a:moveTo>
                  <a:lnTo>
                    <a:pt x="955085" y="0"/>
                  </a:lnTo>
                  <a:lnTo>
                    <a:pt x="982018" y="25210"/>
                  </a:lnTo>
                  <a:cubicBezTo>
                    <a:pt x="1836289" y="886318"/>
                    <a:pt x="2270080" y="2270266"/>
                    <a:pt x="2202283" y="3810283"/>
                  </a:cubicBezTo>
                  <a:cubicBezTo>
                    <a:pt x="2138530" y="5258455"/>
                    <a:pt x="1199288" y="5896573"/>
                    <a:pt x="236958" y="6682507"/>
                  </a:cubicBezTo>
                  <a:lnTo>
                    <a:pt x="19349" y="6858000"/>
                  </a:lnTo>
                  <a:lnTo>
                    <a:pt x="0" y="6858000"/>
                  </a:lnTo>
                  <a:lnTo>
                    <a:pt x="218679" y="6681644"/>
                  </a:lnTo>
                  <a:cubicBezTo>
                    <a:pt x="1181008" y="5895709"/>
                    <a:pt x="2120250" y="5257592"/>
                    <a:pt x="2184004" y="3809420"/>
                  </a:cubicBezTo>
                  <a:cubicBezTo>
                    <a:pt x="2251801" y="2269402"/>
                    <a:pt x="1818009" y="885455"/>
                    <a:pt x="963738" y="24346"/>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1CC5A682-E89A-B8A9-EF46-735D9E1CD19D}"/>
              </a:ext>
            </a:extLst>
          </p:cNvPr>
          <p:cNvSpPr>
            <a:spLocks noGrp="1"/>
          </p:cNvSpPr>
          <p:nvPr>
            <p:ph type="title"/>
          </p:nvPr>
        </p:nvSpPr>
        <p:spPr>
          <a:xfrm>
            <a:off x="547417" y="3778"/>
            <a:ext cx="7178026" cy="896659"/>
          </a:xfrm>
        </p:spPr>
        <p:txBody>
          <a:bodyPr anchor="b">
            <a:normAutofit/>
          </a:bodyPr>
          <a:lstStyle/>
          <a:p>
            <a:r>
              <a:rPr lang="en-US">
                <a:latin typeface="Calibri"/>
                <a:ea typeface="Calibri"/>
                <a:cs typeface="Calibri"/>
              </a:rPr>
              <a:t>Application Screenshots</a:t>
            </a:r>
          </a:p>
        </p:txBody>
      </p:sp>
      <p:pic>
        <p:nvPicPr>
          <p:cNvPr id="5" name="Picture 4" descr="A screenshot of a phone&#10;&#10;AI-generated content may be incorrect.">
            <a:extLst>
              <a:ext uri="{FF2B5EF4-FFF2-40B4-BE49-F238E27FC236}">
                <a16:creationId xmlns:a16="http://schemas.microsoft.com/office/drawing/2014/main" id="{78F6AA6C-6120-EC96-DB90-837A01E0839C}"/>
              </a:ext>
            </a:extLst>
          </p:cNvPr>
          <p:cNvPicPr>
            <a:picLocks noChangeAspect="1"/>
          </p:cNvPicPr>
          <p:nvPr/>
        </p:nvPicPr>
        <p:blipFill>
          <a:blip r:embed="rId2"/>
          <a:stretch>
            <a:fillRect/>
          </a:stretch>
        </p:blipFill>
        <p:spPr>
          <a:xfrm>
            <a:off x="8281980" y="0"/>
            <a:ext cx="3163373" cy="6858000"/>
          </a:xfrm>
          <a:prstGeom prst="rect">
            <a:avLst/>
          </a:prstGeom>
        </p:spPr>
      </p:pic>
      <p:sp>
        <p:nvSpPr>
          <p:cNvPr id="4" name="TextBox 3">
            <a:extLst>
              <a:ext uri="{FF2B5EF4-FFF2-40B4-BE49-F238E27FC236}">
                <a16:creationId xmlns:a16="http://schemas.microsoft.com/office/drawing/2014/main" id="{E5BC12A6-F979-AE27-F280-E68F50FA3B9E}"/>
              </a:ext>
            </a:extLst>
          </p:cNvPr>
          <p:cNvSpPr txBox="1"/>
          <p:nvPr/>
        </p:nvSpPr>
        <p:spPr>
          <a:xfrm>
            <a:off x="545333" y="1192389"/>
            <a:ext cx="7450666"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2400">
                <a:latin typeface="Calibri"/>
                <a:ea typeface="Calibri"/>
                <a:cs typeface="Calibri"/>
              </a:rPr>
              <a:t>This page shows a list of transactions for a specific credit card</a:t>
            </a:r>
          </a:p>
          <a:p>
            <a:pPr marL="285750" indent="-285750">
              <a:buFont typeface="Calibri"/>
              <a:buChar char="-"/>
            </a:pPr>
            <a:endParaRPr lang="en-US" sz="2400">
              <a:latin typeface="Calibri"/>
              <a:ea typeface="Calibri"/>
              <a:cs typeface="Calibri"/>
            </a:endParaRPr>
          </a:p>
          <a:p>
            <a:pPr marL="285750" indent="-285750">
              <a:buFont typeface="Calibri"/>
              <a:buChar char="-"/>
            </a:pPr>
            <a:r>
              <a:rPr lang="en-US" sz="2400">
                <a:latin typeface="Calibri"/>
                <a:ea typeface="Calibri"/>
                <a:cs typeface="Calibri"/>
              </a:rPr>
              <a:t>The credit card number is shown at the top of the list as a header</a:t>
            </a:r>
          </a:p>
          <a:p>
            <a:pPr marL="285750" indent="-285750">
              <a:buFont typeface="Calibri"/>
              <a:buChar char="-"/>
            </a:pPr>
            <a:endParaRPr lang="en-US" sz="2400">
              <a:latin typeface="Calibri"/>
              <a:ea typeface="Calibri"/>
              <a:cs typeface="Calibri"/>
            </a:endParaRPr>
          </a:p>
          <a:p>
            <a:pPr marL="285750" indent="-285750">
              <a:buFont typeface="Calibri"/>
              <a:buChar char="-"/>
            </a:pPr>
            <a:r>
              <a:rPr lang="en-US" sz="2400">
                <a:latin typeface="Calibri"/>
                <a:ea typeface="Calibri"/>
                <a:cs typeface="Calibri"/>
              </a:rPr>
              <a:t>A transaction row contains the location, city, state, and time of transaction along with the amount</a:t>
            </a:r>
          </a:p>
          <a:p>
            <a:pPr marL="285750" indent="-285750">
              <a:buFont typeface="Calibri"/>
              <a:buChar char="-"/>
            </a:pPr>
            <a:endParaRPr lang="en-US" sz="2400">
              <a:latin typeface="Calibri"/>
              <a:ea typeface="Calibri"/>
              <a:cs typeface="Calibri"/>
            </a:endParaRPr>
          </a:p>
          <a:p>
            <a:pPr marL="285750" indent="-285750">
              <a:buFont typeface="Calibri"/>
              <a:buChar char="-"/>
            </a:pPr>
            <a:r>
              <a:rPr lang="en-US" sz="2400">
                <a:latin typeface="Calibri"/>
                <a:ea typeface="Calibri"/>
                <a:cs typeface="Calibri"/>
              </a:rPr>
              <a:t>If a transaction is believed to be fraudulent it will have a red exclamation point to the right of its transaction amount</a:t>
            </a:r>
          </a:p>
        </p:txBody>
      </p:sp>
    </p:spTree>
    <p:extLst>
      <p:ext uri="{BB962C8B-B14F-4D97-AF65-F5344CB8AC3E}">
        <p14:creationId xmlns:p14="http://schemas.microsoft.com/office/powerpoint/2010/main" val="38750625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1FABBDD-BEEB-47CC-9DC2-83E0BCD19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72E14A10-F6FE-46B8-9F62-D170790442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7625" y="0"/>
            <a:ext cx="11097905" cy="6858000"/>
            <a:chOff x="547625" y="0"/>
            <a:chExt cx="11097905" cy="6858000"/>
          </a:xfrm>
        </p:grpSpPr>
        <p:sp>
          <p:nvSpPr>
            <p:cNvPr id="11" name="Freeform: Shape 10">
              <a:extLst>
                <a:ext uri="{FF2B5EF4-FFF2-40B4-BE49-F238E27FC236}">
                  <a16:creationId xmlns:a16="http://schemas.microsoft.com/office/drawing/2014/main" id="{CF9D6573-DAA5-4FC7-9CC6-80FFE63718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907575" y="0"/>
              <a:ext cx="10345003" cy="6858000"/>
            </a:xfrm>
            <a:custGeom>
              <a:avLst/>
              <a:gdLst>
                <a:gd name="connsiteX0" fmla="*/ 7551973 w 9174595"/>
                <a:gd name="connsiteY0" fmla="*/ 0 h 6858000"/>
                <a:gd name="connsiteX1" fmla="*/ 5634635 w 9174595"/>
                <a:gd name="connsiteY1" fmla="*/ 0 h 6858000"/>
                <a:gd name="connsiteX2" fmla="*/ 5550590 w 9174595"/>
                <a:gd name="connsiteY2" fmla="*/ 0 h 6858000"/>
                <a:gd name="connsiteX3" fmla="*/ 5480986 w 9174595"/>
                <a:gd name="connsiteY3" fmla="*/ 0 h 6858000"/>
                <a:gd name="connsiteX4" fmla="*/ 4886240 w 9174595"/>
                <a:gd name="connsiteY4" fmla="*/ 0 h 6858000"/>
                <a:gd name="connsiteX5" fmla="*/ 4816638 w 9174595"/>
                <a:gd name="connsiteY5" fmla="*/ 0 h 6858000"/>
                <a:gd name="connsiteX6" fmla="*/ 4357958 w 9174595"/>
                <a:gd name="connsiteY6" fmla="*/ 0 h 6858000"/>
                <a:gd name="connsiteX7" fmla="*/ 4288354 w 9174595"/>
                <a:gd name="connsiteY7" fmla="*/ 0 h 6858000"/>
                <a:gd name="connsiteX8" fmla="*/ 3693608 w 9174595"/>
                <a:gd name="connsiteY8" fmla="*/ 0 h 6858000"/>
                <a:gd name="connsiteX9" fmla="*/ 3624006 w 9174595"/>
                <a:gd name="connsiteY9" fmla="*/ 0 h 6858000"/>
                <a:gd name="connsiteX10" fmla="*/ 3276448 w 9174595"/>
                <a:gd name="connsiteY10" fmla="*/ 0 h 6858000"/>
                <a:gd name="connsiteX11" fmla="*/ 1622622 w 9174595"/>
                <a:gd name="connsiteY11" fmla="*/ 0 h 6858000"/>
                <a:gd name="connsiteX12" fmla="*/ 1600504 w 9174595"/>
                <a:gd name="connsiteY12" fmla="*/ 14997 h 6858000"/>
                <a:gd name="connsiteX13" fmla="*/ 0 w 9174595"/>
                <a:gd name="connsiteY13" fmla="*/ 3621656 h 6858000"/>
                <a:gd name="connsiteX14" fmla="*/ 1873886 w 9174595"/>
                <a:gd name="connsiteY14" fmla="*/ 6374814 h 6858000"/>
                <a:gd name="connsiteX15" fmla="*/ 2390406 w 9174595"/>
                <a:gd name="connsiteY15" fmla="*/ 6780599 h 6858000"/>
                <a:gd name="connsiteX16" fmla="*/ 2502136 w 9174595"/>
                <a:gd name="connsiteY16" fmla="*/ 6858000 h 6858000"/>
                <a:gd name="connsiteX17" fmla="*/ 3276448 w 9174595"/>
                <a:gd name="connsiteY17" fmla="*/ 6858000 h 6858000"/>
                <a:gd name="connsiteX18" fmla="*/ 3624006 w 9174595"/>
                <a:gd name="connsiteY18" fmla="*/ 6858000 h 6858000"/>
                <a:gd name="connsiteX19" fmla="*/ 3693608 w 9174595"/>
                <a:gd name="connsiteY19" fmla="*/ 6858000 h 6858000"/>
                <a:gd name="connsiteX20" fmla="*/ 4288354 w 9174595"/>
                <a:gd name="connsiteY20" fmla="*/ 6858000 h 6858000"/>
                <a:gd name="connsiteX21" fmla="*/ 4357958 w 9174595"/>
                <a:gd name="connsiteY21" fmla="*/ 6858000 h 6858000"/>
                <a:gd name="connsiteX22" fmla="*/ 4816638 w 9174595"/>
                <a:gd name="connsiteY22" fmla="*/ 6858000 h 6858000"/>
                <a:gd name="connsiteX23" fmla="*/ 4886240 w 9174595"/>
                <a:gd name="connsiteY23" fmla="*/ 6858000 h 6858000"/>
                <a:gd name="connsiteX24" fmla="*/ 5480986 w 9174595"/>
                <a:gd name="connsiteY24" fmla="*/ 6858000 h 6858000"/>
                <a:gd name="connsiteX25" fmla="*/ 5550590 w 9174595"/>
                <a:gd name="connsiteY25" fmla="*/ 6858000 h 6858000"/>
                <a:gd name="connsiteX26" fmla="*/ 5634635 w 9174595"/>
                <a:gd name="connsiteY26" fmla="*/ 6858000 h 6858000"/>
                <a:gd name="connsiteX27" fmla="*/ 6672460 w 9174595"/>
                <a:gd name="connsiteY27" fmla="*/ 6858000 h 6858000"/>
                <a:gd name="connsiteX28" fmla="*/ 6784188 w 9174595"/>
                <a:gd name="connsiteY28" fmla="*/ 6780599 h 6858000"/>
                <a:gd name="connsiteX29" fmla="*/ 7300708 w 9174595"/>
                <a:gd name="connsiteY29" fmla="*/ 6374814 h 6858000"/>
                <a:gd name="connsiteX30" fmla="*/ 9174595 w 9174595"/>
                <a:gd name="connsiteY30" fmla="*/ 3621656 h 6858000"/>
                <a:gd name="connsiteX31" fmla="*/ 7574092 w 9174595"/>
                <a:gd name="connsiteY3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174595" h="6858000">
                  <a:moveTo>
                    <a:pt x="7551973" y="0"/>
                  </a:moveTo>
                  <a:lnTo>
                    <a:pt x="5634635" y="0"/>
                  </a:lnTo>
                  <a:lnTo>
                    <a:pt x="5550590" y="0"/>
                  </a:lnTo>
                  <a:lnTo>
                    <a:pt x="5480986" y="0"/>
                  </a:lnTo>
                  <a:lnTo>
                    <a:pt x="4886240" y="0"/>
                  </a:lnTo>
                  <a:lnTo>
                    <a:pt x="4816638" y="0"/>
                  </a:lnTo>
                  <a:lnTo>
                    <a:pt x="4357958" y="0"/>
                  </a:lnTo>
                  <a:lnTo>
                    <a:pt x="4288354" y="0"/>
                  </a:lnTo>
                  <a:lnTo>
                    <a:pt x="3693608" y="0"/>
                  </a:lnTo>
                  <a:lnTo>
                    <a:pt x="3624006" y="0"/>
                  </a:lnTo>
                  <a:lnTo>
                    <a:pt x="3276448" y="0"/>
                  </a:lnTo>
                  <a:lnTo>
                    <a:pt x="1622622" y="0"/>
                  </a:lnTo>
                  <a:lnTo>
                    <a:pt x="1600504" y="14997"/>
                  </a:lnTo>
                  <a:cubicBezTo>
                    <a:pt x="573594" y="754641"/>
                    <a:pt x="0" y="2093192"/>
                    <a:pt x="0" y="3621656"/>
                  </a:cubicBezTo>
                  <a:cubicBezTo>
                    <a:pt x="0" y="4969131"/>
                    <a:pt x="928496" y="5602839"/>
                    <a:pt x="1873886" y="6374814"/>
                  </a:cubicBezTo>
                  <a:cubicBezTo>
                    <a:pt x="2046046" y="6515397"/>
                    <a:pt x="2216632" y="6653108"/>
                    <a:pt x="2390406" y="6780599"/>
                  </a:cubicBezTo>
                  <a:lnTo>
                    <a:pt x="2502136" y="6858000"/>
                  </a:lnTo>
                  <a:lnTo>
                    <a:pt x="3276448" y="6858000"/>
                  </a:lnTo>
                  <a:lnTo>
                    <a:pt x="3624006" y="6858000"/>
                  </a:lnTo>
                  <a:lnTo>
                    <a:pt x="3693608" y="6858000"/>
                  </a:lnTo>
                  <a:lnTo>
                    <a:pt x="4288354" y="6858000"/>
                  </a:lnTo>
                  <a:lnTo>
                    <a:pt x="4357958" y="6858000"/>
                  </a:lnTo>
                  <a:lnTo>
                    <a:pt x="4816638" y="6858000"/>
                  </a:lnTo>
                  <a:lnTo>
                    <a:pt x="4886240" y="6858000"/>
                  </a:lnTo>
                  <a:lnTo>
                    <a:pt x="5480986" y="6858000"/>
                  </a:lnTo>
                  <a:lnTo>
                    <a:pt x="5550590" y="6858000"/>
                  </a:lnTo>
                  <a:lnTo>
                    <a:pt x="5634635" y="6858000"/>
                  </a:lnTo>
                  <a:lnTo>
                    <a:pt x="6672460" y="6858000"/>
                  </a:lnTo>
                  <a:lnTo>
                    <a:pt x="6784188" y="6780599"/>
                  </a:lnTo>
                  <a:cubicBezTo>
                    <a:pt x="6957963" y="6653108"/>
                    <a:pt x="7128548" y="6515397"/>
                    <a:pt x="7300708" y="6374814"/>
                  </a:cubicBezTo>
                  <a:cubicBezTo>
                    <a:pt x="8246100" y="5602839"/>
                    <a:pt x="9174595" y="4969131"/>
                    <a:pt x="9174595" y="3621656"/>
                  </a:cubicBezTo>
                  <a:cubicBezTo>
                    <a:pt x="9174595" y="2093192"/>
                    <a:pt x="8601001" y="754641"/>
                    <a:pt x="7574092" y="14997"/>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99300304-8097-4497-B7D7-CF98A9A74F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708673"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916BEB36-8C72-450B-A22A-48D547666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75235"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9D8BC9E3-E539-449C-B557-4074751AEF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547625" y="0"/>
              <a:ext cx="2209181" cy="6858000"/>
            </a:xfrm>
            <a:custGeom>
              <a:avLst/>
              <a:gdLst>
                <a:gd name="connsiteX0" fmla="*/ 955085 w 2209181"/>
                <a:gd name="connsiteY0" fmla="*/ 0 h 6858000"/>
                <a:gd name="connsiteX1" fmla="*/ 937727 w 2209181"/>
                <a:gd name="connsiteY1" fmla="*/ 0 h 6858000"/>
                <a:gd name="connsiteX2" fmla="*/ 963738 w 2209181"/>
                <a:gd name="connsiteY2" fmla="*/ 24346 h 6858000"/>
                <a:gd name="connsiteX3" fmla="*/ 2184004 w 2209181"/>
                <a:gd name="connsiteY3" fmla="*/ 3809420 h 6858000"/>
                <a:gd name="connsiteX4" fmla="*/ 218679 w 2209181"/>
                <a:gd name="connsiteY4" fmla="*/ 6681644 h 6858000"/>
                <a:gd name="connsiteX5" fmla="*/ 0 w 2209181"/>
                <a:gd name="connsiteY5" fmla="*/ 6858000 h 6858000"/>
                <a:gd name="connsiteX6" fmla="*/ 19349 w 2209181"/>
                <a:gd name="connsiteY6" fmla="*/ 6858000 h 6858000"/>
                <a:gd name="connsiteX7" fmla="*/ 236958 w 2209181"/>
                <a:gd name="connsiteY7" fmla="*/ 6682507 h 6858000"/>
                <a:gd name="connsiteX8" fmla="*/ 2202283 w 2209181"/>
                <a:gd name="connsiteY8" fmla="*/ 3810283 h 6858000"/>
                <a:gd name="connsiteX9" fmla="*/ 982018 w 2209181"/>
                <a:gd name="connsiteY9" fmla="*/ 252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55085" y="0"/>
                  </a:moveTo>
                  <a:lnTo>
                    <a:pt x="937727" y="0"/>
                  </a:lnTo>
                  <a:lnTo>
                    <a:pt x="963738" y="24346"/>
                  </a:lnTo>
                  <a:cubicBezTo>
                    <a:pt x="1818009" y="885455"/>
                    <a:pt x="2251801" y="2269402"/>
                    <a:pt x="2184004" y="3809420"/>
                  </a:cubicBezTo>
                  <a:cubicBezTo>
                    <a:pt x="2120250" y="5257592"/>
                    <a:pt x="1181008" y="5895709"/>
                    <a:pt x="218679" y="6681644"/>
                  </a:cubicBezTo>
                  <a:lnTo>
                    <a:pt x="0" y="6858000"/>
                  </a:lnTo>
                  <a:lnTo>
                    <a:pt x="19349" y="6858000"/>
                  </a:lnTo>
                  <a:lnTo>
                    <a:pt x="236958" y="6682507"/>
                  </a:lnTo>
                  <a:cubicBezTo>
                    <a:pt x="1199288" y="5896573"/>
                    <a:pt x="2138530" y="5258455"/>
                    <a:pt x="2202283" y="3810283"/>
                  </a:cubicBezTo>
                  <a:cubicBezTo>
                    <a:pt x="2270080" y="2270266"/>
                    <a:pt x="1836289" y="886318"/>
                    <a:pt x="982018" y="25210"/>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074FC277-4245-45E3-A41E-BE1CFF33C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36349" y="0"/>
              <a:ext cx="2209181" cy="6858000"/>
            </a:xfrm>
            <a:custGeom>
              <a:avLst/>
              <a:gdLst>
                <a:gd name="connsiteX0" fmla="*/ 937727 w 2209181"/>
                <a:gd name="connsiteY0" fmla="*/ 0 h 6858000"/>
                <a:gd name="connsiteX1" fmla="*/ 955085 w 2209181"/>
                <a:gd name="connsiteY1" fmla="*/ 0 h 6858000"/>
                <a:gd name="connsiteX2" fmla="*/ 982018 w 2209181"/>
                <a:gd name="connsiteY2" fmla="*/ 25210 h 6858000"/>
                <a:gd name="connsiteX3" fmla="*/ 2202283 w 2209181"/>
                <a:gd name="connsiteY3" fmla="*/ 3810283 h 6858000"/>
                <a:gd name="connsiteX4" fmla="*/ 236958 w 2209181"/>
                <a:gd name="connsiteY4" fmla="*/ 6682507 h 6858000"/>
                <a:gd name="connsiteX5" fmla="*/ 19349 w 2209181"/>
                <a:gd name="connsiteY5" fmla="*/ 6858000 h 6858000"/>
                <a:gd name="connsiteX6" fmla="*/ 0 w 2209181"/>
                <a:gd name="connsiteY6" fmla="*/ 6858000 h 6858000"/>
                <a:gd name="connsiteX7" fmla="*/ 218679 w 2209181"/>
                <a:gd name="connsiteY7" fmla="*/ 6681644 h 6858000"/>
                <a:gd name="connsiteX8" fmla="*/ 2184004 w 2209181"/>
                <a:gd name="connsiteY8" fmla="*/ 3809420 h 6858000"/>
                <a:gd name="connsiteX9" fmla="*/ 963738 w 2209181"/>
                <a:gd name="connsiteY9" fmla="*/ 24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37727" y="0"/>
                  </a:moveTo>
                  <a:lnTo>
                    <a:pt x="955085" y="0"/>
                  </a:lnTo>
                  <a:lnTo>
                    <a:pt x="982018" y="25210"/>
                  </a:lnTo>
                  <a:cubicBezTo>
                    <a:pt x="1836289" y="886318"/>
                    <a:pt x="2270080" y="2270266"/>
                    <a:pt x="2202283" y="3810283"/>
                  </a:cubicBezTo>
                  <a:cubicBezTo>
                    <a:pt x="2138530" y="5258455"/>
                    <a:pt x="1199288" y="5896573"/>
                    <a:pt x="236958" y="6682507"/>
                  </a:cubicBezTo>
                  <a:lnTo>
                    <a:pt x="19349" y="6858000"/>
                  </a:lnTo>
                  <a:lnTo>
                    <a:pt x="0" y="6858000"/>
                  </a:lnTo>
                  <a:lnTo>
                    <a:pt x="218679" y="6681644"/>
                  </a:lnTo>
                  <a:cubicBezTo>
                    <a:pt x="1181008" y="5895709"/>
                    <a:pt x="2120250" y="5257592"/>
                    <a:pt x="2184004" y="3809420"/>
                  </a:cubicBezTo>
                  <a:cubicBezTo>
                    <a:pt x="2251801" y="2269402"/>
                    <a:pt x="1818009" y="885455"/>
                    <a:pt x="963738" y="24346"/>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1CC5A682-E89A-B8A9-EF46-735D9E1CD19D}"/>
              </a:ext>
            </a:extLst>
          </p:cNvPr>
          <p:cNvSpPr>
            <a:spLocks noGrp="1"/>
          </p:cNvSpPr>
          <p:nvPr>
            <p:ph type="title"/>
          </p:nvPr>
        </p:nvSpPr>
        <p:spPr>
          <a:xfrm>
            <a:off x="550879" y="1249"/>
            <a:ext cx="7178026" cy="896659"/>
          </a:xfrm>
        </p:spPr>
        <p:txBody>
          <a:bodyPr anchor="b">
            <a:normAutofit/>
          </a:bodyPr>
          <a:lstStyle/>
          <a:p>
            <a:r>
              <a:rPr lang="en-US" sz="3600" b="1">
                <a:latin typeface="Calibri"/>
                <a:ea typeface="Calibri"/>
                <a:cs typeface="Calibri"/>
              </a:rPr>
              <a:t>REST API</a:t>
            </a:r>
          </a:p>
        </p:txBody>
      </p:sp>
      <p:sp>
        <p:nvSpPr>
          <p:cNvPr id="3" name="Content Placeholder 2">
            <a:extLst>
              <a:ext uri="{FF2B5EF4-FFF2-40B4-BE49-F238E27FC236}">
                <a16:creationId xmlns:a16="http://schemas.microsoft.com/office/drawing/2014/main" id="{3062E01B-1C96-4056-7191-693F0A6EF115}"/>
              </a:ext>
            </a:extLst>
          </p:cNvPr>
          <p:cNvSpPr>
            <a:spLocks noGrp="1"/>
          </p:cNvSpPr>
          <p:nvPr>
            <p:ph idx="1"/>
          </p:nvPr>
        </p:nvSpPr>
        <p:spPr>
          <a:xfrm>
            <a:off x="545989" y="887651"/>
            <a:ext cx="11094350" cy="5718537"/>
          </a:xfrm>
        </p:spPr>
        <p:txBody>
          <a:bodyPr vert="horz" lIns="91440" tIns="45720" rIns="91440" bIns="45720" rtlCol="0" anchor="t">
            <a:normAutofit/>
          </a:bodyPr>
          <a:lstStyle/>
          <a:p>
            <a:pPr marL="342900" indent="-342900">
              <a:buFont typeface="Calibri" panose="020B0604020202020204" pitchFamily="34" charset="0"/>
              <a:buChar char="-"/>
            </a:pPr>
            <a:r>
              <a:rPr lang="en-US" sz="2000">
                <a:latin typeface="Calibri"/>
                <a:ea typeface="Calibri"/>
                <a:cs typeface="Calibri"/>
              </a:rPr>
              <a:t>All APIs routes require an API secret in the auth header in-order to access the route</a:t>
            </a:r>
            <a:endParaRPr lang="en-US">
              <a:latin typeface="Calibri"/>
              <a:ea typeface="Calibri"/>
              <a:cs typeface="Calibri"/>
            </a:endParaRPr>
          </a:p>
          <a:p>
            <a:pPr marL="342900" indent="-342900">
              <a:buFont typeface="Calibri" panose="020B0604020202020204" pitchFamily="34" charset="0"/>
              <a:buChar char="-"/>
            </a:pPr>
            <a:r>
              <a:rPr lang="en-US" sz="2000">
                <a:solidFill>
                  <a:srgbClr val="000000"/>
                </a:solidFill>
                <a:latin typeface="Calibri"/>
                <a:ea typeface="Calibri"/>
                <a:cs typeface="Calibri"/>
              </a:rPr>
              <a:t>User ID information is also included in the http header rather than the URL</a:t>
            </a:r>
          </a:p>
          <a:p>
            <a:pPr marL="0" indent="0">
              <a:buNone/>
            </a:pPr>
            <a:r>
              <a:rPr lang="en-US" sz="2000" b="1">
                <a:solidFill>
                  <a:schemeClr val="accent6"/>
                </a:solidFill>
                <a:latin typeface="Calibri"/>
                <a:ea typeface="Calibri"/>
                <a:cs typeface="Calibri"/>
              </a:rPr>
              <a:t>GET </a:t>
            </a:r>
            <a:r>
              <a:rPr lang="en-US" sz="2000">
                <a:latin typeface="Calibri"/>
                <a:ea typeface="Calibri"/>
                <a:cs typeface="Calibri"/>
              </a:rPr>
              <a:t>/functions/v1/app-middleware/user : </a:t>
            </a:r>
            <a:r>
              <a:rPr lang="en-US" sz="1500">
                <a:latin typeface="Calibri"/>
                <a:ea typeface="Calibri"/>
                <a:cs typeface="Calibri"/>
              </a:rPr>
              <a:t>Retrieves</a:t>
            </a:r>
            <a:r>
              <a:rPr lang="en-US" sz="1500">
                <a:solidFill>
                  <a:srgbClr val="000000"/>
                </a:solidFill>
                <a:latin typeface="Calibri"/>
                <a:ea typeface="Calibri"/>
                <a:cs typeface="Calibri"/>
              </a:rPr>
              <a:t> all user information such as name, email, and list of credit cards</a:t>
            </a:r>
          </a:p>
          <a:p>
            <a:pPr marL="0" indent="0">
              <a:buNone/>
            </a:pPr>
            <a:r>
              <a:rPr lang="en-US" sz="2000" b="1">
                <a:solidFill>
                  <a:schemeClr val="accent5"/>
                </a:solidFill>
                <a:latin typeface="Calibri"/>
                <a:ea typeface="Calibri"/>
                <a:cs typeface="Calibri"/>
              </a:rPr>
              <a:t>POST </a:t>
            </a:r>
            <a:r>
              <a:rPr lang="en-US" sz="2000">
                <a:latin typeface="Calibri"/>
                <a:ea typeface="Calibri"/>
                <a:cs typeface="Calibri"/>
              </a:rPr>
              <a:t>/functions/v1/app-middleware/</a:t>
            </a:r>
            <a:r>
              <a:rPr lang="en-US" sz="2000" err="1">
                <a:latin typeface="Calibri"/>
                <a:ea typeface="Calibri"/>
                <a:cs typeface="Calibri"/>
              </a:rPr>
              <a:t>creditcard</a:t>
            </a:r>
            <a:r>
              <a:rPr lang="en-US" sz="2000">
                <a:latin typeface="Calibri"/>
                <a:ea typeface="Calibri"/>
                <a:cs typeface="Calibri"/>
              </a:rPr>
              <a:t> : </a:t>
            </a:r>
            <a:r>
              <a:rPr lang="en-US" sz="1500">
                <a:latin typeface="Calibri"/>
                <a:ea typeface="Calibri"/>
                <a:cs typeface="Calibri"/>
              </a:rPr>
              <a:t>Adds</a:t>
            </a:r>
            <a:r>
              <a:rPr lang="en-US" sz="1500">
                <a:solidFill>
                  <a:srgbClr val="000000"/>
                </a:solidFill>
                <a:latin typeface="Calibri"/>
                <a:ea typeface="Calibri"/>
                <a:cs typeface="Calibri"/>
              </a:rPr>
              <a:t> a new credit card to the user's account</a:t>
            </a:r>
          </a:p>
          <a:p>
            <a:pPr marL="0" indent="0">
              <a:buNone/>
            </a:pPr>
            <a:endParaRPr lang="en-US" sz="2000">
              <a:latin typeface="Calibri"/>
              <a:ea typeface="Calibri"/>
              <a:cs typeface="Calibri"/>
            </a:endParaRPr>
          </a:p>
          <a:p>
            <a:pPr marL="0" indent="0">
              <a:buNone/>
            </a:pPr>
            <a:r>
              <a:rPr lang="en-US" sz="2000">
                <a:latin typeface="Calibri"/>
                <a:ea typeface="Calibri"/>
                <a:cs typeface="Calibri"/>
              </a:rPr>
              <a:t> </a:t>
            </a:r>
          </a:p>
          <a:p>
            <a:pPr marL="0" indent="0">
              <a:buNone/>
            </a:pPr>
            <a:endParaRPr lang="en-US" sz="2000">
              <a:latin typeface="Calibri"/>
              <a:ea typeface="Calibri"/>
              <a:cs typeface="Calibri"/>
            </a:endParaRPr>
          </a:p>
        </p:txBody>
      </p:sp>
      <p:pic>
        <p:nvPicPr>
          <p:cNvPr id="4" name="Picture 3" descr="A black background with white text&#10;&#10;AI-generated content may be incorrect.">
            <a:extLst>
              <a:ext uri="{FF2B5EF4-FFF2-40B4-BE49-F238E27FC236}">
                <a16:creationId xmlns:a16="http://schemas.microsoft.com/office/drawing/2014/main" id="{88DE2E02-637C-5A8A-CD46-A5329D1C4611}"/>
              </a:ext>
            </a:extLst>
          </p:cNvPr>
          <p:cNvPicPr>
            <a:picLocks noChangeAspect="1"/>
          </p:cNvPicPr>
          <p:nvPr/>
        </p:nvPicPr>
        <p:blipFill>
          <a:blip r:embed="rId2"/>
          <a:stretch>
            <a:fillRect/>
          </a:stretch>
        </p:blipFill>
        <p:spPr>
          <a:xfrm>
            <a:off x="666397" y="2435225"/>
            <a:ext cx="5539317" cy="1945217"/>
          </a:xfrm>
          <a:prstGeom prst="rect">
            <a:avLst/>
          </a:prstGeom>
        </p:spPr>
      </p:pic>
      <p:sp>
        <p:nvSpPr>
          <p:cNvPr id="5" name="TextBox 4">
            <a:extLst>
              <a:ext uri="{FF2B5EF4-FFF2-40B4-BE49-F238E27FC236}">
                <a16:creationId xmlns:a16="http://schemas.microsoft.com/office/drawing/2014/main" id="{ECD05814-C5EC-85FF-5DB7-85BDD958D238}"/>
              </a:ext>
            </a:extLst>
          </p:cNvPr>
          <p:cNvSpPr txBox="1"/>
          <p:nvPr/>
        </p:nvSpPr>
        <p:spPr>
          <a:xfrm>
            <a:off x="552000" y="4395000"/>
            <a:ext cx="10956000" cy="17295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2000" b="1" baseline="0">
                <a:solidFill>
                  <a:srgbClr val="4EA72E"/>
                </a:solidFill>
                <a:latin typeface="Calibri"/>
                <a:ea typeface="Segoe UI"/>
                <a:cs typeface="Segoe UI"/>
              </a:rPr>
              <a:t>GET </a:t>
            </a:r>
            <a:r>
              <a:rPr lang="en-US" sz="2000" baseline="0">
                <a:latin typeface="Calibri"/>
                <a:ea typeface="Segoe UI"/>
                <a:cs typeface="Segoe UI"/>
              </a:rPr>
              <a:t>/functions/v1/app-middleware/</a:t>
            </a:r>
            <a:r>
              <a:rPr lang="en-US" sz="2000" baseline="0" err="1">
                <a:latin typeface="Calibri"/>
                <a:ea typeface="Segoe UI"/>
                <a:cs typeface="Segoe UI"/>
              </a:rPr>
              <a:t>dailyreport?startTime</a:t>
            </a:r>
            <a:r>
              <a:rPr lang="en-US" sz="2000" baseline="0">
                <a:latin typeface="Calibri"/>
                <a:ea typeface="Segoe UI"/>
                <a:cs typeface="Segoe UI"/>
              </a:rPr>
              <a:t>=&lt;…&gt;&amp;</a:t>
            </a:r>
            <a:r>
              <a:rPr lang="en-US" sz="2000" baseline="0" err="1">
                <a:latin typeface="Calibri"/>
                <a:ea typeface="Segoe UI"/>
                <a:cs typeface="Segoe UI"/>
              </a:rPr>
              <a:t>endTime</a:t>
            </a:r>
            <a:r>
              <a:rPr lang="en-US" sz="2000" baseline="0">
                <a:latin typeface="Calibri"/>
                <a:ea typeface="Segoe UI"/>
                <a:cs typeface="Segoe UI"/>
              </a:rPr>
              <a:t>=&lt;…&gt;</a:t>
            </a:r>
            <a:r>
              <a:rPr lang="en-US" sz="2000">
                <a:latin typeface="Calibri"/>
                <a:ea typeface="Segoe UI"/>
                <a:cs typeface="Segoe UI"/>
              </a:rPr>
              <a:t>​</a:t>
            </a:r>
          </a:p>
          <a:p>
            <a:pPr rtl="0"/>
            <a:r>
              <a:rPr lang="en-US" sz="1600" baseline="0">
                <a:latin typeface="Calibri"/>
                <a:ea typeface="Segoe UI"/>
                <a:cs typeface="Segoe UI"/>
              </a:rPr>
              <a:t> If the user is an admin they can use this route to access a daily report of fraudulent transactions</a:t>
            </a:r>
            <a:r>
              <a:rPr lang="en-US" sz="1600">
                <a:latin typeface="Calibri"/>
                <a:ea typeface="Segoe UI"/>
                <a:cs typeface="Segoe UI"/>
              </a:rPr>
              <a:t>​</a:t>
            </a:r>
          </a:p>
          <a:p>
            <a:pPr rtl="0"/>
            <a:r>
              <a:rPr lang="en-US" sz="1600">
                <a:latin typeface="Calibri"/>
                <a:ea typeface="Segoe UI"/>
                <a:cs typeface="Segoe UI"/>
              </a:rPr>
              <a:t>​</a:t>
            </a:r>
          </a:p>
          <a:p>
            <a:pPr rtl="0"/>
            <a:r>
              <a:rPr lang="en-US" sz="2000" b="1" baseline="0">
                <a:solidFill>
                  <a:srgbClr val="4EA72E"/>
                </a:solidFill>
                <a:latin typeface="Calibri"/>
                <a:ea typeface="Segoe UI"/>
                <a:cs typeface="Segoe UI"/>
              </a:rPr>
              <a:t>GET </a:t>
            </a:r>
            <a:r>
              <a:rPr lang="en-US" sz="2000" baseline="0">
                <a:latin typeface="Calibri"/>
                <a:ea typeface="Segoe UI"/>
                <a:cs typeface="Segoe UI"/>
              </a:rPr>
              <a:t>/functions/v1/app-middleware/</a:t>
            </a:r>
            <a:r>
              <a:rPr lang="en-US" sz="2000" baseline="0" err="1">
                <a:latin typeface="Calibri"/>
                <a:ea typeface="Segoe UI"/>
                <a:cs typeface="Segoe UI"/>
              </a:rPr>
              <a:t>transactions?ccNumber</a:t>
            </a:r>
            <a:r>
              <a:rPr lang="en-US" sz="2000" baseline="0">
                <a:latin typeface="Calibri"/>
                <a:ea typeface="Segoe UI"/>
                <a:cs typeface="Segoe UI"/>
              </a:rPr>
              <a:t>=&lt;…&gt;</a:t>
            </a:r>
            <a:r>
              <a:rPr lang="en-US" sz="2000">
                <a:latin typeface="Calibri"/>
                <a:ea typeface="Segoe UI"/>
                <a:cs typeface="Segoe UI"/>
              </a:rPr>
              <a:t>​</a:t>
            </a:r>
          </a:p>
          <a:p>
            <a:pPr rtl="0"/>
            <a:r>
              <a:rPr lang="en-US" sz="1600" baseline="0">
                <a:latin typeface="Calibri"/>
                <a:ea typeface="Segoe UI"/>
                <a:cs typeface="Segoe UI"/>
              </a:rPr>
              <a:t> Retrieves all transactions for a user, with the option to get transactions only for a specific credit card</a:t>
            </a:r>
          </a:p>
          <a:p>
            <a:pPr algn="ctr"/>
            <a:endParaRPr lang="en-US">
              <a:latin typeface="Calibri"/>
              <a:ea typeface="Calibri"/>
              <a:cs typeface="Calibri"/>
            </a:endParaRPr>
          </a:p>
        </p:txBody>
      </p:sp>
    </p:spTree>
    <p:extLst>
      <p:ext uri="{BB962C8B-B14F-4D97-AF65-F5344CB8AC3E}">
        <p14:creationId xmlns:p14="http://schemas.microsoft.com/office/powerpoint/2010/main" val="23526529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822273-D66F-0323-2918-1336D1F2A2B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FB82622-7510-29DB-108F-D4D96958FB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9466AC72-6718-E74E-10F5-4ACB021A9D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7625" y="0"/>
            <a:ext cx="11097905" cy="6858000"/>
            <a:chOff x="547625" y="0"/>
            <a:chExt cx="11097905" cy="6858000"/>
          </a:xfrm>
        </p:grpSpPr>
        <p:sp>
          <p:nvSpPr>
            <p:cNvPr id="11" name="Freeform: Shape 10">
              <a:extLst>
                <a:ext uri="{FF2B5EF4-FFF2-40B4-BE49-F238E27FC236}">
                  <a16:creationId xmlns:a16="http://schemas.microsoft.com/office/drawing/2014/main" id="{55D66064-8D21-FF97-A0E7-D6AC222D0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907575" y="0"/>
              <a:ext cx="10345003" cy="6858000"/>
            </a:xfrm>
            <a:custGeom>
              <a:avLst/>
              <a:gdLst>
                <a:gd name="connsiteX0" fmla="*/ 7551973 w 9174595"/>
                <a:gd name="connsiteY0" fmla="*/ 0 h 6858000"/>
                <a:gd name="connsiteX1" fmla="*/ 5634635 w 9174595"/>
                <a:gd name="connsiteY1" fmla="*/ 0 h 6858000"/>
                <a:gd name="connsiteX2" fmla="*/ 5550590 w 9174595"/>
                <a:gd name="connsiteY2" fmla="*/ 0 h 6858000"/>
                <a:gd name="connsiteX3" fmla="*/ 5480986 w 9174595"/>
                <a:gd name="connsiteY3" fmla="*/ 0 h 6858000"/>
                <a:gd name="connsiteX4" fmla="*/ 4886240 w 9174595"/>
                <a:gd name="connsiteY4" fmla="*/ 0 h 6858000"/>
                <a:gd name="connsiteX5" fmla="*/ 4816638 w 9174595"/>
                <a:gd name="connsiteY5" fmla="*/ 0 h 6858000"/>
                <a:gd name="connsiteX6" fmla="*/ 4357958 w 9174595"/>
                <a:gd name="connsiteY6" fmla="*/ 0 h 6858000"/>
                <a:gd name="connsiteX7" fmla="*/ 4288354 w 9174595"/>
                <a:gd name="connsiteY7" fmla="*/ 0 h 6858000"/>
                <a:gd name="connsiteX8" fmla="*/ 3693608 w 9174595"/>
                <a:gd name="connsiteY8" fmla="*/ 0 h 6858000"/>
                <a:gd name="connsiteX9" fmla="*/ 3624006 w 9174595"/>
                <a:gd name="connsiteY9" fmla="*/ 0 h 6858000"/>
                <a:gd name="connsiteX10" fmla="*/ 3276448 w 9174595"/>
                <a:gd name="connsiteY10" fmla="*/ 0 h 6858000"/>
                <a:gd name="connsiteX11" fmla="*/ 1622622 w 9174595"/>
                <a:gd name="connsiteY11" fmla="*/ 0 h 6858000"/>
                <a:gd name="connsiteX12" fmla="*/ 1600504 w 9174595"/>
                <a:gd name="connsiteY12" fmla="*/ 14997 h 6858000"/>
                <a:gd name="connsiteX13" fmla="*/ 0 w 9174595"/>
                <a:gd name="connsiteY13" fmla="*/ 3621656 h 6858000"/>
                <a:gd name="connsiteX14" fmla="*/ 1873886 w 9174595"/>
                <a:gd name="connsiteY14" fmla="*/ 6374814 h 6858000"/>
                <a:gd name="connsiteX15" fmla="*/ 2390406 w 9174595"/>
                <a:gd name="connsiteY15" fmla="*/ 6780599 h 6858000"/>
                <a:gd name="connsiteX16" fmla="*/ 2502136 w 9174595"/>
                <a:gd name="connsiteY16" fmla="*/ 6858000 h 6858000"/>
                <a:gd name="connsiteX17" fmla="*/ 3276448 w 9174595"/>
                <a:gd name="connsiteY17" fmla="*/ 6858000 h 6858000"/>
                <a:gd name="connsiteX18" fmla="*/ 3624006 w 9174595"/>
                <a:gd name="connsiteY18" fmla="*/ 6858000 h 6858000"/>
                <a:gd name="connsiteX19" fmla="*/ 3693608 w 9174595"/>
                <a:gd name="connsiteY19" fmla="*/ 6858000 h 6858000"/>
                <a:gd name="connsiteX20" fmla="*/ 4288354 w 9174595"/>
                <a:gd name="connsiteY20" fmla="*/ 6858000 h 6858000"/>
                <a:gd name="connsiteX21" fmla="*/ 4357958 w 9174595"/>
                <a:gd name="connsiteY21" fmla="*/ 6858000 h 6858000"/>
                <a:gd name="connsiteX22" fmla="*/ 4816638 w 9174595"/>
                <a:gd name="connsiteY22" fmla="*/ 6858000 h 6858000"/>
                <a:gd name="connsiteX23" fmla="*/ 4886240 w 9174595"/>
                <a:gd name="connsiteY23" fmla="*/ 6858000 h 6858000"/>
                <a:gd name="connsiteX24" fmla="*/ 5480986 w 9174595"/>
                <a:gd name="connsiteY24" fmla="*/ 6858000 h 6858000"/>
                <a:gd name="connsiteX25" fmla="*/ 5550590 w 9174595"/>
                <a:gd name="connsiteY25" fmla="*/ 6858000 h 6858000"/>
                <a:gd name="connsiteX26" fmla="*/ 5634635 w 9174595"/>
                <a:gd name="connsiteY26" fmla="*/ 6858000 h 6858000"/>
                <a:gd name="connsiteX27" fmla="*/ 6672460 w 9174595"/>
                <a:gd name="connsiteY27" fmla="*/ 6858000 h 6858000"/>
                <a:gd name="connsiteX28" fmla="*/ 6784188 w 9174595"/>
                <a:gd name="connsiteY28" fmla="*/ 6780599 h 6858000"/>
                <a:gd name="connsiteX29" fmla="*/ 7300708 w 9174595"/>
                <a:gd name="connsiteY29" fmla="*/ 6374814 h 6858000"/>
                <a:gd name="connsiteX30" fmla="*/ 9174595 w 9174595"/>
                <a:gd name="connsiteY30" fmla="*/ 3621656 h 6858000"/>
                <a:gd name="connsiteX31" fmla="*/ 7574092 w 9174595"/>
                <a:gd name="connsiteY3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174595" h="6858000">
                  <a:moveTo>
                    <a:pt x="7551973" y="0"/>
                  </a:moveTo>
                  <a:lnTo>
                    <a:pt x="5634635" y="0"/>
                  </a:lnTo>
                  <a:lnTo>
                    <a:pt x="5550590" y="0"/>
                  </a:lnTo>
                  <a:lnTo>
                    <a:pt x="5480986" y="0"/>
                  </a:lnTo>
                  <a:lnTo>
                    <a:pt x="4886240" y="0"/>
                  </a:lnTo>
                  <a:lnTo>
                    <a:pt x="4816638" y="0"/>
                  </a:lnTo>
                  <a:lnTo>
                    <a:pt x="4357958" y="0"/>
                  </a:lnTo>
                  <a:lnTo>
                    <a:pt x="4288354" y="0"/>
                  </a:lnTo>
                  <a:lnTo>
                    <a:pt x="3693608" y="0"/>
                  </a:lnTo>
                  <a:lnTo>
                    <a:pt x="3624006" y="0"/>
                  </a:lnTo>
                  <a:lnTo>
                    <a:pt x="3276448" y="0"/>
                  </a:lnTo>
                  <a:lnTo>
                    <a:pt x="1622622" y="0"/>
                  </a:lnTo>
                  <a:lnTo>
                    <a:pt x="1600504" y="14997"/>
                  </a:lnTo>
                  <a:cubicBezTo>
                    <a:pt x="573594" y="754641"/>
                    <a:pt x="0" y="2093192"/>
                    <a:pt x="0" y="3621656"/>
                  </a:cubicBezTo>
                  <a:cubicBezTo>
                    <a:pt x="0" y="4969131"/>
                    <a:pt x="928496" y="5602839"/>
                    <a:pt x="1873886" y="6374814"/>
                  </a:cubicBezTo>
                  <a:cubicBezTo>
                    <a:pt x="2046046" y="6515397"/>
                    <a:pt x="2216632" y="6653108"/>
                    <a:pt x="2390406" y="6780599"/>
                  </a:cubicBezTo>
                  <a:lnTo>
                    <a:pt x="2502136" y="6858000"/>
                  </a:lnTo>
                  <a:lnTo>
                    <a:pt x="3276448" y="6858000"/>
                  </a:lnTo>
                  <a:lnTo>
                    <a:pt x="3624006" y="6858000"/>
                  </a:lnTo>
                  <a:lnTo>
                    <a:pt x="3693608" y="6858000"/>
                  </a:lnTo>
                  <a:lnTo>
                    <a:pt x="4288354" y="6858000"/>
                  </a:lnTo>
                  <a:lnTo>
                    <a:pt x="4357958" y="6858000"/>
                  </a:lnTo>
                  <a:lnTo>
                    <a:pt x="4816638" y="6858000"/>
                  </a:lnTo>
                  <a:lnTo>
                    <a:pt x="4886240" y="6858000"/>
                  </a:lnTo>
                  <a:lnTo>
                    <a:pt x="5480986" y="6858000"/>
                  </a:lnTo>
                  <a:lnTo>
                    <a:pt x="5550590" y="6858000"/>
                  </a:lnTo>
                  <a:lnTo>
                    <a:pt x="5634635" y="6858000"/>
                  </a:lnTo>
                  <a:lnTo>
                    <a:pt x="6672460" y="6858000"/>
                  </a:lnTo>
                  <a:lnTo>
                    <a:pt x="6784188" y="6780599"/>
                  </a:lnTo>
                  <a:cubicBezTo>
                    <a:pt x="6957963" y="6653108"/>
                    <a:pt x="7128548" y="6515397"/>
                    <a:pt x="7300708" y="6374814"/>
                  </a:cubicBezTo>
                  <a:cubicBezTo>
                    <a:pt x="8246100" y="5602839"/>
                    <a:pt x="9174595" y="4969131"/>
                    <a:pt x="9174595" y="3621656"/>
                  </a:cubicBezTo>
                  <a:cubicBezTo>
                    <a:pt x="9174595" y="2093192"/>
                    <a:pt x="8601001" y="754641"/>
                    <a:pt x="7574092" y="14997"/>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B3CC9795-5FCA-8843-2372-CB5B4636E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708673"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C65C3E98-7C23-1DDE-4798-12F6F159E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75235"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3F3B7D78-02C6-6A61-1918-25F98D4E9B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547625" y="0"/>
              <a:ext cx="2209181" cy="6858000"/>
            </a:xfrm>
            <a:custGeom>
              <a:avLst/>
              <a:gdLst>
                <a:gd name="connsiteX0" fmla="*/ 955085 w 2209181"/>
                <a:gd name="connsiteY0" fmla="*/ 0 h 6858000"/>
                <a:gd name="connsiteX1" fmla="*/ 937727 w 2209181"/>
                <a:gd name="connsiteY1" fmla="*/ 0 h 6858000"/>
                <a:gd name="connsiteX2" fmla="*/ 963738 w 2209181"/>
                <a:gd name="connsiteY2" fmla="*/ 24346 h 6858000"/>
                <a:gd name="connsiteX3" fmla="*/ 2184004 w 2209181"/>
                <a:gd name="connsiteY3" fmla="*/ 3809420 h 6858000"/>
                <a:gd name="connsiteX4" fmla="*/ 218679 w 2209181"/>
                <a:gd name="connsiteY4" fmla="*/ 6681644 h 6858000"/>
                <a:gd name="connsiteX5" fmla="*/ 0 w 2209181"/>
                <a:gd name="connsiteY5" fmla="*/ 6858000 h 6858000"/>
                <a:gd name="connsiteX6" fmla="*/ 19349 w 2209181"/>
                <a:gd name="connsiteY6" fmla="*/ 6858000 h 6858000"/>
                <a:gd name="connsiteX7" fmla="*/ 236958 w 2209181"/>
                <a:gd name="connsiteY7" fmla="*/ 6682507 h 6858000"/>
                <a:gd name="connsiteX8" fmla="*/ 2202283 w 2209181"/>
                <a:gd name="connsiteY8" fmla="*/ 3810283 h 6858000"/>
                <a:gd name="connsiteX9" fmla="*/ 982018 w 2209181"/>
                <a:gd name="connsiteY9" fmla="*/ 252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55085" y="0"/>
                  </a:moveTo>
                  <a:lnTo>
                    <a:pt x="937727" y="0"/>
                  </a:lnTo>
                  <a:lnTo>
                    <a:pt x="963738" y="24346"/>
                  </a:lnTo>
                  <a:cubicBezTo>
                    <a:pt x="1818009" y="885455"/>
                    <a:pt x="2251801" y="2269402"/>
                    <a:pt x="2184004" y="3809420"/>
                  </a:cubicBezTo>
                  <a:cubicBezTo>
                    <a:pt x="2120250" y="5257592"/>
                    <a:pt x="1181008" y="5895709"/>
                    <a:pt x="218679" y="6681644"/>
                  </a:cubicBezTo>
                  <a:lnTo>
                    <a:pt x="0" y="6858000"/>
                  </a:lnTo>
                  <a:lnTo>
                    <a:pt x="19349" y="6858000"/>
                  </a:lnTo>
                  <a:lnTo>
                    <a:pt x="236958" y="6682507"/>
                  </a:lnTo>
                  <a:cubicBezTo>
                    <a:pt x="1199288" y="5896573"/>
                    <a:pt x="2138530" y="5258455"/>
                    <a:pt x="2202283" y="3810283"/>
                  </a:cubicBezTo>
                  <a:cubicBezTo>
                    <a:pt x="2270080" y="2270266"/>
                    <a:pt x="1836289" y="886318"/>
                    <a:pt x="982018" y="25210"/>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48A2565D-67BA-5F52-06B1-D7AE522665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36349" y="0"/>
              <a:ext cx="2209181" cy="6858000"/>
            </a:xfrm>
            <a:custGeom>
              <a:avLst/>
              <a:gdLst>
                <a:gd name="connsiteX0" fmla="*/ 937727 w 2209181"/>
                <a:gd name="connsiteY0" fmla="*/ 0 h 6858000"/>
                <a:gd name="connsiteX1" fmla="*/ 955085 w 2209181"/>
                <a:gd name="connsiteY1" fmla="*/ 0 h 6858000"/>
                <a:gd name="connsiteX2" fmla="*/ 982018 w 2209181"/>
                <a:gd name="connsiteY2" fmla="*/ 25210 h 6858000"/>
                <a:gd name="connsiteX3" fmla="*/ 2202283 w 2209181"/>
                <a:gd name="connsiteY3" fmla="*/ 3810283 h 6858000"/>
                <a:gd name="connsiteX4" fmla="*/ 236958 w 2209181"/>
                <a:gd name="connsiteY4" fmla="*/ 6682507 h 6858000"/>
                <a:gd name="connsiteX5" fmla="*/ 19349 w 2209181"/>
                <a:gd name="connsiteY5" fmla="*/ 6858000 h 6858000"/>
                <a:gd name="connsiteX6" fmla="*/ 0 w 2209181"/>
                <a:gd name="connsiteY6" fmla="*/ 6858000 h 6858000"/>
                <a:gd name="connsiteX7" fmla="*/ 218679 w 2209181"/>
                <a:gd name="connsiteY7" fmla="*/ 6681644 h 6858000"/>
                <a:gd name="connsiteX8" fmla="*/ 2184004 w 2209181"/>
                <a:gd name="connsiteY8" fmla="*/ 3809420 h 6858000"/>
                <a:gd name="connsiteX9" fmla="*/ 963738 w 2209181"/>
                <a:gd name="connsiteY9" fmla="*/ 24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37727" y="0"/>
                  </a:moveTo>
                  <a:lnTo>
                    <a:pt x="955085" y="0"/>
                  </a:lnTo>
                  <a:lnTo>
                    <a:pt x="982018" y="25210"/>
                  </a:lnTo>
                  <a:cubicBezTo>
                    <a:pt x="1836289" y="886318"/>
                    <a:pt x="2270080" y="2270266"/>
                    <a:pt x="2202283" y="3810283"/>
                  </a:cubicBezTo>
                  <a:cubicBezTo>
                    <a:pt x="2138530" y="5258455"/>
                    <a:pt x="1199288" y="5896573"/>
                    <a:pt x="236958" y="6682507"/>
                  </a:cubicBezTo>
                  <a:lnTo>
                    <a:pt x="19349" y="6858000"/>
                  </a:lnTo>
                  <a:lnTo>
                    <a:pt x="0" y="6858000"/>
                  </a:lnTo>
                  <a:lnTo>
                    <a:pt x="218679" y="6681644"/>
                  </a:lnTo>
                  <a:cubicBezTo>
                    <a:pt x="1181008" y="5895709"/>
                    <a:pt x="2120250" y="5257592"/>
                    <a:pt x="2184004" y="3809420"/>
                  </a:cubicBezTo>
                  <a:cubicBezTo>
                    <a:pt x="2251801" y="2269402"/>
                    <a:pt x="1818009" y="885455"/>
                    <a:pt x="963738" y="24346"/>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31B4BF7D-5891-473D-84DA-07E641F78A62}"/>
              </a:ext>
            </a:extLst>
          </p:cNvPr>
          <p:cNvSpPr>
            <a:spLocks noGrp="1"/>
          </p:cNvSpPr>
          <p:nvPr>
            <p:ph type="title"/>
          </p:nvPr>
        </p:nvSpPr>
        <p:spPr>
          <a:xfrm>
            <a:off x="550879" y="1249"/>
            <a:ext cx="7178026" cy="896659"/>
          </a:xfrm>
        </p:spPr>
        <p:txBody>
          <a:bodyPr anchor="b">
            <a:normAutofit/>
          </a:bodyPr>
          <a:lstStyle/>
          <a:p>
            <a:r>
              <a:rPr lang="en-US" sz="3600" b="1">
                <a:latin typeface="Calibri"/>
                <a:ea typeface="Calibri"/>
                <a:cs typeface="Calibri"/>
              </a:rPr>
              <a:t>REST API - Continued</a:t>
            </a:r>
          </a:p>
        </p:txBody>
      </p:sp>
      <p:sp>
        <p:nvSpPr>
          <p:cNvPr id="3" name="Content Placeholder 2">
            <a:extLst>
              <a:ext uri="{FF2B5EF4-FFF2-40B4-BE49-F238E27FC236}">
                <a16:creationId xmlns:a16="http://schemas.microsoft.com/office/drawing/2014/main" id="{92D9F535-7FC7-1BC3-8DB4-4B9378362624}"/>
              </a:ext>
            </a:extLst>
          </p:cNvPr>
          <p:cNvSpPr>
            <a:spLocks noGrp="1"/>
          </p:cNvSpPr>
          <p:nvPr>
            <p:ph idx="1"/>
          </p:nvPr>
        </p:nvSpPr>
        <p:spPr>
          <a:xfrm>
            <a:off x="545989" y="887651"/>
            <a:ext cx="11094350" cy="5718537"/>
          </a:xfrm>
        </p:spPr>
        <p:txBody>
          <a:bodyPr vert="horz" lIns="91440" tIns="45720" rIns="91440" bIns="45720" rtlCol="0" anchor="t">
            <a:normAutofit/>
          </a:bodyPr>
          <a:lstStyle/>
          <a:p>
            <a:pPr marL="0" indent="0">
              <a:buNone/>
            </a:pPr>
            <a:r>
              <a:rPr lang="en-US" sz="2000" b="1">
                <a:solidFill>
                  <a:schemeClr val="accent5"/>
                </a:solidFill>
                <a:latin typeface="Calibri"/>
                <a:ea typeface="Calibri"/>
                <a:cs typeface="Calibri"/>
              </a:rPr>
              <a:t>POST </a:t>
            </a:r>
            <a:r>
              <a:rPr lang="en-US" sz="2000">
                <a:latin typeface="Calibri"/>
                <a:ea typeface="Calibri"/>
                <a:cs typeface="Calibri"/>
              </a:rPr>
              <a:t>/functions/v1/app-middleware/transactions : </a:t>
            </a:r>
            <a:r>
              <a:rPr lang="en-US" sz="1500">
                <a:latin typeface="Calibri"/>
                <a:ea typeface="Calibri"/>
                <a:cs typeface="Calibri"/>
              </a:rPr>
              <a:t>Create a new transaction</a:t>
            </a: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endParaRPr lang="en-US" sz="1500">
              <a:solidFill>
                <a:srgbClr val="000000"/>
              </a:solidFill>
              <a:latin typeface="Calibri"/>
              <a:ea typeface="Calibri"/>
              <a:cs typeface="Calibri"/>
            </a:endParaRPr>
          </a:p>
          <a:p>
            <a:pPr marL="0" indent="0">
              <a:buNone/>
            </a:pPr>
            <a:r>
              <a:rPr lang="en-US" sz="2000" b="1">
                <a:solidFill>
                  <a:schemeClr val="accent4"/>
                </a:solidFill>
                <a:latin typeface="Calibri"/>
                <a:ea typeface="Calibri"/>
                <a:cs typeface="Calibri"/>
              </a:rPr>
              <a:t>PUT </a:t>
            </a:r>
            <a:r>
              <a:rPr lang="en-US" sz="2000">
                <a:latin typeface="Calibri"/>
                <a:ea typeface="Calibri"/>
                <a:cs typeface="Calibri"/>
              </a:rPr>
              <a:t>/functions/v1/app-middleware/transactions : </a:t>
            </a:r>
            <a:r>
              <a:rPr lang="en-US" sz="1500">
                <a:latin typeface="Calibri"/>
                <a:ea typeface="Calibri"/>
                <a:cs typeface="Calibri"/>
              </a:rPr>
              <a:t>Update the state of a transaction, primarily fraud status</a:t>
            </a:r>
          </a:p>
          <a:p>
            <a:pPr marL="0" indent="0">
              <a:buNone/>
            </a:pPr>
            <a:endParaRPr lang="en-US" sz="1500">
              <a:latin typeface="Calibri"/>
              <a:ea typeface="Calibri"/>
              <a:cs typeface="Calibri"/>
            </a:endParaRPr>
          </a:p>
          <a:p>
            <a:pPr marL="0" indent="0">
              <a:buNone/>
            </a:pPr>
            <a:r>
              <a:rPr lang="en-US" sz="2000">
                <a:latin typeface="Calibri"/>
                <a:ea typeface="Calibri"/>
                <a:cs typeface="Calibri"/>
              </a:rPr>
              <a:t> </a:t>
            </a:r>
          </a:p>
          <a:p>
            <a:pPr marL="0" indent="0">
              <a:buNone/>
            </a:pPr>
            <a:endParaRPr lang="en-US" sz="2000">
              <a:latin typeface="Calibri"/>
              <a:ea typeface="Calibri"/>
              <a:cs typeface="Calibri"/>
            </a:endParaRPr>
          </a:p>
        </p:txBody>
      </p:sp>
      <p:pic>
        <p:nvPicPr>
          <p:cNvPr id="5" name="Picture 4" descr="A computer code on a black background&#10;&#10;AI-generated content may be incorrect.">
            <a:extLst>
              <a:ext uri="{FF2B5EF4-FFF2-40B4-BE49-F238E27FC236}">
                <a16:creationId xmlns:a16="http://schemas.microsoft.com/office/drawing/2014/main" id="{5FCDD839-2A59-4340-C84F-B5752CD929E0}"/>
              </a:ext>
            </a:extLst>
          </p:cNvPr>
          <p:cNvPicPr>
            <a:picLocks noChangeAspect="1"/>
          </p:cNvPicPr>
          <p:nvPr/>
        </p:nvPicPr>
        <p:blipFill>
          <a:blip r:embed="rId2"/>
          <a:stretch>
            <a:fillRect/>
          </a:stretch>
        </p:blipFill>
        <p:spPr>
          <a:xfrm>
            <a:off x="659342" y="1240367"/>
            <a:ext cx="4890206" cy="2373490"/>
          </a:xfrm>
          <a:prstGeom prst="rect">
            <a:avLst/>
          </a:prstGeom>
        </p:spPr>
      </p:pic>
      <p:pic>
        <p:nvPicPr>
          <p:cNvPr id="6" name="Picture 5" descr="A black background with orange and white text&#10;&#10;AI-generated content may be incorrect.">
            <a:extLst>
              <a:ext uri="{FF2B5EF4-FFF2-40B4-BE49-F238E27FC236}">
                <a16:creationId xmlns:a16="http://schemas.microsoft.com/office/drawing/2014/main" id="{38B265F3-0CFC-AB24-B05C-58AD13B9919F}"/>
              </a:ext>
            </a:extLst>
          </p:cNvPr>
          <p:cNvPicPr>
            <a:picLocks noChangeAspect="1"/>
          </p:cNvPicPr>
          <p:nvPr/>
        </p:nvPicPr>
        <p:blipFill>
          <a:blip r:embed="rId3"/>
          <a:stretch>
            <a:fillRect/>
          </a:stretch>
        </p:blipFill>
        <p:spPr>
          <a:xfrm>
            <a:off x="657675" y="4397400"/>
            <a:ext cx="4869039" cy="873478"/>
          </a:xfrm>
          <a:prstGeom prst="rect">
            <a:avLst/>
          </a:prstGeom>
        </p:spPr>
      </p:pic>
    </p:spTree>
    <p:extLst>
      <p:ext uri="{BB962C8B-B14F-4D97-AF65-F5344CB8AC3E}">
        <p14:creationId xmlns:p14="http://schemas.microsoft.com/office/powerpoint/2010/main" val="35087485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ED894347-C9A9-4BFD-8A6D-05A2B0CDD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284ED281-4082-46F9-86EE-D78901367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
            <a:ext cx="9379192" cy="4251280"/>
          </a:xfrm>
          <a:custGeom>
            <a:avLst/>
            <a:gdLst>
              <a:gd name="connsiteX0" fmla="*/ 9379192 w 9379192"/>
              <a:gd name="connsiteY0" fmla="*/ 3752527 h 3752527"/>
              <a:gd name="connsiteX1" fmla="*/ 3293459 w 9379192"/>
              <a:gd name="connsiteY1" fmla="*/ 3752527 h 3752527"/>
              <a:gd name="connsiteX2" fmla="*/ 3297156 w 9379192"/>
              <a:gd name="connsiteY2" fmla="*/ 3752055 h 3752527"/>
              <a:gd name="connsiteX3" fmla="*/ 3642095 w 9379192"/>
              <a:gd name="connsiteY3" fmla="*/ 3690141 h 3752527"/>
              <a:gd name="connsiteX4" fmla="*/ 2307659 w 9379192"/>
              <a:gd name="connsiteY4" fmla="*/ 3500267 h 3752527"/>
              <a:gd name="connsiteX5" fmla="*/ 2383194 w 9379192"/>
              <a:gd name="connsiteY5" fmla="*/ 3475501 h 3752527"/>
              <a:gd name="connsiteX6" fmla="*/ 2237161 w 9379192"/>
              <a:gd name="connsiteY6" fmla="*/ 3376437 h 3752527"/>
              <a:gd name="connsiteX7" fmla="*/ 1637924 w 9379192"/>
              <a:gd name="connsiteY7" fmla="*/ 3219585 h 3752527"/>
              <a:gd name="connsiteX8" fmla="*/ 2383194 w 9379192"/>
              <a:gd name="connsiteY8" fmla="*/ 2955415 h 3752527"/>
              <a:gd name="connsiteX9" fmla="*/ 1542249 w 9379192"/>
              <a:gd name="connsiteY9" fmla="*/ 2596307 h 3752527"/>
              <a:gd name="connsiteX10" fmla="*/ 1114221 w 9379192"/>
              <a:gd name="connsiteY10" fmla="*/ 2509625 h 3752527"/>
              <a:gd name="connsiteX11" fmla="*/ 2524191 w 9379192"/>
              <a:gd name="connsiteY11" fmla="*/ 2059708 h 3752527"/>
              <a:gd name="connsiteX12" fmla="*/ 238027 w 9379192"/>
              <a:gd name="connsiteY12" fmla="*/ 1836815 h 3752527"/>
              <a:gd name="connsiteX13" fmla="*/ 424343 w 9379192"/>
              <a:gd name="connsiteY13" fmla="*/ 1746006 h 3752527"/>
              <a:gd name="connsiteX14" fmla="*/ 1844384 w 9379192"/>
              <a:gd name="connsiteY14" fmla="*/ 1770772 h 3752527"/>
              <a:gd name="connsiteX15" fmla="*/ 2081058 w 9379192"/>
              <a:gd name="connsiteY15" fmla="*/ 1700602 h 3752527"/>
              <a:gd name="connsiteX16" fmla="*/ 1844384 w 9379192"/>
              <a:gd name="connsiteY16" fmla="*/ 1589154 h 3752527"/>
              <a:gd name="connsiteX17" fmla="*/ 922869 w 9379192"/>
              <a:gd name="connsiteY17" fmla="*/ 1506601 h 3752527"/>
              <a:gd name="connsiteX18" fmla="*/ 681160 w 9379192"/>
              <a:gd name="connsiteY18" fmla="*/ 1320855 h 3752527"/>
              <a:gd name="connsiteX19" fmla="*/ 273276 w 9379192"/>
              <a:gd name="connsiteY19" fmla="*/ 1106216 h 3752527"/>
              <a:gd name="connsiteX20" fmla="*/ 555269 w 9379192"/>
              <a:gd name="connsiteY20" fmla="*/ 928727 h 3752527"/>
              <a:gd name="connsiteX21" fmla="*/ 97029 w 9379192"/>
              <a:gd name="connsiteY21" fmla="*/ 664555 h 3752527"/>
              <a:gd name="connsiteX22" fmla="*/ 227955 w 9379192"/>
              <a:gd name="connsiteY22" fmla="*/ 317831 h 3752527"/>
              <a:gd name="connsiteX23" fmla="*/ 998402 w 9379192"/>
              <a:gd name="connsiteY23" fmla="*/ 235277 h 3752527"/>
              <a:gd name="connsiteX24" fmla="*/ 2030701 w 9379192"/>
              <a:gd name="connsiteY24" fmla="*/ 115575 h 3752527"/>
              <a:gd name="connsiteX25" fmla="*/ 3068036 w 9379192"/>
              <a:gd name="connsiteY25" fmla="*/ 12383 h 3752527"/>
              <a:gd name="connsiteX26" fmla="*/ 4105370 w 9379192"/>
              <a:gd name="connsiteY26" fmla="*/ 12383 h 3752527"/>
              <a:gd name="connsiteX27" fmla="*/ 4402472 w 9379192"/>
              <a:gd name="connsiteY27" fmla="*/ 20638 h 3752527"/>
              <a:gd name="connsiteX28" fmla="*/ 4407507 w 9379192"/>
              <a:gd name="connsiteY28" fmla="*/ 20638 h 3752527"/>
              <a:gd name="connsiteX29" fmla="*/ 5696622 w 9379192"/>
              <a:gd name="connsiteY29" fmla="*/ 57788 h 3752527"/>
              <a:gd name="connsiteX30" fmla="*/ 6175004 w 9379192"/>
              <a:gd name="connsiteY30" fmla="*/ 61915 h 3752527"/>
              <a:gd name="connsiteX31" fmla="*/ 7212339 w 9379192"/>
              <a:gd name="connsiteY31" fmla="*/ 66042 h 3752527"/>
              <a:gd name="connsiteX32" fmla="*/ 8244638 w 9379192"/>
              <a:gd name="connsiteY32" fmla="*/ 49532 h 3752527"/>
              <a:gd name="connsiteX33" fmla="*/ 9292044 w 9379192"/>
              <a:gd name="connsiteY33" fmla="*/ 0 h 3752527"/>
              <a:gd name="connsiteX34" fmla="*/ 9379192 w 9379192"/>
              <a:gd name="connsiteY34" fmla="*/ 2762 h 3752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9379192" h="3752527">
                <a:moveTo>
                  <a:pt x="9379192" y="3752527"/>
                </a:moveTo>
                <a:lnTo>
                  <a:pt x="3293459" y="3752527"/>
                </a:lnTo>
                <a:lnTo>
                  <a:pt x="3297156" y="3752055"/>
                </a:lnTo>
                <a:cubicBezTo>
                  <a:pt x="3412975" y="3736577"/>
                  <a:pt x="3551454" y="3714906"/>
                  <a:pt x="3642095" y="3690141"/>
                </a:cubicBezTo>
                <a:cubicBezTo>
                  <a:pt x="3380244" y="3686012"/>
                  <a:pt x="2347945" y="3529162"/>
                  <a:pt x="2307659" y="3500267"/>
                </a:cubicBezTo>
                <a:cubicBezTo>
                  <a:pt x="2327803" y="3492012"/>
                  <a:pt x="2358017" y="3483757"/>
                  <a:pt x="2383194" y="3475501"/>
                </a:cubicBezTo>
                <a:cubicBezTo>
                  <a:pt x="2327803" y="3450736"/>
                  <a:pt x="2282482" y="3421842"/>
                  <a:pt x="2237161" y="3376437"/>
                </a:cubicBezTo>
                <a:cubicBezTo>
                  <a:pt x="2091129" y="3223714"/>
                  <a:pt x="1844384" y="3277374"/>
                  <a:pt x="1637924" y="3219585"/>
                </a:cubicBezTo>
                <a:cubicBezTo>
                  <a:pt x="1768850" y="2897627"/>
                  <a:pt x="2116307" y="3017329"/>
                  <a:pt x="2383194" y="2955415"/>
                </a:cubicBezTo>
                <a:cubicBezTo>
                  <a:pt x="1683245" y="2765541"/>
                  <a:pt x="1819207" y="2666477"/>
                  <a:pt x="1542249" y="2596307"/>
                </a:cubicBezTo>
                <a:cubicBezTo>
                  <a:pt x="1194791" y="2509625"/>
                  <a:pt x="1114221" y="2509625"/>
                  <a:pt x="1114221" y="2509625"/>
                </a:cubicBezTo>
                <a:cubicBezTo>
                  <a:pt x="1522105" y="2245455"/>
                  <a:pt x="2010559" y="2530264"/>
                  <a:pt x="2524191" y="2059708"/>
                </a:cubicBezTo>
                <a:cubicBezTo>
                  <a:pt x="2030701" y="1993667"/>
                  <a:pt x="555269" y="1960645"/>
                  <a:pt x="238027" y="1836815"/>
                </a:cubicBezTo>
                <a:cubicBezTo>
                  <a:pt x="358880" y="1882219"/>
                  <a:pt x="368952" y="1746006"/>
                  <a:pt x="424343" y="1746006"/>
                </a:cubicBezTo>
                <a:cubicBezTo>
                  <a:pt x="892655" y="1741879"/>
                  <a:pt x="1371037" y="1820305"/>
                  <a:pt x="1844384" y="1770772"/>
                </a:cubicBezTo>
                <a:cubicBezTo>
                  <a:pt x="1929989" y="1766645"/>
                  <a:pt x="2065951" y="1803793"/>
                  <a:pt x="2081058" y="1700602"/>
                </a:cubicBezTo>
                <a:cubicBezTo>
                  <a:pt x="2096164" y="1572644"/>
                  <a:pt x="1919919" y="1601537"/>
                  <a:pt x="1844384" y="1589154"/>
                </a:cubicBezTo>
                <a:cubicBezTo>
                  <a:pt x="1537212" y="1547877"/>
                  <a:pt x="1235076" y="1531367"/>
                  <a:pt x="922869" y="1506601"/>
                </a:cubicBezTo>
                <a:cubicBezTo>
                  <a:pt x="791943" y="1494218"/>
                  <a:pt x="630804" y="1518984"/>
                  <a:pt x="681160" y="1320855"/>
                </a:cubicBezTo>
                <a:cubicBezTo>
                  <a:pt x="640874" y="1130983"/>
                  <a:pt x="399166" y="1197025"/>
                  <a:pt x="273276" y="1106216"/>
                </a:cubicBezTo>
                <a:cubicBezTo>
                  <a:pt x="333703" y="998897"/>
                  <a:pt x="504913" y="1073196"/>
                  <a:pt x="555269" y="928727"/>
                </a:cubicBezTo>
                <a:cubicBezTo>
                  <a:pt x="313560" y="974131"/>
                  <a:pt x="338738" y="660428"/>
                  <a:pt x="97029" y="664555"/>
                </a:cubicBezTo>
                <a:cubicBezTo>
                  <a:pt x="-104395" y="478810"/>
                  <a:pt x="41638" y="388001"/>
                  <a:pt x="227955" y="317831"/>
                </a:cubicBezTo>
                <a:cubicBezTo>
                  <a:pt x="469664" y="231150"/>
                  <a:pt x="736551" y="251788"/>
                  <a:pt x="998402" y="235277"/>
                </a:cubicBezTo>
                <a:cubicBezTo>
                  <a:pt x="1345860" y="198128"/>
                  <a:pt x="1678209" y="111447"/>
                  <a:pt x="2030701" y="115575"/>
                </a:cubicBezTo>
                <a:cubicBezTo>
                  <a:pt x="2363052" y="28893"/>
                  <a:pt x="2730650" y="123829"/>
                  <a:pt x="3068036" y="12383"/>
                </a:cubicBezTo>
                <a:cubicBezTo>
                  <a:pt x="3410457" y="12383"/>
                  <a:pt x="3757914" y="12383"/>
                  <a:pt x="4105370" y="12383"/>
                </a:cubicBezTo>
                <a:cubicBezTo>
                  <a:pt x="4206084" y="16510"/>
                  <a:pt x="4301759" y="16510"/>
                  <a:pt x="4402472" y="20638"/>
                </a:cubicBezTo>
                <a:cubicBezTo>
                  <a:pt x="4402472" y="20638"/>
                  <a:pt x="4407507" y="20638"/>
                  <a:pt x="4407507" y="20638"/>
                </a:cubicBezTo>
                <a:cubicBezTo>
                  <a:pt x="4840570" y="33022"/>
                  <a:pt x="5268596" y="41276"/>
                  <a:pt x="5696622" y="57788"/>
                </a:cubicBezTo>
                <a:cubicBezTo>
                  <a:pt x="5857761" y="57788"/>
                  <a:pt x="6013864" y="61915"/>
                  <a:pt x="6175004" y="61915"/>
                </a:cubicBezTo>
                <a:cubicBezTo>
                  <a:pt x="6517425" y="82553"/>
                  <a:pt x="6864883" y="94936"/>
                  <a:pt x="7212339" y="66042"/>
                </a:cubicBezTo>
                <a:cubicBezTo>
                  <a:pt x="7559796" y="90809"/>
                  <a:pt x="7897182" y="74298"/>
                  <a:pt x="8244638" y="49532"/>
                </a:cubicBezTo>
                <a:cubicBezTo>
                  <a:pt x="8597130" y="78426"/>
                  <a:pt x="8944587" y="37149"/>
                  <a:pt x="9292044" y="0"/>
                </a:cubicBezTo>
                <a:lnTo>
                  <a:pt x="9379192" y="2762"/>
                </a:lnTo>
                <a:close/>
              </a:path>
            </a:pathLst>
          </a:custGeom>
          <a:solidFill>
            <a:schemeClr val="bg2">
              <a:alpha val="50000"/>
            </a:schemeClr>
          </a:solidFill>
          <a:ln w="32707" cap="flat">
            <a:noFill/>
            <a:prstDash val="solid"/>
            <a:miter/>
          </a:ln>
        </p:spPr>
        <p:txBody>
          <a:bodyPr rtlCol="0" anchor="ctr"/>
          <a:lstStyle/>
          <a:p>
            <a:endParaRPr lang="en-US"/>
          </a:p>
        </p:txBody>
      </p:sp>
      <p:sp>
        <p:nvSpPr>
          <p:cNvPr id="26" name="Freeform: Shape 23">
            <a:extLst>
              <a:ext uri="{FF2B5EF4-FFF2-40B4-BE49-F238E27FC236}">
                <a16:creationId xmlns:a16="http://schemas.microsoft.com/office/drawing/2014/main" id="{5531D9B7-48AB-4407-A9E8-13391FCB2E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9902" flipV="1">
            <a:off x="5210629" y="4242714"/>
            <a:ext cx="7104297" cy="3137347"/>
          </a:xfrm>
          <a:custGeom>
            <a:avLst/>
            <a:gdLst>
              <a:gd name="connsiteX0" fmla="*/ 6772629 w 7104297"/>
              <a:gd name="connsiteY0" fmla="*/ 3137347 h 3137347"/>
              <a:gd name="connsiteX1" fmla="*/ 7104297 w 7104297"/>
              <a:gd name="connsiteY1" fmla="*/ 1081624 h 3137347"/>
              <a:gd name="connsiteX2" fmla="*/ 400225 w 7104297"/>
              <a:gd name="connsiteY2" fmla="*/ 0 h 3137347"/>
              <a:gd name="connsiteX3" fmla="*/ 277738 w 7104297"/>
              <a:gd name="connsiteY3" fmla="*/ 5048 h 3137347"/>
              <a:gd name="connsiteX4" fmla="*/ 0 w 7104297"/>
              <a:gd name="connsiteY4" fmla="*/ 23585 h 3137347"/>
              <a:gd name="connsiteX5" fmla="*/ 296410 w 7104297"/>
              <a:gd name="connsiteY5" fmla="*/ 136472 h 3137347"/>
              <a:gd name="connsiteX6" fmla="*/ 396403 w 7104297"/>
              <a:gd name="connsiteY6" fmla="*/ 445861 h 3137347"/>
              <a:gd name="connsiteX7" fmla="*/ 760665 w 7104297"/>
              <a:gd name="connsiteY7" fmla="*/ 621461 h 3137347"/>
              <a:gd name="connsiteX8" fmla="*/ 996368 w 7104297"/>
              <a:gd name="connsiteY8" fmla="*/ 684176 h 3137347"/>
              <a:gd name="connsiteX9" fmla="*/ 1535617 w 7104297"/>
              <a:gd name="connsiteY9" fmla="*/ 776157 h 3137347"/>
              <a:gd name="connsiteX10" fmla="*/ 1614185 w 7104297"/>
              <a:gd name="connsiteY10" fmla="*/ 926671 h 3137347"/>
              <a:gd name="connsiteX11" fmla="*/ 1682037 w 7104297"/>
              <a:gd name="connsiteY11" fmla="*/ 1093909 h 3137347"/>
              <a:gd name="connsiteX12" fmla="*/ 1824886 w 7104297"/>
              <a:gd name="connsiteY12" fmla="*/ 1202614 h 3137347"/>
              <a:gd name="connsiteX13" fmla="*/ 714243 w 7104297"/>
              <a:gd name="connsiteY13" fmla="*/ 1185890 h 3137347"/>
              <a:gd name="connsiteX14" fmla="*/ 1967733 w 7104297"/>
              <a:gd name="connsiteY14" fmla="*/ 1537090 h 3137347"/>
              <a:gd name="connsiteX15" fmla="*/ 1857026 w 7104297"/>
              <a:gd name="connsiteY15" fmla="*/ 1675062 h 3137347"/>
              <a:gd name="connsiteX16" fmla="*/ 2542697 w 7104297"/>
              <a:gd name="connsiteY16" fmla="*/ 1863205 h 3137347"/>
              <a:gd name="connsiteX17" fmla="*/ 2174863 w 7104297"/>
              <a:gd name="connsiteY17" fmla="*/ 1884109 h 3137347"/>
              <a:gd name="connsiteX18" fmla="*/ 4314015 w 7104297"/>
              <a:gd name="connsiteY18" fmla="*/ 2670128 h 3137347"/>
              <a:gd name="connsiteX19" fmla="*/ 5430784 w 7104297"/>
              <a:gd name="connsiteY19" fmla="*/ 2889725 h 3137347"/>
              <a:gd name="connsiteX20" fmla="*/ 6613344 w 7104297"/>
              <a:gd name="connsiteY20" fmla="*/ 3108822 h 3137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104297" h="3137347">
                <a:moveTo>
                  <a:pt x="6772629" y="3137347"/>
                </a:moveTo>
                <a:lnTo>
                  <a:pt x="7104297" y="1081624"/>
                </a:lnTo>
                <a:lnTo>
                  <a:pt x="400225" y="0"/>
                </a:lnTo>
                <a:lnTo>
                  <a:pt x="277738" y="5048"/>
                </a:lnTo>
                <a:cubicBezTo>
                  <a:pt x="185423" y="9801"/>
                  <a:pt x="92851" y="15745"/>
                  <a:pt x="0" y="23585"/>
                </a:cubicBezTo>
                <a:cubicBezTo>
                  <a:pt x="96424" y="149013"/>
                  <a:pt x="221416" y="44490"/>
                  <a:pt x="296410" y="136472"/>
                </a:cubicBezTo>
                <a:cubicBezTo>
                  <a:pt x="224986" y="328795"/>
                  <a:pt x="253557" y="433318"/>
                  <a:pt x="396403" y="445861"/>
                </a:cubicBezTo>
                <a:cubicBezTo>
                  <a:pt x="535682" y="458403"/>
                  <a:pt x="685672" y="391507"/>
                  <a:pt x="760665" y="621461"/>
                </a:cubicBezTo>
                <a:cubicBezTo>
                  <a:pt x="782093" y="692537"/>
                  <a:pt x="914229" y="671633"/>
                  <a:pt x="996368" y="684176"/>
                </a:cubicBezTo>
                <a:cubicBezTo>
                  <a:pt x="1174926" y="713442"/>
                  <a:pt x="1364202" y="684176"/>
                  <a:pt x="1535617" y="776157"/>
                </a:cubicBezTo>
                <a:cubicBezTo>
                  <a:pt x="1603471" y="809604"/>
                  <a:pt x="1649896" y="834690"/>
                  <a:pt x="1614185" y="926671"/>
                </a:cubicBezTo>
                <a:cubicBezTo>
                  <a:pt x="1578472" y="1022833"/>
                  <a:pt x="1624898" y="1056279"/>
                  <a:pt x="1682037" y="1093909"/>
                </a:cubicBezTo>
                <a:cubicBezTo>
                  <a:pt x="1724892" y="1123175"/>
                  <a:pt x="1789173" y="1114814"/>
                  <a:pt x="1824886" y="1202614"/>
                </a:cubicBezTo>
                <a:cubicBezTo>
                  <a:pt x="1449909" y="1190070"/>
                  <a:pt x="1085647" y="1118994"/>
                  <a:pt x="714243" y="1185890"/>
                </a:cubicBezTo>
                <a:cubicBezTo>
                  <a:pt x="1121358" y="1353128"/>
                  <a:pt x="1567759" y="1344765"/>
                  <a:pt x="1967733" y="1537090"/>
                </a:cubicBezTo>
                <a:cubicBezTo>
                  <a:pt x="1953448" y="1603986"/>
                  <a:pt x="1860597" y="1574718"/>
                  <a:pt x="1857026" y="1675062"/>
                </a:cubicBezTo>
                <a:cubicBezTo>
                  <a:pt x="2067727" y="1779586"/>
                  <a:pt x="2321284" y="1708508"/>
                  <a:pt x="2542697" y="1863205"/>
                </a:cubicBezTo>
                <a:cubicBezTo>
                  <a:pt x="2414134" y="1934281"/>
                  <a:pt x="2296285" y="1817213"/>
                  <a:pt x="2174863" y="1884109"/>
                </a:cubicBezTo>
                <a:cubicBezTo>
                  <a:pt x="2214147" y="1984452"/>
                  <a:pt x="3992607" y="2603233"/>
                  <a:pt x="4314015" y="2670128"/>
                </a:cubicBezTo>
                <a:cubicBezTo>
                  <a:pt x="4559090" y="2721868"/>
                  <a:pt x="4976921" y="2803592"/>
                  <a:pt x="5430784" y="2889725"/>
                </a:cubicBezTo>
                <a:cubicBezTo>
                  <a:pt x="5827914" y="2965093"/>
                  <a:pt x="6252633" y="3043836"/>
                  <a:pt x="6613344" y="3108822"/>
                </a:cubicBezTo>
                <a:close/>
              </a:path>
            </a:pathLst>
          </a:custGeom>
          <a:solidFill>
            <a:schemeClr val="bg2">
              <a:alpha val="5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39054E8B-C0ED-0B54-2887-D87336068C7D}"/>
              </a:ext>
            </a:extLst>
          </p:cNvPr>
          <p:cNvSpPr>
            <a:spLocks noGrp="1"/>
          </p:cNvSpPr>
          <p:nvPr>
            <p:ph type="title"/>
          </p:nvPr>
        </p:nvSpPr>
        <p:spPr>
          <a:xfrm>
            <a:off x="864326" y="-339635"/>
            <a:ext cx="9924453" cy="1603193"/>
          </a:xfrm>
        </p:spPr>
        <p:txBody>
          <a:bodyPr vert="horz" lIns="91440" tIns="45720" rIns="91440" bIns="45720" rtlCol="0" anchor="b">
            <a:normAutofit/>
          </a:bodyPr>
          <a:lstStyle/>
          <a:p>
            <a:r>
              <a:rPr lang="en-US" sz="5200" b="1" kern="1200">
                <a:latin typeface="+mj-lt"/>
                <a:ea typeface="+mj-ea"/>
                <a:cs typeface="+mj-cs"/>
              </a:rPr>
              <a:t>WIKI Page</a:t>
            </a:r>
            <a:r>
              <a:rPr lang="en-US" sz="5200" b="1"/>
              <a:t> &amp; </a:t>
            </a:r>
            <a:r>
              <a:rPr lang="en-US" sz="5200" b="1" err="1"/>
              <a:t>Github</a:t>
            </a:r>
            <a:r>
              <a:rPr lang="en-US" sz="5200" b="1"/>
              <a:t> Repository</a:t>
            </a:r>
            <a:endParaRPr lang="en-US" sz="5200" b="1" kern="1200">
              <a:latin typeface="+mj-lt"/>
            </a:endParaRPr>
          </a:p>
        </p:txBody>
      </p:sp>
      <p:sp>
        <p:nvSpPr>
          <p:cNvPr id="3" name="TextBox 2">
            <a:extLst>
              <a:ext uri="{FF2B5EF4-FFF2-40B4-BE49-F238E27FC236}">
                <a16:creationId xmlns:a16="http://schemas.microsoft.com/office/drawing/2014/main" id="{F96324B0-EFAA-2BBA-B5CA-4C76C55085D0}"/>
              </a:ext>
            </a:extLst>
          </p:cNvPr>
          <p:cNvSpPr txBox="1"/>
          <p:nvPr/>
        </p:nvSpPr>
        <p:spPr>
          <a:xfrm>
            <a:off x="1084729" y="1613647"/>
            <a:ext cx="637390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hlinkClick r:id="rId2"/>
              </a:rPr>
              <a:t>IT Architects Wiki Page</a:t>
            </a:r>
          </a:p>
          <a:p>
            <a:endParaRPr lang="en-US"/>
          </a:p>
          <a:p>
            <a:r>
              <a:rPr lang="en-US">
                <a:hlinkClick r:id="rId3"/>
              </a:rPr>
              <a:t>IT Architects Github Repository</a:t>
            </a:r>
          </a:p>
        </p:txBody>
      </p:sp>
    </p:spTree>
    <p:extLst>
      <p:ext uri="{BB962C8B-B14F-4D97-AF65-F5344CB8AC3E}">
        <p14:creationId xmlns:p14="http://schemas.microsoft.com/office/powerpoint/2010/main" val="11695377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1FABBDD-BEEB-47CC-9DC2-83E0BCD19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72E14A10-F6FE-46B8-9F62-D170790442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7625" y="0"/>
            <a:ext cx="11097905" cy="6858000"/>
            <a:chOff x="547625" y="0"/>
            <a:chExt cx="11097905" cy="6858000"/>
          </a:xfrm>
        </p:grpSpPr>
        <p:sp>
          <p:nvSpPr>
            <p:cNvPr id="11" name="Freeform: Shape 10">
              <a:extLst>
                <a:ext uri="{FF2B5EF4-FFF2-40B4-BE49-F238E27FC236}">
                  <a16:creationId xmlns:a16="http://schemas.microsoft.com/office/drawing/2014/main" id="{CF9D6573-DAA5-4FC7-9CC6-80FFE63718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907575" y="0"/>
              <a:ext cx="10345003" cy="6858000"/>
            </a:xfrm>
            <a:custGeom>
              <a:avLst/>
              <a:gdLst>
                <a:gd name="connsiteX0" fmla="*/ 7551973 w 9174595"/>
                <a:gd name="connsiteY0" fmla="*/ 0 h 6858000"/>
                <a:gd name="connsiteX1" fmla="*/ 5634635 w 9174595"/>
                <a:gd name="connsiteY1" fmla="*/ 0 h 6858000"/>
                <a:gd name="connsiteX2" fmla="*/ 5550590 w 9174595"/>
                <a:gd name="connsiteY2" fmla="*/ 0 h 6858000"/>
                <a:gd name="connsiteX3" fmla="*/ 5480986 w 9174595"/>
                <a:gd name="connsiteY3" fmla="*/ 0 h 6858000"/>
                <a:gd name="connsiteX4" fmla="*/ 4886240 w 9174595"/>
                <a:gd name="connsiteY4" fmla="*/ 0 h 6858000"/>
                <a:gd name="connsiteX5" fmla="*/ 4816638 w 9174595"/>
                <a:gd name="connsiteY5" fmla="*/ 0 h 6858000"/>
                <a:gd name="connsiteX6" fmla="*/ 4357958 w 9174595"/>
                <a:gd name="connsiteY6" fmla="*/ 0 h 6858000"/>
                <a:gd name="connsiteX7" fmla="*/ 4288354 w 9174595"/>
                <a:gd name="connsiteY7" fmla="*/ 0 h 6858000"/>
                <a:gd name="connsiteX8" fmla="*/ 3693608 w 9174595"/>
                <a:gd name="connsiteY8" fmla="*/ 0 h 6858000"/>
                <a:gd name="connsiteX9" fmla="*/ 3624006 w 9174595"/>
                <a:gd name="connsiteY9" fmla="*/ 0 h 6858000"/>
                <a:gd name="connsiteX10" fmla="*/ 3276448 w 9174595"/>
                <a:gd name="connsiteY10" fmla="*/ 0 h 6858000"/>
                <a:gd name="connsiteX11" fmla="*/ 1622622 w 9174595"/>
                <a:gd name="connsiteY11" fmla="*/ 0 h 6858000"/>
                <a:gd name="connsiteX12" fmla="*/ 1600504 w 9174595"/>
                <a:gd name="connsiteY12" fmla="*/ 14997 h 6858000"/>
                <a:gd name="connsiteX13" fmla="*/ 0 w 9174595"/>
                <a:gd name="connsiteY13" fmla="*/ 3621656 h 6858000"/>
                <a:gd name="connsiteX14" fmla="*/ 1873886 w 9174595"/>
                <a:gd name="connsiteY14" fmla="*/ 6374814 h 6858000"/>
                <a:gd name="connsiteX15" fmla="*/ 2390406 w 9174595"/>
                <a:gd name="connsiteY15" fmla="*/ 6780599 h 6858000"/>
                <a:gd name="connsiteX16" fmla="*/ 2502136 w 9174595"/>
                <a:gd name="connsiteY16" fmla="*/ 6858000 h 6858000"/>
                <a:gd name="connsiteX17" fmla="*/ 3276448 w 9174595"/>
                <a:gd name="connsiteY17" fmla="*/ 6858000 h 6858000"/>
                <a:gd name="connsiteX18" fmla="*/ 3624006 w 9174595"/>
                <a:gd name="connsiteY18" fmla="*/ 6858000 h 6858000"/>
                <a:gd name="connsiteX19" fmla="*/ 3693608 w 9174595"/>
                <a:gd name="connsiteY19" fmla="*/ 6858000 h 6858000"/>
                <a:gd name="connsiteX20" fmla="*/ 4288354 w 9174595"/>
                <a:gd name="connsiteY20" fmla="*/ 6858000 h 6858000"/>
                <a:gd name="connsiteX21" fmla="*/ 4357958 w 9174595"/>
                <a:gd name="connsiteY21" fmla="*/ 6858000 h 6858000"/>
                <a:gd name="connsiteX22" fmla="*/ 4816638 w 9174595"/>
                <a:gd name="connsiteY22" fmla="*/ 6858000 h 6858000"/>
                <a:gd name="connsiteX23" fmla="*/ 4886240 w 9174595"/>
                <a:gd name="connsiteY23" fmla="*/ 6858000 h 6858000"/>
                <a:gd name="connsiteX24" fmla="*/ 5480986 w 9174595"/>
                <a:gd name="connsiteY24" fmla="*/ 6858000 h 6858000"/>
                <a:gd name="connsiteX25" fmla="*/ 5550590 w 9174595"/>
                <a:gd name="connsiteY25" fmla="*/ 6858000 h 6858000"/>
                <a:gd name="connsiteX26" fmla="*/ 5634635 w 9174595"/>
                <a:gd name="connsiteY26" fmla="*/ 6858000 h 6858000"/>
                <a:gd name="connsiteX27" fmla="*/ 6672460 w 9174595"/>
                <a:gd name="connsiteY27" fmla="*/ 6858000 h 6858000"/>
                <a:gd name="connsiteX28" fmla="*/ 6784188 w 9174595"/>
                <a:gd name="connsiteY28" fmla="*/ 6780599 h 6858000"/>
                <a:gd name="connsiteX29" fmla="*/ 7300708 w 9174595"/>
                <a:gd name="connsiteY29" fmla="*/ 6374814 h 6858000"/>
                <a:gd name="connsiteX30" fmla="*/ 9174595 w 9174595"/>
                <a:gd name="connsiteY30" fmla="*/ 3621656 h 6858000"/>
                <a:gd name="connsiteX31" fmla="*/ 7574092 w 9174595"/>
                <a:gd name="connsiteY3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174595" h="6858000">
                  <a:moveTo>
                    <a:pt x="7551973" y="0"/>
                  </a:moveTo>
                  <a:lnTo>
                    <a:pt x="5634635" y="0"/>
                  </a:lnTo>
                  <a:lnTo>
                    <a:pt x="5550590" y="0"/>
                  </a:lnTo>
                  <a:lnTo>
                    <a:pt x="5480986" y="0"/>
                  </a:lnTo>
                  <a:lnTo>
                    <a:pt x="4886240" y="0"/>
                  </a:lnTo>
                  <a:lnTo>
                    <a:pt x="4816638" y="0"/>
                  </a:lnTo>
                  <a:lnTo>
                    <a:pt x="4357958" y="0"/>
                  </a:lnTo>
                  <a:lnTo>
                    <a:pt x="4288354" y="0"/>
                  </a:lnTo>
                  <a:lnTo>
                    <a:pt x="3693608" y="0"/>
                  </a:lnTo>
                  <a:lnTo>
                    <a:pt x="3624006" y="0"/>
                  </a:lnTo>
                  <a:lnTo>
                    <a:pt x="3276448" y="0"/>
                  </a:lnTo>
                  <a:lnTo>
                    <a:pt x="1622622" y="0"/>
                  </a:lnTo>
                  <a:lnTo>
                    <a:pt x="1600504" y="14997"/>
                  </a:lnTo>
                  <a:cubicBezTo>
                    <a:pt x="573594" y="754641"/>
                    <a:pt x="0" y="2093192"/>
                    <a:pt x="0" y="3621656"/>
                  </a:cubicBezTo>
                  <a:cubicBezTo>
                    <a:pt x="0" y="4969131"/>
                    <a:pt x="928496" y="5602839"/>
                    <a:pt x="1873886" y="6374814"/>
                  </a:cubicBezTo>
                  <a:cubicBezTo>
                    <a:pt x="2046046" y="6515397"/>
                    <a:pt x="2216632" y="6653108"/>
                    <a:pt x="2390406" y="6780599"/>
                  </a:cubicBezTo>
                  <a:lnTo>
                    <a:pt x="2502136" y="6858000"/>
                  </a:lnTo>
                  <a:lnTo>
                    <a:pt x="3276448" y="6858000"/>
                  </a:lnTo>
                  <a:lnTo>
                    <a:pt x="3624006" y="6858000"/>
                  </a:lnTo>
                  <a:lnTo>
                    <a:pt x="3693608" y="6858000"/>
                  </a:lnTo>
                  <a:lnTo>
                    <a:pt x="4288354" y="6858000"/>
                  </a:lnTo>
                  <a:lnTo>
                    <a:pt x="4357958" y="6858000"/>
                  </a:lnTo>
                  <a:lnTo>
                    <a:pt x="4816638" y="6858000"/>
                  </a:lnTo>
                  <a:lnTo>
                    <a:pt x="4886240" y="6858000"/>
                  </a:lnTo>
                  <a:lnTo>
                    <a:pt x="5480986" y="6858000"/>
                  </a:lnTo>
                  <a:lnTo>
                    <a:pt x="5550590" y="6858000"/>
                  </a:lnTo>
                  <a:lnTo>
                    <a:pt x="5634635" y="6858000"/>
                  </a:lnTo>
                  <a:lnTo>
                    <a:pt x="6672460" y="6858000"/>
                  </a:lnTo>
                  <a:lnTo>
                    <a:pt x="6784188" y="6780599"/>
                  </a:lnTo>
                  <a:cubicBezTo>
                    <a:pt x="6957963" y="6653108"/>
                    <a:pt x="7128548" y="6515397"/>
                    <a:pt x="7300708" y="6374814"/>
                  </a:cubicBezTo>
                  <a:cubicBezTo>
                    <a:pt x="8246100" y="5602839"/>
                    <a:pt x="9174595" y="4969131"/>
                    <a:pt x="9174595" y="3621656"/>
                  </a:cubicBezTo>
                  <a:cubicBezTo>
                    <a:pt x="9174595" y="2093192"/>
                    <a:pt x="8601001" y="754641"/>
                    <a:pt x="7574092" y="14997"/>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99300304-8097-4497-B7D7-CF98A9A74F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708673"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916BEB36-8C72-450B-A22A-48D547666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75235"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9D8BC9E3-E539-449C-B557-4074751AEF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547625" y="0"/>
              <a:ext cx="2209181" cy="6858000"/>
            </a:xfrm>
            <a:custGeom>
              <a:avLst/>
              <a:gdLst>
                <a:gd name="connsiteX0" fmla="*/ 955085 w 2209181"/>
                <a:gd name="connsiteY0" fmla="*/ 0 h 6858000"/>
                <a:gd name="connsiteX1" fmla="*/ 937727 w 2209181"/>
                <a:gd name="connsiteY1" fmla="*/ 0 h 6858000"/>
                <a:gd name="connsiteX2" fmla="*/ 963738 w 2209181"/>
                <a:gd name="connsiteY2" fmla="*/ 24346 h 6858000"/>
                <a:gd name="connsiteX3" fmla="*/ 2184004 w 2209181"/>
                <a:gd name="connsiteY3" fmla="*/ 3809420 h 6858000"/>
                <a:gd name="connsiteX4" fmla="*/ 218679 w 2209181"/>
                <a:gd name="connsiteY4" fmla="*/ 6681644 h 6858000"/>
                <a:gd name="connsiteX5" fmla="*/ 0 w 2209181"/>
                <a:gd name="connsiteY5" fmla="*/ 6858000 h 6858000"/>
                <a:gd name="connsiteX6" fmla="*/ 19349 w 2209181"/>
                <a:gd name="connsiteY6" fmla="*/ 6858000 h 6858000"/>
                <a:gd name="connsiteX7" fmla="*/ 236958 w 2209181"/>
                <a:gd name="connsiteY7" fmla="*/ 6682507 h 6858000"/>
                <a:gd name="connsiteX8" fmla="*/ 2202283 w 2209181"/>
                <a:gd name="connsiteY8" fmla="*/ 3810283 h 6858000"/>
                <a:gd name="connsiteX9" fmla="*/ 982018 w 2209181"/>
                <a:gd name="connsiteY9" fmla="*/ 2521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55085" y="0"/>
                  </a:moveTo>
                  <a:lnTo>
                    <a:pt x="937727" y="0"/>
                  </a:lnTo>
                  <a:lnTo>
                    <a:pt x="963738" y="24346"/>
                  </a:lnTo>
                  <a:cubicBezTo>
                    <a:pt x="1818009" y="885455"/>
                    <a:pt x="2251801" y="2269402"/>
                    <a:pt x="2184004" y="3809420"/>
                  </a:cubicBezTo>
                  <a:cubicBezTo>
                    <a:pt x="2120250" y="5257592"/>
                    <a:pt x="1181008" y="5895709"/>
                    <a:pt x="218679" y="6681644"/>
                  </a:cubicBezTo>
                  <a:lnTo>
                    <a:pt x="0" y="6858000"/>
                  </a:lnTo>
                  <a:lnTo>
                    <a:pt x="19349" y="6858000"/>
                  </a:lnTo>
                  <a:lnTo>
                    <a:pt x="236958" y="6682507"/>
                  </a:lnTo>
                  <a:cubicBezTo>
                    <a:pt x="1199288" y="5896573"/>
                    <a:pt x="2138530" y="5258455"/>
                    <a:pt x="2202283" y="3810283"/>
                  </a:cubicBezTo>
                  <a:cubicBezTo>
                    <a:pt x="2270080" y="2270266"/>
                    <a:pt x="1836289" y="886318"/>
                    <a:pt x="982018" y="25210"/>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074FC277-4245-45E3-A41E-BE1CFF33C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36349" y="0"/>
              <a:ext cx="2209181" cy="6858000"/>
            </a:xfrm>
            <a:custGeom>
              <a:avLst/>
              <a:gdLst>
                <a:gd name="connsiteX0" fmla="*/ 937727 w 2209181"/>
                <a:gd name="connsiteY0" fmla="*/ 0 h 6858000"/>
                <a:gd name="connsiteX1" fmla="*/ 955085 w 2209181"/>
                <a:gd name="connsiteY1" fmla="*/ 0 h 6858000"/>
                <a:gd name="connsiteX2" fmla="*/ 982018 w 2209181"/>
                <a:gd name="connsiteY2" fmla="*/ 25210 h 6858000"/>
                <a:gd name="connsiteX3" fmla="*/ 2202283 w 2209181"/>
                <a:gd name="connsiteY3" fmla="*/ 3810283 h 6858000"/>
                <a:gd name="connsiteX4" fmla="*/ 236958 w 2209181"/>
                <a:gd name="connsiteY4" fmla="*/ 6682507 h 6858000"/>
                <a:gd name="connsiteX5" fmla="*/ 19349 w 2209181"/>
                <a:gd name="connsiteY5" fmla="*/ 6858000 h 6858000"/>
                <a:gd name="connsiteX6" fmla="*/ 0 w 2209181"/>
                <a:gd name="connsiteY6" fmla="*/ 6858000 h 6858000"/>
                <a:gd name="connsiteX7" fmla="*/ 218679 w 2209181"/>
                <a:gd name="connsiteY7" fmla="*/ 6681644 h 6858000"/>
                <a:gd name="connsiteX8" fmla="*/ 2184004 w 2209181"/>
                <a:gd name="connsiteY8" fmla="*/ 3809420 h 6858000"/>
                <a:gd name="connsiteX9" fmla="*/ 963738 w 2209181"/>
                <a:gd name="connsiteY9" fmla="*/ 24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9181" h="6858000">
                  <a:moveTo>
                    <a:pt x="937727" y="0"/>
                  </a:moveTo>
                  <a:lnTo>
                    <a:pt x="955085" y="0"/>
                  </a:lnTo>
                  <a:lnTo>
                    <a:pt x="982018" y="25210"/>
                  </a:lnTo>
                  <a:cubicBezTo>
                    <a:pt x="1836289" y="886318"/>
                    <a:pt x="2270080" y="2270266"/>
                    <a:pt x="2202283" y="3810283"/>
                  </a:cubicBezTo>
                  <a:cubicBezTo>
                    <a:pt x="2138530" y="5258455"/>
                    <a:pt x="1199288" y="5896573"/>
                    <a:pt x="236958" y="6682507"/>
                  </a:cubicBezTo>
                  <a:lnTo>
                    <a:pt x="19349" y="6858000"/>
                  </a:lnTo>
                  <a:lnTo>
                    <a:pt x="0" y="6858000"/>
                  </a:lnTo>
                  <a:lnTo>
                    <a:pt x="218679" y="6681644"/>
                  </a:lnTo>
                  <a:cubicBezTo>
                    <a:pt x="1181008" y="5895709"/>
                    <a:pt x="2120250" y="5257592"/>
                    <a:pt x="2184004" y="3809420"/>
                  </a:cubicBezTo>
                  <a:cubicBezTo>
                    <a:pt x="2251801" y="2269402"/>
                    <a:pt x="1818009" y="885455"/>
                    <a:pt x="963738" y="24346"/>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EC939299-E177-240C-CEE8-14D7D6C178B0}"/>
              </a:ext>
            </a:extLst>
          </p:cNvPr>
          <p:cNvSpPr>
            <a:spLocks noGrp="1"/>
          </p:cNvSpPr>
          <p:nvPr>
            <p:ph type="title"/>
          </p:nvPr>
        </p:nvSpPr>
        <p:spPr>
          <a:xfrm>
            <a:off x="2504393" y="2118002"/>
            <a:ext cx="7178026" cy="1489128"/>
          </a:xfrm>
        </p:spPr>
        <p:txBody>
          <a:bodyPr anchor="b">
            <a:normAutofit/>
          </a:bodyPr>
          <a:lstStyle/>
          <a:p>
            <a:pPr algn="ctr"/>
            <a:r>
              <a:rPr lang="en-US" sz="7200" b="1">
                <a:latin typeface="Calibri"/>
                <a:ea typeface="Calibri"/>
                <a:cs typeface="Calibri"/>
              </a:rPr>
              <a:t>Project</a:t>
            </a:r>
            <a:r>
              <a:rPr lang="en-US" sz="6000" b="1">
                <a:latin typeface="Calibri"/>
                <a:ea typeface="Calibri"/>
                <a:cs typeface="Calibri"/>
              </a:rPr>
              <a:t> </a:t>
            </a:r>
            <a:r>
              <a:rPr lang="en-US" sz="7200" b="1">
                <a:latin typeface="Calibri"/>
                <a:ea typeface="Calibri"/>
                <a:cs typeface="Calibri"/>
              </a:rPr>
              <a:t>Demo</a:t>
            </a:r>
            <a:endParaRPr lang="en-US" sz="7200">
              <a:latin typeface="Calibri"/>
              <a:ea typeface="Calibri"/>
              <a:cs typeface="Calibri"/>
            </a:endParaRPr>
          </a:p>
        </p:txBody>
      </p:sp>
    </p:spTree>
    <p:extLst>
      <p:ext uri="{BB962C8B-B14F-4D97-AF65-F5344CB8AC3E}">
        <p14:creationId xmlns:p14="http://schemas.microsoft.com/office/powerpoint/2010/main" val="3130976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2E6BC6C-4A83-4551-8FFE-1708120A67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FA9B6C6-A247-48A8-9A1C-1E36FA945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6F0BF7D1-9CCF-0F1C-5ECE-3FD57F548FA4}"/>
              </a:ext>
            </a:extLst>
          </p:cNvPr>
          <p:cNvSpPr>
            <a:spLocks noGrp="1"/>
          </p:cNvSpPr>
          <p:nvPr>
            <p:ph type="title"/>
          </p:nvPr>
        </p:nvSpPr>
        <p:spPr>
          <a:xfrm>
            <a:off x="1500136" y="590062"/>
            <a:ext cx="5141964" cy="2838938"/>
          </a:xfrm>
        </p:spPr>
        <p:txBody>
          <a:bodyPr vert="horz" lIns="91440" tIns="45720" rIns="91440" bIns="45720" rtlCol="0" anchor="b">
            <a:normAutofit/>
          </a:bodyPr>
          <a:lstStyle/>
          <a:p>
            <a:r>
              <a:rPr lang="en-US" sz="5600" kern="1200">
                <a:solidFill>
                  <a:srgbClr val="FFFFFF"/>
                </a:solidFill>
                <a:latin typeface="Calibri"/>
                <a:ea typeface="Calibri"/>
                <a:cs typeface="Calibri"/>
              </a:rPr>
              <a:t>Thank You</a:t>
            </a:r>
          </a:p>
        </p:txBody>
      </p:sp>
      <p:grpSp>
        <p:nvGrpSpPr>
          <p:cNvPr id="29" name="Group 28">
            <a:extLst>
              <a:ext uri="{FF2B5EF4-FFF2-40B4-BE49-F238E27FC236}">
                <a16:creationId xmlns:a16="http://schemas.microsoft.com/office/drawing/2014/main" id="{E15EAE4E-5508-44B8-B920-1B8BA1D20E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741794" y="1931746"/>
            <a:ext cx="465456" cy="581432"/>
            <a:chOff x="6741794" y="1931746"/>
            <a:chExt cx="465456" cy="581432"/>
          </a:xfrm>
          <a:solidFill>
            <a:srgbClr val="FFFFFF"/>
          </a:solidFill>
        </p:grpSpPr>
        <p:sp>
          <p:nvSpPr>
            <p:cNvPr id="2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757334" y="19317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grpFill/>
            <a:ln w="603" cap="flat">
              <a:noFill/>
              <a:prstDash val="solid"/>
              <a:miter/>
            </a:ln>
          </p:spPr>
          <p:txBody>
            <a:bodyPr rtlCol="0" anchor="ctr"/>
            <a:lstStyle/>
            <a:p>
              <a:endParaRPr lang="en-US">
                <a:solidFill>
                  <a:srgbClr val="FFFFFF"/>
                </a:solidFill>
              </a:endParaRPr>
            </a:p>
          </p:txBody>
        </p:sp>
        <p:sp>
          <p:nvSpPr>
            <p:cNvPr id="30"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16112" y="214158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grpFill/>
            <a:ln w="422" cap="flat">
              <a:noFill/>
              <a:prstDash val="solid"/>
              <a:miter/>
            </a:ln>
          </p:spPr>
          <p:txBody>
            <a:bodyPr rtlCol="0" anchor="ctr"/>
            <a:lstStyle/>
            <a:p>
              <a:endParaRPr lang="en-US">
                <a:solidFill>
                  <a:srgbClr val="FFFFFF"/>
                </a:solidFill>
              </a:endParaRPr>
            </a:p>
          </p:txBody>
        </p:sp>
        <p:sp>
          <p:nvSpPr>
            <p:cNvPr id="22"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741794" y="23854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grpFill/>
            <a:ln w="610" cap="flat">
              <a:noFill/>
              <a:prstDash val="solid"/>
              <a:miter/>
            </a:ln>
          </p:spPr>
          <p:txBody>
            <a:bodyPr rtlCol="0" anchor="ctr"/>
            <a:lstStyle/>
            <a:p>
              <a:endParaRPr lang="en-US">
                <a:solidFill>
                  <a:srgbClr val="FFFFFF"/>
                </a:solidFill>
              </a:endParaRPr>
            </a:p>
          </p:txBody>
        </p:sp>
      </p:grpSp>
      <p:cxnSp>
        <p:nvCxnSpPr>
          <p:cNvPr id="24" name="Straight Connector 23">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5145" y="3496322"/>
            <a:ext cx="0" cy="33528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pic>
        <p:nvPicPr>
          <p:cNvPr id="7" name="Graphic 6" descr="Smiling Face with No Fill">
            <a:extLst>
              <a:ext uri="{FF2B5EF4-FFF2-40B4-BE49-F238E27FC236}">
                <a16:creationId xmlns:a16="http://schemas.microsoft.com/office/drawing/2014/main" id="{CFAB397C-B9B4-F4F4-FD5B-5EA3AF87BE5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80300" y="2146315"/>
            <a:ext cx="4171686" cy="4171686"/>
          </a:xfrm>
          <a:prstGeom prst="rect">
            <a:avLst/>
          </a:prstGeom>
        </p:spPr>
      </p:pic>
    </p:spTree>
    <p:extLst>
      <p:ext uri="{BB962C8B-B14F-4D97-AF65-F5344CB8AC3E}">
        <p14:creationId xmlns:p14="http://schemas.microsoft.com/office/powerpoint/2010/main" val="14967406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4048</Words>
  <Application>Microsoft Macintosh PowerPoint</Application>
  <PresentationFormat>Widescreen</PresentationFormat>
  <Paragraphs>528</Paragraphs>
  <Slides>47</Slides>
  <Notes>2</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47</vt:i4>
      </vt:variant>
    </vt:vector>
  </HeadingPairs>
  <TitlesOfParts>
    <vt:vector size="56" baseType="lpstr">
      <vt:lpstr>Meiryo</vt:lpstr>
      <vt:lpstr>Aptos</vt:lpstr>
      <vt:lpstr>Aptos Display</vt:lpstr>
      <vt:lpstr>Arial</vt:lpstr>
      <vt:lpstr>Calibri</vt:lpstr>
      <vt:lpstr>Gill Sans Bold</vt:lpstr>
      <vt:lpstr>Gill Sans Light</vt:lpstr>
      <vt:lpstr>Gill Sans MT</vt:lpstr>
      <vt:lpstr>Office Theme</vt:lpstr>
      <vt:lpstr>TEAM 1 IT Architects </vt:lpstr>
      <vt:lpstr>Agenda</vt:lpstr>
      <vt:lpstr>Team Members</vt:lpstr>
      <vt:lpstr>PowerPoint Presentation</vt:lpstr>
      <vt:lpstr>Improvement from Professor</vt:lpstr>
      <vt:lpstr>Problem Statement</vt:lpstr>
      <vt:lpstr>Problem Description</vt:lpstr>
      <vt:lpstr>Team Working Agreement</vt:lpstr>
      <vt:lpstr>Team Working Agreement Cont.</vt:lpstr>
      <vt:lpstr>PowerPoint Presentation</vt:lpstr>
      <vt:lpstr>PowerPoint Presentation</vt:lpstr>
      <vt:lpstr>PowerPoint Presentation</vt:lpstr>
      <vt:lpstr>MVP</vt:lpstr>
      <vt:lpstr>Technology and Tools</vt:lpstr>
      <vt:lpstr>Algorithms and Models</vt:lpstr>
      <vt:lpstr>Diagrams</vt:lpstr>
      <vt:lpstr>State Diagram</vt:lpstr>
      <vt:lpstr>Sequence  Diagram</vt:lpstr>
      <vt:lpstr>Context  Diagram</vt:lpstr>
      <vt:lpstr>Class  Diagram</vt:lpstr>
      <vt:lpstr>Entity-Relationship Diagram</vt:lpstr>
      <vt:lpstr>Sprint-1 Recap</vt:lpstr>
      <vt:lpstr>Product Backlog</vt:lpstr>
      <vt:lpstr>Product Backlog</vt:lpstr>
      <vt:lpstr>Product Backlog</vt:lpstr>
      <vt:lpstr>Sprint-2 Stories</vt:lpstr>
      <vt:lpstr>Sprint-2 Stories</vt:lpstr>
      <vt:lpstr>Sprint-2 Stories</vt:lpstr>
      <vt:lpstr>Sprint-2 Test Cases</vt:lpstr>
      <vt:lpstr>Sprint-2 Test Cases</vt:lpstr>
      <vt:lpstr>Stories Completed And Not Completed</vt:lpstr>
      <vt:lpstr>Stories Completed And Not Completed</vt:lpstr>
      <vt:lpstr>Metrics</vt:lpstr>
      <vt:lpstr>Burn-down chart</vt:lpstr>
      <vt:lpstr>Sprint 2 Velocity Chart</vt:lpstr>
      <vt:lpstr>Historical &amp; Average Velocities</vt:lpstr>
      <vt:lpstr>Committed &amp; Completed Ratios</vt:lpstr>
      <vt:lpstr>Sprint Retrospective</vt:lpstr>
      <vt:lpstr>Sprint Retrospective</vt:lpstr>
      <vt:lpstr>Sprint-3 Planning Stories Carried Over</vt:lpstr>
      <vt:lpstr>Application Screenshots</vt:lpstr>
      <vt:lpstr>Application Screenshots</vt:lpstr>
      <vt:lpstr>REST API</vt:lpstr>
      <vt:lpstr>REST API - Continued</vt:lpstr>
      <vt:lpstr>WIKI Page &amp; Github Repository</vt:lpstr>
      <vt:lpstr>Project Demo</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Moradia, Zenil</dc:creator>
  <cp:lastModifiedBy>Moradia, Zenil</cp:lastModifiedBy>
  <cp:revision>1</cp:revision>
  <dcterms:created xsi:type="dcterms:W3CDTF">2025-11-01T18:20:15Z</dcterms:created>
  <dcterms:modified xsi:type="dcterms:W3CDTF">2025-11-21T04:20:25Z</dcterms:modified>
</cp:coreProperties>
</file>