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7" r:id="rId2"/>
    <p:sldId id="289" r:id="rId3"/>
    <p:sldId id="268" r:id="rId4"/>
    <p:sldId id="269" r:id="rId5"/>
    <p:sldId id="290" r:id="rId6"/>
    <p:sldId id="288" r:id="rId7"/>
    <p:sldId id="258" r:id="rId8"/>
    <p:sldId id="335" r:id="rId9"/>
    <p:sldId id="336" r:id="rId10"/>
    <p:sldId id="256" r:id="rId11"/>
    <p:sldId id="328" r:id="rId12"/>
    <p:sldId id="330" r:id="rId13"/>
    <p:sldId id="341" r:id="rId14"/>
    <p:sldId id="276" r:id="rId15"/>
    <p:sldId id="296" r:id="rId16"/>
    <p:sldId id="297" r:id="rId17"/>
    <p:sldId id="298" r:id="rId18"/>
    <p:sldId id="299" r:id="rId19"/>
    <p:sldId id="300" r:id="rId20"/>
    <p:sldId id="301" r:id="rId21"/>
    <p:sldId id="342" r:id="rId22"/>
    <p:sldId id="302" r:id="rId23"/>
    <p:sldId id="361" r:id="rId24"/>
    <p:sldId id="365" r:id="rId25"/>
    <p:sldId id="362" r:id="rId26"/>
    <p:sldId id="363" r:id="rId27"/>
    <p:sldId id="364" r:id="rId28"/>
    <p:sldId id="303" r:id="rId29"/>
    <p:sldId id="353" r:id="rId30"/>
    <p:sldId id="354" r:id="rId31"/>
    <p:sldId id="355" r:id="rId32"/>
    <p:sldId id="356" r:id="rId33"/>
    <p:sldId id="357" r:id="rId34"/>
    <p:sldId id="309" r:id="rId35"/>
    <p:sldId id="339" r:id="rId36"/>
    <p:sldId id="314" r:id="rId37"/>
    <p:sldId id="348" r:id="rId38"/>
    <p:sldId id="352" r:id="rId39"/>
    <p:sldId id="316" r:id="rId40"/>
    <p:sldId id="317" r:id="rId41"/>
    <p:sldId id="350" r:id="rId42"/>
    <p:sldId id="351" r:id="rId43"/>
    <p:sldId id="344" r:id="rId44"/>
    <p:sldId id="318" r:id="rId45"/>
    <p:sldId id="319" r:id="rId46"/>
    <p:sldId id="321" r:id="rId47"/>
    <p:sldId id="360" r:id="rId48"/>
    <p:sldId id="323" r:id="rId49"/>
    <p:sldId id="358" r:id="rId50"/>
    <p:sldId id="359" r:id="rId51"/>
    <p:sldId id="324" r:id="rId52"/>
    <p:sldId id="343" r:id="rId53"/>
    <p:sldId id="366" r:id="rId54"/>
    <p:sldId id="367" r:id="rId55"/>
    <p:sldId id="325" r:id="rId56"/>
    <p:sldId id="320" r:id="rId57"/>
    <p:sldId id="32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AA08C-A998-CFB8-9919-C9A899B97083}" v="73" dt="2025-12-20T17:18:54.820"/>
    <p1510:client id="{239F6199-C1AC-B530-BCA9-7951F5BC7289}" v="29" dt="2025-12-20T17:43:28.086"/>
    <p1510:client id="{5B274347-762E-EAFB-8C2C-8D5A041E09F0}" v="66" dt="2025-12-20T15:38:38.857"/>
    <p1510:client id="{6476B148-A495-EC41-B279-26FFC774E36C}" v="661" dt="2025-12-20T17:29:34.637"/>
    <p1510:client id="{7FEFBC96-9E2E-CAB2-E685-3FB9EFBF7EC1}" v="769" dt="2025-12-20T17:39:35.702"/>
    <p1510:client id="{BDB0BA5C-AC41-3AB3-FF71-9054D06D6856}" v="535" dt="2025-12-20T17:53:53.1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oleObject" Target="file:///\\Users\zm\Downloads\Burndown_Edit%20(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Users\zm\Downloads\Burndown_Edit%2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Sprint Burndown Chart</a:t>
            </a:r>
          </a:p>
        </c:rich>
      </c:tx>
      <c:overlay val="0"/>
    </c:title>
    <c:autoTitleDeleted val="0"/>
    <c:plotArea>
      <c:layout>
        <c:manualLayout>
          <c:layoutTarget val="inner"/>
          <c:xMode val="edge"/>
          <c:yMode val="edge"/>
          <c:x val="0.13198796296296295"/>
          <c:y val="0.20262407407407412"/>
          <c:w val="0.61176518518518519"/>
          <c:h val="0.58450185185185188"/>
        </c:manualLayout>
      </c:layout>
      <c:lineChart>
        <c:grouping val="standard"/>
        <c:varyColors val="0"/>
        <c:ser>
          <c:idx val="0"/>
          <c:order val="0"/>
          <c:tx>
            <c:strRef>
              <c:f>'Burndown Data'!$B$1</c:f>
              <c:strCache>
                <c:ptCount val="1"/>
                <c:pt idx="0">
                  <c:v>Ideal Remaining</c:v>
                </c:pt>
              </c:strCache>
            </c:strRef>
          </c:tx>
          <c:spPr>
            <a:ln>
              <a:prstDash val="solid"/>
            </a:ln>
          </c:spPr>
          <c:marker>
            <c:symbol val="none"/>
          </c:marker>
          <c:cat>
            <c:numRef>
              <c:f>'Burndown Data'!$A$2:$A$7</c:f>
              <c:numCache>
                <c:formatCode>General</c:formatCode>
                <c:ptCount val="6"/>
                <c:pt idx="0">
                  <c:v>0</c:v>
                </c:pt>
                <c:pt idx="1">
                  <c:v>5</c:v>
                </c:pt>
                <c:pt idx="2">
                  <c:v>10</c:v>
                </c:pt>
                <c:pt idx="3">
                  <c:v>15</c:v>
                </c:pt>
                <c:pt idx="4">
                  <c:v>20</c:v>
                </c:pt>
                <c:pt idx="5">
                  <c:v>25</c:v>
                </c:pt>
              </c:numCache>
            </c:numRef>
          </c:cat>
          <c:val>
            <c:numRef>
              <c:f>'Burndown Data'!$B$2:$B$7</c:f>
              <c:numCache>
                <c:formatCode>General</c:formatCode>
                <c:ptCount val="6"/>
                <c:pt idx="0">
                  <c:v>34</c:v>
                </c:pt>
                <c:pt idx="1">
                  <c:v>27.2</c:v>
                </c:pt>
                <c:pt idx="2">
                  <c:v>20.399999999999999</c:v>
                </c:pt>
                <c:pt idx="3">
                  <c:v>13.6</c:v>
                </c:pt>
                <c:pt idx="4">
                  <c:v>6.8</c:v>
                </c:pt>
                <c:pt idx="5">
                  <c:v>0</c:v>
                </c:pt>
              </c:numCache>
            </c:numRef>
          </c:val>
          <c:smooth val="0"/>
          <c:extLst>
            <c:ext xmlns:c16="http://schemas.microsoft.com/office/drawing/2014/chart" uri="{C3380CC4-5D6E-409C-BE32-E72D297353CC}">
              <c16:uniqueId val="{00000000-ECFF-44AF-8FEA-473E72C2A86D}"/>
            </c:ext>
          </c:extLst>
        </c:ser>
        <c:ser>
          <c:idx val="1"/>
          <c:order val="1"/>
          <c:tx>
            <c:strRef>
              <c:f>'Burndown Data'!$C$1</c:f>
              <c:strCache>
                <c:ptCount val="1"/>
                <c:pt idx="0">
                  <c:v>Actual Remaining</c:v>
                </c:pt>
              </c:strCache>
            </c:strRef>
          </c:tx>
          <c:spPr>
            <a:ln>
              <a:prstDash val="solid"/>
            </a:ln>
          </c:spPr>
          <c:marker>
            <c:symbol val="none"/>
          </c:marker>
          <c:cat>
            <c:numRef>
              <c:f>'Burndown Data'!$A$2:$A$7</c:f>
              <c:numCache>
                <c:formatCode>General</c:formatCode>
                <c:ptCount val="6"/>
                <c:pt idx="0">
                  <c:v>0</c:v>
                </c:pt>
                <c:pt idx="1">
                  <c:v>5</c:v>
                </c:pt>
                <c:pt idx="2">
                  <c:v>10</c:v>
                </c:pt>
                <c:pt idx="3">
                  <c:v>15</c:v>
                </c:pt>
                <c:pt idx="4">
                  <c:v>20</c:v>
                </c:pt>
                <c:pt idx="5">
                  <c:v>25</c:v>
                </c:pt>
              </c:numCache>
            </c:numRef>
          </c:cat>
          <c:val>
            <c:numRef>
              <c:f>'Burndown Data'!$C$2:$C$7</c:f>
              <c:numCache>
                <c:formatCode>General</c:formatCode>
                <c:ptCount val="6"/>
                <c:pt idx="0">
                  <c:v>34</c:v>
                </c:pt>
                <c:pt idx="1">
                  <c:v>30</c:v>
                </c:pt>
                <c:pt idx="2">
                  <c:v>23</c:v>
                </c:pt>
                <c:pt idx="3">
                  <c:v>20</c:v>
                </c:pt>
                <c:pt idx="4">
                  <c:v>17</c:v>
                </c:pt>
                <c:pt idx="5">
                  <c:v>15</c:v>
                </c:pt>
              </c:numCache>
            </c:numRef>
          </c:val>
          <c:smooth val="0"/>
          <c:extLst>
            <c:ext xmlns:c16="http://schemas.microsoft.com/office/drawing/2014/chart" uri="{C3380CC4-5D6E-409C-BE32-E72D297353CC}">
              <c16:uniqueId val="{00000001-ECFF-44AF-8FEA-473E72C2A86D}"/>
            </c:ext>
          </c:extLst>
        </c:ser>
        <c:dLbls>
          <c:showLegendKey val="0"/>
          <c:showVal val="0"/>
          <c:showCatName val="0"/>
          <c:showSerName val="0"/>
          <c:showPercent val="0"/>
          <c:showBubbleSize val="0"/>
        </c:dLbls>
        <c:smooth val="0"/>
        <c:axId val="10"/>
        <c:axId val="100"/>
      </c:lineChart>
      <c:catAx>
        <c:axId val="10"/>
        <c:scaling>
          <c:orientation val="minMax"/>
        </c:scaling>
        <c:delete val="0"/>
        <c:axPos val="b"/>
        <c:title>
          <c:tx>
            <c:rich>
              <a:bodyPr/>
              <a:lstStyle/>
              <a:p>
                <a:pPr>
                  <a:defRPr/>
                </a:pPr>
                <a:r>
                  <a:rPr lang="en-US"/>
                  <a:t>Day</a:t>
                </a:r>
              </a:p>
            </c:rich>
          </c:tx>
          <c:overlay val="0"/>
        </c:title>
        <c:numFmt formatCode="General" sourceLinked="1"/>
        <c:majorTickMark val="none"/>
        <c:minorTickMark val="none"/>
        <c:tickLblPos val="nextTo"/>
        <c:crossAx val="100"/>
        <c:crosses val="autoZero"/>
        <c:auto val="0"/>
        <c:lblAlgn val="ctr"/>
        <c:lblOffset val="100"/>
        <c:noMultiLvlLbl val="0"/>
      </c:catAx>
      <c:valAx>
        <c:axId val="100"/>
        <c:scaling>
          <c:orientation val="minMax"/>
        </c:scaling>
        <c:delete val="0"/>
        <c:axPos val="l"/>
        <c:majorGridlines/>
        <c:title>
          <c:tx>
            <c:rich>
              <a:bodyPr/>
              <a:lstStyle/>
              <a:p>
                <a:pPr>
                  <a:defRPr/>
                </a:pPr>
                <a:r>
                  <a:rPr lang="en-US"/>
                  <a:t>Remaining Story Points</a:t>
                </a:r>
              </a:p>
            </c:rich>
          </c:tx>
          <c:overlay val="0"/>
        </c:title>
        <c:numFmt formatCode="General" sourceLinked="1"/>
        <c:majorTickMark val="none"/>
        <c:minorTickMark val="none"/>
        <c:tickLblPos val="nextTo"/>
        <c:crossAx val="10"/>
        <c:crosses val="autoZero"/>
        <c:crossBetween val="between"/>
      </c:valAx>
    </c:plotArea>
    <c:legend>
      <c:legendPos val="r"/>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Sprint Burndown Chart</a:t>
            </a:r>
          </a:p>
        </c:rich>
      </c:tx>
      <c:layout>
        <c:manualLayout>
          <c:xMode val="edge"/>
          <c:yMode val="edge"/>
          <c:x val="0.20980516863348589"/>
          <c:y val="3.56916841441801E-2"/>
        </c:manualLayout>
      </c:layout>
      <c:overlay val="0"/>
    </c:title>
    <c:autoTitleDeleted val="0"/>
    <c:plotArea>
      <c:layout>
        <c:manualLayout>
          <c:layoutTarget val="inner"/>
          <c:xMode val="edge"/>
          <c:yMode val="edge"/>
          <c:x val="0.13198796296296295"/>
          <c:y val="0.19321666666666668"/>
          <c:w val="0.61176518518518519"/>
          <c:h val="0.5939092592592593"/>
        </c:manualLayout>
      </c:layout>
      <c:lineChart>
        <c:grouping val="standard"/>
        <c:varyColors val="0"/>
        <c:ser>
          <c:idx val="0"/>
          <c:order val="0"/>
          <c:tx>
            <c:strRef>
              <c:f>'Burndown Data'!$B$1</c:f>
              <c:strCache>
                <c:ptCount val="1"/>
                <c:pt idx="0">
                  <c:v>Ideal Remaining</c:v>
                </c:pt>
              </c:strCache>
            </c:strRef>
          </c:tx>
          <c:spPr>
            <a:ln>
              <a:prstDash val="solid"/>
            </a:ln>
          </c:spPr>
          <c:marker>
            <c:symbol val="none"/>
          </c:marker>
          <c:cat>
            <c:numRef>
              <c:f>'Burndown Data'!$A$2:$A$7</c:f>
              <c:numCache>
                <c:formatCode>General</c:formatCode>
                <c:ptCount val="6"/>
                <c:pt idx="0">
                  <c:v>0</c:v>
                </c:pt>
                <c:pt idx="1">
                  <c:v>5</c:v>
                </c:pt>
                <c:pt idx="2">
                  <c:v>10</c:v>
                </c:pt>
                <c:pt idx="3">
                  <c:v>15</c:v>
                </c:pt>
                <c:pt idx="4">
                  <c:v>20</c:v>
                </c:pt>
                <c:pt idx="5">
                  <c:v>25</c:v>
                </c:pt>
              </c:numCache>
            </c:numRef>
          </c:cat>
          <c:val>
            <c:numRef>
              <c:f>'Burndown Data'!$B$2:$B$7</c:f>
              <c:numCache>
                <c:formatCode>General</c:formatCode>
                <c:ptCount val="6"/>
                <c:pt idx="0">
                  <c:v>67</c:v>
                </c:pt>
                <c:pt idx="1">
                  <c:v>56</c:v>
                </c:pt>
                <c:pt idx="2">
                  <c:v>42.88</c:v>
                </c:pt>
                <c:pt idx="3">
                  <c:v>29.48</c:v>
                </c:pt>
                <c:pt idx="4">
                  <c:v>16.079999999999998</c:v>
                </c:pt>
                <c:pt idx="5">
                  <c:v>0</c:v>
                </c:pt>
              </c:numCache>
            </c:numRef>
          </c:val>
          <c:smooth val="0"/>
          <c:extLst>
            <c:ext xmlns:c16="http://schemas.microsoft.com/office/drawing/2014/chart" uri="{C3380CC4-5D6E-409C-BE32-E72D297353CC}">
              <c16:uniqueId val="{00000000-A217-E04D-A507-D360ABA8655F}"/>
            </c:ext>
          </c:extLst>
        </c:ser>
        <c:ser>
          <c:idx val="1"/>
          <c:order val="1"/>
          <c:tx>
            <c:strRef>
              <c:f>'Burndown Data'!$C$1</c:f>
              <c:strCache>
                <c:ptCount val="1"/>
                <c:pt idx="0">
                  <c:v>Actual Remaining</c:v>
                </c:pt>
              </c:strCache>
            </c:strRef>
          </c:tx>
          <c:spPr>
            <a:ln>
              <a:prstDash val="solid"/>
            </a:ln>
          </c:spPr>
          <c:marker>
            <c:symbol val="none"/>
          </c:marker>
          <c:cat>
            <c:numRef>
              <c:f>'Burndown Data'!$A$2:$A$7</c:f>
              <c:numCache>
                <c:formatCode>General</c:formatCode>
                <c:ptCount val="6"/>
                <c:pt idx="0">
                  <c:v>0</c:v>
                </c:pt>
                <c:pt idx="1">
                  <c:v>5</c:v>
                </c:pt>
                <c:pt idx="2">
                  <c:v>10</c:v>
                </c:pt>
                <c:pt idx="3">
                  <c:v>15</c:v>
                </c:pt>
                <c:pt idx="4">
                  <c:v>20</c:v>
                </c:pt>
                <c:pt idx="5">
                  <c:v>25</c:v>
                </c:pt>
              </c:numCache>
            </c:numRef>
          </c:cat>
          <c:val>
            <c:numRef>
              <c:f>'Burndown Data'!$C$2:$C$7</c:f>
              <c:numCache>
                <c:formatCode>General</c:formatCode>
                <c:ptCount val="6"/>
                <c:pt idx="0">
                  <c:v>67</c:v>
                </c:pt>
                <c:pt idx="1">
                  <c:v>58</c:v>
                </c:pt>
                <c:pt idx="2">
                  <c:v>52</c:v>
                </c:pt>
                <c:pt idx="3">
                  <c:v>34</c:v>
                </c:pt>
                <c:pt idx="4">
                  <c:v>22</c:v>
                </c:pt>
                <c:pt idx="5">
                  <c:v>4</c:v>
                </c:pt>
              </c:numCache>
            </c:numRef>
          </c:val>
          <c:smooth val="0"/>
          <c:extLst>
            <c:ext xmlns:c16="http://schemas.microsoft.com/office/drawing/2014/chart" uri="{C3380CC4-5D6E-409C-BE32-E72D297353CC}">
              <c16:uniqueId val="{00000001-A217-E04D-A507-D360ABA8655F}"/>
            </c:ext>
          </c:extLst>
        </c:ser>
        <c:dLbls>
          <c:showLegendKey val="0"/>
          <c:showVal val="0"/>
          <c:showCatName val="0"/>
          <c:showSerName val="0"/>
          <c:showPercent val="0"/>
          <c:showBubbleSize val="0"/>
        </c:dLbls>
        <c:smooth val="0"/>
        <c:axId val="10"/>
        <c:axId val="100"/>
      </c:lineChart>
      <c:catAx>
        <c:axId val="10"/>
        <c:scaling>
          <c:orientation val="minMax"/>
        </c:scaling>
        <c:delete val="0"/>
        <c:axPos val="b"/>
        <c:title>
          <c:tx>
            <c:rich>
              <a:bodyPr/>
              <a:lstStyle/>
              <a:p>
                <a:pPr>
                  <a:defRPr/>
                </a:pPr>
                <a:r>
                  <a:rPr lang="en-US"/>
                  <a:t>Day</a:t>
                </a:r>
              </a:p>
            </c:rich>
          </c:tx>
          <c:overlay val="0"/>
        </c:title>
        <c:numFmt formatCode="General" sourceLinked="1"/>
        <c:majorTickMark val="none"/>
        <c:minorTickMark val="none"/>
        <c:tickLblPos val="nextTo"/>
        <c:crossAx val="100"/>
        <c:crosses val="autoZero"/>
        <c:auto val="0"/>
        <c:lblAlgn val="ctr"/>
        <c:lblOffset val="100"/>
        <c:noMultiLvlLbl val="0"/>
      </c:catAx>
      <c:valAx>
        <c:axId val="100"/>
        <c:scaling>
          <c:orientation val="minMax"/>
          <c:max val="76"/>
          <c:min val="0"/>
        </c:scaling>
        <c:delete val="0"/>
        <c:axPos val="l"/>
        <c:majorGridlines/>
        <c:title>
          <c:tx>
            <c:rich>
              <a:bodyPr/>
              <a:lstStyle/>
              <a:p>
                <a:pPr>
                  <a:defRPr/>
                </a:pPr>
                <a:r>
                  <a:rPr lang="en-US"/>
                  <a:t>Remaining Story Points</a:t>
                </a:r>
              </a:p>
            </c:rich>
          </c:tx>
          <c:overlay val="0"/>
        </c:title>
        <c:numFmt formatCode="General" sourceLinked="1"/>
        <c:majorTickMark val="none"/>
        <c:minorTickMark val="none"/>
        <c:tickLblPos val="nextTo"/>
        <c:crossAx val="10"/>
        <c:crosses val="autoZero"/>
        <c:crossBetween val="between"/>
      </c:valAx>
    </c:plotArea>
    <c:legend>
      <c:legendPos val="r"/>
      <c:overlay val="0"/>
    </c:legend>
    <c:plotVisOnly val="1"/>
    <c:dispBlanksAs val="gap"/>
    <c:showDLblsOverMax val="0"/>
  </c:chart>
  <c:externalData r:id="rId1">
    <c:autoUpdate val="0"/>
  </c:externalData>
</c:chartSpace>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200194-ED18-4D90-87E1-E4F103F7DEB4}" type="doc">
      <dgm:prSet loTypeId="urn:microsoft.com/office/officeart/2005/8/layout/hierarchy1" loCatId="hierarchy" qsTypeId="urn:microsoft.com/office/officeart/2005/8/quickstyle/simple5" qsCatId="simple" csTypeId="urn:microsoft.com/office/officeart/2005/8/colors/accent1_2" csCatId="accent1" phldr="1"/>
      <dgm:spPr/>
      <dgm:t>
        <a:bodyPr/>
        <a:lstStyle/>
        <a:p>
          <a:endParaRPr lang="en-US"/>
        </a:p>
      </dgm:t>
    </dgm:pt>
    <dgm:pt modelId="{0751E635-8A69-477F-A78B-C77371ABBD27}">
      <dgm:prSet phldr="0"/>
      <dgm:spPr/>
      <dgm:t>
        <a:bodyPr/>
        <a:lstStyle/>
        <a:p>
          <a:pPr algn="ctr" rtl="0">
            <a:lnSpc>
              <a:spcPct val="90000"/>
            </a:lnSpc>
          </a:pPr>
          <a:r>
            <a:rPr lang="en-US" sz="1800" b="0">
              <a:latin typeface="Calibri"/>
              <a:ea typeface="+mn-ea"/>
              <a:cs typeface="+mn-cs"/>
            </a:rPr>
            <a:t>This persistent threat not only inflicts hundreds of millions of dollars in annual losses but also erodes consumer confidence in digital payments. Existing detection systems struggle to keep up with the evolving tactics of scammers and the extreme imbalance between legitimate and fraudulent transactions. There is an urgent need for a robust, real-time solution that can accurately flag while minimizing false alarms.</a:t>
          </a:r>
          <a:endParaRPr lang="en-GB" sz="1800" b="0">
            <a:latin typeface="Calibri"/>
            <a:ea typeface="+mn-ea"/>
            <a:cs typeface="+mn-cs"/>
          </a:endParaRPr>
        </a:p>
      </dgm:t>
    </dgm:pt>
    <dgm:pt modelId="{C998D58C-DD44-41C6-89CE-B32075620148}" type="parTrans" cxnId="{EE0AC3B9-C7E3-4922-9585-5A966BF0B8DE}">
      <dgm:prSet/>
      <dgm:spPr/>
    </dgm:pt>
    <dgm:pt modelId="{97825209-BD30-4AAC-AB9E-20BDAFC3446E}" type="sibTrans" cxnId="{EE0AC3B9-C7E3-4922-9585-5A966BF0B8DE}">
      <dgm:prSet/>
      <dgm:spPr/>
    </dgm:pt>
    <dgm:pt modelId="{310E3B8F-075D-48A2-AC8B-FBB7BBEF270F}">
      <dgm:prSet phldr="0"/>
      <dgm:spPr/>
      <dgm:t>
        <a:bodyPr/>
        <a:lstStyle/>
        <a:p>
          <a:pPr algn="ctr" rtl="0">
            <a:lnSpc>
              <a:spcPct val="90000"/>
            </a:lnSpc>
          </a:pPr>
          <a:r>
            <a:rPr lang="en-US" sz="1800" b="0">
              <a:latin typeface="Calibri"/>
              <a:ea typeface="+mn-ea"/>
              <a:cs typeface="+mn-cs"/>
            </a:rPr>
            <a:t>Credit card fraud remains the leading form of identity theft in the United States, with 2024 seeing over 449,000 complaints to the Federal Trade Commission and within the first quarter of 2025 adding another 151,000 cases. In the United States, 63% of cardholders have been targeted at least once, and more than half of these victims report experiencing repeated attacks.</a:t>
          </a:r>
        </a:p>
      </dgm:t>
    </dgm:pt>
    <dgm:pt modelId="{A10D987E-F08E-4D82-903F-CE55EDE40608}" type="parTrans" cxnId="{CAF9718E-C1A1-4FB7-BE88-BD924DF45EAC}">
      <dgm:prSet/>
      <dgm:spPr/>
    </dgm:pt>
    <dgm:pt modelId="{71FB0452-8402-439A-99E6-445788E77467}" type="sibTrans" cxnId="{CAF9718E-C1A1-4FB7-BE88-BD924DF45EAC}">
      <dgm:prSet/>
      <dgm:spPr/>
    </dgm:pt>
    <dgm:pt modelId="{28241234-30E2-CA48-A494-B0901B59D46B}" type="pres">
      <dgm:prSet presAssocID="{04200194-ED18-4D90-87E1-E4F103F7DEB4}" presName="hierChild1" presStyleCnt="0">
        <dgm:presLayoutVars>
          <dgm:chPref val="1"/>
          <dgm:dir/>
          <dgm:animOne val="branch"/>
          <dgm:animLvl val="lvl"/>
          <dgm:resizeHandles/>
        </dgm:presLayoutVars>
      </dgm:prSet>
      <dgm:spPr/>
    </dgm:pt>
    <dgm:pt modelId="{954D56E4-11F8-4A64-8342-E2E0EADF1C1E}" type="pres">
      <dgm:prSet presAssocID="{310E3B8F-075D-48A2-AC8B-FBB7BBEF270F}" presName="hierRoot1" presStyleCnt="0"/>
      <dgm:spPr/>
    </dgm:pt>
    <dgm:pt modelId="{13269AC6-DED0-44B5-8645-C5C90A0DA434}" type="pres">
      <dgm:prSet presAssocID="{310E3B8F-075D-48A2-AC8B-FBB7BBEF270F}" presName="composite" presStyleCnt="0"/>
      <dgm:spPr/>
    </dgm:pt>
    <dgm:pt modelId="{77BB1A55-7694-4BD0-B28B-CF93A27E95E0}" type="pres">
      <dgm:prSet presAssocID="{310E3B8F-075D-48A2-AC8B-FBB7BBEF270F}" presName="background" presStyleLbl="node0" presStyleIdx="0" presStyleCnt="2"/>
      <dgm:spPr/>
    </dgm:pt>
    <dgm:pt modelId="{8A6A0ECE-CBE7-43FC-9509-F771A9328990}" type="pres">
      <dgm:prSet presAssocID="{310E3B8F-075D-48A2-AC8B-FBB7BBEF270F}" presName="text" presStyleLbl="fgAcc0" presStyleIdx="0" presStyleCnt="2">
        <dgm:presLayoutVars>
          <dgm:chPref val="3"/>
        </dgm:presLayoutVars>
      </dgm:prSet>
      <dgm:spPr/>
    </dgm:pt>
    <dgm:pt modelId="{F87E5815-A729-421B-A529-0FB0E14C898E}" type="pres">
      <dgm:prSet presAssocID="{310E3B8F-075D-48A2-AC8B-FBB7BBEF270F}" presName="hierChild2" presStyleCnt="0"/>
      <dgm:spPr/>
    </dgm:pt>
    <dgm:pt modelId="{C8D5FA3F-AAA5-44A0-A238-C03C5305C6F3}" type="pres">
      <dgm:prSet presAssocID="{0751E635-8A69-477F-A78B-C77371ABBD27}" presName="hierRoot1" presStyleCnt="0"/>
      <dgm:spPr/>
    </dgm:pt>
    <dgm:pt modelId="{C8519169-7809-40EC-B26C-3AACA1645DB4}" type="pres">
      <dgm:prSet presAssocID="{0751E635-8A69-477F-A78B-C77371ABBD27}" presName="composite" presStyleCnt="0"/>
      <dgm:spPr/>
    </dgm:pt>
    <dgm:pt modelId="{38BBDD51-7F22-4220-9752-0F86D0B34BE5}" type="pres">
      <dgm:prSet presAssocID="{0751E635-8A69-477F-A78B-C77371ABBD27}" presName="background" presStyleLbl="node0" presStyleIdx="1" presStyleCnt="2"/>
      <dgm:spPr/>
    </dgm:pt>
    <dgm:pt modelId="{834081DB-7B79-42FB-9BDB-C91E80B92560}" type="pres">
      <dgm:prSet presAssocID="{0751E635-8A69-477F-A78B-C77371ABBD27}" presName="text" presStyleLbl="fgAcc0" presStyleIdx="1" presStyleCnt="2">
        <dgm:presLayoutVars>
          <dgm:chPref val="3"/>
        </dgm:presLayoutVars>
      </dgm:prSet>
      <dgm:spPr/>
    </dgm:pt>
    <dgm:pt modelId="{F82D5C0A-BE14-4336-A392-6120531AE6A7}" type="pres">
      <dgm:prSet presAssocID="{0751E635-8A69-477F-A78B-C77371ABBD27}" presName="hierChild2" presStyleCnt="0"/>
      <dgm:spPr/>
    </dgm:pt>
  </dgm:ptLst>
  <dgm:cxnLst>
    <dgm:cxn modelId="{18B54247-7C0B-4023-9E7A-9CBB6FB3544C}" type="presOf" srcId="{0751E635-8A69-477F-A78B-C77371ABBD27}" destId="{834081DB-7B79-42FB-9BDB-C91E80B92560}" srcOrd="0" destOrd="0" presId="urn:microsoft.com/office/officeart/2005/8/layout/hierarchy1"/>
    <dgm:cxn modelId="{BE369E59-A08C-44DD-9EA6-3865BE31FEA8}" type="presOf" srcId="{310E3B8F-075D-48A2-AC8B-FBB7BBEF270F}" destId="{8A6A0ECE-CBE7-43FC-9509-F771A9328990}" srcOrd="0" destOrd="0" presId="urn:microsoft.com/office/officeart/2005/8/layout/hierarchy1"/>
    <dgm:cxn modelId="{CAF9718E-C1A1-4FB7-BE88-BD924DF45EAC}" srcId="{04200194-ED18-4D90-87E1-E4F103F7DEB4}" destId="{310E3B8F-075D-48A2-AC8B-FBB7BBEF270F}" srcOrd="0" destOrd="0" parTransId="{A10D987E-F08E-4D82-903F-CE55EDE40608}" sibTransId="{71FB0452-8402-439A-99E6-445788E77467}"/>
    <dgm:cxn modelId="{EE0AC3B9-C7E3-4922-9585-5A966BF0B8DE}" srcId="{04200194-ED18-4D90-87E1-E4F103F7DEB4}" destId="{0751E635-8A69-477F-A78B-C77371ABBD27}" srcOrd="1" destOrd="0" parTransId="{C998D58C-DD44-41C6-89CE-B32075620148}" sibTransId="{97825209-BD30-4AAC-AB9E-20BDAFC3446E}"/>
    <dgm:cxn modelId="{F11F61CD-BA95-1247-B7E3-87CC1D41393D}" type="presOf" srcId="{04200194-ED18-4D90-87E1-E4F103F7DEB4}" destId="{28241234-30E2-CA48-A494-B0901B59D46B}" srcOrd="0" destOrd="0" presId="urn:microsoft.com/office/officeart/2005/8/layout/hierarchy1"/>
    <dgm:cxn modelId="{A4359237-6A10-4663-9DAE-D61DB9A88B89}" type="presParOf" srcId="{28241234-30E2-CA48-A494-B0901B59D46B}" destId="{954D56E4-11F8-4A64-8342-E2E0EADF1C1E}" srcOrd="0" destOrd="0" presId="urn:microsoft.com/office/officeart/2005/8/layout/hierarchy1"/>
    <dgm:cxn modelId="{80EBCE68-FEC2-4AFD-88F0-9A0257FB2F51}" type="presParOf" srcId="{954D56E4-11F8-4A64-8342-E2E0EADF1C1E}" destId="{13269AC6-DED0-44B5-8645-C5C90A0DA434}" srcOrd="0" destOrd="0" presId="urn:microsoft.com/office/officeart/2005/8/layout/hierarchy1"/>
    <dgm:cxn modelId="{2185F0D2-5E66-4C79-85BA-0D6E06269348}" type="presParOf" srcId="{13269AC6-DED0-44B5-8645-C5C90A0DA434}" destId="{77BB1A55-7694-4BD0-B28B-CF93A27E95E0}" srcOrd="0" destOrd="0" presId="urn:microsoft.com/office/officeart/2005/8/layout/hierarchy1"/>
    <dgm:cxn modelId="{A03ABA80-8922-4180-AE63-62CA5C4F74C3}" type="presParOf" srcId="{13269AC6-DED0-44B5-8645-C5C90A0DA434}" destId="{8A6A0ECE-CBE7-43FC-9509-F771A9328990}" srcOrd="1" destOrd="0" presId="urn:microsoft.com/office/officeart/2005/8/layout/hierarchy1"/>
    <dgm:cxn modelId="{5DC7C0B5-3A49-4F7C-90B9-E2AAF7CDFA20}" type="presParOf" srcId="{954D56E4-11F8-4A64-8342-E2E0EADF1C1E}" destId="{F87E5815-A729-421B-A529-0FB0E14C898E}" srcOrd="1" destOrd="0" presId="urn:microsoft.com/office/officeart/2005/8/layout/hierarchy1"/>
    <dgm:cxn modelId="{E6D16E1B-C08C-4133-9AAE-B49AB76EB02B}" type="presParOf" srcId="{28241234-30E2-CA48-A494-B0901B59D46B}" destId="{C8D5FA3F-AAA5-44A0-A238-C03C5305C6F3}" srcOrd="1" destOrd="0" presId="urn:microsoft.com/office/officeart/2005/8/layout/hierarchy1"/>
    <dgm:cxn modelId="{F9797450-AA8F-453B-8286-B709CF2E904D}" type="presParOf" srcId="{C8D5FA3F-AAA5-44A0-A238-C03C5305C6F3}" destId="{C8519169-7809-40EC-B26C-3AACA1645DB4}" srcOrd="0" destOrd="0" presId="urn:microsoft.com/office/officeart/2005/8/layout/hierarchy1"/>
    <dgm:cxn modelId="{A773B6AC-1B40-4909-9447-EBFFEB437A98}" type="presParOf" srcId="{C8519169-7809-40EC-B26C-3AACA1645DB4}" destId="{38BBDD51-7F22-4220-9752-0F86D0B34BE5}" srcOrd="0" destOrd="0" presId="urn:microsoft.com/office/officeart/2005/8/layout/hierarchy1"/>
    <dgm:cxn modelId="{30D6D227-1CC5-406D-9704-1D2A6F3580C1}" type="presParOf" srcId="{C8519169-7809-40EC-B26C-3AACA1645DB4}" destId="{834081DB-7B79-42FB-9BDB-C91E80B92560}" srcOrd="1" destOrd="0" presId="urn:microsoft.com/office/officeart/2005/8/layout/hierarchy1"/>
    <dgm:cxn modelId="{CACE4B6F-9A64-40E4-9798-5DA1ACE03087}" type="presParOf" srcId="{C8D5FA3F-AAA5-44A0-A238-C03C5305C6F3}" destId="{F82D5C0A-BE14-4336-A392-6120531AE6A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87CE87-7DF3-43D9-A4D3-AF2D93969597}"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E2F855CB-6A83-4DB8-8B9B-F2E6C6903F7E}">
      <dgm:prSet custT="1"/>
      <dgm:spPr/>
      <dgm:t>
        <a:bodyPr/>
        <a:lstStyle/>
        <a:p>
          <a:pPr>
            <a:lnSpc>
              <a:spcPct val="100000"/>
            </a:lnSpc>
            <a:defRPr b="1"/>
          </a:pPr>
          <a:r>
            <a:rPr lang="en-US" sz="1600">
              <a:latin typeface="Calibri"/>
              <a:ea typeface="Calibri"/>
              <a:cs typeface="Calibri"/>
            </a:rPr>
            <a:t>Data Storage, Collection, and Processing</a:t>
          </a:r>
        </a:p>
      </dgm:t>
    </dgm:pt>
    <dgm:pt modelId="{4D756603-52F8-481A-9072-9CD053FA7F58}" type="parTrans" cxnId="{2DE30CDB-FBE3-40D4-94DA-598161D72D1D}">
      <dgm:prSet/>
      <dgm:spPr/>
      <dgm:t>
        <a:bodyPr/>
        <a:lstStyle/>
        <a:p>
          <a:endParaRPr lang="en-US"/>
        </a:p>
      </dgm:t>
    </dgm:pt>
    <dgm:pt modelId="{32BBC372-7458-4399-B8BA-A3031522C732}" type="sibTrans" cxnId="{2DE30CDB-FBE3-40D4-94DA-598161D72D1D}">
      <dgm:prSet/>
      <dgm:spPr/>
      <dgm:t>
        <a:bodyPr/>
        <a:lstStyle/>
        <a:p>
          <a:endParaRPr lang="en-US"/>
        </a:p>
      </dgm:t>
    </dgm:pt>
    <dgm:pt modelId="{E4BDB4A2-1E5D-422E-82F3-E858DFCA214F}">
      <dgm:prSet/>
      <dgm:spPr/>
      <dgm:t>
        <a:bodyPr/>
        <a:lstStyle/>
        <a:p>
          <a:pPr>
            <a:lnSpc>
              <a:spcPct val="100000"/>
            </a:lnSpc>
          </a:pPr>
          <a:r>
            <a:rPr lang="en-US" sz="1600" b="1">
              <a:latin typeface="Calibri"/>
              <a:ea typeface="Calibri"/>
              <a:cs typeface="Calibri"/>
            </a:rPr>
            <a:t>Pandas / NumPy –</a:t>
          </a:r>
          <a:r>
            <a:rPr lang="en-US" sz="1600">
              <a:latin typeface="Calibri"/>
              <a:ea typeface="Calibri"/>
              <a:cs typeface="Calibri"/>
            </a:rPr>
            <a:t> Core tabular and numerical routines.</a:t>
          </a:r>
        </a:p>
      </dgm:t>
    </dgm:pt>
    <dgm:pt modelId="{CBB09B61-9F4F-48F1-97A1-D5948076F3AE}" type="parTrans" cxnId="{77BD8246-7CA2-4403-9CBD-256BF6B20071}">
      <dgm:prSet/>
      <dgm:spPr/>
      <dgm:t>
        <a:bodyPr/>
        <a:lstStyle/>
        <a:p>
          <a:endParaRPr lang="en-US"/>
        </a:p>
      </dgm:t>
    </dgm:pt>
    <dgm:pt modelId="{E44E7920-AE7F-4265-905F-BEF019C1114C}" type="sibTrans" cxnId="{77BD8246-7CA2-4403-9CBD-256BF6B20071}">
      <dgm:prSet/>
      <dgm:spPr/>
      <dgm:t>
        <a:bodyPr/>
        <a:lstStyle/>
        <a:p>
          <a:endParaRPr lang="en-US"/>
        </a:p>
      </dgm:t>
    </dgm:pt>
    <dgm:pt modelId="{EB9F3E1F-5BFC-41AA-BC32-688CCBF0DF9B}">
      <dgm:prSet/>
      <dgm:spPr/>
      <dgm:t>
        <a:bodyPr/>
        <a:lstStyle/>
        <a:p>
          <a:pPr>
            <a:lnSpc>
              <a:spcPct val="100000"/>
            </a:lnSpc>
            <a:defRPr b="1"/>
          </a:pPr>
          <a:r>
            <a:rPr lang="en-US" sz="1600">
              <a:latin typeface="Calibri"/>
              <a:ea typeface="Calibri"/>
              <a:cs typeface="Calibri"/>
            </a:rPr>
            <a:t>Model Development and Experimentation</a:t>
          </a:r>
        </a:p>
      </dgm:t>
    </dgm:pt>
    <dgm:pt modelId="{8FE49A02-2E8D-4CEC-8AAE-71F0A3B40817}" type="parTrans" cxnId="{91E34DC4-ADE5-43AF-95D3-47F9D576200A}">
      <dgm:prSet/>
      <dgm:spPr/>
      <dgm:t>
        <a:bodyPr/>
        <a:lstStyle/>
        <a:p>
          <a:endParaRPr lang="en-US"/>
        </a:p>
      </dgm:t>
    </dgm:pt>
    <dgm:pt modelId="{0ECFF2FC-5910-43B9-BD4F-E6A07A917C07}" type="sibTrans" cxnId="{91E34DC4-ADE5-43AF-95D3-47F9D576200A}">
      <dgm:prSet/>
      <dgm:spPr/>
      <dgm:t>
        <a:bodyPr/>
        <a:lstStyle/>
        <a:p>
          <a:endParaRPr lang="en-US"/>
        </a:p>
      </dgm:t>
    </dgm:pt>
    <dgm:pt modelId="{5FC200B5-D7A0-49E9-8751-10855F94AC09}">
      <dgm:prSet/>
      <dgm:spPr/>
      <dgm:t>
        <a:bodyPr/>
        <a:lstStyle/>
        <a:p>
          <a:pPr>
            <a:lnSpc>
              <a:spcPct val="100000"/>
            </a:lnSpc>
          </a:pPr>
          <a:r>
            <a:rPr lang="en-US" sz="1600" b="1">
              <a:latin typeface="Calibri"/>
              <a:ea typeface="Calibri"/>
              <a:cs typeface="Calibri"/>
            </a:rPr>
            <a:t>XGBoost</a:t>
          </a:r>
          <a:r>
            <a:rPr lang="en-US" sz="1600">
              <a:latin typeface="Calibri"/>
              <a:ea typeface="Calibri"/>
              <a:cs typeface="Calibri"/>
            </a:rPr>
            <a:t> – Gradient boosting implementations with GPU support for speed and advanced class‐imbalance handling.</a:t>
          </a:r>
        </a:p>
      </dgm:t>
    </dgm:pt>
    <dgm:pt modelId="{A66A982D-39F5-423F-A325-5F7D64F809C9}" type="parTrans" cxnId="{F8110728-16AD-47D0-9BBD-47497BB1753E}">
      <dgm:prSet/>
      <dgm:spPr/>
      <dgm:t>
        <a:bodyPr/>
        <a:lstStyle/>
        <a:p>
          <a:endParaRPr lang="en-US"/>
        </a:p>
      </dgm:t>
    </dgm:pt>
    <dgm:pt modelId="{C48CB616-D053-43C7-B4C9-695965F29A04}" type="sibTrans" cxnId="{F8110728-16AD-47D0-9BBD-47497BB1753E}">
      <dgm:prSet/>
      <dgm:spPr/>
      <dgm:t>
        <a:bodyPr/>
        <a:lstStyle/>
        <a:p>
          <a:endParaRPr lang="en-US"/>
        </a:p>
      </dgm:t>
    </dgm:pt>
    <dgm:pt modelId="{E8B4C98B-8AFD-4193-B30E-2252C4ABEEC2}">
      <dgm:prSet/>
      <dgm:spPr/>
      <dgm:t>
        <a:bodyPr/>
        <a:lstStyle/>
        <a:p>
          <a:pPr>
            <a:lnSpc>
              <a:spcPct val="100000"/>
            </a:lnSpc>
          </a:pPr>
          <a:r>
            <a:rPr lang="en-US" sz="1600" b="1">
              <a:latin typeface="Calibri"/>
              <a:ea typeface="Calibri"/>
              <a:cs typeface="Calibri"/>
            </a:rPr>
            <a:t>Python – </a:t>
          </a:r>
          <a:r>
            <a:rPr lang="en-US" sz="1600" b="0">
              <a:latin typeface="Calibri"/>
              <a:ea typeface="Calibri"/>
              <a:cs typeface="Calibri"/>
            </a:rPr>
            <a:t>widely used language for AI model development because of its simplicity, readability, and powerful ecosystem of libraries and frameworks.</a:t>
          </a:r>
        </a:p>
      </dgm:t>
    </dgm:pt>
    <dgm:pt modelId="{7DE6F725-E763-43FE-AF66-8E4B90F55DE0}" type="parTrans" cxnId="{3DA9D14E-4630-4F79-A83C-AB1A87624C95}">
      <dgm:prSet/>
      <dgm:spPr/>
      <dgm:t>
        <a:bodyPr/>
        <a:lstStyle/>
        <a:p>
          <a:endParaRPr lang="en-US"/>
        </a:p>
      </dgm:t>
    </dgm:pt>
    <dgm:pt modelId="{9999C67D-0F6E-4161-ACE8-9CF2CFF1F87E}" type="sibTrans" cxnId="{3DA9D14E-4630-4F79-A83C-AB1A87624C95}">
      <dgm:prSet/>
      <dgm:spPr/>
      <dgm:t>
        <a:bodyPr/>
        <a:lstStyle/>
        <a:p>
          <a:endParaRPr lang="en-US"/>
        </a:p>
      </dgm:t>
    </dgm:pt>
    <dgm:pt modelId="{984B3B87-69CA-4E44-BBAD-511259AB019D}">
      <dgm:prSet/>
      <dgm:spPr/>
      <dgm:t>
        <a:bodyPr/>
        <a:lstStyle/>
        <a:p>
          <a:pPr>
            <a:lnSpc>
              <a:spcPct val="100000"/>
            </a:lnSpc>
          </a:pPr>
          <a:r>
            <a:rPr lang="en-US" sz="1600" b="1">
              <a:latin typeface="Calibri"/>
              <a:ea typeface="Calibri"/>
              <a:cs typeface="Calibri"/>
            </a:rPr>
            <a:t>PenPot – </a:t>
          </a:r>
          <a:r>
            <a:rPr lang="en-US" sz="1600" b="0">
              <a:latin typeface="Calibri"/>
              <a:ea typeface="Calibri"/>
              <a:cs typeface="Calibri"/>
            </a:rPr>
            <a:t>a free, open-source, web-based design and prototyping tool built for collaboration between designers and developers.</a:t>
          </a:r>
        </a:p>
      </dgm:t>
    </dgm:pt>
    <dgm:pt modelId="{282D3647-CC2C-4C3D-95E7-233A9F7B1908}" type="parTrans" cxnId="{FCD09651-6EF4-4217-82E2-044CE7BEF4AA}">
      <dgm:prSet/>
      <dgm:spPr/>
      <dgm:t>
        <a:bodyPr/>
        <a:lstStyle/>
        <a:p>
          <a:endParaRPr lang="en-US"/>
        </a:p>
      </dgm:t>
    </dgm:pt>
    <dgm:pt modelId="{1DFB925E-8874-4EA1-89A5-C4272D29DB63}" type="sibTrans" cxnId="{FCD09651-6EF4-4217-82E2-044CE7BEF4AA}">
      <dgm:prSet/>
      <dgm:spPr/>
      <dgm:t>
        <a:bodyPr/>
        <a:lstStyle/>
        <a:p>
          <a:endParaRPr lang="en-US"/>
        </a:p>
      </dgm:t>
    </dgm:pt>
    <dgm:pt modelId="{902AA014-85AA-49A8-8664-47B778274B72}">
      <dgm:prSet phldr="0"/>
      <dgm:spPr/>
      <dgm:t>
        <a:bodyPr/>
        <a:lstStyle/>
        <a:p>
          <a:pPr>
            <a:lnSpc>
              <a:spcPct val="100000"/>
            </a:lnSpc>
          </a:pPr>
          <a:r>
            <a:rPr lang="en-US" sz="1600" b="1">
              <a:latin typeface="Calibri"/>
              <a:ea typeface="Calibri"/>
              <a:cs typeface="Calibri"/>
            </a:rPr>
            <a:t>XCODE – </a:t>
          </a:r>
          <a:r>
            <a:rPr lang="en-US" sz="1600" b="0">
              <a:latin typeface="Calibri"/>
              <a:ea typeface="Calibri"/>
              <a:cs typeface="Calibri"/>
            </a:rPr>
            <a:t>Apple’s official IDE for building apps across all Apple platforms.</a:t>
          </a:r>
        </a:p>
      </dgm:t>
    </dgm:pt>
    <dgm:pt modelId="{CCA1AE7A-9CD4-4A81-AAEF-35E10D436392}" type="parTrans" cxnId="{59644B63-7B25-48E9-B91E-AE0CFBBAC2D5}">
      <dgm:prSet/>
      <dgm:spPr/>
      <dgm:t>
        <a:bodyPr/>
        <a:lstStyle/>
        <a:p>
          <a:endParaRPr lang="en-US"/>
        </a:p>
      </dgm:t>
    </dgm:pt>
    <dgm:pt modelId="{3155E5F2-6447-4208-B9B9-41A6B59C0B7E}" type="sibTrans" cxnId="{59644B63-7B25-48E9-B91E-AE0CFBBAC2D5}">
      <dgm:prSet/>
      <dgm:spPr/>
      <dgm:t>
        <a:bodyPr/>
        <a:lstStyle/>
        <a:p>
          <a:endParaRPr lang="en-US"/>
        </a:p>
      </dgm:t>
    </dgm:pt>
    <dgm:pt modelId="{8E5CE5D3-84F9-4805-874B-D13CB3A178DC}">
      <dgm:prSet phldr="0"/>
      <dgm:spPr/>
      <dgm:t>
        <a:bodyPr/>
        <a:lstStyle/>
        <a:p>
          <a:pPr>
            <a:lnSpc>
              <a:spcPct val="100000"/>
            </a:lnSpc>
          </a:pPr>
          <a:r>
            <a:rPr lang="en-US" sz="1600" b="1">
              <a:latin typeface="Calibri"/>
              <a:ea typeface="Calibri"/>
              <a:cs typeface="Calibri"/>
            </a:rPr>
            <a:t>Swift – </a:t>
          </a:r>
          <a:r>
            <a:rPr lang="en-US" sz="1600" b="0">
              <a:latin typeface="Calibri"/>
              <a:ea typeface="Calibri"/>
              <a:cs typeface="Calibri"/>
            </a:rPr>
            <a:t>Apple’s modern, powerful, and intuitive programming language designed for building Apple Platform apps on XCODE.</a:t>
          </a:r>
          <a:endParaRPr lang="en-US" sz="1600">
            <a:latin typeface="Calibri"/>
            <a:ea typeface="Calibri"/>
            <a:cs typeface="Calibri"/>
          </a:endParaRPr>
        </a:p>
      </dgm:t>
    </dgm:pt>
    <dgm:pt modelId="{2C9B0B18-E2CD-4340-8E19-78BF7E4136C8}" type="parTrans" cxnId="{26268A26-157E-4FC3-AA1E-AA061C1D40B6}">
      <dgm:prSet/>
      <dgm:spPr/>
      <dgm:t>
        <a:bodyPr/>
        <a:lstStyle/>
        <a:p>
          <a:endParaRPr lang="en-US"/>
        </a:p>
      </dgm:t>
    </dgm:pt>
    <dgm:pt modelId="{9289735A-9C0D-4EF6-95A0-8FA73570DA0F}" type="sibTrans" cxnId="{26268A26-157E-4FC3-AA1E-AA061C1D40B6}">
      <dgm:prSet/>
      <dgm:spPr/>
      <dgm:t>
        <a:bodyPr/>
        <a:lstStyle/>
        <a:p>
          <a:endParaRPr lang="en-US"/>
        </a:p>
      </dgm:t>
    </dgm:pt>
    <dgm:pt modelId="{6AF7393D-02DB-45A1-A72C-7B36FB1B862A}">
      <dgm:prSet phldr="0"/>
      <dgm:spPr/>
      <dgm:t>
        <a:bodyPr/>
        <a:lstStyle/>
        <a:p>
          <a:pPr>
            <a:lnSpc>
              <a:spcPct val="100000"/>
            </a:lnSpc>
          </a:pPr>
          <a:r>
            <a:rPr lang="en-US" sz="1600" b="1">
              <a:latin typeface="Calibri"/>
              <a:ea typeface="Calibri"/>
              <a:cs typeface="Calibri"/>
            </a:rPr>
            <a:t>Kaggle – </a:t>
          </a:r>
          <a:r>
            <a:rPr lang="en-US" sz="1600" b="0">
              <a:latin typeface="Calibri"/>
              <a:ea typeface="Calibri"/>
              <a:cs typeface="Calibri"/>
            </a:rPr>
            <a:t>Online repository of public datasets. We used this to acquire the training data set for our model.</a:t>
          </a:r>
        </a:p>
      </dgm:t>
    </dgm:pt>
    <dgm:pt modelId="{6D3B27BA-6652-401D-9060-1A79A5E5A40F}" type="parTrans" cxnId="{4BC60F90-48B0-42B2-BB06-2158256E6B7F}">
      <dgm:prSet/>
      <dgm:spPr/>
      <dgm:t>
        <a:bodyPr/>
        <a:lstStyle/>
        <a:p>
          <a:endParaRPr lang="en-US"/>
        </a:p>
      </dgm:t>
    </dgm:pt>
    <dgm:pt modelId="{CD558B6B-90FF-4601-84CC-27856758D287}" type="sibTrans" cxnId="{4BC60F90-48B0-42B2-BB06-2158256E6B7F}">
      <dgm:prSet/>
      <dgm:spPr/>
      <dgm:t>
        <a:bodyPr/>
        <a:lstStyle/>
        <a:p>
          <a:endParaRPr lang="en-US"/>
        </a:p>
      </dgm:t>
    </dgm:pt>
    <dgm:pt modelId="{E85D6739-E84F-473B-A726-C37EF6CDAAC8}">
      <dgm:prSet phldr="0"/>
      <dgm:spPr/>
      <dgm:t>
        <a:bodyPr/>
        <a:lstStyle/>
        <a:p>
          <a:pPr>
            <a:lnSpc>
              <a:spcPct val="100000"/>
            </a:lnSpc>
          </a:pPr>
          <a:r>
            <a:rPr lang="en-US" sz="1600" b="1">
              <a:solidFill>
                <a:schemeClr val="tx1"/>
              </a:solidFill>
              <a:latin typeface="Calibri"/>
              <a:ea typeface="Calibri"/>
              <a:cs typeface="Calibri"/>
            </a:rPr>
            <a:t>Scikit-learn</a:t>
          </a:r>
          <a:r>
            <a:rPr lang="en-US" sz="1600" b="1">
              <a:solidFill>
                <a:srgbClr val="444444"/>
              </a:solidFill>
              <a:latin typeface="Calibri"/>
              <a:ea typeface="Calibri"/>
              <a:cs typeface="Calibri"/>
            </a:rPr>
            <a:t> –</a:t>
          </a:r>
          <a:r>
            <a:rPr lang="en-US" sz="1600" b="0">
              <a:solidFill>
                <a:srgbClr val="444444"/>
              </a:solidFill>
              <a:latin typeface="Calibri"/>
              <a:ea typeface="Calibri"/>
              <a:cs typeface="Calibri"/>
            </a:rPr>
            <a:t> </a:t>
          </a:r>
          <a:r>
            <a:rPr lang="en-US" sz="1600" b="0">
              <a:solidFill>
                <a:schemeClr val="tx1"/>
              </a:solidFill>
              <a:latin typeface="Calibri"/>
              <a:ea typeface="Calibri"/>
              <a:cs typeface="Calibri"/>
            </a:rPr>
            <a:t>Standardized pipeline, preprocessing, and model‐selection tools.</a:t>
          </a:r>
        </a:p>
      </dgm:t>
    </dgm:pt>
    <dgm:pt modelId="{3972A4D9-8DF5-4D7E-8AD3-C44C1D8183A3}" type="parTrans" cxnId="{4153C062-5040-4055-AD9B-062537F0CFF1}">
      <dgm:prSet/>
      <dgm:spPr/>
      <dgm:t>
        <a:bodyPr/>
        <a:lstStyle/>
        <a:p>
          <a:endParaRPr lang="en-US"/>
        </a:p>
      </dgm:t>
    </dgm:pt>
    <dgm:pt modelId="{BE786CB3-A6F5-42D2-A0AA-B4F2AB4C0EFD}" type="sibTrans" cxnId="{4153C062-5040-4055-AD9B-062537F0CFF1}">
      <dgm:prSet/>
      <dgm:spPr/>
      <dgm:t>
        <a:bodyPr/>
        <a:lstStyle/>
        <a:p>
          <a:endParaRPr lang="en-US"/>
        </a:p>
      </dgm:t>
    </dgm:pt>
    <dgm:pt modelId="{65F87542-1636-42A2-BDBA-FA9709FEAAF6}">
      <dgm:prSet phldr="0"/>
      <dgm:spPr/>
      <dgm:t>
        <a:bodyPr/>
        <a:lstStyle/>
        <a:p>
          <a:pPr>
            <a:lnSpc>
              <a:spcPct val="100000"/>
            </a:lnSpc>
          </a:pPr>
          <a:r>
            <a:rPr lang="en-US" sz="1600" b="1">
              <a:latin typeface="Calibri"/>
              <a:ea typeface="Calibri"/>
              <a:cs typeface="Calibri"/>
            </a:rPr>
            <a:t>FastAPI</a:t>
          </a:r>
          <a:r>
            <a:rPr lang="en-US" sz="1600" b="0">
              <a:latin typeface="Calibri"/>
              <a:ea typeface="Calibri"/>
              <a:cs typeface="Calibri"/>
            </a:rPr>
            <a:t> – a modern, high-performance Python web framework designed for building APIs quickly and efficiently.</a:t>
          </a:r>
          <a:endParaRPr lang="en-US" sz="1600">
            <a:latin typeface="Calibri"/>
            <a:ea typeface="Calibri"/>
            <a:cs typeface="Calibri"/>
          </a:endParaRPr>
        </a:p>
      </dgm:t>
    </dgm:pt>
    <dgm:pt modelId="{0A7B3EF1-838F-46BA-922D-18A0B60D2EDF}" type="parTrans" cxnId="{EF044851-0D95-4121-950C-DDC18E28E304}">
      <dgm:prSet/>
      <dgm:spPr/>
      <dgm:t>
        <a:bodyPr/>
        <a:lstStyle/>
        <a:p>
          <a:endParaRPr lang="en-US"/>
        </a:p>
      </dgm:t>
    </dgm:pt>
    <dgm:pt modelId="{26AA646A-399E-484D-B5A2-5EB077DEC109}" type="sibTrans" cxnId="{EF044851-0D95-4121-950C-DDC18E28E304}">
      <dgm:prSet/>
      <dgm:spPr/>
      <dgm:t>
        <a:bodyPr/>
        <a:lstStyle/>
        <a:p>
          <a:endParaRPr lang="en-US"/>
        </a:p>
      </dgm:t>
    </dgm:pt>
    <dgm:pt modelId="{5AD9AE82-9D56-4F58-8E22-BEDB38E33706}">
      <dgm:prSet phldr="0"/>
      <dgm:spPr/>
      <dgm:t>
        <a:bodyPr/>
        <a:lstStyle/>
        <a:p>
          <a:pPr>
            <a:lnSpc>
              <a:spcPct val="100000"/>
            </a:lnSpc>
            <a:defRPr b="1"/>
          </a:pPr>
          <a:r>
            <a:rPr lang="en-US" sz="1600" b="1">
              <a:latin typeface="Calibri"/>
              <a:ea typeface="Calibri"/>
              <a:cs typeface="Calibri"/>
            </a:rPr>
            <a:t>Visualization and End-User Interface</a:t>
          </a:r>
        </a:p>
      </dgm:t>
    </dgm:pt>
    <dgm:pt modelId="{E68EC92A-9E08-445A-B281-A67EBA41E0AE}" type="parTrans" cxnId="{C6551D64-7E8F-4CE5-A9EC-E5316D860FF6}">
      <dgm:prSet/>
      <dgm:spPr/>
      <dgm:t>
        <a:bodyPr/>
        <a:lstStyle/>
        <a:p>
          <a:endParaRPr lang="en-US"/>
        </a:p>
      </dgm:t>
    </dgm:pt>
    <dgm:pt modelId="{AF2266C4-F955-4337-9C22-B5C3505B66E2}" type="sibTrans" cxnId="{C6551D64-7E8F-4CE5-A9EC-E5316D860FF6}">
      <dgm:prSet/>
      <dgm:spPr/>
      <dgm:t>
        <a:bodyPr/>
        <a:lstStyle/>
        <a:p>
          <a:endParaRPr lang="en-US"/>
        </a:p>
      </dgm:t>
    </dgm:pt>
    <dgm:pt modelId="{A0C92736-C0AB-4A83-AB79-43C0CF7C3EC3}">
      <dgm:prSet phldr="0"/>
      <dgm:spPr/>
      <dgm:t>
        <a:bodyPr/>
        <a:lstStyle/>
        <a:p>
          <a:pPr>
            <a:lnSpc>
              <a:spcPct val="100000"/>
            </a:lnSpc>
          </a:pPr>
          <a:r>
            <a:rPr lang="en-US" sz="1600" b="1">
              <a:solidFill>
                <a:schemeClr val="tx1"/>
              </a:solidFill>
              <a:latin typeface="Calibri"/>
              <a:ea typeface="Calibri"/>
              <a:cs typeface="Calibri"/>
            </a:rPr>
            <a:t>Supabase – </a:t>
          </a:r>
          <a:r>
            <a:rPr lang="en-US" sz="1600" b="0"/>
            <a:t>an open-source backend-as-a-service (BaaS) platform </a:t>
          </a:r>
          <a:r>
            <a:rPr lang="en-US" sz="1600" b="0">
              <a:latin typeface="Aptos Display" panose="02110004020202020204"/>
            </a:rPr>
            <a:t>that</a:t>
          </a:r>
          <a:r>
            <a:rPr lang="en-US" sz="1600" b="0"/>
            <a:t> </a:t>
          </a:r>
          <a:r>
            <a:rPr lang="en-US" sz="1600" b="0">
              <a:latin typeface="Aptos Display" panose="02110004020202020204"/>
            </a:rPr>
            <a:t>provided</a:t>
          </a:r>
          <a:r>
            <a:rPr lang="en-US" sz="1600" b="0"/>
            <a:t> </a:t>
          </a:r>
          <a:r>
            <a:rPr lang="en-US" sz="1600" b="0">
              <a:latin typeface="Aptos Display" panose="02110004020202020204"/>
            </a:rPr>
            <a:t>us with</a:t>
          </a:r>
          <a:r>
            <a:rPr lang="en-US" sz="1600" b="0"/>
            <a:t> a full suite of tools—database, authentication, storage, real-time subscriptions, and serverless functions</a:t>
          </a:r>
          <a:r>
            <a:rPr lang="en-US" sz="1600" b="0">
              <a:solidFill>
                <a:srgbClr val="000000"/>
              </a:solidFill>
              <a:latin typeface="Aptos Display"/>
              <a:ea typeface="Calibri"/>
              <a:cs typeface="Calibri"/>
            </a:rPr>
            <a:t>.</a:t>
          </a:r>
          <a:endParaRPr lang="en-US" sz="1600" b="1">
            <a:solidFill>
              <a:schemeClr val="tx1"/>
            </a:solidFill>
            <a:latin typeface="Calibri"/>
            <a:ea typeface="Calibri"/>
            <a:cs typeface="Calibri"/>
          </a:endParaRPr>
        </a:p>
      </dgm:t>
    </dgm:pt>
    <dgm:pt modelId="{162F5291-BA3F-4BAB-B845-15A208F2A43B}" type="parTrans" cxnId="{3DA7033E-E4E4-42F3-9553-2D1B568EF683}">
      <dgm:prSet/>
      <dgm:spPr/>
      <dgm:t>
        <a:bodyPr/>
        <a:lstStyle/>
        <a:p>
          <a:endParaRPr lang="en-US"/>
        </a:p>
      </dgm:t>
    </dgm:pt>
    <dgm:pt modelId="{9C49159B-DCC2-4DE1-8C88-ED2AFA7A87DD}" type="sibTrans" cxnId="{3DA7033E-E4E4-42F3-9553-2D1B568EF683}">
      <dgm:prSet/>
      <dgm:spPr/>
      <dgm:t>
        <a:bodyPr/>
        <a:lstStyle/>
        <a:p>
          <a:endParaRPr lang="en-US"/>
        </a:p>
      </dgm:t>
    </dgm:pt>
    <dgm:pt modelId="{58D19FA5-EF34-4E3F-9C7B-0B41C9B992C5}" type="pres">
      <dgm:prSet presAssocID="{1787CE87-7DF3-43D9-A4D3-AF2D93969597}" presName="root" presStyleCnt="0">
        <dgm:presLayoutVars>
          <dgm:dir/>
          <dgm:resizeHandles val="exact"/>
        </dgm:presLayoutVars>
      </dgm:prSet>
      <dgm:spPr/>
    </dgm:pt>
    <dgm:pt modelId="{699BEEEE-D92E-41D7-95CE-DCEB769FF125}" type="pres">
      <dgm:prSet presAssocID="{E2F855CB-6A83-4DB8-8B9B-F2E6C6903F7E}" presName="compNode" presStyleCnt="0"/>
      <dgm:spPr/>
    </dgm:pt>
    <dgm:pt modelId="{2E1E2878-ECC7-4AD2-B759-8EF355649D37}" type="pres">
      <dgm:prSet presAssocID="{E2F855CB-6A83-4DB8-8B9B-F2E6C6903F7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46EF950F-9357-44C1-BDEF-426FC4B44E9B}" type="pres">
      <dgm:prSet presAssocID="{E2F855CB-6A83-4DB8-8B9B-F2E6C6903F7E}" presName="iconSpace" presStyleCnt="0"/>
      <dgm:spPr/>
    </dgm:pt>
    <dgm:pt modelId="{238C6DDB-18A6-46E1-B3B8-E90D37E90FCA}" type="pres">
      <dgm:prSet presAssocID="{E2F855CB-6A83-4DB8-8B9B-F2E6C6903F7E}" presName="parTx" presStyleLbl="revTx" presStyleIdx="0" presStyleCnt="6">
        <dgm:presLayoutVars>
          <dgm:chMax val="0"/>
          <dgm:chPref val="0"/>
        </dgm:presLayoutVars>
      </dgm:prSet>
      <dgm:spPr/>
    </dgm:pt>
    <dgm:pt modelId="{8F13FCEF-DC16-433F-8450-BCE843E777B9}" type="pres">
      <dgm:prSet presAssocID="{E2F855CB-6A83-4DB8-8B9B-F2E6C6903F7E}" presName="txSpace" presStyleCnt="0"/>
      <dgm:spPr/>
    </dgm:pt>
    <dgm:pt modelId="{74F54816-420A-47A6-A235-E2A34CE1FDA2}" type="pres">
      <dgm:prSet presAssocID="{E2F855CB-6A83-4DB8-8B9B-F2E6C6903F7E}" presName="desTx" presStyleLbl="revTx" presStyleIdx="1" presStyleCnt="6">
        <dgm:presLayoutVars/>
      </dgm:prSet>
      <dgm:spPr/>
    </dgm:pt>
    <dgm:pt modelId="{2C177A64-AF88-44A4-933B-B7A30D2F61A1}" type="pres">
      <dgm:prSet presAssocID="{32BBC372-7458-4399-B8BA-A3031522C732}" presName="sibTrans" presStyleCnt="0"/>
      <dgm:spPr/>
    </dgm:pt>
    <dgm:pt modelId="{F2E420DD-B260-4763-AC5D-0BE99177E0F8}" type="pres">
      <dgm:prSet presAssocID="{EB9F3E1F-5BFC-41AA-BC32-688CCBF0DF9B}" presName="compNode" presStyleCnt="0"/>
      <dgm:spPr/>
    </dgm:pt>
    <dgm:pt modelId="{B4BB3EE4-FEF1-4DAC-8FFD-295385C15B59}" type="pres">
      <dgm:prSet presAssocID="{EB9F3E1F-5BFC-41AA-BC32-688CCBF0DF9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ientist"/>
        </a:ext>
      </dgm:extLst>
    </dgm:pt>
    <dgm:pt modelId="{381396BE-33A4-4119-8776-EBB4B1D80D19}" type="pres">
      <dgm:prSet presAssocID="{EB9F3E1F-5BFC-41AA-BC32-688CCBF0DF9B}" presName="iconSpace" presStyleCnt="0"/>
      <dgm:spPr/>
    </dgm:pt>
    <dgm:pt modelId="{15CB11BB-4696-4AFE-9CF2-E044382EFFB3}" type="pres">
      <dgm:prSet presAssocID="{EB9F3E1F-5BFC-41AA-BC32-688CCBF0DF9B}" presName="parTx" presStyleLbl="revTx" presStyleIdx="2" presStyleCnt="6">
        <dgm:presLayoutVars>
          <dgm:chMax val="0"/>
          <dgm:chPref val="0"/>
        </dgm:presLayoutVars>
      </dgm:prSet>
      <dgm:spPr/>
    </dgm:pt>
    <dgm:pt modelId="{7CABDECF-B7D3-4F6D-A729-5CCA36370BDE}" type="pres">
      <dgm:prSet presAssocID="{EB9F3E1F-5BFC-41AA-BC32-688CCBF0DF9B}" presName="txSpace" presStyleCnt="0"/>
      <dgm:spPr/>
    </dgm:pt>
    <dgm:pt modelId="{6E9F4339-825F-48F5-80F5-4D4DE446E2F1}" type="pres">
      <dgm:prSet presAssocID="{EB9F3E1F-5BFC-41AA-BC32-688CCBF0DF9B}" presName="desTx" presStyleLbl="revTx" presStyleIdx="3" presStyleCnt="6">
        <dgm:presLayoutVars/>
      </dgm:prSet>
      <dgm:spPr/>
    </dgm:pt>
    <dgm:pt modelId="{72C2F032-9166-4911-8EB6-0C9127B6858B}" type="pres">
      <dgm:prSet presAssocID="{0ECFF2FC-5910-43B9-BD4F-E6A07A917C07}" presName="sibTrans" presStyleCnt="0"/>
      <dgm:spPr/>
    </dgm:pt>
    <dgm:pt modelId="{6250DC72-5C62-47CB-A057-A3F211826FC7}" type="pres">
      <dgm:prSet presAssocID="{5AD9AE82-9D56-4F58-8E22-BEDB38E33706}" presName="compNode" presStyleCnt="0"/>
      <dgm:spPr/>
    </dgm:pt>
    <dgm:pt modelId="{F0E4C2F2-52ED-4954-98AB-773E40E31EC4}" type="pres">
      <dgm:prSet presAssocID="{5AD9AE82-9D56-4F58-8E22-BEDB38E3370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Design"/>
        </a:ext>
      </dgm:extLst>
    </dgm:pt>
    <dgm:pt modelId="{DF574CE4-AAF6-464A-AD77-B8087C12F6F0}" type="pres">
      <dgm:prSet presAssocID="{5AD9AE82-9D56-4F58-8E22-BEDB38E33706}" presName="iconSpace" presStyleCnt="0"/>
      <dgm:spPr/>
    </dgm:pt>
    <dgm:pt modelId="{375B873D-DFBC-43D8-B9C6-8009F55067D5}" type="pres">
      <dgm:prSet presAssocID="{5AD9AE82-9D56-4F58-8E22-BEDB38E33706}" presName="parTx" presStyleLbl="revTx" presStyleIdx="4" presStyleCnt="6">
        <dgm:presLayoutVars>
          <dgm:chMax val="0"/>
          <dgm:chPref val="0"/>
        </dgm:presLayoutVars>
      </dgm:prSet>
      <dgm:spPr/>
    </dgm:pt>
    <dgm:pt modelId="{138B28D3-48E8-424F-A3AA-D667BE852D99}" type="pres">
      <dgm:prSet presAssocID="{5AD9AE82-9D56-4F58-8E22-BEDB38E33706}" presName="txSpace" presStyleCnt="0"/>
      <dgm:spPr/>
    </dgm:pt>
    <dgm:pt modelId="{DC0DB5AA-4CC4-4114-BA04-A5FD442F1A7E}" type="pres">
      <dgm:prSet presAssocID="{5AD9AE82-9D56-4F58-8E22-BEDB38E33706}" presName="desTx" presStyleLbl="revTx" presStyleIdx="5" presStyleCnt="6">
        <dgm:presLayoutVars/>
      </dgm:prSet>
      <dgm:spPr/>
    </dgm:pt>
  </dgm:ptLst>
  <dgm:cxnLst>
    <dgm:cxn modelId="{384F5A0D-3C5A-E845-BDCF-D04BF81007C1}" type="presOf" srcId="{65F87542-1636-42A2-BDBA-FA9709FEAAF6}" destId="{6E9F4339-825F-48F5-80F5-4D4DE446E2F1}" srcOrd="0" destOrd="2" presId="urn:microsoft.com/office/officeart/2018/2/layout/IconLabelDescriptionList"/>
    <dgm:cxn modelId="{06863F1D-9AEB-9D42-BC36-60F211FE7D17}" type="presOf" srcId="{E2F855CB-6A83-4DB8-8B9B-F2E6C6903F7E}" destId="{238C6DDB-18A6-46E1-B3B8-E90D37E90FCA}" srcOrd="0" destOrd="0" presId="urn:microsoft.com/office/officeart/2018/2/layout/IconLabelDescriptionList"/>
    <dgm:cxn modelId="{A7E1D923-3047-EB4F-A7A6-263D91B015BF}" type="presOf" srcId="{8E5CE5D3-84F9-4805-874B-D13CB3A178DC}" destId="{DC0DB5AA-4CC4-4114-BA04-A5FD442F1A7E}" srcOrd="0" destOrd="2" presId="urn:microsoft.com/office/officeart/2018/2/layout/IconLabelDescriptionList"/>
    <dgm:cxn modelId="{26268A26-157E-4FC3-AA1E-AA061C1D40B6}" srcId="{5AD9AE82-9D56-4F58-8E22-BEDB38E33706}" destId="{8E5CE5D3-84F9-4805-874B-D13CB3A178DC}" srcOrd="2" destOrd="0" parTransId="{2C9B0B18-E2CD-4340-8E19-78BF7E4136C8}" sibTransId="{9289735A-9C0D-4EF6-95A0-8FA73570DA0F}"/>
    <dgm:cxn modelId="{F8110728-16AD-47D0-9BBD-47497BB1753E}" srcId="{EB9F3E1F-5BFC-41AA-BC32-688CCBF0DF9B}" destId="{5FC200B5-D7A0-49E9-8751-10855F94AC09}" srcOrd="0" destOrd="0" parTransId="{A66A982D-39F5-423F-A325-5F7D64F809C9}" sibTransId="{C48CB616-D053-43C7-B4C9-695965F29A04}"/>
    <dgm:cxn modelId="{6C3B0A3A-97D6-FD44-9B23-2761554FFA2B}" type="presOf" srcId="{984B3B87-69CA-4E44-BBAD-511259AB019D}" destId="{DC0DB5AA-4CC4-4114-BA04-A5FD442F1A7E}" srcOrd="0" destOrd="0" presId="urn:microsoft.com/office/officeart/2018/2/layout/IconLabelDescriptionList"/>
    <dgm:cxn modelId="{3DA7033E-E4E4-42F3-9553-2D1B568EF683}" srcId="{E2F855CB-6A83-4DB8-8B9B-F2E6C6903F7E}" destId="{A0C92736-C0AB-4A83-AB79-43C0CF7C3EC3}" srcOrd="3" destOrd="0" parTransId="{162F5291-BA3F-4BAB-B845-15A208F2A43B}" sibTransId="{9C49159B-DCC2-4DE1-8C88-ED2AFA7A87DD}"/>
    <dgm:cxn modelId="{5FC1ED5C-861A-C94B-95BC-8118E4EE07D8}" type="presOf" srcId="{EB9F3E1F-5BFC-41AA-BC32-688CCBF0DF9B}" destId="{15CB11BB-4696-4AFE-9CF2-E044382EFFB3}" srcOrd="0" destOrd="0" presId="urn:microsoft.com/office/officeart/2018/2/layout/IconLabelDescriptionList"/>
    <dgm:cxn modelId="{4153C062-5040-4055-AD9B-062537F0CFF1}" srcId="{E2F855CB-6A83-4DB8-8B9B-F2E6C6903F7E}" destId="{E85D6739-E84F-473B-A726-C37EF6CDAAC8}" srcOrd="2" destOrd="0" parTransId="{3972A4D9-8DF5-4D7E-8AD3-C44C1D8183A3}" sibTransId="{BE786CB3-A6F5-42D2-A0AA-B4F2AB4C0EFD}"/>
    <dgm:cxn modelId="{59644B63-7B25-48E9-B91E-AE0CFBBAC2D5}" srcId="{5AD9AE82-9D56-4F58-8E22-BEDB38E33706}" destId="{902AA014-85AA-49A8-8664-47B778274B72}" srcOrd="1" destOrd="0" parTransId="{CCA1AE7A-9CD4-4A81-AAEF-35E10D436392}" sibTransId="{3155E5F2-6447-4208-B9B9-41A6B59C0B7E}"/>
    <dgm:cxn modelId="{C6551D64-7E8F-4CE5-A9EC-E5316D860FF6}" srcId="{1787CE87-7DF3-43D9-A4D3-AF2D93969597}" destId="{5AD9AE82-9D56-4F58-8E22-BEDB38E33706}" srcOrd="2" destOrd="0" parTransId="{E68EC92A-9E08-445A-B281-A67EBA41E0AE}" sibTransId="{AF2266C4-F955-4337-9C22-B5C3505B66E2}"/>
    <dgm:cxn modelId="{77BD8246-7CA2-4403-9CBD-256BF6B20071}" srcId="{E2F855CB-6A83-4DB8-8B9B-F2E6C6903F7E}" destId="{E4BDB4A2-1E5D-422E-82F3-E858DFCA214F}" srcOrd="1" destOrd="0" parTransId="{CBB09B61-9F4F-48F1-97A1-D5948076F3AE}" sibTransId="{E44E7920-AE7F-4265-905F-BEF019C1114C}"/>
    <dgm:cxn modelId="{3DA9D14E-4630-4F79-A83C-AB1A87624C95}" srcId="{EB9F3E1F-5BFC-41AA-BC32-688CCBF0DF9B}" destId="{E8B4C98B-8AFD-4193-B30E-2252C4ABEEC2}" srcOrd="1" destOrd="0" parTransId="{7DE6F725-E763-43FE-AF66-8E4B90F55DE0}" sibTransId="{9999C67D-0F6E-4161-ACE8-9CF2CFF1F87E}"/>
    <dgm:cxn modelId="{EF044851-0D95-4121-950C-DDC18E28E304}" srcId="{EB9F3E1F-5BFC-41AA-BC32-688CCBF0DF9B}" destId="{65F87542-1636-42A2-BDBA-FA9709FEAAF6}" srcOrd="2" destOrd="0" parTransId="{0A7B3EF1-838F-46BA-922D-18A0B60D2EDF}" sibTransId="{26AA646A-399E-484D-B5A2-5EB077DEC109}"/>
    <dgm:cxn modelId="{FCD09651-6EF4-4217-82E2-044CE7BEF4AA}" srcId="{5AD9AE82-9D56-4F58-8E22-BEDB38E33706}" destId="{984B3B87-69CA-4E44-BBAD-511259AB019D}" srcOrd="0" destOrd="0" parTransId="{282D3647-CC2C-4C3D-95E7-233A9F7B1908}" sibTransId="{1DFB925E-8874-4EA1-89A5-C4272D29DB63}"/>
    <dgm:cxn modelId="{03AD9679-55FC-B244-BB27-784813D6F586}" type="presOf" srcId="{902AA014-85AA-49A8-8664-47B778274B72}" destId="{DC0DB5AA-4CC4-4114-BA04-A5FD442F1A7E}" srcOrd="0" destOrd="1" presId="urn:microsoft.com/office/officeart/2018/2/layout/IconLabelDescriptionList"/>
    <dgm:cxn modelId="{E8F3AD81-2B7A-714F-B3F0-CD15984F90E3}" type="presOf" srcId="{A0C92736-C0AB-4A83-AB79-43C0CF7C3EC3}" destId="{74F54816-420A-47A6-A235-E2A34CE1FDA2}" srcOrd="0" destOrd="3" presId="urn:microsoft.com/office/officeart/2018/2/layout/IconLabelDescriptionList"/>
    <dgm:cxn modelId="{4BC60F90-48B0-42B2-BB06-2158256E6B7F}" srcId="{E2F855CB-6A83-4DB8-8B9B-F2E6C6903F7E}" destId="{6AF7393D-02DB-45A1-A72C-7B36FB1B862A}" srcOrd="0" destOrd="0" parTransId="{6D3B27BA-6652-401D-9060-1A79A5E5A40F}" sibTransId="{CD558B6B-90FF-4601-84CC-27856758D287}"/>
    <dgm:cxn modelId="{4A79799C-1DC2-9545-A12F-B698ABD071A3}" type="presOf" srcId="{5FC200B5-D7A0-49E9-8751-10855F94AC09}" destId="{6E9F4339-825F-48F5-80F5-4D4DE446E2F1}" srcOrd="0" destOrd="0" presId="urn:microsoft.com/office/officeart/2018/2/layout/IconLabelDescriptionList"/>
    <dgm:cxn modelId="{A8D8F39D-AD01-434B-9389-537BA176D4D6}" type="presOf" srcId="{E4BDB4A2-1E5D-422E-82F3-E858DFCA214F}" destId="{74F54816-420A-47A6-A235-E2A34CE1FDA2}" srcOrd="0" destOrd="1" presId="urn:microsoft.com/office/officeart/2018/2/layout/IconLabelDescriptionList"/>
    <dgm:cxn modelId="{3DE2BFC2-5F59-AC48-8A70-6F5376BC0E54}" type="presOf" srcId="{E85D6739-E84F-473B-A726-C37EF6CDAAC8}" destId="{74F54816-420A-47A6-A235-E2A34CE1FDA2}" srcOrd="0" destOrd="2" presId="urn:microsoft.com/office/officeart/2018/2/layout/IconLabelDescriptionList"/>
    <dgm:cxn modelId="{91E34DC4-ADE5-43AF-95D3-47F9D576200A}" srcId="{1787CE87-7DF3-43D9-A4D3-AF2D93969597}" destId="{EB9F3E1F-5BFC-41AA-BC32-688CCBF0DF9B}" srcOrd="1" destOrd="0" parTransId="{8FE49A02-2E8D-4CEC-8AAE-71F0A3B40817}" sibTransId="{0ECFF2FC-5910-43B9-BD4F-E6A07A917C07}"/>
    <dgm:cxn modelId="{DA8EEACC-58CA-5F4C-A398-0D3DDAE10CE7}" type="presOf" srcId="{5AD9AE82-9D56-4F58-8E22-BEDB38E33706}" destId="{375B873D-DFBC-43D8-B9C6-8009F55067D5}" srcOrd="0" destOrd="0" presId="urn:microsoft.com/office/officeart/2018/2/layout/IconLabelDescriptionList"/>
    <dgm:cxn modelId="{2DE30CDB-FBE3-40D4-94DA-598161D72D1D}" srcId="{1787CE87-7DF3-43D9-A4D3-AF2D93969597}" destId="{E2F855CB-6A83-4DB8-8B9B-F2E6C6903F7E}" srcOrd="0" destOrd="0" parTransId="{4D756603-52F8-481A-9072-9CD053FA7F58}" sibTransId="{32BBC372-7458-4399-B8BA-A3031522C732}"/>
    <dgm:cxn modelId="{2C431EDF-E38F-D448-B645-1C3CB86EDA56}" type="presOf" srcId="{E8B4C98B-8AFD-4193-B30E-2252C4ABEEC2}" destId="{6E9F4339-825F-48F5-80F5-4D4DE446E2F1}" srcOrd="0" destOrd="1" presId="urn:microsoft.com/office/officeart/2018/2/layout/IconLabelDescriptionList"/>
    <dgm:cxn modelId="{D95AABF4-647A-AA4F-91C4-71F143531FDF}" type="presOf" srcId="{1787CE87-7DF3-43D9-A4D3-AF2D93969597}" destId="{58D19FA5-EF34-4E3F-9C7B-0B41C9B992C5}" srcOrd="0" destOrd="0" presId="urn:microsoft.com/office/officeart/2018/2/layout/IconLabelDescriptionList"/>
    <dgm:cxn modelId="{B3103FFF-1A4F-2441-A157-604826BB61B7}" type="presOf" srcId="{6AF7393D-02DB-45A1-A72C-7B36FB1B862A}" destId="{74F54816-420A-47A6-A235-E2A34CE1FDA2}" srcOrd="0" destOrd="0" presId="urn:microsoft.com/office/officeart/2018/2/layout/IconLabelDescriptionList"/>
    <dgm:cxn modelId="{3F56221D-BCEF-C74D-9BEA-C9FB2CCDF81E}" type="presParOf" srcId="{58D19FA5-EF34-4E3F-9C7B-0B41C9B992C5}" destId="{699BEEEE-D92E-41D7-95CE-DCEB769FF125}" srcOrd="0" destOrd="0" presId="urn:microsoft.com/office/officeart/2018/2/layout/IconLabelDescriptionList"/>
    <dgm:cxn modelId="{DE23B8A5-0F53-4A46-B8FE-746785D84C00}" type="presParOf" srcId="{699BEEEE-D92E-41D7-95CE-DCEB769FF125}" destId="{2E1E2878-ECC7-4AD2-B759-8EF355649D37}" srcOrd="0" destOrd="0" presId="urn:microsoft.com/office/officeart/2018/2/layout/IconLabelDescriptionList"/>
    <dgm:cxn modelId="{53A15433-705A-BD45-9669-24C7BC07C7FA}" type="presParOf" srcId="{699BEEEE-D92E-41D7-95CE-DCEB769FF125}" destId="{46EF950F-9357-44C1-BDEF-426FC4B44E9B}" srcOrd="1" destOrd="0" presId="urn:microsoft.com/office/officeart/2018/2/layout/IconLabelDescriptionList"/>
    <dgm:cxn modelId="{56F2AEC7-8499-D943-B5DF-2ED87A5B7E11}" type="presParOf" srcId="{699BEEEE-D92E-41D7-95CE-DCEB769FF125}" destId="{238C6DDB-18A6-46E1-B3B8-E90D37E90FCA}" srcOrd="2" destOrd="0" presId="urn:microsoft.com/office/officeart/2018/2/layout/IconLabelDescriptionList"/>
    <dgm:cxn modelId="{306E8FFC-D8DF-2B4C-9926-599B5BAFCA36}" type="presParOf" srcId="{699BEEEE-D92E-41D7-95CE-DCEB769FF125}" destId="{8F13FCEF-DC16-433F-8450-BCE843E777B9}" srcOrd="3" destOrd="0" presId="urn:microsoft.com/office/officeart/2018/2/layout/IconLabelDescriptionList"/>
    <dgm:cxn modelId="{7DF9FCC2-8998-5749-A0D2-7A54C3667871}" type="presParOf" srcId="{699BEEEE-D92E-41D7-95CE-DCEB769FF125}" destId="{74F54816-420A-47A6-A235-E2A34CE1FDA2}" srcOrd="4" destOrd="0" presId="urn:microsoft.com/office/officeart/2018/2/layout/IconLabelDescriptionList"/>
    <dgm:cxn modelId="{C40C1997-41BE-0D48-BC9D-26F76C46BC1B}" type="presParOf" srcId="{58D19FA5-EF34-4E3F-9C7B-0B41C9B992C5}" destId="{2C177A64-AF88-44A4-933B-B7A30D2F61A1}" srcOrd="1" destOrd="0" presId="urn:microsoft.com/office/officeart/2018/2/layout/IconLabelDescriptionList"/>
    <dgm:cxn modelId="{76A3D152-620B-5048-B8B5-EF52F11A5545}" type="presParOf" srcId="{58D19FA5-EF34-4E3F-9C7B-0B41C9B992C5}" destId="{F2E420DD-B260-4763-AC5D-0BE99177E0F8}" srcOrd="2" destOrd="0" presId="urn:microsoft.com/office/officeart/2018/2/layout/IconLabelDescriptionList"/>
    <dgm:cxn modelId="{F5689D92-EA0E-8D4D-9DE1-3EDEAB675CA0}" type="presParOf" srcId="{F2E420DD-B260-4763-AC5D-0BE99177E0F8}" destId="{B4BB3EE4-FEF1-4DAC-8FFD-295385C15B59}" srcOrd="0" destOrd="0" presId="urn:microsoft.com/office/officeart/2018/2/layout/IconLabelDescriptionList"/>
    <dgm:cxn modelId="{20A92E51-7ADF-3344-A4F7-5EF508349214}" type="presParOf" srcId="{F2E420DD-B260-4763-AC5D-0BE99177E0F8}" destId="{381396BE-33A4-4119-8776-EBB4B1D80D19}" srcOrd="1" destOrd="0" presId="urn:microsoft.com/office/officeart/2018/2/layout/IconLabelDescriptionList"/>
    <dgm:cxn modelId="{3CF98664-D561-4F4A-B5BB-880E08D618EA}" type="presParOf" srcId="{F2E420DD-B260-4763-AC5D-0BE99177E0F8}" destId="{15CB11BB-4696-4AFE-9CF2-E044382EFFB3}" srcOrd="2" destOrd="0" presId="urn:microsoft.com/office/officeart/2018/2/layout/IconLabelDescriptionList"/>
    <dgm:cxn modelId="{159D0E7C-2652-8A4B-8100-AB0DF684D589}" type="presParOf" srcId="{F2E420DD-B260-4763-AC5D-0BE99177E0F8}" destId="{7CABDECF-B7D3-4F6D-A729-5CCA36370BDE}" srcOrd="3" destOrd="0" presId="urn:microsoft.com/office/officeart/2018/2/layout/IconLabelDescriptionList"/>
    <dgm:cxn modelId="{903FCA73-113E-5F4D-9ED3-A3AB264E961B}" type="presParOf" srcId="{F2E420DD-B260-4763-AC5D-0BE99177E0F8}" destId="{6E9F4339-825F-48F5-80F5-4D4DE446E2F1}" srcOrd="4" destOrd="0" presId="urn:microsoft.com/office/officeart/2018/2/layout/IconLabelDescriptionList"/>
    <dgm:cxn modelId="{3F6EA7D8-CD4F-E149-9EB0-BF2DA1ABA69D}" type="presParOf" srcId="{58D19FA5-EF34-4E3F-9C7B-0B41C9B992C5}" destId="{72C2F032-9166-4911-8EB6-0C9127B6858B}" srcOrd="3" destOrd="0" presId="urn:microsoft.com/office/officeart/2018/2/layout/IconLabelDescriptionList"/>
    <dgm:cxn modelId="{606B1416-70D6-4949-9E18-E304DBE07342}" type="presParOf" srcId="{58D19FA5-EF34-4E3F-9C7B-0B41C9B992C5}" destId="{6250DC72-5C62-47CB-A057-A3F211826FC7}" srcOrd="4" destOrd="0" presId="urn:microsoft.com/office/officeart/2018/2/layout/IconLabelDescriptionList"/>
    <dgm:cxn modelId="{BDD62097-72BB-8446-BE00-C26EEB5A1EE9}" type="presParOf" srcId="{6250DC72-5C62-47CB-A057-A3F211826FC7}" destId="{F0E4C2F2-52ED-4954-98AB-773E40E31EC4}" srcOrd="0" destOrd="0" presId="urn:microsoft.com/office/officeart/2018/2/layout/IconLabelDescriptionList"/>
    <dgm:cxn modelId="{C7C4CB14-6450-DD49-B659-8AE7EB3DAD81}" type="presParOf" srcId="{6250DC72-5C62-47CB-A057-A3F211826FC7}" destId="{DF574CE4-AAF6-464A-AD77-B8087C12F6F0}" srcOrd="1" destOrd="0" presId="urn:microsoft.com/office/officeart/2018/2/layout/IconLabelDescriptionList"/>
    <dgm:cxn modelId="{5B6B6DD5-01DA-8E4E-B653-94F8DFB5D667}" type="presParOf" srcId="{6250DC72-5C62-47CB-A057-A3F211826FC7}" destId="{375B873D-DFBC-43D8-B9C6-8009F55067D5}" srcOrd="2" destOrd="0" presId="urn:microsoft.com/office/officeart/2018/2/layout/IconLabelDescriptionList"/>
    <dgm:cxn modelId="{B103A2D6-3486-7249-AD28-E437EA5E8A31}" type="presParOf" srcId="{6250DC72-5C62-47CB-A057-A3F211826FC7}" destId="{138B28D3-48E8-424F-A3AA-D667BE852D99}" srcOrd="3" destOrd="0" presId="urn:microsoft.com/office/officeart/2018/2/layout/IconLabelDescriptionList"/>
    <dgm:cxn modelId="{ECFA3304-4492-F14B-99F9-EA67AD3DD2DF}" type="presParOf" srcId="{6250DC72-5C62-47CB-A057-A3F211826FC7}" destId="{DC0DB5AA-4CC4-4114-BA04-A5FD442F1A7E}"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BB1A55-7694-4BD0-B28B-CF93A27E95E0}">
      <dsp:nvSpPr>
        <dsp:cNvPr id="0" name=""/>
        <dsp:cNvSpPr/>
      </dsp:nvSpPr>
      <dsp:spPr>
        <a:xfrm>
          <a:off x="1283"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A6A0ECE-CBE7-43FC-9509-F771A9328990}">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0" kern="1200">
              <a:latin typeface="Calibri"/>
              <a:ea typeface="+mn-ea"/>
              <a:cs typeface="+mn-cs"/>
            </a:rPr>
            <a:t>Credit card fraud remains the leading form of identity theft in the United States, with 2024 seeing over 449,000 complaints to the Federal Trade Commission and within the first quarter of 2025 adding another 151,000 cases. In the United States, 63% of cardholders have been targeted at least once, and more than half of these victims report experiencing repeated attacks.</a:t>
          </a:r>
        </a:p>
      </dsp:txBody>
      <dsp:txXfrm>
        <a:off x="585701" y="1066737"/>
        <a:ext cx="4337991" cy="2693452"/>
      </dsp:txXfrm>
    </dsp:sp>
    <dsp:sp modelId="{38BBDD51-7F22-4220-9752-0F86D0B34BE5}">
      <dsp:nvSpPr>
        <dsp:cNvPr id="0" name=""/>
        <dsp:cNvSpPr/>
      </dsp:nvSpPr>
      <dsp:spPr>
        <a:xfrm>
          <a:off x="5508110"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34081DB-7B79-42FB-9BDB-C91E80B92560}">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0" kern="1200">
              <a:latin typeface="Calibri"/>
              <a:ea typeface="+mn-ea"/>
              <a:cs typeface="+mn-cs"/>
            </a:rPr>
            <a:t>This persistent threat not only inflicts hundreds of millions of dollars in annual losses but also erodes consumer confidence in digital payments. Existing detection systems struggle to keep up with the evolving tactics of scammers and the extreme imbalance between legitimate and fraudulent transactions. There is an urgent need for a robust, real-time solution that can accurately flag while minimizing false alarms.</a:t>
          </a:r>
          <a:endParaRPr lang="en-GB" sz="1800" b="0" kern="1200">
            <a:latin typeface="Calibri"/>
            <a:ea typeface="+mn-ea"/>
            <a:cs typeface="+mn-cs"/>
          </a:endParaRPr>
        </a:p>
      </dsp:txBody>
      <dsp:txXfrm>
        <a:off x="6092527" y="1066737"/>
        <a:ext cx="4337991" cy="2693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1E2878-ECC7-4AD2-B759-8EF355649D37}">
      <dsp:nvSpPr>
        <dsp:cNvPr id="0" name=""/>
        <dsp:cNvSpPr/>
      </dsp:nvSpPr>
      <dsp:spPr>
        <a:xfrm>
          <a:off x="10601" y="161577"/>
          <a:ext cx="908674" cy="9086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8C6DDB-18A6-46E1-B3B8-E90D37E90FCA}">
      <dsp:nvSpPr>
        <dsp:cNvPr id="0" name=""/>
        <dsp:cNvSpPr/>
      </dsp:nvSpPr>
      <dsp:spPr>
        <a:xfrm>
          <a:off x="10601" y="1257049"/>
          <a:ext cx="2596212" cy="4989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kern="1200">
              <a:latin typeface="Calibri"/>
              <a:ea typeface="Calibri"/>
              <a:cs typeface="Calibri"/>
            </a:rPr>
            <a:t>Data Storage, Collection, and Processing</a:t>
          </a:r>
        </a:p>
      </dsp:txBody>
      <dsp:txXfrm>
        <a:off x="10601" y="1257049"/>
        <a:ext cx="2596212" cy="498959"/>
      </dsp:txXfrm>
    </dsp:sp>
    <dsp:sp modelId="{74F54816-420A-47A6-A235-E2A34CE1FDA2}">
      <dsp:nvSpPr>
        <dsp:cNvPr id="0" name=""/>
        <dsp:cNvSpPr/>
      </dsp:nvSpPr>
      <dsp:spPr>
        <a:xfrm>
          <a:off x="10601" y="1842891"/>
          <a:ext cx="2596212" cy="2662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b="1" kern="1200">
              <a:latin typeface="Calibri"/>
              <a:ea typeface="Calibri"/>
              <a:cs typeface="Calibri"/>
            </a:rPr>
            <a:t>Kaggle – </a:t>
          </a:r>
          <a:r>
            <a:rPr lang="en-US" sz="1200" b="0" kern="1200">
              <a:latin typeface="Calibri"/>
              <a:ea typeface="Calibri"/>
              <a:cs typeface="Calibri"/>
            </a:rPr>
            <a:t>Online repository of public datasets. We used this to acquire the training data set for our model.</a:t>
          </a:r>
        </a:p>
        <a:p>
          <a:pPr marL="0" lvl="0" indent="0" algn="l" defTabSz="533400">
            <a:lnSpc>
              <a:spcPct val="100000"/>
            </a:lnSpc>
            <a:spcBef>
              <a:spcPct val="0"/>
            </a:spcBef>
            <a:spcAft>
              <a:spcPct val="35000"/>
            </a:spcAft>
            <a:buNone/>
          </a:pPr>
          <a:r>
            <a:rPr lang="en-US" sz="1200" b="1" kern="1200">
              <a:latin typeface="Calibri"/>
              <a:ea typeface="Calibri"/>
              <a:cs typeface="Calibri"/>
            </a:rPr>
            <a:t>Pandas / NumPy –</a:t>
          </a:r>
          <a:r>
            <a:rPr lang="en-US" sz="1200" kern="1200">
              <a:latin typeface="Calibri"/>
              <a:ea typeface="Calibri"/>
              <a:cs typeface="Calibri"/>
            </a:rPr>
            <a:t> Core tabular and numerical routines.</a:t>
          </a:r>
        </a:p>
        <a:p>
          <a:pPr marL="0" lvl="0" indent="0" algn="l" defTabSz="533400">
            <a:lnSpc>
              <a:spcPct val="100000"/>
            </a:lnSpc>
            <a:spcBef>
              <a:spcPct val="0"/>
            </a:spcBef>
            <a:spcAft>
              <a:spcPct val="35000"/>
            </a:spcAft>
            <a:buNone/>
          </a:pPr>
          <a:r>
            <a:rPr lang="en-US" sz="1200" b="1" kern="1200">
              <a:solidFill>
                <a:schemeClr val="tx1"/>
              </a:solidFill>
              <a:latin typeface="Calibri"/>
              <a:ea typeface="Calibri"/>
              <a:cs typeface="Calibri"/>
            </a:rPr>
            <a:t>Scikit-learn</a:t>
          </a:r>
          <a:r>
            <a:rPr lang="en-US" sz="1200" b="1" kern="1200">
              <a:solidFill>
                <a:srgbClr val="444444"/>
              </a:solidFill>
              <a:latin typeface="Calibri"/>
              <a:ea typeface="Calibri"/>
              <a:cs typeface="Calibri"/>
            </a:rPr>
            <a:t> –</a:t>
          </a:r>
          <a:r>
            <a:rPr lang="en-US" sz="1200" b="0" kern="1200">
              <a:solidFill>
                <a:srgbClr val="444444"/>
              </a:solidFill>
              <a:latin typeface="Calibri"/>
              <a:ea typeface="Calibri"/>
              <a:cs typeface="Calibri"/>
            </a:rPr>
            <a:t> </a:t>
          </a:r>
          <a:r>
            <a:rPr lang="en-US" sz="1200" b="0" kern="1200">
              <a:solidFill>
                <a:schemeClr val="tx1"/>
              </a:solidFill>
              <a:latin typeface="Calibri"/>
              <a:ea typeface="Calibri"/>
              <a:cs typeface="Calibri"/>
            </a:rPr>
            <a:t>Standardized pipeline, preprocessing, and model‐selection tools.</a:t>
          </a:r>
        </a:p>
        <a:p>
          <a:pPr marL="0" lvl="0" indent="0" algn="l" defTabSz="533400">
            <a:lnSpc>
              <a:spcPct val="100000"/>
            </a:lnSpc>
            <a:spcBef>
              <a:spcPct val="0"/>
            </a:spcBef>
            <a:spcAft>
              <a:spcPct val="35000"/>
            </a:spcAft>
            <a:buNone/>
          </a:pPr>
          <a:r>
            <a:rPr lang="en-US" sz="1200" b="1" kern="1200">
              <a:solidFill>
                <a:schemeClr val="tx1"/>
              </a:solidFill>
              <a:latin typeface="Calibri"/>
              <a:ea typeface="Calibri"/>
              <a:cs typeface="Calibri"/>
            </a:rPr>
            <a:t>Supabase – </a:t>
          </a:r>
          <a:r>
            <a:rPr lang="en-US" sz="1200" b="0" kern="1200"/>
            <a:t>an open-source backend-as-a-service (BaaS) platform </a:t>
          </a:r>
          <a:r>
            <a:rPr lang="en-US" sz="1200" b="0" kern="1200">
              <a:latin typeface="Aptos Display" panose="02110004020202020204"/>
            </a:rPr>
            <a:t>that</a:t>
          </a:r>
          <a:r>
            <a:rPr lang="en-US" sz="1200" b="0" kern="1200"/>
            <a:t> </a:t>
          </a:r>
          <a:r>
            <a:rPr lang="en-US" sz="1200" b="0" kern="1200">
              <a:latin typeface="Aptos Display" panose="02110004020202020204"/>
            </a:rPr>
            <a:t>provided</a:t>
          </a:r>
          <a:r>
            <a:rPr lang="en-US" sz="1200" b="0" kern="1200"/>
            <a:t> </a:t>
          </a:r>
          <a:r>
            <a:rPr lang="en-US" sz="1200" b="0" kern="1200">
              <a:latin typeface="Aptos Display" panose="02110004020202020204"/>
            </a:rPr>
            <a:t>us with</a:t>
          </a:r>
          <a:r>
            <a:rPr lang="en-US" sz="1200" b="0" kern="1200"/>
            <a:t> a full suite of tools—database, authentication, storage, real-time subscriptions, and serverless functions</a:t>
          </a:r>
          <a:r>
            <a:rPr lang="en-US" sz="1200" b="0" kern="1200">
              <a:solidFill>
                <a:srgbClr val="000000"/>
              </a:solidFill>
              <a:latin typeface="Aptos Display"/>
              <a:ea typeface="Calibri"/>
              <a:cs typeface="Calibri"/>
            </a:rPr>
            <a:t>.</a:t>
          </a:r>
          <a:endParaRPr lang="en-US" sz="1200" b="1" kern="1200">
            <a:solidFill>
              <a:schemeClr val="tx1"/>
            </a:solidFill>
            <a:latin typeface="Calibri"/>
            <a:ea typeface="Calibri"/>
            <a:cs typeface="Calibri"/>
          </a:endParaRPr>
        </a:p>
      </dsp:txBody>
      <dsp:txXfrm>
        <a:off x="10601" y="1842891"/>
        <a:ext cx="2596212" cy="2662821"/>
      </dsp:txXfrm>
    </dsp:sp>
    <dsp:sp modelId="{B4BB3EE4-FEF1-4DAC-8FFD-295385C15B59}">
      <dsp:nvSpPr>
        <dsp:cNvPr id="0" name=""/>
        <dsp:cNvSpPr/>
      </dsp:nvSpPr>
      <dsp:spPr>
        <a:xfrm>
          <a:off x="3061150" y="161577"/>
          <a:ext cx="908674" cy="9086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CB11BB-4696-4AFE-9CF2-E044382EFFB3}">
      <dsp:nvSpPr>
        <dsp:cNvPr id="0" name=""/>
        <dsp:cNvSpPr/>
      </dsp:nvSpPr>
      <dsp:spPr>
        <a:xfrm>
          <a:off x="3061150" y="1257049"/>
          <a:ext cx="2596212" cy="4989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kern="1200">
              <a:latin typeface="Calibri"/>
              <a:ea typeface="Calibri"/>
              <a:cs typeface="Calibri"/>
            </a:rPr>
            <a:t>Model Development and Experimentation</a:t>
          </a:r>
        </a:p>
      </dsp:txBody>
      <dsp:txXfrm>
        <a:off x="3061150" y="1257049"/>
        <a:ext cx="2596212" cy="498959"/>
      </dsp:txXfrm>
    </dsp:sp>
    <dsp:sp modelId="{6E9F4339-825F-48F5-80F5-4D4DE446E2F1}">
      <dsp:nvSpPr>
        <dsp:cNvPr id="0" name=""/>
        <dsp:cNvSpPr/>
      </dsp:nvSpPr>
      <dsp:spPr>
        <a:xfrm>
          <a:off x="3061150" y="1842891"/>
          <a:ext cx="2596212" cy="2662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b="1" kern="1200">
              <a:latin typeface="Calibri"/>
              <a:ea typeface="Calibri"/>
              <a:cs typeface="Calibri"/>
            </a:rPr>
            <a:t>XGBoost</a:t>
          </a:r>
          <a:r>
            <a:rPr lang="en-US" sz="1200" kern="1200">
              <a:latin typeface="Calibri"/>
              <a:ea typeface="Calibri"/>
              <a:cs typeface="Calibri"/>
            </a:rPr>
            <a:t> – Gradient boosting implementations with GPU support for speed and advanced class‐imbalance handling.</a:t>
          </a:r>
        </a:p>
        <a:p>
          <a:pPr marL="0" lvl="0" indent="0" algn="l" defTabSz="533400">
            <a:lnSpc>
              <a:spcPct val="100000"/>
            </a:lnSpc>
            <a:spcBef>
              <a:spcPct val="0"/>
            </a:spcBef>
            <a:spcAft>
              <a:spcPct val="35000"/>
            </a:spcAft>
            <a:buNone/>
          </a:pPr>
          <a:r>
            <a:rPr lang="en-US" sz="1200" b="1" kern="1200">
              <a:latin typeface="Calibri"/>
              <a:ea typeface="Calibri"/>
              <a:cs typeface="Calibri"/>
            </a:rPr>
            <a:t>Python – </a:t>
          </a:r>
          <a:r>
            <a:rPr lang="en-US" sz="1200" b="0" kern="1200">
              <a:latin typeface="Calibri"/>
              <a:ea typeface="Calibri"/>
              <a:cs typeface="Calibri"/>
            </a:rPr>
            <a:t>widely used language for AI model development because of its simplicity, readability, and powerful ecosystem of libraries and frameworks.</a:t>
          </a:r>
        </a:p>
        <a:p>
          <a:pPr marL="0" lvl="0" indent="0" algn="l" defTabSz="533400">
            <a:lnSpc>
              <a:spcPct val="100000"/>
            </a:lnSpc>
            <a:spcBef>
              <a:spcPct val="0"/>
            </a:spcBef>
            <a:spcAft>
              <a:spcPct val="35000"/>
            </a:spcAft>
            <a:buNone/>
          </a:pPr>
          <a:r>
            <a:rPr lang="en-US" sz="1200" b="1" kern="1200">
              <a:latin typeface="Calibri"/>
              <a:ea typeface="Calibri"/>
              <a:cs typeface="Calibri"/>
            </a:rPr>
            <a:t>FastAPI</a:t>
          </a:r>
          <a:r>
            <a:rPr lang="en-US" sz="1200" b="0" kern="1200">
              <a:latin typeface="Calibri"/>
              <a:ea typeface="Calibri"/>
              <a:cs typeface="Calibri"/>
            </a:rPr>
            <a:t> – a modern, high-performance Python web framework designed for building APIs quickly and efficiently.</a:t>
          </a:r>
          <a:endParaRPr lang="en-US" sz="1200" kern="1200">
            <a:latin typeface="Calibri"/>
            <a:ea typeface="Calibri"/>
            <a:cs typeface="Calibri"/>
          </a:endParaRPr>
        </a:p>
      </dsp:txBody>
      <dsp:txXfrm>
        <a:off x="3061150" y="1842891"/>
        <a:ext cx="2596212" cy="2662821"/>
      </dsp:txXfrm>
    </dsp:sp>
    <dsp:sp modelId="{F0E4C2F2-52ED-4954-98AB-773E40E31EC4}">
      <dsp:nvSpPr>
        <dsp:cNvPr id="0" name=""/>
        <dsp:cNvSpPr/>
      </dsp:nvSpPr>
      <dsp:spPr>
        <a:xfrm>
          <a:off x="6111700" y="161577"/>
          <a:ext cx="908674" cy="9086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5B873D-DFBC-43D8-B9C6-8009F55067D5}">
      <dsp:nvSpPr>
        <dsp:cNvPr id="0" name=""/>
        <dsp:cNvSpPr/>
      </dsp:nvSpPr>
      <dsp:spPr>
        <a:xfrm>
          <a:off x="6111700" y="1257049"/>
          <a:ext cx="2596212" cy="4989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b="1" kern="1200">
              <a:latin typeface="Calibri"/>
              <a:ea typeface="Calibri"/>
              <a:cs typeface="Calibri"/>
            </a:rPr>
            <a:t>Visualization and End-User Interface</a:t>
          </a:r>
        </a:p>
      </dsp:txBody>
      <dsp:txXfrm>
        <a:off x="6111700" y="1257049"/>
        <a:ext cx="2596212" cy="498959"/>
      </dsp:txXfrm>
    </dsp:sp>
    <dsp:sp modelId="{DC0DB5AA-4CC4-4114-BA04-A5FD442F1A7E}">
      <dsp:nvSpPr>
        <dsp:cNvPr id="0" name=""/>
        <dsp:cNvSpPr/>
      </dsp:nvSpPr>
      <dsp:spPr>
        <a:xfrm>
          <a:off x="6111700" y="1842891"/>
          <a:ext cx="2596212" cy="2662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b="1" kern="1200">
              <a:latin typeface="Calibri"/>
              <a:ea typeface="Calibri"/>
              <a:cs typeface="Calibri"/>
            </a:rPr>
            <a:t>PenPot – </a:t>
          </a:r>
          <a:r>
            <a:rPr lang="en-US" sz="1200" b="0" kern="1200">
              <a:latin typeface="Calibri"/>
              <a:ea typeface="Calibri"/>
              <a:cs typeface="Calibri"/>
            </a:rPr>
            <a:t>a free, open-source, web-based design and prototyping tool built for collaboration between designers and developers.</a:t>
          </a:r>
        </a:p>
        <a:p>
          <a:pPr marL="0" lvl="0" indent="0" algn="l" defTabSz="533400">
            <a:lnSpc>
              <a:spcPct val="100000"/>
            </a:lnSpc>
            <a:spcBef>
              <a:spcPct val="0"/>
            </a:spcBef>
            <a:spcAft>
              <a:spcPct val="35000"/>
            </a:spcAft>
            <a:buNone/>
          </a:pPr>
          <a:r>
            <a:rPr lang="en-US" sz="1200" b="1" kern="1200">
              <a:latin typeface="Calibri"/>
              <a:ea typeface="Calibri"/>
              <a:cs typeface="Calibri"/>
            </a:rPr>
            <a:t>XCODE – </a:t>
          </a:r>
          <a:r>
            <a:rPr lang="en-US" sz="1200" b="0" kern="1200">
              <a:latin typeface="Calibri"/>
              <a:ea typeface="Calibri"/>
              <a:cs typeface="Calibri"/>
            </a:rPr>
            <a:t>Apple’s official IDE for building apps across all Apple platforms.</a:t>
          </a:r>
        </a:p>
        <a:p>
          <a:pPr marL="0" lvl="0" indent="0" algn="l" defTabSz="533400">
            <a:lnSpc>
              <a:spcPct val="100000"/>
            </a:lnSpc>
            <a:spcBef>
              <a:spcPct val="0"/>
            </a:spcBef>
            <a:spcAft>
              <a:spcPct val="35000"/>
            </a:spcAft>
            <a:buNone/>
          </a:pPr>
          <a:r>
            <a:rPr lang="en-US" sz="1200" b="1" kern="1200">
              <a:latin typeface="Calibri"/>
              <a:ea typeface="Calibri"/>
              <a:cs typeface="Calibri"/>
            </a:rPr>
            <a:t>Swift – </a:t>
          </a:r>
          <a:r>
            <a:rPr lang="en-US" sz="1200" b="0" kern="1200">
              <a:latin typeface="Calibri"/>
              <a:ea typeface="Calibri"/>
              <a:cs typeface="Calibri"/>
            </a:rPr>
            <a:t>Apple’s modern, powerful, and intuitive programming language designed for building Apple Platform apps on XCODE.</a:t>
          </a:r>
          <a:endParaRPr lang="en-US" sz="1200" kern="1200">
            <a:latin typeface="Calibri"/>
            <a:ea typeface="Calibri"/>
            <a:cs typeface="Calibri"/>
          </a:endParaRPr>
        </a:p>
      </dsp:txBody>
      <dsp:txXfrm>
        <a:off x="6111700" y="1842891"/>
        <a:ext cx="2596212" cy="266282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F81DB-B1D3-C84B-84D1-183185A62112}" type="datetimeFigureOut">
              <a:rPr lang="en-US" smtClean="0"/>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40E727-FF01-1D41-B6E9-08C3A5B41A8F}" type="slidenum">
              <a:rPr lang="en-US" smtClean="0"/>
              <a:t>‹#›</a:t>
            </a:fld>
            <a:endParaRPr lang="en-US"/>
          </a:p>
        </p:txBody>
      </p:sp>
    </p:spTree>
    <p:extLst>
      <p:ext uri="{BB962C8B-B14F-4D97-AF65-F5344CB8AC3E}">
        <p14:creationId xmlns:p14="http://schemas.microsoft.com/office/powerpoint/2010/main" val="2035412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A40E727-FF01-1D41-B6E9-08C3A5B41A8F}" type="slidenum">
              <a:rPr lang="en-US" smtClean="0"/>
              <a:t>1</a:t>
            </a:fld>
            <a:endParaRPr lang="en-US"/>
          </a:p>
        </p:txBody>
      </p:sp>
    </p:spTree>
    <p:extLst>
      <p:ext uri="{BB962C8B-B14F-4D97-AF65-F5344CB8AC3E}">
        <p14:creationId xmlns:p14="http://schemas.microsoft.com/office/powerpoint/2010/main" val="3346661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A40E727-FF01-1D41-B6E9-08C3A5B41A8F}" type="slidenum">
              <a:rPr lang="en-US" smtClean="0"/>
              <a:t>2</a:t>
            </a:fld>
            <a:endParaRPr lang="en-US"/>
          </a:p>
        </p:txBody>
      </p:sp>
    </p:spTree>
    <p:extLst>
      <p:ext uri="{BB962C8B-B14F-4D97-AF65-F5344CB8AC3E}">
        <p14:creationId xmlns:p14="http://schemas.microsoft.com/office/powerpoint/2010/main" val="2684466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Defines the high level classes in our system</a:t>
            </a:r>
          </a:p>
          <a:p>
            <a:r>
              <a:rPr lang="en-US">
                <a:latin typeface="Calibri"/>
                <a:ea typeface="Calibri"/>
                <a:cs typeface="Calibri"/>
              </a:rPr>
              <a:t>Receiver is responsible for taking in raw transaction data.</a:t>
            </a:r>
          </a:p>
          <a:p>
            <a:r>
              <a:rPr lang="en-US">
                <a:latin typeface="Calibri"/>
                <a:ea typeface="Calibri"/>
                <a:cs typeface="Calibri"/>
              </a:rPr>
              <a:t>Sends it to a model that produces a prediction</a:t>
            </a:r>
          </a:p>
          <a:p>
            <a:r>
              <a:rPr lang="en-US">
                <a:latin typeface="Calibri"/>
                <a:ea typeface="Calibri"/>
                <a:cs typeface="Calibri"/>
              </a:rPr>
              <a:t>Reciever takes prediction and then alerts</a:t>
            </a:r>
          </a:p>
        </p:txBody>
      </p:sp>
      <p:sp>
        <p:nvSpPr>
          <p:cNvPr id="4" name="Slide Number Placeholder 3"/>
          <p:cNvSpPr>
            <a:spLocks noGrp="1"/>
          </p:cNvSpPr>
          <p:nvPr>
            <p:ph type="sldNum" sz="quarter" idx="5"/>
          </p:nvPr>
        </p:nvSpPr>
        <p:spPr/>
        <p:txBody>
          <a:bodyPr/>
          <a:lstStyle/>
          <a:p>
            <a:fld id="{3A40E727-FF01-1D41-B6E9-08C3A5B41A8F}" type="slidenum">
              <a:rPr lang="en-US" smtClean="0"/>
              <a:t>20</a:t>
            </a:fld>
            <a:endParaRPr lang="en-US"/>
          </a:p>
        </p:txBody>
      </p:sp>
    </p:spTree>
    <p:extLst>
      <p:ext uri="{BB962C8B-B14F-4D97-AF65-F5344CB8AC3E}">
        <p14:creationId xmlns:p14="http://schemas.microsoft.com/office/powerpoint/2010/main" val="286071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EC59-BD5C-41E1-A19F-B3CA14D8AB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A83A1D-AF0B-D3B2-FC74-CD1815C83C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625000-9308-EC92-3236-B5FC0850FB0C}"/>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5" name="Footer Placeholder 4">
            <a:extLst>
              <a:ext uri="{FF2B5EF4-FFF2-40B4-BE49-F238E27FC236}">
                <a16:creationId xmlns:a16="http://schemas.microsoft.com/office/drawing/2014/main" id="{F99C5068-98FE-BB9A-B3CD-8487D84DD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52B391-6422-BA92-8597-29D2A913E17C}"/>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1670656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AC337-CA76-10C7-305C-C3D4F86F2F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E51BE5-1F80-9BE9-C183-007F728290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68F2F9-E287-1FEA-9379-816B8A586523}"/>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5" name="Footer Placeholder 4">
            <a:extLst>
              <a:ext uri="{FF2B5EF4-FFF2-40B4-BE49-F238E27FC236}">
                <a16:creationId xmlns:a16="http://schemas.microsoft.com/office/drawing/2014/main" id="{41B5E44B-3C44-94A0-A67B-49D56EA8A5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29E12-02D0-98E9-689D-A5D724694E81}"/>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2465734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1BE82-7D01-88C7-F0C9-B398FD8EAB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C7BA38-35F8-8D21-25A6-BDE1BF71F7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36814A-76E1-07C6-95EF-C3409EE23037}"/>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5" name="Footer Placeholder 4">
            <a:extLst>
              <a:ext uri="{FF2B5EF4-FFF2-40B4-BE49-F238E27FC236}">
                <a16:creationId xmlns:a16="http://schemas.microsoft.com/office/drawing/2014/main" id="{EBEC47AB-BA01-A23C-90E1-3280DF8F1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4070F-FB9D-96E9-479C-756A369EADD3}"/>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136945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F4EB-566F-EA28-87E7-66097597A2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5A1C9B-2A10-1ED2-2607-95DFDA2AE1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5D2D60-F7C9-5F41-26AD-7CDC286DFE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FD57D4-30EA-1FB3-5A0C-309BD8270A8F}"/>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6" name="Footer Placeholder 5">
            <a:extLst>
              <a:ext uri="{FF2B5EF4-FFF2-40B4-BE49-F238E27FC236}">
                <a16:creationId xmlns:a16="http://schemas.microsoft.com/office/drawing/2014/main" id="{6826EB46-613D-1ECF-46A8-A18F0F0312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7C58AA-BFC8-2F5B-9075-07205731973A}"/>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3017795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499DB-B5B9-CD25-AA21-AA7A1464BA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D9FF39-2C5C-4645-1440-7D58C15DBA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391897-FE39-A622-79E5-C4C7883F78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663A0E-EFC7-1F78-41B4-B394BC7C3B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39E873-1866-BAD6-AB13-49B5D30162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D9F667-F2F2-DE12-3258-FD0702B16FCC}"/>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8" name="Footer Placeholder 7">
            <a:extLst>
              <a:ext uri="{FF2B5EF4-FFF2-40B4-BE49-F238E27FC236}">
                <a16:creationId xmlns:a16="http://schemas.microsoft.com/office/drawing/2014/main" id="{7B953590-3745-475A-4D6B-0ADBB401D9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498621-E520-8EA9-877C-13FABA84EA47}"/>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350377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C7EB-87FC-064E-6FC6-645D7D658D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3732C0-2A71-BA4E-240C-92F59204B8B7}"/>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4" name="Footer Placeholder 3">
            <a:extLst>
              <a:ext uri="{FF2B5EF4-FFF2-40B4-BE49-F238E27FC236}">
                <a16:creationId xmlns:a16="http://schemas.microsoft.com/office/drawing/2014/main" id="{3CC9C610-6F38-C9E4-F0FC-C4409255AA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8FDD19-CB25-F772-FD0E-1F080E65195E}"/>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86256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9F82A-6239-8FF6-B015-DF064EE53B26}"/>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3" name="Footer Placeholder 2">
            <a:extLst>
              <a:ext uri="{FF2B5EF4-FFF2-40B4-BE49-F238E27FC236}">
                <a16:creationId xmlns:a16="http://schemas.microsoft.com/office/drawing/2014/main" id="{F12465D2-5360-4644-F70C-ABCDF562B3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A459CE-DBB2-975C-34DE-FB30095482D9}"/>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185542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06EA3-4D1E-4E87-ABE0-3F17184E07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AFF8F5-1349-06E7-7B8A-80F7318DEA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CC40C3-421D-075C-CF0D-DE7727A48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049716-4E95-5788-0494-0EBF171FB0EE}"/>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6" name="Footer Placeholder 5">
            <a:extLst>
              <a:ext uri="{FF2B5EF4-FFF2-40B4-BE49-F238E27FC236}">
                <a16:creationId xmlns:a16="http://schemas.microsoft.com/office/drawing/2014/main" id="{8D6151D2-2DF7-F56F-B4D6-793952C44E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0756C2-0C1C-5148-B6E0-963641C84866}"/>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1535711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7AB5-540F-8F40-9956-02B78BB66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44540E-3664-952E-979E-E52132D270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651E0E-CD61-C32A-F858-EB4477B63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E24559-8301-8EAE-F075-484C3A1CE396}"/>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6" name="Footer Placeholder 5">
            <a:extLst>
              <a:ext uri="{FF2B5EF4-FFF2-40B4-BE49-F238E27FC236}">
                <a16:creationId xmlns:a16="http://schemas.microsoft.com/office/drawing/2014/main" id="{7B9644EE-D021-58B7-24F3-46F0CD5C7D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F7ECE-47F3-2480-7815-CAB1FD09EE6E}"/>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329292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1D1D5-B617-99E1-A213-EF0B27FFD8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F52901-3937-9DC3-BA2F-10D35AAD8C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D0CC5-8006-F440-6349-F4C43B1338D0}"/>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5" name="Footer Placeholder 4">
            <a:extLst>
              <a:ext uri="{FF2B5EF4-FFF2-40B4-BE49-F238E27FC236}">
                <a16:creationId xmlns:a16="http://schemas.microsoft.com/office/drawing/2014/main" id="{9BD53845-4AEF-AD0C-B18E-0BF77DDBF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CC418-0A85-275A-7904-B4DC04C91044}"/>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22115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D6CE58-93E5-1FD6-4183-E2275F8105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1ECE23-B6E1-B45D-9300-BFB56FB0DF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09F73-12CF-F2C4-DA45-F329557528EE}"/>
              </a:ext>
            </a:extLst>
          </p:cNvPr>
          <p:cNvSpPr>
            <a:spLocks noGrp="1"/>
          </p:cNvSpPr>
          <p:nvPr>
            <p:ph type="dt" sz="half" idx="10"/>
          </p:nvPr>
        </p:nvSpPr>
        <p:spPr/>
        <p:txBody>
          <a:bodyPr/>
          <a:lstStyle/>
          <a:p>
            <a:fld id="{EA5A7032-8C19-494E-A78E-8BB294F06AE3}" type="datetimeFigureOut">
              <a:rPr lang="en-US" smtClean="0"/>
              <a:t>12/20/2025</a:t>
            </a:fld>
            <a:endParaRPr lang="en-US"/>
          </a:p>
        </p:txBody>
      </p:sp>
      <p:sp>
        <p:nvSpPr>
          <p:cNvPr id="5" name="Footer Placeholder 4">
            <a:extLst>
              <a:ext uri="{FF2B5EF4-FFF2-40B4-BE49-F238E27FC236}">
                <a16:creationId xmlns:a16="http://schemas.microsoft.com/office/drawing/2014/main" id="{30B5A277-5063-75B1-9708-CFB17788C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EF5973-887F-24F2-EAB4-D812FFC27238}"/>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274553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B7363A-D126-B2AE-662B-4B0B9D1158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4B3AFF-2152-47ED-261D-8CF374707F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9229A9-4B3E-3F7D-08A2-D648000E5A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5A7032-8C19-494E-A78E-8BB294F06AE3}" type="datetimeFigureOut">
              <a:rPr lang="en-US" smtClean="0"/>
              <a:t>12/20/2025</a:t>
            </a:fld>
            <a:endParaRPr lang="en-US"/>
          </a:p>
        </p:txBody>
      </p:sp>
      <p:sp>
        <p:nvSpPr>
          <p:cNvPr id="5" name="Footer Placeholder 4">
            <a:extLst>
              <a:ext uri="{FF2B5EF4-FFF2-40B4-BE49-F238E27FC236}">
                <a16:creationId xmlns:a16="http://schemas.microsoft.com/office/drawing/2014/main" id="{A16C6C6B-7C70-A325-28C6-76E38B0078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D45B69-E64C-E3B4-8EA6-D24FDF89ED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A0B392-2B16-5542-921C-8980E53A4129}" type="slidenum">
              <a:rPr lang="en-US" smtClean="0"/>
              <a:t>‹#›</a:t>
            </a:fld>
            <a:endParaRPr lang="en-US"/>
          </a:p>
        </p:txBody>
      </p:sp>
    </p:spTree>
    <p:extLst>
      <p:ext uri="{BB962C8B-B14F-4D97-AF65-F5344CB8AC3E}">
        <p14:creationId xmlns:p14="http://schemas.microsoft.com/office/powerpoint/2010/main" val="1625216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Layout" Target="../diagrams/layout2.xml"/><Relationship Id="rId7" Type="http://schemas.openxmlformats.org/officeDocument/2006/relationships/image" Target="../media/image20.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video" Target="https://www.youtube.com/embed/4jPqQLq2jRU?feature=oembed"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youtu.be/JHORY5hOy9o"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github.com/htmw/F2025-Team1/" TargetMode="External"/><Relationship Id="rId2" Type="http://schemas.openxmlformats.org/officeDocument/2006/relationships/hyperlink" Target="https://github.com/htmw/F2025-Team1/wiki"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34521" y="913944"/>
            <a:ext cx="5706541" cy="1089295"/>
          </a:xfrm>
        </p:spPr>
        <p:txBody>
          <a:bodyPr vert="horz" lIns="91440" tIns="45720" rIns="91440" bIns="45720" rtlCol="0" anchor="t">
            <a:noAutofit/>
          </a:bodyPr>
          <a:lstStyle/>
          <a:p>
            <a:r>
              <a:rPr lang="en-US" sz="3000" cap="all">
                <a:solidFill>
                  <a:schemeClr val="tx2"/>
                </a:solidFill>
                <a:latin typeface="Gill Sans MT"/>
              </a:rPr>
              <a:t>TEAM 1</a:t>
            </a:r>
            <a:br>
              <a:rPr lang="en-US" sz="3000" cap="all">
                <a:solidFill>
                  <a:schemeClr val="tx2"/>
                </a:solidFill>
                <a:latin typeface="Gill Sans MT"/>
              </a:rPr>
            </a:br>
            <a:r>
              <a:rPr lang="en-US" sz="3000" cap="all">
                <a:solidFill>
                  <a:srgbClr val="262626"/>
                </a:solidFill>
                <a:latin typeface="Gill Sans MT"/>
              </a:rPr>
              <a:t>IT Architects </a:t>
            </a:r>
            <a:endParaRPr lang="en-US"/>
          </a:p>
        </p:txBody>
      </p:sp>
      <p:sp>
        <p:nvSpPr>
          <p:cNvPr id="3" name="Subtitle 2"/>
          <p:cNvSpPr>
            <a:spLocks noGrp="1"/>
          </p:cNvSpPr>
          <p:nvPr>
            <p:ph type="subTitle" idx="1"/>
          </p:nvPr>
        </p:nvSpPr>
        <p:spPr>
          <a:xfrm>
            <a:off x="6095975" y="2897489"/>
            <a:ext cx="6480830" cy="1055311"/>
          </a:xfrm>
        </p:spPr>
        <p:txBody>
          <a:bodyPr vert="horz" lIns="91440" tIns="45720" rIns="91440" bIns="45720" rtlCol="0" anchor="b">
            <a:normAutofit/>
          </a:bodyPr>
          <a:lstStyle/>
          <a:p>
            <a:pPr algn="l"/>
            <a:r>
              <a:rPr lang="en-US" sz="3000" cap="all">
                <a:solidFill>
                  <a:srgbClr val="262626"/>
                </a:solidFill>
                <a:latin typeface="Gill Sans MT"/>
              </a:rPr>
              <a:t>Credit Card Fraud Detection</a:t>
            </a:r>
            <a:endParaRPr lang="en-US" sz="3000">
              <a:solidFill>
                <a:srgbClr val="000000"/>
              </a:solidFill>
              <a:latin typeface="Gill Sans MT"/>
            </a:endParaRPr>
          </a:p>
          <a:p>
            <a:endParaRPr lang="en-US" sz="2000">
              <a:solidFill>
                <a:schemeClr val="tx2"/>
              </a:solidFill>
              <a:latin typeface="Aptos"/>
            </a:endParaRPr>
          </a:p>
        </p:txBody>
      </p:sp>
      <p:pic>
        <p:nvPicPr>
          <p:cNvPr id="7" name="Graphic 6" descr="Credit card">
            <a:extLst>
              <a:ext uri="{FF2B5EF4-FFF2-40B4-BE49-F238E27FC236}">
                <a16:creationId xmlns:a16="http://schemas.microsoft.com/office/drawing/2014/main" id="{974C8C16-CAF4-E438-70A8-7DA8A5E228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4" name="Group 2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2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aper files on the table">
            <a:extLst>
              <a:ext uri="{FF2B5EF4-FFF2-40B4-BE49-F238E27FC236}">
                <a16:creationId xmlns:a16="http://schemas.microsoft.com/office/drawing/2014/main" id="{6B18D4A7-5AD5-97BB-8A66-2546392ABC0E}"/>
              </a:ext>
            </a:extLst>
          </p:cNvPr>
          <p:cNvPicPr>
            <a:picLocks noChangeAspect="1"/>
          </p:cNvPicPr>
          <p:nvPr/>
        </p:nvPicPr>
        <p:blipFill>
          <a:blip r:embed="rId3">
            <a:alphaModFix amt="22000"/>
          </a:blip>
          <a:srcRect t="16916" r="9091" b="6761"/>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7767878-B4EF-6121-0441-086519652598}"/>
              </a:ext>
            </a:extLst>
          </p:cNvPr>
          <p:cNvSpPr>
            <a:spLocks noGrp="1"/>
          </p:cNvSpPr>
          <p:nvPr>
            <p:ph type="title"/>
          </p:nvPr>
        </p:nvSpPr>
        <p:spPr/>
        <p:txBody>
          <a:bodyPr>
            <a:normAutofit/>
          </a:bodyPr>
          <a:lstStyle/>
          <a:p>
            <a:r>
              <a:rPr lang="en-US" sz="3600">
                <a:latin typeface="Calibri"/>
                <a:ea typeface="Calibri"/>
                <a:cs typeface="Calibri"/>
              </a:rPr>
              <a:t>Agenda</a:t>
            </a:r>
          </a:p>
        </p:txBody>
      </p:sp>
      <p:sp>
        <p:nvSpPr>
          <p:cNvPr id="3" name="Content Placeholder 2">
            <a:extLst>
              <a:ext uri="{FF2B5EF4-FFF2-40B4-BE49-F238E27FC236}">
                <a16:creationId xmlns:a16="http://schemas.microsoft.com/office/drawing/2014/main" id="{9B8B2C2A-B562-A5DE-FF62-9B6175647993}"/>
              </a:ext>
            </a:extLst>
          </p:cNvPr>
          <p:cNvSpPr>
            <a:spLocks noGrp="1"/>
          </p:cNvSpPr>
          <p:nvPr>
            <p:ph sz="half" idx="1"/>
          </p:nvPr>
        </p:nvSpPr>
        <p:spPr/>
        <p:txBody>
          <a:bodyPr vert="horz" lIns="91440" tIns="45720" rIns="91440" bIns="45720" rtlCol="0" anchor="t">
            <a:noAutofit/>
          </a:bodyPr>
          <a:lstStyle/>
          <a:p>
            <a:r>
              <a:rPr lang="en-US" sz="2000">
                <a:latin typeface="Gill Sans Bold"/>
                <a:ea typeface="Calibri"/>
                <a:cs typeface="Calibri"/>
              </a:rPr>
              <a:t>Team Members</a:t>
            </a:r>
          </a:p>
          <a:p>
            <a:r>
              <a:rPr lang="en-US" sz="2000">
                <a:latin typeface="Gill Sans Bold"/>
                <a:ea typeface="Calibri"/>
                <a:cs typeface="Calibri"/>
              </a:rPr>
              <a:t>Improvement from Professor</a:t>
            </a:r>
          </a:p>
          <a:p>
            <a:r>
              <a:rPr lang="en-US" sz="2000">
                <a:latin typeface="Gill Sans Bold"/>
                <a:ea typeface="Calibri"/>
                <a:cs typeface="Calibri"/>
              </a:rPr>
              <a:t>Problem Statement</a:t>
            </a:r>
          </a:p>
          <a:p>
            <a:r>
              <a:rPr lang="en-US" sz="2000">
                <a:latin typeface="Gill Sans Bold"/>
                <a:ea typeface="Calibri"/>
                <a:cs typeface="Calibri"/>
              </a:rPr>
              <a:t>Problem Description</a:t>
            </a:r>
          </a:p>
          <a:p>
            <a:r>
              <a:rPr lang="en-US" sz="2000">
                <a:latin typeface="Gill Sans Bold"/>
                <a:ea typeface="Calibri"/>
                <a:cs typeface="Calibri"/>
              </a:rPr>
              <a:t>Team Working Agreement</a:t>
            </a:r>
          </a:p>
          <a:p>
            <a:r>
              <a:rPr lang="en-US" sz="2000">
                <a:latin typeface="Gill Sans Bold"/>
                <a:ea typeface="Calibri"/>
                <a:cs typeface="Calibri"/>
              </a:rPr>
              <a:t>Project Personas</a:t>
            </a:r>
          </a:p>
          <a:p>
            <a:r>
              <a:rPr lang="en-US" sz="2000">
                <a:latin typeface="Gill Sans Bold"/>
                <a:ea typeface="Calibri"/>
                <a:cs typeface="Calibri"/>
              </a:rPr>
              <a:t>MVP</a:t>
            </a:r>
          </a:p>
          <a:p>
            <a:r>
              <a:rPr lang="en-US" sz="2000">
                <a:latin typeface="Gill Sans Bold"/>
                <a:ea typeface="Calibri"/>
                <a:cs typeface="Calibri"/>
              </a:rPr>
              <a:t>Product Design</a:t>
            </a:r>
          </a:p>
          <a:p>
            <a:r>
              <a:rPr lang="en-US" sz="2000">
                <a:latin typeface="Gill Sans Bold"/>
                <a:ea typeface="Calibri"/>
                <a:cs typeface="Calibri"/>
              </a:rPr>
              <a:t>Technology and Tools</a:t>
            </a:r>
          </a:p>
          <a:p>
            <a:r>
              <a:rPr lang="en-US" sz="2000">
                <a:latin typeface="Gill Sans Bold"/>
                <a:ea typeface="Calibri"/>
                <a:cs typeface="Calibri"/>
              </a:rPr>
              <a:t>Algorithms and Models</a:t>
            </a:r>
          </a:p>
          <a:p>
            <a:r>
              <a:rPr lang="en-US" sz="2000">
                <a:latin typeface="Gill Sans Bold"/>
                <a:ea typeface="Calibri"/>
                <a:cs typeface="Calibri"/>
              </a:rPr>
              <a:t>Diagrams</a:t>
            </a:r>
          </a:p>
          <a:p>
            <a:r>
              <a:rPr lang="en-US" sz="2000">
                <a:latin typeface="Gill Sans Bold"/>
                <a:ea typeface="Calibri"/>
                <a:cs typeface="Calibri"/>
              </a:rPr>
              <a:t>Sprint 2 Recap</a:t>
            </a:r>
          </a:p>
          <a:p>
            <a:endParaRPr lang="en-US" sz="2000">
              <a:latin typeface="Gill Sans Bold"/>
              <a:ea typeface="Calibri"/>
              <a:cs typeface="Calibri"/>
            </a:endParaRPr>
          </a:p>
          <a:p>
            <a:endParaRPr lang="en-US" sz="2000">
              <a:latin typeface="Gill Sans Bold"/>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p:txBody>
      </p:sp>
      <p:sp>
        <p:nvSpPr>
          <p:cNvPr id="4" name="Content Placeholder 3">
            <a:extLst>
              <a:ext uri="{FF2B5EF4-FFF2-40B4-BE49-F238E27FC236}">
                <a16:creationId xmlns:a16="http://schemas.microsoft.com/office/drawing/2014/main" id="{432C052B-5717-9A6A-9474-E4F0B01588B3}"/>
              </a:ext>
            </a:extLst>
          </p:cNvPr>
          <p:cNvSpPr>
            <a:spLocks noGrp="1"/>
          </p:cNvSpPr>
          <p:nvPr>
            <p:ph sz="half" idx="2"/>
          </p:nvPr>
        </p:nvSpPr>
        <p:spPr/>
        <p:txBody>
          <a:bodyPr vert="horz" lIns="91440" tIns="45720" rIns="91440" bIns="45720" rtlCol="0" anchor="t">
            <a:normAutofit fontScale="77500" lnSpcReduction="20000"/>
          </a:bodyPr>
          <a:lstStyle/>
          <a:p>
            <a:pPr>
              <a:lnSpc>
                <a:spcPct val="80000"/>
              </a:lnSpc>
            </a:pPr>
            <a:r>
              <a:rPr lang="en-US">
                <a:latin typeface="Calibri"/>
                <a:ea typeface="Calibri"/>
                <a:cs typeface="Calibri"/>
              </a:rPr>
              <a:t>Product Backlog</a:t>
            </a:r>
          </a:p>
          <a:p>
            <a:pPr>
              <a:lnSpc>
                <a:spcPct val="80000"/>
              </a:lnSpc>
            </a:pPr>
            <a:r>
              <a:rPr lang="en-US">
                <a:latin typeface="Calibri"/>
                <a:ea typeface="Calibri"/>
                <a:cs typeface="Calibri"/>
              </a:rPr>
              <a:t>Sprint 3 Stories</a:t>
            </a:r>
          </a:p>
          <a:p>
            <a:pPr>
              <a:lnSpc>
                <a:spcPct val="80000"/>
              </a:lnSpc>
            </a:pPr>
            <a:r>
              <a:rPr lang="en-US">
                <a:latin typeface="Calibri"/>
                <a:ea typeface="Calibri"/>
                <a:cs typeface="Calibri"/>
              </a:rPr>
              <a:t>Sprint 3 Test Cases</a:t>
            </a:r>
          </a:p>
          <a:p>
            <a:pPr>
              <a:lnSpc>
                <a:spcPct val="80000"/>
              </a:lnSpc>
            </a:pPr>
            <a:r>
              <a:rPr lang="en-US">
                <a:latin typeface="Calibri"/>
                <a:ea typeface="Calibri"/>
                <a:cs typeface="Calibri"/>
              </a:rPr>
              <a:t>Stories Completed And Not Completed</a:t>
            </a:r>
          </a:p>
          <a:p>
            <a:pPr>
              <a:lnSpc>
                <a:spcPct val="80000"/>
              </a:lnSpc>
            </a:pPr>
            <a:r>
              <a:rPr lang="en-US">
                <a:latin typeface="Calibri"/>
                <a:ea typeface="Calibri"/>
                <a:cs typeface="Calibri"/>
              </a:rPr>
              <a:t>Burn Down Chart</a:t>
            </a:r>
          </a:p>
          <a:p>
            <a:pPr>
              <a:lnSpc>
                <a:spcPct val="80000"/>
              </a:lnSpc>
            </a:pPr>
            <a:r>
              <a:rPr lang="en-US">
                <a:latin typeface="Calibri"/>
                <a:ea typeface="Calibri"/>
                <a:cs typeface="Calibri"/>
              </a:rPr>
              <a:t>Sprint 3 Velocity</a:t>
            </a:r>
          </a:p>
          <a:p>
            <a:pPr>
              <a:lnSpc>
                <a:spcPct val="80000"/>
              </a:lnSpc>
            </a:pPr>
            <a:r>
              <a:rPr lang="en-US">
                <a:latin typeface="Calibri"/>
                <a:ea typeface="Calibri"/>
                <a:cs typeface="Calibri"/>
              </a:rPr>
              <a:t>Historical and Average Velocities</a:t>
            </a:r>
          </a:p>
          <a:p>
            <a:pPr>
              <a:lnSpc>
                <a:spcPct val="80000"/>
              </a:lnSpc>
            </a:pPr>
            <a:r>
              <a:rPr lang="en-US">
                <a:latin typeface="Calibri"/>
                <a:ea typeface="Calibri"/>
                <a:cs typeface="Calibri"/>
              </a:rPr>
              <a:t>Committed and Completed Ratios</a:t>
            </a:r>
          </a:p>
          <a:p>
            <a:pPr>
              <a:lnSpc>
                <a:spcPct val="80000"/>
              </a:lnSpc>
            </a:pPr>
            <a:r>
              <a:rPr lang="en-US">
                <a:latin typeface="Calibri"/>
                <a:ea typeface="Calibri"/>
                <a:cs typeface="Calibri"/>
              </a:rPr>
              <a:t>Sprint Retrospective</a:t>
            </a:r>
          </a:p>
          <a:p>
            <a:pPr>
              <a:lnSpc>
                <a:spcPct val="80000"/>
              </a:lnSpc>
            </a:pPr>
            <a:r>
              <a:rPr lang="en-US">
                <a:latin typeface="Calibri"/>
                <a:ea typeface="Calibri"/>
                <a:cs typeface="Calibri"/>
              </a:rPr>
              <a:t>Application Screen Shot</a:t>
            </a:r>
          </a:p>
          <a:p>
            <a:pPr>
              <a:lnSpc>
                <a:spcPct val="80000"/>
              </a:lnSpc>
            </a:pPr>
            <a:r>
              <a:rPr lang="en-US">
                <a:latin typeface="Calibri"/>
                <a:ea typeface="Calibri"/>
                <a:cs typeface="Calibri"/>
              </a:rPr>
              <a:t>Rest API</a:t>
            </a:r>
          </a:p>
          <a:p>
            <a:pPr>
              <a:lnSpc>
                <a:spcPct val="80000"/>
              </a:lnSpc>
            </a:pPr>
            <a:r>
              <a:rPr lang="en-US">
                <a:latin typeface="Calibri"/>
                <a:ea typeface="Calibri"/>
                <a:cs typeface="Calibri"/>
              </a:rPr>
              <a:t>Wiki Page &amp; GitHub Repository</a:t>
            </a:r>
          </a:p>
          <a:p>
            <a:r>
              <a:rPr lang="en-US">
                <a:latin typeface="Calibri"/>
                <a:ea typeface="Calibri"/>
                <a:cs typeface="Calibri"/>
              </a:rPr>
              <a:t>Project Demo</a:t>
            </a:r>
          </a:p>
        </p:txBody>
      </p:sp>
    </p:spTree>
    <p:extLst>
      <p:ext uri="{BB962C8B-B14F-4D97-AF65-F5344CB8AC3E}">
        <p14:creationId xmlns:p14="http://schemas.microsoft.com/office/powerpoint/2010/main" val="3336657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1B0B1-DEC1-77D4-1650-103BD847AFDD}"/>
              </a:ext>
            </a:extLst>
          </p:cNvPr>
          <p:cNvSpPr>
            <a:spLocks noGrp="1"/>
          </p:cNvSpPr>
          <p:nvPr>
            <p:ph type="title"/>
          </p:nvPr>
        </p:nvSpPr>
        <p:spPr>
          <a:xfrm>
            <a:off x="435136" y="264857"/>
            <a:ext cx="10653578" cy="904258"/>
          </a:xfrm>
        </p:spPr>
        <p:txBody>
          <a:bodyPr vert="horz" lIns="182880" tIns="182880" rIns="182880" bIns="182880" rtlCol="0" anchor="t">
            <a:noAutofit/>
          </a:bodyPr>
          <a:lstStyle/>
          <a:p>
            <a:r>
              <a:rPr lang="en-US" sz="3600">
                <a:latin typeface="Gill Sans MT"/>
              </a:rPr>
              <a:t>Team Members</a:t>
            </a:r>
          </a:p>
        </p:txBody>
      </p:sp>
      <p:pic>
        <p:nvPicPr>
          <p:cNvPr id="7" name="Content Placeholder 6" descr="A person standing in a room with windows and a city view&#10;&#10;AI-generated content may be incorrect.">
            <a:extLst>
              <a:ext uri="{FF2B5EF4-FFF2-40B4-BE49-F238E27FC236}">
                <a16:creationId xmlns:a16="http://schemas.microsoft.com/office/drawing/2014/main" id="{6ECDA8F0-5960-125C-E233-58D46163928F}"/>
              </a:ext>
            </a:extLst>
          </p:cNvPr>
          <p:cNvPicPr>
            <a:picLocks noGrp="1" noChangeAspect="1"/>
          </p:cNvPicPr>
          <p:nvPr>
            <p:ph idx="1"/>
          </p:nvPr>
        </p:nvPicPr>
        <p:blipFill>
          <a:blip r:embed="rId2"/>
          <a:stretch>
            <a:fillRect/>
          </a:stretch>
        </p:blipFill>
        <p:spPr>
          <a:xfrm>
            <a:off x="435136" y="1363980"/>
            <a:ext cx="4689544" cy="4114800"/>
          </a:xfrm>
          <a:prstGeom prst="rect">
            <a:avLst/>
          </a:prstGeom>
        </p:spPr>
      </p:pic>
      <p:sp>
        <p:nvSpPr>
          <p:cNvPr id="5" name="Footer Placeholder 4">
            <a:extLst>
              <a:ext uri="{FF2B5EF4-FFF2-40B4-BE49-F238E27FC236}">
                <a16:creationId xmlns:a16="http://schemas.microsoft.com/office/drawing/2014/main" id="{1E5F2AB0-E9BA-277F-3D1D-818A418E7E3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F818D2B-4EE0-B3DE-1E69-4703D70E4831}"/>
              </a:ext>
            </a:extLst>
          </p:cNvPr>
          <p:cNvSpPr>
            <a:spLocks noGrp="1"/>
          </p:cNvSpPr>
          <p:nvPr>
            <p:ph type="sldNum" sz="quarter" idx="12"/>
          </p:nvPr>
        </p:nvSpPr>
        <p:spPr/>
        <p:txBody>
          <a:bodyPr/>
          <a:lstStyle/>
          <a:p>
            <a:fld id="{CC057153-B650-4DEB-B370-79DDCFDCE934}" type="slidenum">
              <a:rPr lang="en-US" dirty="0"/>
              <a:t>3</a:t>
            </a:fld>
            <a:endParaRPr lang="en-US"/>
          </a:p>
        </p:txBody>
      </p:sp>
      <p:pic>
        <p:nvPicPr>
          <p:cNvPr id="8" name="Picture 7" descr="A person standing in front of a wall&#10;&#10;AI-generated content may be incorrect.">
            <a:extLst>
              <a:ext uri="{FF2B5EF4-FFF2-40B4-BE49-F238E27FC236}">
                <a16:creationId xmlns:a16="http://schemas.microsoft.com/office/drawing/2014/main" id="{F632FDBC-4DA2-3B45-A4E2-99420D30E1D5}"/>
              </a:ext>
            </a:extLst>
          </p:cNvPr>
          <p:cNvPicPr>
            <a:picLocks noChangeAspect="1"/>
          </p:cNvPicPr>
          <p:nvPr/>
        </p:nvPicPr>
        <p:blipFill>
          <a:blip r:embed="rId3"/>
          <a:stretch>
            <a:fillRect/>
          </a:stretch>
        </p:blipFill>
        <p:spPr>
          <a:xfrm>
            <a:off x="6764152" y="1363980"/>
            <a:ext cx="4873996" cy="4122420"/>
          </a:xfrm>
          <a:prstGeom prst="rect">
            <a:avLst/>
          </a:prstGeom>
        </p:spPr>
      </p:pic>
      <p:sp>
        <p:nvSpPr>
          <p:cNvPr id="10" name="TextBox 9">
            <a:extLst>
              <a:ext uri="{FF2B5EF4-FFF2-40B4-BE49-F238E27FC236}">
                <a16:creationId xmlns:a16="http://schemas.microsoft.com/office/drawing/2014/main" id="{ABDB24EA-F8CA-C605-1EC3-E828F5452748}"/>
              </a:ext>
            </a:extLst>
          </p:cNvPr>
          <p:cNvSpPr txBox="1"/>
          <p:nvPr/>
        </p:nvSpPr>
        <p:spPr>
          <a:xfrm>
            <a:off x="554710" y="5602329"/>
            <a:ext cx="468697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Gill Sans Bold"/>
                <a:ea typeface="Calibri"/>
                <a:cs typeface="Calibri"/>
              </a:rPr>
              <a:t>Mr. </a:t>
            </a:r>
            <a:r>
              <a:rPr lang="en-US" b="1" err="1">
                <a:latin typeface="Gill Sans Bold"/>
                <a:ea typeface="Calibri"/>
                <a:cs typeface="Calibri"/>
              </a:rPr>
              <a:t>Arth</a:t>
            </a:r>
            <a:r>
              <a:rPr lang="en-US" b="1">
                <a:latin typeface="Gill Sans Bold"/>
                <a:ea typeface="Calibri"/>
                <a:cs typeface="Calibri"/>
              </a:rPr>
              <a:t> Patel</a:t>
            </a:r>
          </a:p>
          <a:p>
            <a:endParaRPr lang="en-US" b="1">
              <a:latin typeface="Gill Sans Bold"/>
              <a:ea typeface="Calibri"/>
              <a:cs typeface="Calibri"/>
            </a:endParaRPr>
          </a:p>
          <a:p>
            <a:r>
              <a:rPr lang="en-US" b="1">
                <a:latin typeface="Gill Sans Bold"/>
                <a:ea typeface="Calibri"/>
                <a:cs typeface="Calibri"/>
              </a:rPr>
              <a:t>Role : Front-End Developer</a:t>
            </a:r>
          </a:p>
          <a:p>
            <a:pPr algn="l"/>
            <a:endParaRPr lang="en-US">
              <a:latin typeface="Calibri"/>
              <a:ea typeface="Calibri"/>
              <a:cs typeface="Calibri"/>
            </a:endParaRPr>
          </a:p>
        </p:txBody>
      </p:sp>
      <p:sp>
        <p:nvSpPr>
          <p:cNvPr id="11" name="TextBox 10">
            <a:extLst>
              <a:ext uri="{FF2B5EF4-FFF2-40B4-BE49-F238E27FC236}">
                <a16:creationId xmlns:a16="http://schemas.microsoft.com/office/drawing/2014/main" id="{E7724337-46C3-DCF2-9535-B0E59497ED2D}"/>
              </a:ext>
            </a:extLst>
          </p:cNvPr>
          <p:cNvSpPr txBox="1"/>
          <p:nvPr/>
        </p:nvSpPr>
        <p:spPr>
          <a:xfrm>
            <a:off x="6782069" y="5617211"/>
            <a:ext cx="485522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Gill Sans Bold"/>
                <a:ea typeface="Calibri"/>
                <a:cs typeface="Calibri"/>
              </a:rPr>
              <a:t>Mr. Tyler Helmrich</a:t>
            </a:r>
          </a:p>
          <a:p>
            <a:pPr algn="l"/>
            <a:endParaRPr lang="en-US" b="1">
              <a:latin typeface="Gill Sans Bold"/>
              <a:ea typeface="Calibri"/>
              <a:cs typeface="Calibri"/>
            </a:endParaRPr>
          </a:p>
          <a:p>
            <a:r>
              <a:rPr lang="en-US" b="1">
                <a:latin typeface="Gill Sans Bold"/>
                <a:ea typeface="Calibri"/>
                <a:cs typeface="Calibri"/>
              </a:rPr>
              <a:t>Role: Scrum Master</a:t>
            </a:r>
          </a:p>
        </p:txBody>
      </p:sp>
    </p:spTree>
    <p:extLst>
      <p:ext uri="{BB962C8B-B14F-4D97-AF65-F5344CB8AC3E}">
        <p14:creationId xmlns:p14="http://schemas.microsoft.com/office/powerpoint/2010/main" val="2335310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7" name="Content Placeholder 6" descr="A person taking a selfie&#10;&#10;AI-generated content may be incorrect.">
            <a:extLst>
              <a:ext uri="{FF2B5EF4-FFF2-40B4-BE49-F238E27FC236}">
                <a16:creationId xmlns:a16="http://schemas.microsoft.com/office/drawing/2014/main" id="{0A84DFBA-31DB-2D42-F772-09D98E77F32C}"/>
              </a:ext>
            </a:extLst>
          </p:cNvPr>
          <p:cNvPicPr>
            <a:picLocks noGrp="1" noChangeAspect="1"/>
          </p:cNvPicPr>
          <p:nvPr>
            <p:ph idx="1"/>
          </p:nvPr>
        </p:nvPicPr>
        <p:blipFill>
          <a:blip r:embed="rId2"/>
          <a:stretch>
            <a:fillRect/>
          </a:stretch>
        </p:blipFill>
        <p:spPr>
          <a:xfrm>
            <a:off x="4327807" y="918726"/>
            <a:ext cx="3086100" cy="4373880"/>
          </a:xfrm>
          <a:prstGeom prst="rect">
            <a:avLst/>
          </a:prstGeom>
        </p:spPr>
      </p:pic>
      <p:sp>
        <p:nvSpPr>
          <p:cNvPr id="5" name="Footer Placeholder 4">
            <a:extLst>
              <a:ext uri="{FF2B5EF4-FFF2-40B4-BE49-F238E27FC236}">
                <a16:creationId xmlns:a16="http://schemas.microsoft.com/office/drawing/2014/main" id="{13812B93-F9BD-7C60-9CA8-0491FAEA5F2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C2EF3C9-A362-D29F-2100-A4647DB2AE05}"/>
              </a:ext>
            </a:extLst>
          </p:cNvPr>
          <p:cNvSpPr>
            <a:spLocks noGrp="1"/>
          </p:cNvSpPr>
          <p:nvPr>
            <p:ph type="sldNum" sz="quarter" idx="12"/>
          </p:nvPr>
        </p:nvSpPr>
        <p:spPr/>
        <p:txBody>
          <a:bodyPr/>
          <a:lstStyle/>
          <a:p>
            <a:fld id="{CC057153-B650-4DEB-B370-79DDCFDCE934}" type="slidenum">
              <a:rPr lang="en-US" dirty="0"/>
              <a:t>4</a:t>
            </a:fld>
            <a:endParaRPr lang="en-US"/>
          </a:p>
        </p:txBody>
      </p:sp>
      <p:pic>
        <p:nvPicPr>
          <p:cNvPr id="8" name="Picture 7" descr="A person standing in front of a building&#10;&#10;AI-generated content may be incorrect.">
            <a:extLst>
              <a:ext uri="{FF2B5EF4-FFF2-40B4-BE49-F238E27FC236}">
                <a16:creationId xmlns:a16="http://schemas.microsoft.com/office/drawing/2014/main" id="{EF83EC47-1349-9787-65CF-1F228DD809F2}"/>
              </a:ext>
            </a:extLst>
          </p:cNvPr>
          <p:cNvPicPr>
            <a:picLocks noChangeAspect="1"/>
          </p:cNvPicPr>
          <p:nvPr/>
        </p:nvPicPr>
        <p:blipFill>
          <a:blip r:embed="rId3"/>
          <a:stretch>
            <a:fillRect/>
          </a:stretch>
        </p:blipFill>
        <p:spPr>
          <a:xfrm>
            <a:off x="604544" y="922020"/>
            <a:ext cx="3080971" cy="4366260"/>
          </a:xfrm>
          <a:prstGeom prst="rect">
            <a:avLst/>
          </a:prstGeom>
        </p:spPr>
      </p:pic>
      <p:pic>
        <p:nvPicPr>
          <p:cNvPr id="9" name="Picture 8" descr="A person standing in front of a wood wall&#10;&#10;AI-generated content may be incorrect.">
            <a:extLst>
              <a:ext uri="{FF2B5EF4-FFF2-40B4-BE49-F238E27FC236}">
                <a16:creationId xmlns:a16="http://schemas.microsoft.com/office/drawing/2014/main" id="{4D3CE454-6330-18B7-5F84-3A30B088B564}"/>
              </a:ext>
            </a:extLst>
          </p:cNvPr>
          <p:cNvPicPr>
            <a:picLocks noChangeAspect="1"/>
          </p:cNvPicPr>
          <p:nvPr/>
        </p:nvPicPr>
        <p:blipFill>
          <a:blip r:embed="rId4"/>
          <a:stretch>
            <a:fillRect/>
          </a:stretch>
        </p:blipFill>
        <p:spPr>
          <a:xfrm>
            <a:off x="8120730" y="918726"/>
            <a:ext cx="3080971" cy="4373880"/>
          </a:xfrm>
          <a:prstGeom prst="rect">
            <a:avLst/>
          </a:prstGeom>
        </p:spPr>
      </p:pic>
      <p:sp>
        <p:nvSpPr>
          <p:cNvPr id="10" name="TextBox 9">
            <a:extLst>
              <a:ext uri="{FF2B5EF4-FFF2-40B4-BE49-F238E27FC236}">
                <a16:creationId xmlns:a16="http://schemas.microsoft.com/office/drawing/2014/main" id="{91DCB8F8-BA89-7899-3B71-58E62D8126DD}"/>
              </a:ext>
            </a:extLst>
          </p:cNvPr>
          <p:cNvSpPr txBox="1"/>
          <p:nvPr/>
        </p:nvSpPr>
        <p:spPr>
          <a:xfrm>
            <a:off x="546887" y="5441371"/>
            <a:ext cx="303451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Mr. Jay Patel </a:t>
            </a:r>
          </a:p>
          <a:p>
            <a:endParaRPr lang="en-US" b="1">
              <a:latin typeface="Calibri"/>
              <a:ea typeface="Calibri"/>
              <a:cs typeface="Calibri"/>
            </a:endParaRPr>
          </a:p>
          <a:p>
            <a:r>
              <a:rPr lang="en-US" b="1">
                <a:latin typeface="Calibri"/>
                <a:ea typeface="Calibri"/>
                <a:cs typeface="Calibri"/>
              </a:rPr>
              <a:t>Role: Back-End Developer</a:t>
            </a:r>
          </a:p>
          <a:p>
            <a:pPr algn="l"/>
            <a:endParaRPr lang="en-US" b="1">
              <a:latin typeface="Calibri"/>
              <a:ea typeface="Calibri"/>
              <a:cs typeface="Calibri"/>
            </a:endParaRPr>
          </a:p>
        </p:txBody>
      </p:sp>
      <p:sp>
        <p:nvSpPr>
          <p:cNvPr id="11" name="TextBox 10">
            <a:extLst>
              <a:ext uri="{FF2B5EF4-FFF2-40B4-BE49-F238E27FC236}">
                <a16:creationId xmlns:a16="http://schemas.microsoft.com/office/drawing/2014/main" id="{82120BEB-5DDB-9F9E-A969-C159109533D1}"/>
              </a:ext>
            </a:extLst>
          </p:cNvPr>
          <p:cNvSpPr txBox="1"/>
          <p:nvPr/>
        </p:nvSpPr>
        <p:spPr>
          <a:xfrm>
            <a:off x="4325447" y="5441371"/>
            <a:ext cx="30884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Mr. Xavier </a:t>
            </a:r>
            <a:r>
              <a:rPr lang="en-US" b="1" err="1">
                <a:latin typeface="Calibri"/>
                <a:ea typeface="Calibri"/>
                <a:cs typeface="Calibri"/>
              </a:rPr>
              <a:t>Jackon</a:t>
            </a:r>
            <a:endParaRPr lang="en-US" b="1">
              <a:latin typeface="Calibri"/>
              <a:ea typeface="Calibri"/>
              <a:cs typeface="Calibri"/>
            </a:endParaRPr>
          </a:p>
          <a:p>
            <a:endParaRPr lang="en-US" b="1">
              <a:latin typeface="Calibri"/>
              <a:ea typeface="Calibri"/>
              <a:cs typeface="Calibri"/>
            </a:endParaRPr>
          </a:p>
          <a:p>
            <a:r>
              <a:rPr lang="en-US" b="1">
                <a:latin typeface="Calibri"/>
                <a:ea typeface="Calibri"/>
                <a:cs typeface="Calibri"/>
              </a:rPr>
              <a:t>Role: Machine Learning Lead</a:t>
            </a:r>
          </a:p>
          <a:p>
            <a:pPr algn="l"/>
            <a:endParaRPr lang="en-US" b="1">
              <a:latin typeface="Calibri"/>
              <a:ea typeface="Calibri"/>
              <a:cs typeface="Calibri"/>
            </a:endParaRPr>
          </a:p>
        </p:txBody>
      </p:sp>
      <p:sp>
        <p:nvSpPr>
          <p:cNvPr id="12" name="TextBox 11">
            <a:extLst>
              <a:ext uri="{FF2B5EF4-FFF2-40B4-BE49-F238E27FC236}">
                <a16:creationId xmlns:a16="http://schemas.microsoft.com/office/drawing/2014/main" id="{73519C3F-1D78-36B4-A782-11C4C3CFD099}"/>
              </a:ext>
            </a:extLst>
          </p:cNvPr>
          <p:cNvSpPr txBox="1"/>
          <p:nvPr/>
        </p:nvSpPr>
        <p:spPr>
          <a:xfrm>
            <a:off x="7968632" y="5466695"/>
            <a:ext cx="338516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Mr. </a:t>
            </a:r>
            <a:r>
              <a:rPr lang="en-US" b="1" err="1">
                <a:latin typeface="Calibri"/>
                <a:ea typeface="Calibri"/>
                <a:cs typeface="Calibri"/>
              </a:rPr>
              <a:t>Zenil</a:t>
            </a:r>
            <a:r>
              <a:rPr lang="en-US" b="1">
                <a:latin typeface="Calibri"/>
                <a:ea typeface="Calibri"/>
                <a:cs typeface="Calibri"/>
              </a:rPr>
              <a:t> </a:t>
            </a:r>
            <a:r>
              <a:rPr lang="en-US" b="1" err="1">
                <a:latin typeface="Calibri"/>
                <a:ea typeface="Calibri"/>
                <a:cs typeface="Calibri"/>
              </a:rPr>
              <a:t>Moradia</a:t>
            </a:r>
            <a:endParaRPr lang="en-US" b="1">
              <a:latin typeface="Calibri"/>
              <a:ea typeface="Calibri"/>
              <a:cs typeface="Calibri"/>
            </a:endParaRPr>
          </a:p>
          <a:p>
            <a:pPr algn="l"/>
            <a:endParaRPr lang="en-US" b="1">
              <a:latin typeface="Calibri"/>
              <a:ea typeface="Calibri"/>
              <a:cs typeface="Calibri"/>
            </a:endParaRPr>
          </a:p>
          <a:p>
            <a:pPr algn="l"/>
            <a:r>
              <a:rPr lang="en-US" b="1">
                <a:latin typeface="Calibri"/>
                <a:ea typeface="Calibri"/>
                <a:cs typeface="Calibri"/>
              </a:rPr>
              <a:t>Role: Quality assurance</a:t>
            </a:r>
          </a:p>
        </p:txBody>
      </p:sp>
    </p:spTree>
    <p:extLst>
      <p:ext uri="{BB962C8B-B14F-4D97-AF65-F5344CB8AC3E}">
        <p14:creationId xmlns:p14="http://schemas.microsoft.com/office/powerpoint/2010/main" val="160114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standing in front of a chalkboard&#10;&#10;Description automatically generated">
            <a:extLst>
              <a:ext uri="{FF2B5EF4-FFF2-40B4-BE49-F238E27FC236}">
                <a16:creationId xmlns:a16="http://schemas.microsoft.com/office/drawing/2014/main" id="{7607D8CB-3C0D-7F89-8F0C-FD706DFC4DFA}"/>
              </a:ext>
            </a:extLst>
          </p:cNvPr>
          <p:cNvPicPr>
            <a:picLocks noChangeAspect="1"/>
          </p:cNvPicPr>
          <p:nvPr/>
        </p:nvPicPr>
        <p:blipFill>
          <a:blip r:embed="rId2"/>
          <a:srcRect l="602" r="8489" b="9091"/>
          <a:stretch>
            <a:fillRect/>
          </a:stretch>
        </p:blipFill>
        <p:spPr>
          <a:xfrm>
            <a:off x="8850" y="10"/>
            <a:ext cx="12191980" cy="6857990"/>
          </a:xfrm>
          <a:prstGeom prst="rect">
            <a:avLst/>
          </a:prstGeom>
        </p:spPr>
      </p:pic>
      <p:sp>
        <p:nvSpPr>
          <p:cNvPr id="26" name="Rectangle 25">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DF9BB75-DC32-F480-A5BC-853AE3579ADC}"/>
              </a:ext>
            </a:extLst>
          </p:cNvPr>
          <p:cNvSpPr>
            <a:spLocks noGrp="1"/>
          </p:cNvSpPr>
          <p:nvPr>
            <p:ph type="title"/>
          </p:nvPr>
        </p:nvSpPr>
        <p:spPr>
          <a:xfrm>
            <a:off x="838200" y="365125"/>
            <a:ext cx="10515600" cy="1325563"/>
          </a:xfrm>
        </p:spPr>
        <p:txBody>
          <a:bodyPr>
            <a:normAutofit/>
          </a:bodyPr>
          <a:lstStyle/>
          <a:p>
            <a:r>
              <a:rPr lang="en-US" sz="3600" b="1">
                <a:latin typeface="Gill Sans Bold"/>
              </a:rPr>
              <a:t>Improvement from Professor</a:t>
            </a:r>
          </a:p>
        </p:txBody>
      </p:sp>
      <p:sp>
        <p:nvSpPr>
          <p:cNvPr id="27" name="Content Placeholder 2">
            <a:extLst>
              <a:ext uri="{FF2B5EF4-FFF2-40B4-BE49-F238E27FC236}">
                <a16:creationId xmlns:a16="http://schemas.microsoft.com/office/drawing/2014/main" id="{45643E4E-4F9B-E66C-CE1E-DFD9D7F9F9F3}"/>
              </a:ext>
            </a:extLst>
          </p:cNvPr>
          <p:cNvSpPr>
            <a:spLocks noGrp="1"/>
          </p:cNvSpPr>
          <p:nvPr>
            <p:ph idx="1"/>
          </p:nvPr>
        </p:nvSpPr>
        <p:spPr>
          <a:xfrm>
            <a:off x="838200" y="1696230"/>
            <a:ext cx="10860657" cy="4451978"/>
          </a:xfrm>
        </p:spPr>
        <p:txBody>
          <a:bodyPr vert="horz" lIns="91440" tIns="45720" rIns="91440" bIns="45720" rtlCol="0" anchor="t">
            <a:normAutofit/>
          </a:bodyPr>
          <a:lstStyle/>
          <a:p>
            <a:pPr marL="0" indent="0">
              <a:buNone/>
            </a:pPr>
            <a:r>
              <a:rPr lang="en-US" sz="2200">
                <a:latin typeface="Gill Sans Bold"/>
                <a:ea typeface="Calibri"/>
                <a:cs typeface="Calibri"/>
              </a:rPr>
              <a:t>- We have  improved on product backlog and user stories</a:t>
            </a:r>
            <a:r>
              <a:rPr lang="en-US" sz="2200">
                <a:latin typeface="Calibri"/>
                <a:ea typeface="Calibri"/>
                <a:cs typeface="Calibri"/>
              </a:rPr>
              <a:t> </a:t>
            </a:r>
          </a:p>
        </p:txBody>
      </p:sp>
    </p:spTree>
    <p:extLst>
      <p:ext uri="{BB962C8B-B14F-4D97-AF65-F5344CB8AC3E}">
        <p14:creationId xmlns:p14="http://schemas.microsoft.com/office/powerpoint/2010/main" val="1280083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89C42B-91D0-0E3E-BB74-A7DDED8DA90C}"/>
              </a:ext>
            </a:extLst>
          </p:cNvPr>
          <p:cNvPicPr>
            <a:picLocks noChangeAspect="1"/>
          </p:cNvPicPr>
          <p:nvPr/>
        </p:nvPicPr>
        <p:blipFill>
          <a:blip r:embed="rId2">
            <a:duotone>
              <a:schemeClr val="bg2">
                <a:shade val="45000"/>
                <a:satMod val="135000"/>
              </a:schemeClr>
              <a:prstClr val="white"/>
            </a:duotone>
          </a:blip>
          <a:srcRect t="3433"/>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4FB6F2-7F06-FB2D-75BA-DC1E206C8DCD}"/>
              </a:ext>
            </a:extLst>
          </p:cNvPr>
          <p:cNvSpPr>
            <a:spLocks noGrp="1"/>
          </p:cNvSpPr>
          <p:nvPr>
            <p:ph type="title"/>
          </p:nvPr>
        </p:nvSpPr>
        <p:spPr>
          <a:xfrm>
            <a:off x="838200" y="365125"/>
            <a:ext cx="10515600" cy="1325563"/>
          </a:xfrm>
        </p:spPr>
        <p:txBody>
          <a:bodyPr>
            <a:normAutofit/>
          </a:bodyPr>
          <a:lstStyle/>
          <a:p>
            <a:r>
              <a:rPr lang="en-US" sz="3600">
                <a:latin typeface="Gill Sans MT"/>
              </a:rPr>
              <a:t>Problem Statement</a:t>
            </a:r>
          </a:p>
        </p:txBody>
      </p:sp>
      <p:graphicFrame>
        <p:nvGraphicFramePr>
          <p:cNvPr id="15" name="Content Placeholder 2">
            <a:extLst>
              <a:ext uri="{FF2B5EF4-FFF2-40B4-BE49-F238E27FC236}">
                <a16:creationId xmlns:a16="http://schemas.microsoft.com/office/drawing/2014/main" id="{7ADAEC0F-5822-1B08-E6BC-C6DEDD4E3DB7}"/>
              </a:ext>
            </a:extLst>
          </p:cNvPr>
          <p:cNvGraphicFramePr>
            <a:graphicFrameLocks noGrp="1"/>
          </p:cNvGraphicFramePr>
          <p:nvPr>
            <p:ph idx="1"/>
            <p:extLst>
              <p:ext uri="{D42A27DB-BD31-4B8C-83A1-F6EECF244321}">
                <p14:modId xmlns:p14="http://schemas.microsoft.com/office/powerpoint/2010/main" val="9177877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074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C0882F31-A8B4-4695-1416-FBFE81509920}"/>
              </a:ext>
            </a:extLst>
          </p:cNvPr>
          <p:cNvSpPr>
            <a:spLocks noGrp="1"/>
          </p:cNvSpPr>
          <p:nvPr>
            <p:ph type="title"/>
          </p:nvPr>
        </p:nvSpPr>
        <p:spPr>
          <a:xfrm>
            <a:off x="838200" y="550476"/>
            <a:ext cx="10515600" cy="930275"/>
          </a:xfrm>
        </p:spPr>
        <p:txBody>
          <a:bodyPr>
            <a:normAutofit/>
          </a:bodyPr>
          <a:lstStyle/>
          <a:p>
            <a:r>
              <a:rPr lang="en-US" sz="3600">
                <a:latin typeface="Gill Sans MT"/>
              </a:rPr>
              <a:t>Problem Description</a:t>
            </a:r>
          </a:p>
        </p:txBody>
      </p:sp>
      <p:graphicFrame>
        <p:nvGraphicFramePr>
          <p:cNvPr id="5" name="Content Placeholder 4">
            <a:extLst>
              <a:ext uri="{FF2B5EF4-FFF2-40B4-BE49-F238E27FC236}">
                <a16:creationId xmlns:a16="http://schemas.microsoft.com/office/drawing/2014/main" id="{0457305A-6FCF-462F-9EA2-CE2D70A90364}"/>
              </a:ext>
            </a:extLst>
          </p:cNvPr>
          <p:cNvGraphicFramePr>
            <a:graphicFrameLocks noGrp="1"/>
          </p:cNvGraphicFramePr>
          <p:nvPr>
            <p:ph idx="1"/>
            <p:extLst>
              <p:ext uri="{D42A27DB-BD31-4B8C-83A1-F6EECF244321}">
                <p14:modId xmlns:p14="http://schemas.microsoft.com/office/powerpoint/2010/main" val="648227601"/>
              </p:ext>
            </p:extLst>
          </p:nvPr>
        </p:nvGraphicFramePr>
        <p:xfrm>
          <a:off x="838200" y="2034151"/>
          <a:ext cx="10515601" cy="4335247"/>
        </p:xfrm>
        <a:graphic>
          <a:graphicData uri="http://schemas.openxmlformats.org/drawingml/2006/table">
            <a:tbl>
              <a:tblPr bandRow="1">
                <a:tableStyleId>{5C22544A-7EE6-4342-B048-85BDC9FD1C3A}</a:tableStyleId>
              </a:tblPr>
              <a:tblGrid>
                <a:gridCol w="2489509">
                  <a:extLst>
                    <a:ext uri="{9D8B030D-6E8A-4147-A177-3AD203B41FA5}">
                      <a16:colId xmlns:a16="http://schemas.microsoft.com/office/drawing/2014/main" val="3198648847"/>
                    </a:ext>
                  </a:extLst>
                </a:gridCol>
                <a:gridCol w="8026092">
                  <a:extLst>
                    <a:ext uri="{9D8B030D-6E8A-4147-A177-3AD203B41FA5}">
                      <a16:colId xmlns:a16="http://schemas.microsoft.com/office/drawing/2014/main" val="4026473098"/>
                    </a:ext>
                  </a:extLst>
                </a:gridCol>
              </a:tblGrid>
              <a:tr h="310286">
                <a:tc>
                  <a:txBody>
                    <a:bodyPr/>
                    <a:lstStyle/>
                    <a:p>
                      <a:pPr lvl="0" algn="l" rtl="0">
                        <a:lnSpc>
                          <a:spcPts val="1482"/>
                        </a:lnSpc>
                        <a:spcBef>
                          <a:spcPts val="600"/>
                        </a:spcBef>
                        <a:buNone/>
                      </a:pPr>
                      <a:r>
                        <a:rPr lang="en-US" sz="1200" b="1" i="0" u="none" strike="noStrike">
                          <a:solidFill>
                            <a:srgbClr val="000000"/>
                          </a:solidFill>
                          <a:effectLst/>
                          <a:latin typeface="Calibri"/>
                        </a:rPr>
                        <a:t>Project Name:</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200" b="0" i="0" u="none" strike="noStrike">
                          <a:solidFill>
                            <a:srgbClr val="000000"/>
                          </a:solidFill>
                          <a:effectLst/>
                          <a:latin typeface="Calibri"/>
                        </a:rPr>
                        <a:t>"Classify" - </a:t>
                      </a:r>
                      <a:r>
                        <a:rPr lang="en-US" sz="1200" b="0" i="0" u="none" strike="noStrike" noProof="0">
                          <a:solidFill>
                            <a:srgbClr val="000000"/>
                          </a:solidFill>
                          <a:effectLst/>
                          <a:latin typeface="Calibri"/>
                        </a:rPr>
                        <a:t>Credit Card Fraud Detection Mobile App utilizing a Classification Algorithm Machine Learning Model</a:t>
                      </a:r>
                      <a:endParaRPr lang="en-US" sz="1200" b="0" i="0">
                        <a:solidFill>
                          <a:srgbClr val="000000"/>
                        </a:solidFill>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7296708"/>
                  </a:ext>
                </a:extLst>
              </a:tr>
              <a:tr h="310286">
                <a:tc>
                  <a:txBody>
                    <a:bodyPr/>
                    <a:lstStyle/>
                    <a:p>
                      <a:pPr algn="l" rtl="0" fontAlgn="base">
                        <a:lnSpc>
                          <a:spcPts val="1482"/>
                        </a:lnSpc>
                        <a:spcBef>
                          <a:spcPts val="600"/>
                        </a:spcBef>
                        <a:buNone/>
                      </a:pPr>
                      <a:r>
                        <a:rPr lang="en-US" sz="1200" b="1" i="0" u="none" strike="noStrike">
                          <a:solidFill>
                            <a:srgbClr val="000000"/>
                          </a:solidFill>
                          <a:effectLst/>
                          <a:latin typeface="Calibri"/>
                        </a:rPr>
                        <a:t>Team:</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200" b="0" i="0" u="none" strike="noStrike">
                          <a:solidFill>
                            <a:srgbClr val="000000"/>
                          </a:solidFill>
                          <a:effectLst/>
                          <a:latin typeface="Calibri"/>
                        </a:rPr>
                        <a:t>IT Architects</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8009901"/>
                  </a:ext>
                </a:extLst>
              </a:tr>
              <a:tr h="1922156">
                <a:tc>
                  <a:txBody>
                    <a:bodyPr/>
                    <a:lstStyle/>
                    <a:p>
                      <a:pPr algn="l" rtl="0" fontAlgn="base">
                        <a:lnSpc>
                          <a:spcPts val="1482"/>
                        </a:lnSpc>
                        <a:spcBef>
                          <a:spcPts val="600"/>
                        </a:spcBef>
                        <a:buNone/>
                      </a:pPr>
                      <a:r>
                        <a:rPr lang="en-US" sz="1200" b="1" i="0" u="none" strike="noStrike">
                          <a:solidFill>
                            <a:srgbClr val="000000"/>
                          </a:solidFill>
                          <a:effectLst/>
                          <a:latin typeface="Calibri"/>
                        </a:rPr>
                        <a:t>Project Description:</a:t>
                      </a:r>
                      <a:r>
                        <a:rPr lang="en-US" sz="1200" b="0" i="0">
                          <a:solidFill>
                            <a:srgbClr val="000000"/>
                          </a:solidFill>
                          <a:effectLst/>
                          <a:latin typeface="Calibri"/>
                        </a:rPr>
                        <a:t> </a:t>
                      </a:r>
                      <a:endParaRPr lang="en-US" sz="1200" b="0" i="0">
                        <a:effectLst/>
                        <a:latin typeface="Calibri"/>
                      </a:endParaRPr>
                    </a:p>
                    <a:p>
                      <a:pPr algn="l" rtl="0" fontAlgn="base">
                        <a:lnSpc>
                          <a:spcPts val="1569"/>
                        </a:lnSpc>
                        <a:buNone/>
                      </a:pP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200" b="0" i="0" u="none" strike="noStrike">
                          <a:solidFill>
                            <a:srgbClr val="000000"/>
                          </a:solidFill>
                          <a:effectLst/>
                          <a:latin typeface="Calibri"/>
                        </a:rPr>
                        <a:t>This project aims to deliver an advanced machine-learning classifier for credit-card fraud detection, designed for issuers and cardholders frustrated by today’s rule-based systems and high false-alarm rates. Leveraging SMOTE to rebalance data and XGBoot for precision, we’ll identify fraudulent transactions before funds leave the account, reduce false positives on legitimate purchases, and trigger real-time alerts that let cardholders act immediately. Our mission is to replace rigid, hand-tuned rules with a data-driven model that adapts to evolving fraud patterns by minimizing losses, preserving reputations, and restoring trust in digital payments through a mobile iOS application that is easily accessible. </a:t>
                      </a:r>
                    </a:p>
                    <a:p>
                      <a:pPr lvl="0" algn="l">
                        <a:lnSpc>
                          <a:spcPts val="1482"/>
                        </a:lnSpc>
                        <a:spcBef>
                          <a:spcPts val="600"/>
                        </a:spcBef>
                        <a:buNone/>
                      </a:pPr>
                      <a:endParaRPr lang="en-US" sz="1200" b="0" i="0" u="none" strike="noStrike">
                        <a:solidFill>
                          <a:srgbClr val="000000"/>
                        </a:solidFill>
                        <a:effectLst/>
                        <a:latin typeface="Calibri"/>
                      </a:endParaRPr>
                    </a:p>
                    <a:p>
                      <a:pPr lvl="0" algn="l">
                        <a:lnSpc>
                          <a:spcPts val="1482"/>
                        </a:lnSpc>
                        <a:spcBef>
                          <a:spcPts val="600"/>
                        </a:spcBef>
                        <a:buNone/>
                      </a:pPr>
                      <a:r>
                        <a:rPr lang="en-US" sz="1200" b="0" i="0" u="none" strike="noStrike" noProof="0">
                          <a:solidFill>
                            <a:srgbClr val="000000"/>
                          </a:solidFill>
                          <a:effectLst/>
                          <a:latin typeface="Calibri"/>
                        </a:rPr>
                        <a:t>Current deterrents include rule-based fraud detection techniques, whereas our goal is to implement an AI-powered fraud-detection service that catches up to 80% of fraud attempts in real time while cutting false positives by 30%, so issuers lose less money and cardholders enjoy seamless, secure spending. </a:t>
                      </a:r>
                      <a:endParaRPr lang="en-US">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9606706"/>
                  </a:ext>
                </a:extLst>
              </a:tr>
              <a:tr h="324933">
                <a:tc gridSpan="2">
                  <a:txBody>
                    <a:bodyPr/>
                    <a:lstStyle/>
                    <a:p>
                      <a:pPr algn="l" rtl="0" fontAlgn="base">
                        <a:lnSpc>
                          <a:spcPts val="1569"/>
                        </a:lnSpc>
                        <a:buNone/>
                      </a:pPr>
                      <a:endParaRPr lang="en-US" sz="1200" b="0" i="0">
                        <a:solidFill>
                          <a:srgbClr val="FFFFFF"/>
                        </a:solidFill>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472C4"/>
                    </a:solidFill>
                  </a:tcPr>
                </a:tc>
                <a:tc hMerge="1">
                  <a:txBody>
                    <a:bodyPr/>
                    <a:lstStyle/>
                    <a:p>
                      <a:endParaRPr lang="en-US"/>
                    </a:p>
                  </a:txBody>
                  <a:tcPr/>
                </a:tc>
                <a:extLst>
                  <a:ext uri="{0D108BD9-81ED-4DB2-BD59-A6C34878D82A}">
                    <a16:rowId xmlns:a16="http://schemas.microsoft.com/office/drawing/2014/main" val="1733731560"/>
                  </a:ext>
                </a:extLst>
              </a:tr>
              <a:tr h="937316">
                <a:tc>
                  <a:txBody>
                    <a:bodyPr/>
                    <a:lstStyle/>
                    <a:p>
                      <a:pPr algn="l" rtl="0" fontAlgn="base">
                        <a:lnSpc>
                          <a:spcPts val="1482"/>
                        </a:lnSpc>
                        <a:spcBef>
                          <a:spcPts val="600"/>
                        </a:spcBef>
                        <a:buNone/>
                      </a:pPr>
                      <a:r>
                        <a:rPr lang="en-US" sz="1200" b="1" i="0" u="none" strike="noStrike">
                          <a:solidFill>
                            <a:srgbClr val="000000"/>
                          </a:solidFill>
                          <a:effectLst/>
                          <a:latin typeface="Calibri"/>
                        </a:rPr>
                        <a:t>Benefit Outcomes:</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569"/>
                        </a:lnSpc>
                        <a:buNone/>
                      </a:pPr>
                      <a:r>
                        <a:rPr lang="en-US" sz="1200" b="0" i="0">
                          <a:effectLst/>
                          <a:latin typeface="Calibri"/>
                        </a:rPr>
                        <a:t>Credit Card companies can expect a reduction in false alarms, monetary losses, and damage to their reputation. </a:t>
                      </a:r>
                    </a:p>
                    <a:p>
                      <a:pPr algn="l" rtl="0" fontAlgn="base">
                        <a:lnSpc>
                          <a:spcPts val="1569"/>
                        </a:lnSpc>
                        <a:buNone/>
                      </a:pPr>
                      <a:endParaRPr lang="en-US" sz="1200" b="0" i="0">
                        <a:effectLst/>
                        <a:latin typeface="Calibri"/>
                      </a:endParaRPr>
                    </a:p>
                    <a:p>
                      <a:pPr algn="l" rtl="0" fontAlgn="base">
                        <a:lnSpc>
                          <a:spcPts val="1569"/>
                        </a:lnSpc>
                        <a:buNone/>
                      </a:pPr>
                      <a:r>
                        <a:rPr lang="en-US" sz="1200" b="0" i="0">
                          <a:effectLst/>
                          <a:latin typeface="Calibri"/>
                        </a:rPr>
                        <a:t>Credit Card holders can expect a reduction in unauthorized charges, fewer declined legitimate transactions, and greater peace of mind when using their cards as well as an increase in user satisfaction and engagement. </a:t>
                      </a: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8285064"/>
                  </a:ext>
                </a:extLst>
              </a:tr>
              <a:tr h="310286">
                <a:tc>
                  <a:txBody>
                    <a:bodyPr/>
                    <a:lstStyle/>
                    <a:p>
                      <a:pPr algn="l" rtl="0" fontAlgn="base">
                        <a:lnSpc>
                          <a:spcPts val="1482"/>
                        </a:lnSpc>
                        <a:spcBef>
                          <a:spcPts val="600"/>
                        </a:spcBef>
                        <a:buNone/>
                      </a:pPr>
                      <a:r>
                        <a:rPr lang="en-US" sz="1200" b="1" i="0" u="none" strike="noStrike">
                          <a:solidFill>
                            <a:srgbClr val="000000"/>
                          </a:solidFill>
                          <a:effectLst/>
                          <a:latin typeface="Calibri"/>
                        </a:rPr>
                        <a:t>Github Link:</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lvl="0" algn="l">
                        <a:lnSpc>
                          <a:spcPts val="1482"/>
                        </a:lnSpc>
                        <a:spcBef>
                          <a:spcPts val="600"/>
                        </a:spcBef>
                        <a:buNone/>
                      </a:pPr>
                      <a:r>
                        <a:rPr lang="en-US" sz="1200" b="0" i="0" u="none" strike="noStrike" noProof="0">
                          <a:solidFill>
                            <a:srgbClr val="000000"/>
                          </a:solidFill>
                          <a:effectLst/>
                          <a:latin typeface="Calibri"/>
                        </a:rPr>
                        <a:t>https://github.com/htmw/F2025-Team1/wiki</a:t>
                      </a:r>
                      <a:endParaRPr lang="en-US" sz="1200">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7245106"/>
                  </a:ext>
                </a:extLst>
              </a:tr>
            </a:tbl>
          </a:graphicData>
        </a:graphic>
      </p:graphicFrame>
    </p:spTree>
    <p:extLst>
      <p:ext uri="{BB962C8B-B14F-4D97-AF65-F5344CB8AC3E}">
        <p14:creationId xmlns:p14="http://schemas.microsoft.com/office/powerpoint/2010/main" val="2282307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84B2F-124B-B7FB-4B56-CEA23B04E477}"/>
              </a:ext>
            </a:extLst>
          </p:cNvPr>
          <p:cNvSpPr>
            <a:spLocks noGrp="1"/>
          </p:cNvSpPr>
          <p:nvPr>
            <p:ph type="title"/>
          </p:nvPr>
        </p:nvSpPr>
        <p:spPr/>
        <p:txBody>
          <a:bodyPr>
            <a:normAutofit/>
          </a:bodyPr>
          <a:lstStyle/>
          <a:p>
            <a:r>
              <a:rPr lang="en-US" sz="3600" b="1"/>
              <a:t>Team Working Agreement</a:t>
            </a:r>
            <a:endParaRPr lang="en-GB" sz="3600" b="1"/>
          </a:p>
        </p:txBody>
      </p:sp>
      <p:sp>
        <p:nvSpPr>
          <p:cNvPr id="3" name="Content Placeholder 2">
            <a:extLst>
              <a:ext uri="{FF2B5EF4-FFF2-40B4-BE49-F238E27FC236}">
                <a16:creationId xmlns:a16="http://schemas.microsoft.com/office/drawing/2014/main" id="{7BC47FB5-C002-8FD0-DB57-1D310A065EE0}"/>
              </a:ext>
            </a:extLst>
          </p:cNvPr>
          <p:cNvSpPr>
            <a:spLocks noGrp="1"/>
          </p:cNvSpPr>
          <p:nvPr>
            <p:ph idx="1"/>
          </p:nvPr>
        </p:nvSpPr>
        <p:spPr>
          <a:xfrm>
            <a:off x="838200" y="1825625"/>
            <a:ext cx="10515600" cy="4876855"/>
          </a:xfrm>
        </p:spPr>
        <p:txBody>
          <a:bodyPr vert="horz" lIns="91440" tIns="45720" rIns="91440" bIns="45720" rtlCol="0" anchor="t">
            <a:normAutofit lnSpcReduction="10000"/>
          </a:bodyPr>
          <a:lstStyle/>
          <a:p>
            <a:r>
              <a:rPr lang="en-GB" sz="1800" b="1">
                <a:latin typeface="Gill Sans Bold"/>
                <a:ea typeface="+mn-lt"/>
                <a:cs typeface="+mn-lt"/>
              </a:rPr>
              <a:t>Communication &amp; Collaboration</a:t>
            </a:r>
            <a:r>
              <a:rPr lang="en-GB" sz="1800">
                <a:latin typeface="Gill Sans Bold"/>
                <a:ea typeface="+mn-lt"/>
                <a:cs typeface="+mn-lt"/>
              </a:rPr>
              <a:t> - Our team will primarily communicate through </a:t>
            </a:r>
            <a:r>
              <a:rPr lang="en-GB" sz="1800" b="1">
                <a:latin typeface="Gill Sans Bold"/>
                <a:ea typeface="+mn-lt"/>
                <a:cs typeface="+mn-lt"/>
              </a:rPr>
              <a:t>WhatsApp</a:t>
            </a:r>
            <a:r>
              <a:rPr lang="en-GB" sz="1800">
                <a:latin typeface="Gill Sans Bold"/>
                <a:ea typeface="+mn-lt"/>
                <a:cs typeface="+mn-lt"/>
              </a:rPr>
              <a:t>, </a:t>
            </a:r>
            <a:r>
              <a:rPr lang="en-GB" sz="1800" b="1">
                <a:latin typeface="Gill Sans Bold"/>
                <a:ea typeface="+mn-lt"/>
                <a:cs typeface="+mn-lt"/>
              </a:rPr>
              <a:t>Teams</a:t>
            </a:r>
            <a:r>
              <a:rPr lang="en-GB" sz="1800">
                <a:latin typeface="Gill Sans Bold"/>
                <a:ea typeface="+mn-lt"/>
                <a:cs typeface="+mn-lt"/>
              </a:rPr>
              <a:t>, </a:t>
            </a:r>
            <a:r>
              <a:rPr lang="en-GB" sz="1800" b="1">
                <a:latin typeface="Gill Sans Bold"/>
                <a:ea typeface="+mn-lt"/>
                <a:cs typeface="+mn-lt"/>
              </a:rPr>
              <a:t>Discord </a:t>
            </a:r>
            <a:r>
              <a:rPr lang="en-GB" sz="1800">
                <a:latin typeface="Gill Sans Bold"/>
                <a:ea typeface="+mn-lt"/>
                <a:cs typeface="+mn-lt"/>
              </a:rPr>
              <a:t>and </a:t>
            </a:r>
            <a:r>
              <a:rPr lang="en-GB" sz="1800" b="1">
                <a:latin typeface="Gill Sans Bold"/>
                <a:ea typeface="+mn-lt"/>
                <a:cs typeface="+mn-lt"/>
              </a:rPr>
              <a:t>GitHub</a:t>
            </a:r>
            <a:r>
              <a:rPr lang="en-GB" sz="1800">
                <a:latin typeface="Gill Sans Bold"/>
                <a:ea typeface="+mn-lt"/>
                <a:cs typeface="+mn-lt"/>
              </a:rPr>
              <a:t> updates.</a:t>
            </a:r>
          </a:p>
          <a:p>
            <a:r>
              <a:rPr lang="en-GB" sz="1800">
                <a:latin typeface="Gill Sans Bold"/>
                <a:ea typeface="+mn-lt"/>
                <a:cs typeface="+mn-lt"/>
              </a:rPr>
              <a:t>Whenever code is pushed to GitHub, members will notify the team to prevent conflicts or overwrites.</a:t>
            </a:r>
          </a:p>
          <a:p>
            <a:r>
              <a:rPr lang="en-GB" sz="1800">
                <a:latin typeface="Gill Sans Bold"/>
                <a:ea typeface="+mn-lt"/>
                <a:cs typeface="+mn-lt"/>
              </a:rPr>
              <a:t>If anyone needs to adjust their task timeline or change their approach, they must inform the team beforehand.</a:t>
            </a:r>
            <a:endParaRPr lang="en-GB" sz="1800">
              <a:latin typeface="Gill Sans Bold"/>
              <a:ea typeface="Calibri"/>
              <a:cs typeface="Calibri"/>
            </a:endParaRPr>
          </a:p>
          <a:p>
            <a:r>
              <a:rPr lang="en-GB" sz="1800">
                <a:solidFill>
                  <a:srgbClr val="111111"/>
                </a:solidFill>
                <a:latin typeface="Gill Sans Bold"/>
                <a:ea typeface="+mn-lt"/>
                <a:cs typeface="+mn-lt"/>
              </a:rPr>
              <a:t>The last sprint communication will be focused on the fixation of bugs, integration, and readiness to deployment.</a:t>
            </a:r>
            <a:endParaRPr lang="en-GB" sz="1800">
              <a:latin typeface="Gill Sans Bold"/>
              <a:ea typeface="Calibri"/>
              <a:cs typeface="Calibri"/>
            </a:endParaRPr>
          </a:p>
          <a:p>
            <a:endParaRPr lang="en-GB" sz="1800">
              <a:latin typeface="Gill Sans Bold"/>
              <a:ea typeface="Calibri"/>
              <a:cs typeface="Calibri"/>
            </a:endParaRPr>
          </a:p>
          <a:p>
            <a:r>
              <a:rPr lang="en-GB" sz="1800" b="1">
                <a:latin typeface="Gill Sans Bold"/>
                <a:ea typeface="+mn-lt"/>
                <a:cs typeface="+mn-lt"/>
              </a:rPr>
              <a:t>Meeting Routine &amp; Workflow</a:t>
            </a:r>
            <a:r>
              <a:rPr lang="en-GB" sz="1800">
                <a:latin typeface="Gill Sans Bold"/>
                <a:ea typeface="+mn-lt"/>
                <a:cs typeface="+mn-lt"/>
              </a:rPr>
              <a:t> - The team will meet twice weekly, typically on Saturday and Wednesday, unless additional sessions are required.</a:t>
            </a:r>
            <a:endParaRPr lang="en-GB" sz="1800">
              <a:latin typeface="Gill Sans Bold"/>
              <a:ea typeface="Calibri"/>
              <a:cs typeface="Calibri"/>
            </a:endParaRPr>
          </a:p>
          <a:p>
            <a:r>
              <a:rPr lang="en-GB" sz="1800">
                <a:latin typeface="Gill Sans Bold"/>
                <a:ea typeface="+mn-lt"/>
                <a:cs typeface="+mn-lt"/>
              </a:rPr>
              <a:t>Anyone unable to attend a meeting must notify the team in advance and go through the meeting summary afterward.</a:t>
            </a:r>
            <a:endParaRPr lang="en-GB" sz="1800">
              <a:latin typeface="Gill Sans Bold"/>
              <a:ea typeface="Calibri"/>
              <a:cs typeface="Calibri"/>
            </a:endParaRPr>
          </a:p>
          <a:p>
            <a:r>
              <a:rPr lang="en-GB" sz="1800">
                <a:latin typeface="Gill Sans Bold"/>
                <a:ea typeface="Calibri"/>
                <a:cs typeface="Calibri"/>
              </a:rPr>
              <a:t>Meetings will focus on -</a:t>
            </a:r>
          </a:p>
          <a:p>
            <a:r>
              <a:rPr lang="en-GB" sz="1800">
                <a:latin typeface="Gill Sans Bold"/>
                <a:ea typeface="Calibri"/>
                <a:cs typeface="Calibri"/>
              </a:rPr>
              <a:t>Feature completion</a:t>
            </a:r>
          </a:p>
          <a:p>
            <a:r>
              <a:rPr lang="en-GB" sz="1800">
                <a:latin typeface="Gill Sans Bold"/>
                <a:ea typeface="Calibri"/>
                <a:cs typeface="Calibri"/>
              </a:rPr>
              <a:t>Sprint review and final demo preparation</a:t>
            </a:r>
          </a:p>
          <a:p>
            <a:endParaRPr lang="en-GB" sz="2100">
              <a:latin typeface="Calibri"/>
              <a:ea typeface="Calibri"/>
              <a:cs typeface="Calibri"/>
            </a:endParaRPr>
          </a:p>
        </p:txBody>
      </p:sp>
    </p:spTree>
    <p:extLst>
      <p:ext uri="{BB962C8B-B14F-4D97-AF65-F5344CB8AC3E}">
        <p14:creationId xmlns:p14="http://schemas.microsoft.com/office/powerpoint/2010/main" val="1573908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BB977-BE4D-9597-D108-0CE7A380B96C}"/>
              </a:ext>
            </a:extLst>
          </p:cNvPr>
          <p:cNvSpPr>
            <a:spLocks noGrp="1"/>
          </p:cNvSpPr>
          <p:nvPr>
            <p:ph type="title"/>
          </p:nvPr>
        </p:nvSpPr>
        <p:spPr/>
        <p:txBody>
          <a:bodyPr/>
          <a:lstStyle/>
          <a:p>
            <a:r>
              <a:rPr lang="en-US" sz="3600" b="1">
                <a:latin typeface="Calibri"/>
                <a:ea typeface="Calibri"/>
                <a:cs typeface="Calibri"/>
              </a:rPr>
              <a:t>Team Working Agreement Cont.</a:t>
            </a:r>
            <a:endParaRPr lang="en-GB" sz="3600" b="1">
              <a:latin typeface="Calibri"/>
              <a:ea typeface="Calibri"/>
              <a:cs typeface="Calibri"/>
            </a:endParaRPr>
          </a:p>
        </p:txBody>
      </p:sp>
      <p:sp>
        <p:nvSpPr>
          <p:cNvPr id="3" name="Content Placeholder 2">
            <a:extLst>
              <a:ext uri="{FF2B5EF4-FFF2-40B4-BE49-F238E27FC236}">
                <a16:creationId xmlns:a16="http://schemas.microsoft.com/office/drawing/2014/main" id="{EEFF0127-D928-A56D-6310-CB81EDE2E9C5}"/>
              </a:ext>
            </a:extLst>
          </p:cNvPr>
          <p:cNvSpPr>
            <a:spLocks noGrp="1"/>
          </p:cNvSpPr>
          <p:nvPr>
            <p:ph idx="1"/>
          </p:nvPr>
        </p:nvSpPr>
        <p:spPr/>
        <p:txBody>
          <a:bodyPr vert="horz" lIns="91440" tIns="45720" rIns="91440" bIns="45720" rtlCol="0" anchor="t">
            <a:normAutofit/>
          </a:bodyPr>
          <a:lstStyle/>
          <a:p>
            <a:r>
              <a:rPr lang="en-GB" sz="1800" b="1">
                <a:latin typeface="Calibri"/>
                <a:ea typeface="+mn-lt"/>
                <a:cs typeface="+mn-lt"/>
              </a:rPr>
              <a:t>Team Working Principles </a:t>
            </a:r>
            <a:r>
              <a:rPr lang="en-GB" sz="1800">
                <a:latin typeface="Calibri"/>
                <a:ea typeface="+mn-lt"/>
                <a:cs typeface="+mn-lt"/>
              </a:rPr>
              <a:t>- All tasks will include a clear deadline and will be reviewed once completed. </a:t>
            </a:r>
          </a:p>
          <a:p>
            <a:r>
              <a:rPr lang="en-GB" sz="1800">
                <a:latin typeface="Calibri"/>
                <a:ea typeface="+mn-lt"/>
                <a:cs typeface="+mn-lt"/>
              </a:rPr>
              <a:t>All contributions should be pushed to GitHub regularly with meaningful commit messages.</a:t>
            </a:r>
          </a:p>
          <a:p>
            <a:r>
              <a:rPr lang="en-GB" sz="1800">
                <a:latin typeface="Calibri"/>
                <a:ea typeface="+mn-lt"/>
                <a:cs typeface="+mn-lt"/>
              </a:rPr>
              <a:t>Complex tasks will be broken into smaller actionable items to balance workload.</a:t>
            </a:r>
          </a:p>
          <a:p>
            <a:endParaRPr lang="en-GB" sz="1800">
              <a:latin typeface="Calibri"/>
              <a:ea typeface="Calibri"/>
              <a:cs typeface="Calibri"/>
            </a:endParaRPr>
          </a:p>
          <a:p>
            <a:r>
              <a:rPr lang="en-GB" sz="1800" b="1">
                <a:latin typeface="Calibri"/>
                <a:ea typeface="+mn-lt"/>
                <a:cs typeface="+mn-lt"/>
              </a:rPr>
              <a:t>Checklist for Marking a Task as Complete </a:t>
            </a:r>
            <a:r>
              <a:rPr lang="en-GB" sz="1800">
                <a:latin typeface="Calibri"/>
                <a:ea typeface="+mn-lt"/>
                <a:cs typeface="+mn-lt"/>
              </a:rPr>
              <a:t>- The output should satisfy all acceptance criteria, such as correct preprocessing, expected model accuracy, or UI functionality.</a:t>
            </a:r>
            <a:endParaRPr lang="en-GB" sz="1800">
              <a:latin typeface="Calibri"/>
              <a:ea typeface="Calibri"/>
              <a:cs typeface="Calibri"/>
            </a:endParaRPr>
          </a:p>
          <a:p>
            <a:r>
              <a:rPr lang="en-GB" sz="1800">
                <a:latin typeface="Calibri"/>
                <a:ea typeface="+mn-lt"/>
                <a:cs typeface="+mn-lt"/>
              </a:rPr>
              <a:t>All associated documentation, dataset changes should be updated.</a:t>
            </a:r>
            <a:endParaRPr lang="en-GB" sz="1800">
              <a:latin typeface="Calibri"/>
              <a:ea typeface="Calibri"/>
              <a:cs typeface="Calibri"/>
            </a:endParaRPr>
          </a:p>
          <a:p>
            <a:endParaRPr lang="en-GB" sz="1800">
              <a:latin typeface="Calibri"/>
              <a:ea typeface="Calibri"/>
              <a:cs typeface="Calibri"/>
            </a:endParaRPr>
          </a:p>
          <a:p>
            <a:endParaRPr lang="en-GB" sz="1800">
              <a:latin typeface="Calibri"/>
              <a:ea typeface="Calibri"/>
              <a:cs typeface="Calibri"/>
            </a:endParaRPr>
          </a:p>
        </p:txBody>
      </p:sp>
    </p:spTree>
    <p:extLst>
      <p:ext uri="{BB962C8B-B14F-4D97-AF65-F5344CB8AC3E}">
        <p14:creationId xmlns:p14="http://schemas.microsoft.com/office/powerpoint/2010/main" val="3093185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13">
            <a:extLst>
              <a:ext uri="{FF2B5EF4-FFF2-40B4-BE49-F238E27FC236}">
                <a16:creationId xmlns:a16="http://schemas.microsoft.com/office/drawing/2014/main" id="{041C67D0-A496-4B86-BF61-263FF9EFD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Right Triangle 42">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p:cNvSpPr txBox="1"/>
          <p:nvPr/>
        </p:nvSpPr>
        <p:spPr>
          <a:xfrm>
            <a:off x="5292935" y="855680"/>
            <a:ext cx="5918338" cy="6397130"/>
          </a:xfrm>
          <a:prstGeom prst="rect">
            <a:avLst/>
          </a:prstGeom>
        </p:spPr>
        <p:txBody>
          <a:bodyPr vert="horz" lIns="91440" tIns="45720" rIns="91440" bIns="45720" rtlCol="0" anchor="t">
            <a:noAutofit/>
          </a:bodyPr>
          <a:lstStyle/>
          <a:p>
            <a:pPr marL="271145" lvl="1" indent="-228600">
              <a:lnSpc>
                <a:spcPct val="90000"/>
              </a:lnSpc>
              <a:spcAft>
                <a:spcPts val="600"/>
              </a:spcAft>
              <a:buFont typeface="Arial" panose="020B0604020202020204" pitchFamily="34" charset="0"/>
              <a:buChar char="•"/>
            </a:pPr>
            <a:r>
              <a:rPr lang="en-US" sz="1200">
                <a:latin typeface="Calibri"/>
                <a:ea typeface="Calibri"/>
                <a:cs typeface="Calibri"/>
              </a:rPr>
              <a:t>Sarah is an avid online shopper who loves finding unique items from small businesses. She uses her credit card for most of her purchases, appreciating the convenience and rewards. She's tech-savvy and expects seamless digital experiences. Recently, her card details were stolen from a third-party website, leading to several unauthorized small purchases. The process of getting a new card and updating her payment information on various subscriptions was a significant hassle and made her wary of future online transactions. She's looking for reassurance and security in her digital financial interactions.</a:t>
            </a:r>
          </a:p>
          <a:p>
            <a:pPr marL="271145" lvl="1" indent="-228600">
              <a:lnSpc>
                <a:spcPct val="90000"/>
              </a:lnSpc>
              <a:spcAft>
                <a:spcPts val="600"/>
              </a:spcAft>
              <a:buFont typeface="Arial" panose="020B0604020202020204" pitchFamily="34" charset="0"/>
              <a:buChar char="•"/>
            </a:pPr>
            <a:r>
              <a:rPr lang="en-US" sz="1200">
                <a:latin typeface="Calibri"/>
                <a:ea typeface="Calibri"/>
                <a:cs typeface="Calibri"/>
              </a:rPr>
              <a:t>Goals:</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Wants to shop online without constant worry about card fraud.</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Needs quick and clear notifications for any suspicious activity on her accounts.</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Hopes for an easy way to verify transactions or freeze her card directly from her phone if needed.</a:t>
            </a:r>
          </a:p>
          <a:p>
            <a:pPr marL="271145" lvl="1" indent="-228600">
              <a:lnSpc>
                <a:spcPct val="90000"/>
              </a:lnSpc>
              <a:spcAft>
                <a:spcPts val="600"/>
              </a:spcAft>
              <a:buFont typeface="Arial" panose="020B0604020202020204" pitchFamily="34" charset="0"/>
              <a:buChar char="•"/>
            </a:pPr>
            <a:r>
              <a:rPr lang="en-US" sz="1200">
                <a:latin typeface="Calibri"/>
                <a:ea typeface="Calibri"/>
                <a:cs typeface="Calibri"/>
              </a:rPr>
              <a:t>Frustrations:</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The time and effort involved in cancelling cards and updating payment details after fraud.</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Feeling vulnerable and exposed when her financial information is compromised.</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Receiving generic, unhelpful alerts that don't provide clear next steps.</a:t>
            </a:r>
          </a:p>
          <a:p>
            <a:pPr marL="271145" lvl="1" indent="-228600">
              <a:lnSpc>
                <a:spcPct val="90000"/>
              </a:lnSpc>
              <a:spcAft>
                <a:spcPts val="600"/>
              </a:spcAft>
              <a:buFont typeface="Arial" panose="020B0604020202020204" pitchFamily="34" charset="0"/>
              <a:buChar char="•"/>
            </a:pPr>
            <a:r>
              <a:rPr lang="en-US" sz="1200">
                <a:latin typeface="Calibri"/>
                <a:ea typeface="Calibri"/>
                <a:cs typeface="Calibri"/>
              </a:rPr>
              <a:t>Needs from the Solution:</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Real-time alerts that are easy to understand and act upon.</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An intuitive mobile interface that allows her to quickly approve or deny a transaction and temporarily lock her card.</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Minimal false positives on her legitimate purchases so she doesn't lose trust in the system.</a:t>
            </a:r>
          </a:p>
          <a:p>
            <a:pPr marL="728345" lvl="2" indent="-228600">
              <a:lnSpc>
                <a:spcPct val="90000"/>
              </a:lnSpc>
              <a:spcAft>
                <a:spcPts val="600"/>
              </a:spcAft>
              <a:buFont typeface="Arial" panose="020B0604020202020204" pitchFamily="34" charset="0"/>
              <a:buChar char="•"/>
            </a:pPr>
            <a:endParaRPr lang="en-US" sz="1200">
              <a:latin typeface="Calibri"/>
              <a:ea typeface="Calibri"/>
              <a:cs typeface="Calibri"/>
            </a:endParaRPr>
          </a:p>
        </p:txBody>
      </p:sp>
      <p:grpSp>
        <p:nvGrpSpPr>
          <p:cNvPr id="2" name="Group 2"/>
          <p:cNvGrpSpPr>
            <a:grpSpLocks noChangeAspect="1"/>
          </p:cNvGrpSpPr>
          <p:nvPr/>
        </p:nvGrpSpPr>
        <p:grpSpPr>
          <a:xfrm>
            <a:off x="1561514" y="2220097"/>
            <a:ext cx="2747610" cy="1822723"/>
            <a:chOff x="3442868" y="-112078"/>
            <a:chExt cx="6343129" cy="3583432"/>
          </a:xfrm>
        </p:grpSpPr>
        <p:sp>
          <p:nvSpPr>
            <p:cNvPr id="3" name="Freeform 3" descr="A person sitting in a chair  Description automatically generated"/>
            <p:cNvSpPr/>
            <p:nvPr/>
          </p:nvSpPr>
          <p:spPr>
            <a:xfrm>
              <a:off x="3442868" y="-112078"/>
              <a:ext cx="6343129" cy="3583432"/>
            </a:xfrm>
            <a:custGeom>
              <a:avLst/>
              <a:gdLst/>
              <a:ahLst/>
              <a:cxnLst/>
              <a:rect l="l" t="t" r="r" b="b"/>
              <a:pathLst>
                <a:path w="5642864" h="3583432">
                  <a:moveTo>
                    <a:pt x="0" y="0"/>
                  </a:moveTo>
                  <a:lnTo>
                    <a:pt x="5642864" y="0"/>
                  </a:lnTo>
                  <a:lnTo>
                    <a:pt x="5642864" y="3583432"/>
                  </a:lnTo>
                  <a:lnTo>
                    <a:pt x="0" y="3583432"/>
                  </a:lnTo>
                  <a:lnTo>
                    <a:pt x="0" y="0"/>
                  </a:lnTo>
                  <a:close/>
                </a:path>
              </a:pathLst>
            </a:custGeom>
            <a:blipFill>
              <a:blip r:embed="rId2">
                <a:alphaModFix amt="83000"/>
              </a:blip>
              <a:stretch>
                <a:fillRect t="-2490" b="-2491"/>
              </a:stretch>
            </a:blipFill>
          </p:spPr>
          <p:txBody>
            <a:bodyPr/>
            <a:lstStyle/>
            <a:p>
              <a:endParaRPr lang="en-US" sz="1200"/>
            </a:p>
          </p:txBody>
        </p:sp>
      </p:grpSp>
      <p:grpSp>
        <p:nvGrpSpPr>
          <p:cNvPr id="4" name="Group 4"/>
          <p:cNvGrpSpPr/>
          <p:nvPr/>
        </p:nvGrpSpPr>
        <p:grpSpPr>
          <a:xfrm>
            <a:off x="938156" y="1439874"/>
            <a:ext cx="3880831" cy="534579"/>
            <a:chOff x="-1708502" y="-47625"/>
            <a:chExt cx="17128228" cy="2425065"/>
          </a:xfrm>
        </p:grpSpPr>
        <p:sp>
          <p:nvSpPr>
            <p:cNvPr id="5" name="Freeform 5"/>
            <p:cNvSpPr/>
            <p:nvPr/>
          </p:nvSpPr>
          <p:spPr>
            <a:xfrm>
              <a:off x="-1702741" y="-2"/>
              <a:ext cx="15459458" cy="2377442"/>
            </a:xfrm>
            <a:custGeom>
              <a:avLst/>
              <a:gdLst/>
              <a:ahLst/>
              <a:cxnLst/>
              <a:rect l="l" t="t" r="r" b="b"/>
              <a:pathLst>
                <a:path w="15459456" h="2377440">
                  <a:moveTo>
                    <a:pt x="0" y="0"/>
                  </a:moveTo>
                  <a:lnTo>
                    <a:pt x="15459456" y="0"/>
                  </a:lnTo>
                  <a:lnTo>
                    <a:pt x="15459456" y="2377440"/>
                  </a:lnTo>
                  <a:lnTo>
                    <a:pt x="0" y="2377440"/>
                  </a:lnTo>
                  <a:close/>
                </a:path>
              </a:pathLst>
            </a:custGeom>
            <a:solidFill>
              <a:srgbClr val="000000">
                <a:alpha val="0"/>
              </a:srgbClr>
            </a:solidFill>
          </p:spPr>
          <p:txBody>
            <a:bodyPr/>
            <a:lstStyle/>
            <a:p>
              <a:endParaRPr lang="en-US" sz="1200"/>
            </a:p>
          </p:txBody>
        </p:sp>
        <p:sp>
          <p:nvSpPr>
            <p:cNvPr id="6" name="TextBox 6"/>
            <p:cNvSpPr txBox="1"/>
            <p:nvPr/>
          </p:nvSpPr>
          <p:spPr>
            <a:xfrm>
              <a:off x="-1708502" y="-47625"/>
              <a:ext cx="17128228" cy="2425065"/>
            </a:xfrm>
            <a:prstGeom prst="rect">
              <a:avLst/>
            </a:prstGeom>
          </p:spPr>
          <p:txBody>
            <a:bodyPr lIns="0" tIns="0" rIns="0" bIns="0" rtlCol="0" anchor="ctr"/>
            <a:lstStyle/>
            <a:p>
              <a:pPr defTabSz="402336">
                <a:lnSpc>
                  <a:spcPts val="1727"/>
                </a:lnSpc>
                <a:spcAft>
                  <a:spcPts val="600"/>
                </a:spcAft>
              </a:pPr>
              <a:r>
                <a:rPr lang="en-US" sz="2800" b="1" kern="1200">
                  <a:solidFill>
                    <a:srgbClr val="000000"/>
                  </a:solidFill>
                  <a:latin typeface="Calibri"/>
                  <a:ea typeface="Calibri"/>
                  <a:cs typeface="Calibri"/>
                  <a:sym typeface="Gill Sans Bold"/>
                </a:rPr>
                <a:t>Persona 1:  Sarah Miller</a:t>
              </a:r>
              <a:endParaRPr lang="en-US" sz="2800" b="1">
                <a:solidFill>
                  <a:srgbClr val="000000"/>
                </a:solidFill>
                <a:latin typeface="Calibri"/>
                <a:ea typeface="Calibri"/>
                <a:cs typeface="Calibri"/>
              </a:endParaRPr>
            </a:p>
          </p:txBody>
        </p:sp>
      </p:grpSp>
      <p:sp>
        <p:nvSpPr>
          <p:cNvPr id="8" name="TextBox 7">
            <a:extLst>
              <a:ext uri="{FF2B5EF4-FFF2-40B4-BE49-F238E27FC236}">
                <a16:creationId xmlns:a16="http://schemas.microsoft.com/office/drawing/2014/main" id="{B9E426D1-7523-EEF6-B0D8-D477D67BE3C0}"/>
              </a:ext>
            </a:extLst>
          </p:cNvPr>
          <p:cNvSpPr txBox="1"/>
          <p:nvPr/>
        </p:nvSpPr>
        <p:spPr>
          <a:xfrm>
            <a:off x="1669035" y="4637903"/>
            <a:ext cx="3053607" cy="1271117"/>
          </a:xfrm>
          <a:prstGeom prst="rect">
            <a:avLst/>
          </a:prstGeom>
          <a:noFill/>
        </p:spPr>
        <p:txBody>
          <a:bodyPr wrap="square" lIns="91440" tIns="45720" rIns="91440" bIns="45720" rtlCol="0" anchor="t">
            <a:spAutoFit/>
          </a:bodyPr>
          <a:lstStyle/>
          <a:p>
            <a:pPr marL="271145" lvl="1" indent="-228600">
              <a:lnSpc>
                <a:spcPct val="90000"/>
              </a:lnSpc>
              <a:spcAft>
                <a:spcPts val="600"/>
              </a:spcAft>
              <a:buFont typeface="Arial" panose="020B0604020202020204" pitchFamily="34" charset="0"/>
              <a:buChar char="•"/>
            </a:pPr>
            <a:r>
              <a:rPr lang="en-US" sz="1800">
                <a:latin typeface="Calibri"/>
                <a:ea typeface="Calibri"/>
                <a:cs typeface="Calibri"/>
                <a:sym typeface="Gill Sans Light"/>
              </a:rPr>
              <a:t>Age: 28</a:t>
            </a:r>
            <a:endParaRPr lang="en-US" sz="1800">
              <a:latin typeface="Calibri"/>
              <a:ea typeface="Calibri"/>
              <a:cs typeface="Calibri"/>
            </a:endParaRPr>
          </a:p>
          <a:p>
            <a:pPr marL="271145" lvl="1" indent="-228600">
              <a:lnSpc>
                <a:spcPct val="90000"/>
              </a:lnSpc>
              <a:spcAft>
                <a:spcPts val="600"/>
              </a:spcAft>
              <a:buFont typeface="Arial" panose="020B0604020202020204" pitchFamily="34" charset="0"/>
              <a:buChar char="•"/>
            </a:pPr>
            <a:r>
              <a:rPr lang="en-US" sz="1800">
                <a:latin typeface="Calibri"/>
                <a:ea typeface="Calibri"/>
                <a:cs typeface="Calibri"/>
                <a:sym typeface="Gill Sans Light"/>
              </a:rPr>
              <a:t>Occupation: Graphic Designer</a:t>
            </a:r>
            <a:endParaRPr lang="en-US" sz="1800">
              <a:latin typeface="Calibri"/>
              <a:ea typeface="Calibri"/>
              <a:cs typeface="Calibri"/>
            </a:endParaRPr>
          </a:p>
          <a:p>
            <a:endParaRPr lang="en-US">
              <a:latin typeface="Gill Sa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41C67D0-A496-4B86-BF61-263FF9EFD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ight Triangle 15">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p:cNvSpPr txBox="1"/>
          <p:nvPr/>
        </p:nvSpPr>
        <p:spPr>
          <a:xfrm>
            <a:off x="5307082" y="420413"/>
            <a:ext cx="6239745" cy="6011917"/>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endParaRPr lang="en-US" sz="1200">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Age: 32</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Occupation: Founder of "</a:t>
            </a:r>
            <a:r>
              <a:rPr lang="en-US" sz="1200" spc="21" err="1">
                <a:latin typeface="Calibri"/>
                <a:ea typeface="Calibri"/>
                <a:cs typeface="Calibri"/>
                <a:sym typeface="Gill Sans Light"/>
              </a:rPr>
              <a:t>PetPals</a:t>
            </a:r>
            <a:r>
              <a:rPr lang="en-US" sz="1200" spc="21">
                <a:latin typeface="Calibri"/>
                <a:ea typeface="Calibri"/>
                <a:cs typeface="Calibri"/>
                <a:sym typeface="Gill Sans Light"/>
              </a:rPr>
              <a:t> Boutique" | The E-commerce Startup Founder</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Alex recently launched "</a:t>
            </a:r>
            <a:r>
              <a:rPr lang="en-US" sz="1200" spc="21" err="1">
                <a:latin typeface="Calibri"/>
                <a:ea typeface="Calibri"/>
                <a:cs typeface="Calibri"/>
                <a:sym typeface="Gill Sans Light"/>
              </a:rPr>
              <a:t>PetPals</a:t>
            </a:r>
            <a:r>
              <a:rPr lang="en-US" sz="1200" spc="21">
                <a:latin typeface="Calibri"/>
                <a:ea typeface="Calibri"/>
                <a:cs typeface="Calibri"/>
                <a:sym typeface="Gill Sans Light"/>
              </a:rPr>
              <a:t> Boutique," an online store selling custom pet accessories. Business is booming, but he's starting to see a disturbing trend of chargebacks due to fraudulent orders. These chargebacks not only cost him money but also damage his store's reputation with payment processors. He's passionate about his business but has limited resources and can't afford a dedicated fraud team. He needs automated, intelligent system that can protect his revenue and allow him to focus on growing </a:t>
            </a:r>
            <a:r>
              <a:rPr lang="en-US" sz="1200" spc="21" err="1">
                <a:latin typeface="Calibri"/>
                <a:ea typeface="Calibri"/>
                <a:cs typeface="Calibri"/>
                <a:sym typeface="Gill Sans Light"/>
              </a:rPr>
              <a:t>PetPals</a:t>
            </a:r>
            <a:r>
              <a:rPr lang="en-US" sz="1200" spc="21">
                <a:latin typeface="Calibri"/>
                <a:ea typeface="Calibri"/>
                <a:cs typeface="Calibri"/>
                <a:sym typeface="Gill Sans Light"/>
              </a:rPr>
              <a:t> Boutique, not fighting fraud.</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Goals: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To minimize chargebacks and financial losses from fraudulent transactions.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To protect his business's reputation with payment providers.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To have a simple, affordable, and effective fraud detection solution that integrates easily with his e-commerce platform.</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Frustrations: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The financial impact of fraudulent orders and chargeback fees.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The time-consuming process of manually reviewing suspicious orders.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Fear that his small business could be targeted by organized fraud rings, which he feels ill-equipped to handle.</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Needs from the Solution:</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An easy-to-integrate API that works seamlessly with his e-commerce platform.</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 dashboard that provides clear, actionable insights on potential fraud, without requiring a lot of technical expertise.</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Automated decision-making that blocks high-risk transactions instantly and allows low-risk ones to proceed without delay.</a:t>
            </a:r>
            <a:endParaRPr lang="en-US" sz="1200" spc="21">
              <a:latin typeface="Calibri"/>
              <a:ea typeface="Calibri"/>
              <a:cs typeface="Calibri"/>
            </a:endParaRPr>
          </a:p>
        </p:txBody>
      </p:sp>
      <p:grpSp>
        <p:nvGrpSpPr>
          <p:cNvPr id="2" name="Group 2"/>
          <p:cNvGrpSpPr>
            <a:grpSpLocks noChangeAspect="1"/>
          </p:cNvGrpSpPr>
          <p:nvPr/>
        </p:nvGrpSpPr>
        <p:grpSpPr>
          <a:xfrm>
            <a:off x="1764704" y="2151108"/>
            <a:ext cx="1707107" cy="1984137"/>
            <a:chOff x="0" y="0"/>
            <a:chExt cx="4001643" cy="3638550"/>
          </a:xfrm>
        </p:grpSpPr>
        <p:sp>
          <p:nvSpPr>
            <p:cNvPr id="3" name="Freeform 3" descr="A close-up of a person smiling  Description automatically generated"/>
            <p:cNvSpPr/>
            <p:nvPr/>
          </p:nvSpPr>
          <p:spPr>
            <a:xfrm>
              <a:off x="0" y="0"/>
              <a:ext cx="4001643" cy="3638550"/>
            </a:xfrm>
            <a:custGeom>
              <a:avLst/>
              <a:gdLst/>
              <a:ahLst/>
              <a:cxnLst/>
              <a:rect l="l" t="t" r="r" b="b"/>
              <a:pathLst>
                <a:path w="4001643" h="3638550">
                  <a:moveTo>
                    <a:pt x="0" y="0"/>
                  </a:moveTo>
                  <a:lnTo>
                    <a:pt x="4001643" y="0"/>
                  </a:lnTo>
                  <a:lnTo>
                    <a:pt x="4001643" y="3638550"/>
                  </a:lnTo>
                  <a:lnTo>
                    <a:pt x="0" y="3638550"/>
                  </a:lnTo>
                  <a:lnTo>
                    <a:pt x="0" y="0"/>
                  </a:lnTo>
                  <a:close/>
                </a:path>
              </a:pathLst>
            </a:custGeom>
            <a:blipFill>
              <a:blip r:embed="rId2">
                <a:alphaModFix amt="83000"/>
              </a:blip>
              <a:stretch>
                <a:fillRect l="-18023" r="-18022"/>
              </a:stretch>
            </a:blipFill>
          </p:spPr>
          <p:txBody>
            <a:bodyPr/>
            <a:lstStyle/>
            <a:p>
              <a:endParaRPr lang="en-US" sz="1200"/>
            </a:p>
          </p:txBody>
        </p:sp>
      </p:grpSp>
      <p:grpSp>
        <p:nvGrpSpPr>
          <p:cNvPr id="4" name="Group 4"/>
          <p:cNvGrpSpPr/>
          <p:nvPr/>
        </p:nvGrpSpPr>
        <p:grpSpPr>
          <a:xfrm>
            <a:off x="1212502" y="1477976"/>
            <a:ext cx="3510140" cy="450426"/>
            <a:chOff x="0" y="-47625"/>
            <a:chExt cx="21031200" cy="2698751"/>
          </a:xfrm>
        </p:grpSpPr>
        <p:sp>
          <p:nvSpPr>
            <p:cNvPr id="5" name="Freeform 5"/>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US" sz="1200"/>
            </a:p>
          </p:txBody>
        </p:sp>
        <p:sp>
          <p:nvSpPr>
            <p:cNvPr id="6" name="TextBox 6"/>
            <p:cNvSpPr txBox="1"/>
            <p:nvPr/>
          </p:nvSpPr>
          <p:spPr>
            <a:xfrm>
              <a:off x="0" y="-47625"/>
              <a:ext cx="21031200" cy="2698751"/>
            </a:xfrm>
            <a:prstGeom prst="rect">
              <a:avLst/>
            </a:prstGeom>
          </p:spPr>
          <p:txBody>
            <a:bodyPr lIns="0" tIns="0" rIns="0" bIns="0" rtlCol="0" anchor="ctr"/>
            <a:lstStyle/>
            <a:p>
              <a:pPr defTabSz="301752">
                <a:lnSpc>
                  <a:spcPts val="1283"/>
                </a:lnSpc>
                <a:spcAft>
                  <a:spcPts val="600"/>
                </a:spcAft>
              </a:pPr>
              <a:r>
                <a:rPr lang="en-US" sz="2800" b="1" kern="1200">
                  <a:solidFill>
                    <a:srgbClr val="000000"/>
                  </a:solidFill>
                  <a:latin typeface="Calibri"/>
                  <a:ea typeface="Calibri"/>
                  <a:cs typeface="Calibri"/>
                  <a:sym typeface="Gill Sans Bold"/>
                </a:rPr>
                <a:t>Persona 2: Alex Chen</a:t>
              </a:r>
              <a:endParaRPr lang="en-US" sz="2800" b="1">
                <a:solidFill>
                  <a:srgbClr val="000000"/>
                </a:solidFill>
                <a:latin typeface="Calibri"/>
                <a:ea typeface="Calibri"/>
                <a:cs typeface="Calibri"/>
                <a:sym typeface="Gill Sans Bold"/>
              </a:endParaRPr>
            </a:p>
          </p:txBody>
        </p:sp>
      </p:grpSp>
      <p:sp>
        <p:nvSpPr>
          <p:cNvPr id="8" name="TextBox 7">
            <a:extLst>
              <a:ext uri="{FF2B5EF4-FFF2-40B4-BE49-F238E27FC236}">
                <a16:creationId xmlns:a16="http://schemas.microsoft.com/office/drawing/2014/main" id="{052AA139-9DCE-0AA4-BF5D-E7EF3B8DF568}"/>
              </a:ext>
            </a:extLst>
          </p:cNvPr>
          <p:cNvSpPr txBox="1"/>
          <p:nvPr/>
        </p:nvSpPr>
        <p:spPr>
          <a:xfrm>
            <a:off x="840828" y="4683567"/>
            <a:ext cx="4267200" cy="1520416"/>
          </a:xfrm>
          <a:prstGeom prst="rect">
            <a:avLst/>
          </a:prstGeom>
          <a:noFill/>
        </p:spPr>
        <p:txBody>
          <a:bodyPr wrap="square" lIns="91440" tIns="45720" rIns="91440" bIns="45720" rtlCol="0" anchor="t">
            <a:spAutoFit/>
          </a:bodyPr>
          <a:lstStyle/>
          <a:p>
            <a:pPr marL="250825" lvl="1" indent="-228600">
              <a:lnSpc>
                <a:spcPct val="90000"/>
              </a:lnSpc>
              <a:spcAft>
                <a:spcPts val="600"/>
              </a:spcAft>
              <a:buFont typeface="Arial" panose="020B0604020202020204" pitchFamily="34" charset="0"/>
              <a:buChar char="•"/>
            </a:pPr>
            <a:r>
              <a:rPr lang="en-US" sz="1800" spc="21">
                <a:latin typeface="Calibri"/>
                <a:ea typeface="Calibri"/>
                <a:cs typeface="Calibri"/>
                <a:sym typeface="Gill Sans Light"/>
              </a:rPr>
              <a:t>Age: 32</a:t>
            </a:r>
            <a:endParaRPr lang="en-US" sz="18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800" spc="21">
                <a:latin typeface="Calibri"/>
                <a:ea typeface="Calibri"/>
                <a:cs typeface="Calibri"/>
                <a:sym typeface="Gill Sans Light"/>
              </a:rPr>
              <a:t>Occupation: Founder of "</a:t>
            </a:r>
            <a:r>
              <a:rPr lang="en-US" sz="1800" spc="21" err="1">
                <a:latin typeface="Calibri"/>
                <a:ea typeface="Calibri"/>
                <a:cs typeface="Calibri"/>
                <a:sym typeface="Gill Sans Light"/>
              </a:rPr>
              <a:t>PetPals</a:t>
            </a:r>
            <a:r>
              <a:rPr lang="en-US" sz="1800" spc="21">
                <a:latin typeface="Calibri"/>
                <a:ea typeface="Calibri"/>
                <a:cs typeface="Calibri"/>
                <a:sym typeface="Gill Sans Light"/>
              </a:rPr>
              <a:t> Boutique" | The E-commerce Startup Founder</a:t>
            </a:r>
            <a:endParaRPr lang="en-US" sz="1800" spc="21">
              <a:latin typeface="Calibri"/>
              <a:ea typeface="Calibri"/>
              <a:cs typeface="Calibri"/>
            </a:endParaRPr>
          </a:p>
          <a:p>
            <a:endParaRPr lang="en-US">
              <a:latin typeface="Calibri"/>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41C67D0-A496-4B86-BF61-263FF9EFD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ight Triangle 15">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p:cNvSpPr txBox="1"/>
          <p:nvPr/>
        </p:nvSpPr>
        <p:spPr>
          <a:xfrm>
            <a:off x="5307082" y="420413"/>
            <a:ext cx="6239745" cy="6011917"/>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endParaRPr lang="en-US" sz="1200" spc="21">
              <a:sym typeface="Gill Sans Light"/>
            </a:endParaRPr>
          </a:p>
        </p:txBody>
      </p:sp>
      <p:grpSp>
        <p:nvGrpSpPr>
          <p:cNvPr id="4" name="Group 4"/>
          <p:cNvGrpSpPr/>
          <p:nvPr/>
        </p:nvGrpSpPr>
        <p:grpSpPr>
          <a:xfrm>
            <a:off x="765813" y="1477976"/>
            <a:ext cx="4604966" cy="721942"/>
            <a:chOff x="0" y="-47625"/>
            <a:chExt cx="24858508" cy="4325559"/>
          </a:xfrm>
        </p:grpSpPr>
        <p:sp>
          <p:nvSpPr>
            <p:cNvPr id="5" name="Freeform 5"/>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US" sz="1200"/>
            </a:p>
          </p:txBody>
        </p:sp>
        <p:sp>
          <p:nvSpPr>
            <p:cNvPr id="6" name="TextBox 6"/>
            <p:cNvSpPr txBox="1"/>
            <p:nvPr/>
          </p:nvSpPr>
          <p:spPr>
            <a:xfrm>
              <a:off x="0" y="-47625"/>
              <a:ext cx="24858508" cy="4325559"/>
            </a:xfrm>
            <a:prstGeom prst="rect">
              <a:avLst/>
            </a:prstGeom>
          </p:spPr>
          <p:txBody>
            <a:bodyPr lIns="0" tIns="0" rIns="0" bIns="0" rtlCol="0" anchor="ctr"/>
            <a:lstStyle/>
            <a:p>
              <a:pPr>
                <a:lnSpc>
                  <a:spcPts val="3888"/>
                </a:lnSpc>
              </a:pPr>
              <a:r>
                <a:rPr lang="en-US" sz="2800" b="1">
                  <a:solidFill>
                    <a:srgbClr val="000000"/>
                  </a:solidFill>
                  <a:latin typeface="Calibri"/>
                  <a:ea typeface="Gill Sans Bold"/>
                  <a:cs typeface="Gill Sans Bold"/>
                  <a:sym typeface="Gill Sans Bold"/>
                </a:rPr>
                <a:t>Persona 3: Marcus Johnson</a:t>
              </a:r>
            </a:p>
          </p:txBody>
        </p:sp>
      </p:grpSp>
      <p:sp>
        <p:nvSpPr>
          <p:cNvPr id="8" name="TextBox 7">
            <a:extLst>
              <a:ext uri="{FF2B5EF4-FFF2-40B4-BE49-F238E27FC236}">
                <a16:creationId xmlns:a16="http://schemas.microsoft.com/office/drawing/2014/main" id="{052AA139-9DCE-0AA4-BF5D-E7EF3B8DF568}"/>
              </a:ext>
            </a:extLst>
          </p:cNvPr>
          <p:cNvSpPr txBox="1"/>
          <p:nvPr/>
        </p:nvSpPr>
        <p:spPr>
          <a:xfrm>
            <a:off x="840828" y="4683567"/>
            <a:ext cx="4267200" cy="900246"/>
          </a:xfrm>
          <a:prstGeom prst="rect">
            <a:avLst/>
          </a:prstGeom>
          <a:noFill/>
        </p:spPr>
        <p:txBody>
          <a:bodyPr wrap="square" lIns="91440" tIns="45720" rIns="91440" bIns="45720" rtlCol="0" anchor="t">
            <a:spAutoFit/>
          </a:bodyPr>
          <a:lstStyle/>
          <a:p>
            <a:pPr marL="271145" lvl="1" indent="-135255">
              <a:lnSpc>
                <a:spcPts val="2069"/>
              </a:lnSpc>
              <a:buFont typeface="Arial"/>
              <a:buChar char="•"/>
            </a:pPr>
            <a:r>
              <a:rPr lang="en-US" sz="1800">
                <a:solidFill>
                  <a:srgbClr val="000000"/>
                </a:solidFill>
                <a:latin typeface="Calibri"/>
                <a:ea typeface="Gill Sans Light"/>
                <a:cs typeface="Gill Sans Light"/>
                <a:sym typeface="Gill Sans Light"/>
              </a:rPr>
              <a:t>Age: 49</a:t>
            </a:r>
            <a:endParaRPr lang="en-US" sz="1800">
              <a:solidFill>
                <a:srgbClr val="000000"/>
              </a:solidFill>
              <a:latin typeface="Calibri"/>
              <a:ea typeface="Gill Sans Light"/>
              <a:cs typeface="Gill Sans Light"/>
            </a:endParaRPr>
          </a:p>
          <a:p>
            <a:pPr marL="271145" lvl="1" indent="-135255">
              <a:lnSpc>
                <a:spcPts val="2069"/>
              </a:lnSpc>
              <a:buFont typeface="Arial"/>
              <a:buChar char="•"/>
            </a:pPr>
            <a:r>
              <a:rPr lang="en-US" sz="1800">
                <a:solidFill>
                  <a:srgbClr val="000000"/>
                </a:solidFill>
                <a:latin typeface="Calibri"/>
                <a:ea typeface="Gill Sans Light"/>
                <a:cs typeface="Gill Sans Light"/>
                <a:sym typeface="Gill Sans Light"/>
              </a:rPr>
              <a:t>Occupation: Head of Fraud Prevention at "Secure Bank"</a:t>
            </a:r>
            <a:endParaRPr lang="en-US">
              <a:latin typeface="Calibri"/>
              <a:ea typeface="Calibri"/>
              <a:cs typeface="Calibri"/>
            </a:endParaRPr>
          </a:p>
        </p:txBody>
      </p:sp>
      <p:sp>
        <p:nvSpPr>
          <p:cNvPr id="9" name="Freeform 2">
            <a:extLst>
              <a:ext uri="{FF2B5EF4-FFF2-40B4-BE49-F238E27FC236}">
                <a16:creationId xmlns:a16="http://schemas.microsoft.com/office/drawing/2014/main" id="{1873B635-8BA7-7CD2-3B4F-DABBE7F23D7B}"/>
              </a:ext>
            </a:extLst>
          </p:cNvPr>
          <p:cNvSpPr/>
          <p:nvPr/>
        </p:nvSpPr>
        <p:spPr>
          <a:xfrm>
            <a:off x="1764887" y="2355352"/>
            <a:ext cx="1976795" cy="1901265"/>
          </a:xfrm>
          <a:custGeom>
            <a:avLst/>
            <a:gdLst/>
            <a:ahLst/>
            <a:cxnLst/>
            <a:rect l="l" t="t" r="r" b="b"/>
            <a:pathLst>
              <a:path w="2836281" h="2851897">
                <a:moveTo>
                  <a:pt x="0" y="0"/>
                </a:moveTo>
                <a:lnTo>
                  <a:pt x="2836281" y="0"/>
                </a:lnTo>
                <a:lnTo>
                  <a:pt x="2836281" y="2851898"/>
                </a:lnTo>
                <a:lnTo>
                  <a:pt x="0" y="2851898"/>
                </a:lnTo>
                <a:lnTo>
                  <a:pt x="0" y="0"/>
                </a:lnTo>
                <a:close/>
              </a:path>
            </a:pathLst>
          </a:custGeom>
          <a:blipFill>
            <a:blip r:embed="rId2">
              <a:alphaModFix amt="83000"/>
            </a:blip>
            <a:stretch>
              <a:fillRect l="-275" r="-275"/>
            </a:stretch>
          </a:blipFill>
        </p:spPr>
        <p:txBody>
          <a:bodyPr/>
          <a:lstStyle/>
          <a:p>
            <a:endParaRPr lang="en-US" sz="1200"/>
          </a:p>
        </p:txBody>
      </p:sp>
      <p:sp>
        <p:nvSpPr>
          <p:cNvPr id="10" name="TextBox 9">
            <a:extLst>
              <a:ext uri="{FF2B5EF4-FFF2-40B4-BE49-F238E27FC236}">
                <a16:creationId xmlns:a16="http://schemas.microsoft.com/office/drawing/2014/main" id="{58FE5DD2-3AE3-2EFC-64A5-BCAB4E043D1C}"/>
              </a:ext>
            </a:extLst>
          </p:cNvPr>
          <p:cNvSpPr txBox="1"/>
          <p:nvPr/>
        </p:nvSpPr>
        <p:spPr>
          <a:xfrm>
            <a:off x="5119042" y="691179"/>
            <a:ext cx="6215970" cy="5539978"/>
          </a:xfrm>
          <a:prstGeom prst="rect">
            <a:avLst/>
          </a:prstGeom>
          <a:noFill/>
        </p:spPr>
        <p:txBody>
          <a:bodyPr wrap="square" lIns="91440" tIns="45720" rIns="91440" bIns="45720" rtlCol="0" anchor="t">
            <a:spAutoFit/>
          </a:bodyPr>
          <a:lstStyle/>
          <a:p>
            <a:pPr marL="271145" lvl="1" indent="-135255">
              <a:buFont typeface="Arial"/>
              <a:buChar char="•"/>
            </a:pPr>
            <a:r>
              <a:rPr lang="en-US" sz="1200">
                <a:solidFill>
                  <a:srgbClr val="000000"/>
                </a:solidFill>
                <a:latin typeface="Calibri"/>
                <a:ea typeface="Gill Sans Light"/>
                <a:cs typeface="Arial"/>
                <a:sym typeface="Gill Sans Light"/>
              </a:rPr>
              <a:t>Marcus leads the fraud prevention department at a mid-sized bank. His team handles thousands of credit card transactions daily, constantly battling sophisticated fraud schemes. With new tactics emerging all the time, his biggest challenge is staying ahead of the criminals while ensuring legitimate customer transactions are processed smoothly. He's looking for a powerful, scalable solution that can integrate with their existing systems, reduce false positives, and provide actionable intelligence to his team. He needs to improve detection rates, reduce operational costs associated with fraud investigation, and enhance customer trust.</a:t>
            </a:r>
            <a:endParaRPr lang="en-US">
              <a:latin typeface="Calibri"/>
              <a:ea typeface="Calibri"/>
              <a:cs typeface="Calibri"/>
            </a:endParaRPr>
          </a:p>
          <a:p>
            <a:pPr marL="271145" lvl="1" indent="-135255">
              <a:buFont typeface="Arial"/>
              <a:buChar char="•"/>
            </a:pPr>
            <a:endParaRPr lang="en-US" sz="1200">
              <a:solidFill>
                <a:srgbClr val="000000"/>
              </a:solidFill>
              <a:latin typeface="Calibri"/>
              <a:ea typeface="Gill Sans Light"/>
              <a:cs typeface="Arial" panose="020B0604020202020204" pitchFamily="34" charset="0"/>
            </a:endParaRPr>
          </a:p>
          <a:p>
            <a:pPr marL="271145" lvl="1" indent="-135255">
              <a:buFont typeface="Arial"/>
              <a:buChar char="•"/>
            </a:pPr>
            <a:r>
              <a:rPr lang="en-US" sz="1200">
                <a:solidFill>
                  <a:srgbClr val="000000"/>
                </a:solidFill>
                <a:latin typeface="Calibri"/>
                <a:ea typeface="Gill Sans Light"/>
                <a:cs typeface="Arial"/>
                <a:sym typeface="Gill Sans Light"/>
              </a:rPr>
              <a:t>Goals:</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To significantly reduce the bank's annual losses from credit card fraud.</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To decrease the rate of false positives, improving customer experience and reducing operational overhead.</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To implement a system that provides real-time, adaptive fraud detection capable of learning new patterns.</a:t>
            </a:r>
            <a:endParaRPr lang="en-US" sz="1200">
              <a:solidFill>
                <a:srgbClr val="000000"/>
              </a:solidFill>
              <a:latin typeface="Calibri"/>
              <a:ea typeface="Gill Sans Light"/>
              <a:cs typeface="Arial"/>
            </a:endParaRPr>
          </a:p>
          <a:p>
            <a:pPr marL="728345" lvl="2" indent="-242570">
              <a:buFont typeface="Arial"/>
              <a:buChar char="⚬"/>
            </a:pPr>
            <a:endParaRPr lang="en-US" sz="1200">
              <a:solidFill>
                <a:srgbClr val="000000"/>
              </a:solidFill>
              <a:latin typeface="Calibri"/>
              <a:ea typeface="Gill Sans Light"/>
              <a:cs typeface="Arial" panose="020B0604020202020204" pitchFamily="34" charset="0"/>
            </a:endParaRPr>
          </a:p>
          <a:p>
            <a:pPr marL="271145" lvl="1" indent="-135255">
              <a:buFont typeface="Arial"/>
              <a:buChar char="•"/>
            </a:pPr>
            <a:r>
              <a:rPr lang="en-US" sz="1200">
                <a:solidFill>
                  <a:srgbClr val="000000"/>
                </a:solidFill>
                <a:latin typeface="Calibri"/>
                <a:ea typeface="Gill Sans Light"/>
                <a:cs typeface="Arial"/>
                <a:sym typeface="Gill Sans Light"/>
              </a:rPr>
              <a:t>Frustrations:</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The constant arms race with fraudsters and the difficulty of keeping up with evolving tactics.</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The pressure to maintain a high level of security without inconveniencing legitimate customers.</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The sheer volume of data and the challenge of sifting through it to find genuine fraud.</a:t>
            </a:r>
            <a:endParaRPr lang="en-US" sz="1200">
              <a:solidFill>
                <a:srgbClr val="000000"/>
              </a:solidFill>
              <a:latin typeface="Calibri"/>
              <a:ea typeface="Gill Sans Light"/>
              <a:cs typeface="Arial"/>
            </a:endParaRPr>
          </a:p>
          <a:p>
            <a:pPr marL="728345" lvl="2" indent="-242570">
              <a:buFont typeface="Arial"/>
              <a:buChar char="⚬"/>
            </a:pPr>
            <a:endParaRPr lang="en-US" sz="1200">
              <a:solidFill>
                <a:srgbClr val="000000"/>
              </a:solidFill>
              <a:latin typeface="Calibri"/>
              <a:ea typeface="Gill Sans Light"/>
              <a:cs typeface="Arial" panose="020B0604020202020204" pitchFamily="34" charset="0"/>
            </a:endParaRPr>
          </a:p>
          <a:p>
            <a:pPr marL="271145" lvl="1" indent="-135255">
              <a:buFont typeface="Arial"/>
              <a:buChar char="•"/>
            </a:pPr>
            <a:r>
              <a:rPr lang="en-US" sz="1200">
                <a:solidFill>
                  <a:srgbClr val="000000"/>
                </a:solidFill>
                <a:latin typeface="Calibri"/>
                <a:ea typeface="Gill Sans Light"/>
                <a:cs typeface="Arial"/>
                <a:sym typeface="Gill Sans Light"/>
              </a:rPr>
              <a:t>Needs from the Solution:</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A highly scalable system that can process millions of transactions in real time.</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Advanced machine learning capabilities that can adapt to new fraud patterns and minimize false positives.</a:t>
            </a:r>
            <a:endParaRPr lang="en-US" sz="1200">
              <a:solidFill>
                <a:srgbClr val="000000"/>
              </a:solidFill>
              <a:latin typeface="Calibri"/>
              <a:ea typeface="Gill Sans Light"/>
              <a:cs typeface="Arial"/>
            </a:endParaRPr>
          </a:p>
          <a:p>
            <a:endParaRPr lang="en-US">
              <a:latin typeface="Calibri"/>
              <a:ea typeface="Calibri"/>
              <a:cs typeface="Calibri"/>
            </a:endParaRPr>
          </a:p>
        </p:txBody>
      </p:sp>
    </p:spTree>
    <p:extLst>
      <p:ext uri="{BB962C8B-B14F-4D97-AF65-F5344CB8AC3E}">
        <p14:creationId xmlns:p14="http://schemas.microsoft.com/office/powerpoint/2010/main" val="1688824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3FD1B-2AE2-63A2-E75A-7A8C38F09938}"/>
              </a:ext>
            </a:extLst>
          </p:cNvPr>
          <p:cNvSpPr>
            <a:spLocks noGrp="1"/>
          </p:cNvSpPr>
          <p:nvPr>
            <p:ph type="title"/>
          </p:nvPr>
        </p:nvSpPr>
        <p:spPr/>
        <p:txBody>
          <a:bodyPr>
            <a:normAutofit/>
          </a:bodyPr>
          <a:lstStyle/>
          <a:p>
            <a:r>
              <a:rPr lang="en-GB" sz="3600">
                <a:latin typeface="Calibri"/>
                <a:ea typeface="Calibri"/>
                <a:cs typeface="Calibri"/>
              </a:rPr>
              <a:t>MVP</a:t>
            </a:r>
          </a:p>
        </p:txBody>
      </p:sp>
      <p:sp>
        <p:nvSpPr>
          <p:cNvPr id="3" name="Content Placeholder 2">
            <a:extLst>
              <a:ext uri="{FF2B5EF4-FFF2-40B4-BE49-F238E27FC236}">
                <a16:creationId xmlns:a16="http://schemas.microsoft.com/office/drawing/2014/main" id="{52670855-6045-77C2-8F8C-25BD20C43FD4}"/>
              </a:ext>
            </a:extLst>
          </p:cNvPr>
          <p:cNvSpPr>
            <a:spLocks noGrp="1"/>
          </p:cNvSpPr>
          <p:nvPr>
            <p:ph idx="1"/>
          </p:nvPr>
        </p:nvSpPr>
        <p:spPr>
          <a:xfrm>
            <a:off x="838200" y="1825625"/>
            <a:ext cx="10515600" cy="3441488"/>
          </a:xfrm>
        </p:spPr>
        <p:txBody>
          <a:bodyPr vert="horz" lIns="91440" tIns="45720" rIns="91440" bIns="45720" rtlCol="0" anchor="t">
            <a:normAutofit/>
          </a:bodyPr>
          <a:lstStyle/>
          <a:p>
            <a:r>
              <a:rPr lang="en-GB" sz="1800" b="1">
                <a:latin typeface="Calibri"/>
                <a:ea typeface="+mn-lt"/>
                <a:cs typeface="+mn-lt"/>
              </a:rPr>
              <a:t>Real-Time Fraud Predictions –</a:t>
            </a:r>
            <a:r>
              <a:rPr lang="en-GB" sz="1800">
                <a:latin typeface="Calibri"/>
                <a:ea typeface="+mn-lt"/>
                <a:cs typeface="+mn-lt"/>
              </a:rPr>
              <a:t> System analyses incoming transactions instantly.</a:t>
            </a:r>
          </a:p>
          <a:p>
            <a:pPr marL="0" indent="0">
              <a:buNone/>
            </a:pPr>
            <a:endParaRPr lang="en-GB" sz="1800">
              <a:latin typeface="Calibri"/>
              <a:ea typeface="+mn-lt"/>
              <a:cs typeface="+mn-lt"/>
            </a:endParaRPr>
          </a:p>
          <a:p>
            <a:r>
              <a:rPr lang="en-GB" sz="1800" b="1">
                <a:latin typeface="Calibri"/>
                <a:ea typeface="+mn-lt"/>
                <a:cs typeface="+mn-lt"/>
              </a:rPr>
              <a:t>Interactive Dashboard –</a:t>
            </a:r>
            <a:r>
              <a:rPr lang="en-GB" sz="1800">
                <a:latin typeface="Calibri"/>
                <a:ea typeface="+mn-lt"/>
                <a:cs typeface="+mn-lt"/>
              </a:rPr>
              <a:t> Users can visualize fraud alerts, risk scores, and patterns through graphs &amp; metrics.</a:t>
            </a:r>
          </a:p>
          <a:p>
            <a:pPr marL="0" indent="0">
              <a:buNone/>
            </a:pPr>
            <a:endParaRPr lang="en-GB" sz="1800">
              <a:latin typeface="Calibri"/>
              <a:ea typeface="+mn-lt"/>
              <a:cs typeface="+mn-lt"/>
            </a:endParaRPr>
          </a:p>
          <a:p>
            <a:r>
              <a:rPr lang="en-GB" sz="1800" b="1">
                <a:latin typeface="Calibri"/>
                <a:ea typeface="+mn-lt"/>
                <a:cs typeface="+mn-lt"/>
              </a:rPr>
              <a:t>Simple, Accessible UI –</a:t>
            </a:r>
            <a:r>
              <a:rPr lang="en-GB" sz="1800">
                <a:latin typeface="Calibri"/>
                <a:ea typeface="+mn-lt"/>
                <a:cs typeface="+mn-lt"/>
              </a:rPr>
              <a:t> Easy for non-technical users to understand fraud insights at a glance.</a:t>
            </a:r>
          </a:p>
          <a:p>
            <a:pPr marL="0" indent="0">
              <a:buNone/>
            </a:pPr>
            <a:endParaRPr lang="en-GB" sz="1800">
              <a:latin typeface="Calibri"/>
              <a:ea typeface="+mn-lt"/>
              <a:cs typeface="+mn-lt"/>
            </a:endParaRPr>
          </a:p>
          <a:p>
            <a:r>
              <a:rPr lang="en-GB" sz="1800" b="1">
                <a:latin typeface="Calibri"/>
                <a:ea typeface="+mn-lt"/>
                <a:cs typeface="+mn-lt"/>
              </a:rPr>
              <a:t>API-Driven Architecture –</a:t>
            </a:r>
            <a:r>
              <a:rPr lang="en-GB" sz="1800">
                <a:latin typeface="Calibri"/>
                <a:ea typeface="+mn-lt"/>
                <a:cs typeface="+mn-lt"/>
              </a:rPr>
              <a:t> Front-end fetches predictions seamlessly through backend REST APIs.</a:t>
            </a:r>
          </a:p>
          <a:p>
            <a:pPr marL="0" indent="0">
              <a:buNone/>
            </a:pPr>
            <a:endParaRPr lang="en-GB" sz="1800">
              <a:latin typeface="Calibri"/>
              <a:ea typeface="+mn-lt"/>
              <a:cs typeface="+mn-lt"/>
            </a:endParaRPr>
          </a:p>
          <a:p>
            <a:r>
              <a:rPr lang="en-GB" sz="1800" b="1">
                <a:latin typeface="Calibri"/>
                <a:ea typeface="+mn-lt"/>
                <a:cs typeface="+mn-lt"/>
              </a:rPr>
              <a:t>Notification/Alert System –</a:t>
            </a:r>
            <a:r>
              <a:rPr lang="en-GB" sz="1800">
                <a:latin typeface="Calibri"/>
                <a:ea typeface="+mn-lt"/>
                <a:cs typeface="+mn-lt"/>
              </a:rPr>
              <a:t> Email/SMS alerts for high-risk transactions.</a:t>
            </a:r>
            <a:endParaRPr lang="en-GB" sz="1800">
              <a:latin typeface="Calibri"/>
            </a:endParaRPr>
          </a:p>
          <a:p>
            <a:endParaRPr lang="en-GB" sz="1800">
              <a:latin typeface="Aptos"/>
            </a:endParaRPr>
          </a:p>
          <a:p>
            <a:endParaRPr lang="en-GB" sz="1800">
              <a:latin typeface="Gill Sans Bold"/>
            </a:endParaRPr>
          </a:p>
        </p:txBody>
      </p:sp>
    </p:spTree>
    <p:extLst>
      <p:ext uri="{BB962C8B-B14F-4D97-AF65-F5344CB8AC3E}">
        <p14:creationId xmlns:p14="http://schemas.microsoft.com/office/powerpoint/2010/main" val="245652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30CA-7B74-EF30-54DA-FFD770200A56}"/>
              </a:ext>
            </a:extLst>
          </p:cNvPr>
          <p:cNvSpPr>
            <a:spLocks noGrp="1"/>
          </p:cNvSpPr>
          <p:nvPr>
            <p:ph type="title"/>
          </p:nvPr>
        </p:nvSpPr>
        <p:spPr>
          <a:xfrm>
            <a:off x="2231136" y="688831"/>
            <a:ext cx="7729728" cy="1188720"/>
          </a:xfrm>
        </p:spPr>
        <p:txBody>
          <a:bodyPr>
            <a:normAutofit/>
          </a:bodyPr>
          <a:lstStyle/>
          <a:p>
            <a:r>
              <a:rPr lang="en-US" sz="3600" b="1">
                <a:latin typeface="Calibri"/>
                <a:ea typeface="Calibri"/>
                <a:cs typeface="Calibri"/>
              </a:rPr>
              <a:t>Technology and Tools</a:t>
            </a:r>
          </a:p>
        </p:txBody>
      </p:sp>
      <p:graphicFrame>
        <p:nvGraphicFramePr>
          <p:cNvPr id="9" name="Content Placeholder 2">
            <a:extLst>
              <a:ext uri="{FF2B5EF4-FFF2-40B4-BE49-F238E27FC236}">
                <a16:creationId xmlns:a16="http://schemas.microsoft.com/office/drawing/2014/main" id="{CC320C14-48A0-E112-1838-EFE0051F2443}"/>
              </a:ext>
            </a:extLst>
          </p:cNvPr>
          <p:cNvGraphicFramePr>
            <a:graphicFrameLocks noGrp="1"/>
          </p:cNvGraphicFramePr>
          <p:nvPr>
            <p:ph idx="1"/>
            <p:extLst>
              <p:ext uri="{D42A27DB-BD31-4B8C-83A1-F6EECF244321}">
                <p14:modId xmlns:p14="http://schemas.microsoft.com/office/powerpoint/2010/main" val="3768319333"/>
              </p:ext>
            </p:extLst>
          </p:nvPr>
        </p:nvGraphicFramePr>
        <p:xfrm>
          <a:off x="1741280" y="1878818"/>
          <a:ext cx="8718514" cy="46672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Python Logo PNG Transparent Images">
            <a:extLst>
              <a:ext uri="{FF2B5EF4-FFF2-40B4-BE49-F238E27FC236}">
                <a16:creationId xmlns:a16="http://schemas.microsoft.com/office/drawing/2014/main" id="{279618D0-E277-70C7-88CD-B5C0B86128F1}"/>
              </a:ext>
            </a:extLst>
          </p:cNvPr>
          <p:cNvPicPr>
            <a:picLocks noChangeAspect="1"/>
          </p:cNvPicPr>
          <p:nvPr/>
        </p:nvPicPr>
        <p:blipFill>
          <a:blip r:embed="rId7"/>
          <a:stretch>
            <a:fillRect/>
          </a:stretch>
        </p:blipFill>
        <p:spPr>
          <a:xfrm>
            <a:off x="137160" y="-693"/>
            <a:ext cx="2095500" cy="2797925"/>
          </a:xfrm>
          <a:prstGeom prst="rect">
            <a:avLst/>
          </a:prstGeom>
        </p:spPr>
      </p:pic>
      <p:pic>
        <p:nvPicPr>
          <p:cNvPr id="5" name="Picture 4" descr="A robot with headphones and a gear&#10;&#10;AI-generated content may be incorrect.">
            <a:extLst>
              <a:ext uri="{FF2B5EF4-FFF2-40B4-BE49-F238E27FC236}">
                <a16:creationId xmlns:a16="http://schemas.microsoft.com/office/drawing/2014/main" id="{AF3AF79B-EE69-1E3A-DEDC-8998B4087AF7}"/>
              </a:ext>
            </a:extLst>
          </p:cNvPr>
          <p:cNvPicPr>
            <a:picLocks noChangeAspect="1"/>
          </p:cNvPicPr>
          <p:nvPr/>
        </p:nvPicPr>
        <p:blipFill>
          <a:blip r:embed="rId8"/>
          <a:stretch>
            <a:fillRect/>
          </a:stretch>
        </p:blipFill>
        <p:spPr>
          <a:xfrm>
            <a:off x="10110414" y="330"/>
            <a:ext cx="2081586" cy="2013006"/>
          </a:xfrm>
          <a:prstGeom prst="rect">
            <a:avLst/>
          </a:prstGeom>
        </p:spPr>
      </p:pic>
    </p:spTree>
    <p:extLst>
      <p:ext uri="{BB962C8B-B14F-4D97-AF65-F5344CB8AC3E}">
        <p14:creationId xmlns:p14="http://schemas.microsoft.com/office/powerpoint/2010/main" val="2439709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BF36A8-926F-634E-D9E0-19739EBDF56F}"/>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rPr>
              <a:t>Algorithms and Models</a:t>
            </a:r>
          </a:p>
        </p:txBody>
      </p:sp>
      <p:graphicFrame>
        <p:nvGraphicFramePr>
          <p:cNvPr id="5" name="Content Placeholder 4">
            <a:extLst>
              <a:ext uri="{FF2B5EF4-FFF2-40B4-BE49-F238E27FC236}">
                <a16:creationId xmlns:a16="http://schemas.microsoft.com/office/drawing/2014/main" id="{C040593D-37E4-4961-30C9-A1CD163CB054}"/>
              </a:ext>
            </a:extLst>
          </p:cNvPr>
          <p:cNvGraphicFramePr>
            <a:graphicFrameLocks noGrp="1"/>
          </p:cNvGraphicFramePr>
          <p:nvPr>
            <p:ph idx="1"/>
            <p:extLst>
              <p:ext uri="{D42A27DB-BD31-4B8C-83A1-F6EECF244321}">
                <p14:modId xmlns:p14="http://schemas.microsoft.com/office/powerpoint/2010/main" val="558122355"/>
              </p:ext>
            </p:extLst>
          </p:nvPr>
        </p:nvGraphicFramePr>
        <p:xfrm>
          <a:off x="644056" y="2667249"/>
          <a:ext cx="10927831" cy="3083466"/>
        </p:xfrm>
        <a:graphic>
          <a:graphicData uri="http://schemas.openxmlformats.org/drawingml/2006/table">
            <a:tbl>
              <a:tblPr bandRow="1">
                <a:tableStyleId>{5C22544A-7EE6-4342-B048-85BDC9FD1C3A}</a:tableStyleId>
              </a:tblPr>
              <a:tblGrid>
                <a:gridCol w="3764637">
                  <a:extLst>
                    <a:ext uri="{9D8B030D-6E8A-4147-A177-3AD203B41FA5}">
                      <a16:colId xmlns:a16="http://schemas.microsoft.com/office/drawing/2014/main" val="3779798723"/>
                    </a:ext>
                  </a:extLst>
                </a:gridCol>
                <a:gridCol w="2506253">
                  <a:extLst>
                    <a:ext uri="{9D8B030D-6E8A-4147-A177-3AD203B41FA5}">
                      <a16:colId xmlns:a16="http://schemas.microsoft.com/office/drawing/2014/main" val="853256460"/>
                    </a:ext>
                  </a:extLst>
                </a:gridCol>
                <a:gridCol w="4656941">
                  <a:extLst>
                    <a:ext uri="{9D8B030D-6E8A-4147-A177-3AD203B41FA5}">
                      <a16:colId xmlns:a16="http://schemas.microsoft.com/office/drawing/2014/main" val="3230106165"/>
                    </a:ext>
                  </a:extLst>
                </a:gridCol>
              </a:tblGrid>
              <a:tr h="1541733">
                <a:tc>
                  <a:txBody>
                    <a:bodyPr/>
                    <a:lstStyle/>
                    <a:p>
                      <a:pPr rtl="0">
                        <a:buNone/>
                      </a:pPr>
                      <a:r>
                        <a:rPr lang="en-US" sz="1800" b="1">
                          <a:solidFill>
                            <a:srgbClr val="1B1C1D"/>
                          </a:solidFill>
                          <a:effectLst/>
                          <a:latin typeface="Gill Sans Bold"/>
                        </a:rPr>
                        <a:t>Problem Solver</a:t>
                      </a:r>
                      <a:endParaRPr lang="en-US" sz="1800">
                        <a:solidFill>
                          <a:srgbClr val="1B1C1D"/>
                        </a:solidFill>
                        <a:effectLst/>
                        <a:latin typeface="Gill Sans Bold"/>
                      </a:endParaRP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B1C1D"/>
                          </a:solidFill>
                          <a:effectLst/>
                          <a:latin typeface="Gill Sans Bold"/>
                        </a:rPr>
                        <a:t>SMOTE</a:t>
                      </a:r>
                      <a:endParaRPr lang="en-US" sz="1800">
                        <a:solidFill>
                          <a:srgbClr val="1B1C1D"/>
                        </a:solidFill>
                        <a:effectLst/>
                        <a:latin typeface="Gill Sans Bold"/>
                      </a:endParaRP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B1C1D"/>
                          </a:solidFill>
                          <a:effectLst/>
                          <a:latin typeface="Gill Sans Bold"/>
                        </a:rPr>
                        <a:t>Synthetic Minority Over-sampling Technique.</a:t>
                      </a:r>
                      <a:r>
                        <a:rPr lang="en-US" sz="1800">
                          <a:solidFill>
                            <a:srgbClr val="1B1C1D"/>
                          </a:solidFill>
                          <a:effectLst/>
                          <a:latin typeface="Gill Sans Bold"/>
                        </a:rPr>
                        <a:t> Used to mathematically generate new fraud examples on the </a:t>
                      </a:r>
                      <a:r>
                        <a:rPr lang="en-US" sz="1800" b="1">
                          <a:solidFill>
                            <a:srgbClr val="1B1C1D"/>
                          </a:solidFill>
                          <a:effectLst/>
                          <a:latin typeface="Gill Sans Bold"/>
                        </a:rPr>
                        <a:t>training data</a:t>
                      </a:r>
                      <a:r>
                        <a:rPr lang="en-US" sz="1800">
                          <a:solidFill>
                            <a:srgbClr val="1B1C1D"/>
                          </a:solidFill>
                          <a:effectLst/>
                          <a:latin typeface="Gill Sans Bold"/>
                        </a:rPr>
                        <a:t> to address the severe </a:t>
                      </a:r>
                      <a:r>
                        <a:rPr lang="en-US" sz="1800" b="1">
                          <a:solidFill>
                            <a:srgbClr val="1B1C1D"/>
                          </a:solidFill>
                          <a:effectLst/>
                          <a:latin typeface="Gill Sans Bold"/>
                        </a:rPr>
                        <a:t>class imbalance</a:t>
                      </a:r>
                      <a:r>
                        <a:rPr lang="en-US" sz="1800">
                          <a:solidFill>
                            <a:srgbClr val="1B1C1D"/>
                          </a:solidFill>
                          <a:effectLst/>
                          <a:latin typeface="Gill Sans Bold"/>
                        </a:rPr>
                        <a:t> (99.83% legitimate) and ensure the model learns fraud patterns.</a:t>
                      </a: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904707"/>
                  </a:ext>
                </a:extLst>
              </a:tr>
              <a:tr h="1541733">
                <a:tc>
                  <a:txBody>
                    <a:bodyPr/>
                    <a:lstStyle/>
                    <a:p>
                      <a:pPr rtl="0">
                        <a:buNone/>
                      </a:pPr>
                      <a:r>
                        <a:rPr lang="en-US" sz="1800" b="1">
                          <a:solidFill>
                            <a:srgbClr val="1B1C1D"/>
                          </a:solidFill>
                          <a:effectLst/>
                          <a:latin typeface="Gill Sans Bold"/>
                        </a:rPr>
                        <a:t>Classifier</a:t>
                      </a:r>
                      <a:endParaRPr lang="en-US" sz="1800">
                        <a:solidFill>
                          <a:srgbClr val="1B1C1D"/>
                        </a:solidFill>
                        <a:effectLst/>
                        <a:latin typeface="Gill Sans Bold"/>
                      </a:endParaRP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B1C1D"/>
                          </a:solidFill>
                          <a:effectLst/>
                          <a:latin typeface="Gill Sans Bold"/>
                        </a:rPr>
                        <a:t>XGBoost</a:t>
                      </a:r>
                      <a:endParaRPr lang="en-US" sz="1800">
                        <a:solidFill>
                          <a:srgbClr val="1B1C1D"/>
                        </a:solidFill>
                        <a:effectLst/>
                        <a:latin typeface="Gill Sans Bold"/>
                      </a:endParaRP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a:solidFill>
                            <a:srgbClr val="1B1C1D"/>
                          </a:solidFill>
                          <a:effectLst/>
                          <a:latin typeface="Gill Sans Bold"/>
                        </a:rPr>
                        <a:t>The </a:t>
                      </a:r>
                      <a:r>
                        <a:rPr lang="en-US" sz="1800" b="1">
                          <a:solidFill>
                            <a:srgbClr val="1B1C1D"/>
                          </a:solidFill>
                          <a:effectLst/>
                          <a:latin typeface="Gill Sans Bold"/>
                        </a:rPr>
                        <a:t>eXtreme Gradient Boosting</a:t>
                      </a:r>
                      <a:r>
                        <a:rPr lang="en-US" sz="1800">
                          <a:solidFill>
                            <a:srgbClr val="1B1C1D"/>
                          </a:solidFill>
                          <a:effectLst/>
                          <a:latin typeface="Gill Sans Bold"/>
                        </a:rPr>
                        <a:t> algorithm. Selected for its strength with </a:t>
                      </a:r>
                      <a:r>
                        <a:rPr lang="en-US" sz="1800" b="1">
                          <a:solidFill>
                            <a:srgbClr val="1B1C1D"/>
                          </a:solidFill>
                          <a:effectLst/>
                          <a:latin typeface="Gill Sans Bold"/>
                        </a:rPr>
                        <a:t>tabular data</a:t>
                      </a:r>
                      <a:r>
                        <a:rPr lang="en-US" sz="1800">
                          <a:solidFill>
                            <a:srgbClr val="1B1C1D"/>
                          </a:solidFill>
                          <a:effectLst/>
                          <a:latin typeface="Gill Sans Bold"/>
                        </a:rPr>
                        <a:t> and internal mechanisms to effectively maximize </a:t>
                      </a:r>
                      <a:r>
                        <a:rPr lang="en-US" sz="1800" b="1">
                          <a:solidFill>
                            <a:srgbClr val="1B1C1D"/>
                          </a:solidFill>
                          <a:effectLst/>
                          <a:latin typeface="Gill Sans Bold"/>
                        </a:rPr>
                        <a:t>Recall</a:t>
                      </a:r>
                      <a:r>
                        <a:rPr lang="en-US" sz="1800">
                          <a:solidFill>
                            <a:srgbClr val="1B1C1D"/>
                          </a:solidFill>
                          <a:effectLst/>
                          <a:latin typeface="Gill Sans Bold"/>
                        </a:rPr>
                        <a:t> (catching fraud) and maintain high </a:t>
                      </a:r>
                      <a:r>
                        <a:rPr lang="en-US" sz="1800" b="1">
                          <a:solidFill>
                            <a:srgbClr val="1B1C1D"/>
                          </a:solidFill>
                          <a:effectLst/>
                          <a:latin typeface="Gill Sans Bold"/>
                        </a:rPr>
                        <a:t>Precision</a:t>
                      </a:r>
                      <a:r>
                        <a:rPr lang="en-US" sz="1800">
                          <a:solidFill>
                            <a:srgbClr val="1B1C1D"/>
                          </a:solidFill>
                          <a:effectLst/>
                          <a:latin typeface="Gill Sans Bold"/>
                        </a:rPr>
                        <a:t> (minimizing false positives).</a:t>
                      </a: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3364992"/>
                  </a:ext>
                </a:extLst>
              </a:tr>
            </a:tbl>
          </a:graphicData>
        </a:graphic>
      </p:graphicFrame>
    </p:spTree>
    <p:extLst>
      <p:ext uri="{BB962C8B-B14F-4D97-AF65-F5344CB8AC3E}">
        <p14:creationId xmlns:p14="http://schemas.microsoft.com/office/powerpoint/2010/main" val="1016015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grpSp>
      <p:sp>
        <p:nvSpPr>
          <p:cNvPr id="2" name="Title 1">
            <a:extLst>
              <a:ext uri="{FF2B5EF4-FFF2-40B4-BE49-F238E27FC236}">
                <a16:creationId xmlns:a16="http://schemas.microsoft.com/office/drawing/2014/main" id="{90EAB460-5B92-237F-8CE7-0A62D078F292}"/>
              </a:ext>
            </a:extLst>
          </p:cNvPr>
          <p:cNvSpPr>
            <a:spLocks noGrp="1"/>
          </p:cNvSpPr>
          <p:nvPr>
            <p:ph type="title"/>
          </p:nvPr>
        </p:nvSpPr>
        <p:spPr>
          <a:xfrm>
            <a:off x="3502731" y="1542402"/>
            <a:ext cx="5186842" cy="2387918"/>
          </a:xfrm>
        </p:spPr>
        <p:txBody>
          <a:bodyPr vert="horz" lIns="91440" tIns="45720" rIns="91440" bIns="45720" rtlCol="0" anchor="b">
            <a:normAutofit/>
          </a:bodyPr>
          <a:lstStyle/>
          <a:p>
            <a:pPr algn="ctr"/>
            <a:r>
              <a:rPr lang="en-US" sz="5200" b="1">
                <a:solidFill>
                  <a:schemeClr val="tx2"/>
                </a:solidFill>
                <a:latin typeface="Gill Sans Bold"/>
              </a:rPr>
              <a:t>Diagrams</a:t>
            </a:r>
            <a:endParaRPr lang="en-US" sz="5200" b="1" kern="1200">
              <a:solidFill>
                <a:schemeClr val="tx2"/>
              </a:solidFill>
              <a:latin typeface="Gill Sans Bold"/>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9491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21C1BF-D70F-9024-C45B-C7B875D6C3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State Diagram</a:t>
            </a:r>
          </a:p>
        </p:txBody>
      </p:sp>
      <p:pic>
        <p:nvPicPr>
          <p:cNvPr id="9" name="Picture 8" descr="A diagram of a cloud program&#10;&#10;AI-generated content may be incorrect.">
            <a:extLst>
              <a:ext uri="{FF2B5EF4-FFF2-40B4-BE49-F238E27FC236}">
                <a16:creationId xmlns:a16="http://schemas.microsoft.com/office/drawing/2014/main" id="{7AA1894A-2C16-E307-0120-7618A1CEEE90}"/>
              </a:ext>
            </a:extLst>
          </p:cNvPr>
          <p:cNvPicPr>
            <a:picLocks noChangeAspect="1"/>
          </p:cNvPicPr>
          <p:nvPr/>
        </p:nvPicPr>
        <p:blipFill>
          <a:blip r:embed="rId2"/>
          <a:stretch>
            <a:fillRect/>
          </a:stretch>
        </p:blipFill>
        <p:spPr>
          <a:xfrm>
            <a:off x="1309873" y="1389529"/>
            <a:ext cx="9583458" cy="5457265"/>
          </a:xfrm>
          <a:prstGeom prst="rect">
            <a:avLst/>
          </a:prstGeom>
        </p:spPr>
      </p:pic>
    </p:spTree>
    <p:extLst>
      <p:ext uri="{BB962C8B-B14F-4D97-AF65-F5344CB8AC3E}">
        <p14:creationId xmlns:p14="http://schemas.microsoft.com/office/powerpoint/2010/main" val="85973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21C1BF-D70F-9024-C45B-C7B875D6C3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Sequence  Diagram</a:t>
            </a:r>
          </a:p>
        </p:txBody>
      </p:sp>
      <p:pic>
        <p:nvPicPr>
          <p:cNvPr id="3" name="Content Placeholder 2" descr="A diagram of a credit card&#10;&#10;AI-generated content may be incorrect.">
            <a:extLst>
              <a:ext uri="{FF2B5EF4-FFF2-40B4-BE49-F238E27FC236}">
                <a16:creationId xmlns:a16="http://schemas.microsoft.com/office/drawing/2014/main" id="{B53638E0-2AEB-62A4-15EB-7AE39332C5CE}"/>
              </a:ext>
            </a:extLst>
          </p:cNvPr>
          <p:cNvPicPr>
            <a:picLocks noGrp="1" noChangeAspect="1"/>
          </p:cNvPicPr>
          <p:nvPr>
            <p:ph idx="1"/>
          </p:nvPr>
        </p:nvPicPr>
        <p:blipFill>
          <a:blip r:embed="rId2"/>
          <a:stretch>
            <a:fillRect/>
          </a:stretch>
        </p:blipFill>
        <p:spPr>
          <a:xfrm>
            <a:off x="1213557" y="1675227"/>
            <a:ext cx="9764886" cy="4394199"/>
          </a:xfrm>
          <a:prstGeom prst="rect">
            <a:avLst/>
          </a:prstGeom>
        </p:spPr>
      </p:pic>
    </p:spTree>
    <p:extLst>
      <p:ext uri="{BB962C8B-B14F-4D97-AF65-F5344CB8AC3E}">
        <p14:creationId xmlns:p14="http://schemas.microsoft.com/office/powerpoint/2010/main" val="2929390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21C1BF-D70F-9024-C45B-C7B875D6C3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Context  Diagram</a:t>
            </a:r>
          </a:p>
        </p:txBody>
      </p:sp>
      <p:pic>
        <p:nvPicPr>
          <p:cNvPr id="3" name="Content Placeholder 2" descr="A diagram of a credit card fraud detection model&#10;&#10;AI-generated content may be incorrect.">
            <a:extLst>
              <a:ext uri="{FF2B5EF4-FFF2-40B4-BE49-F238E27FC236}">
                <a16:creationId xmlns:a16="http://schemas.microsoft.com/office/drawing/2014/main" id="{D951A550-DAFE-FCD7-8955-5DCBC4405C78}"/>
              </a:ext>
            </a:extLst>
          </p:cNvPr>
          <p:cNvPicPr>
            <a:picLocks noGrp="1" noChangeAspect="1"/>
          </p:cNvPicPr>
          <p:nvPr>
            <p:ph idx="1"/>
          </p:nvPr>
        </p:nvPicPr>
        <p:blipFill>
          <a:blip r:embed="rId2"/>
          <a:stretch>
            <a:fillRect/>
          </a:stretch>
        </p:blipFill>
        <p:spPr>
          <a:xfrm>
            <a:off x="349557" y="1639227"/>
            <a:ext cx="11618886" cy="5216199"/>
          </a:xfrm>
          <a:prstGeom prst="rect">
            <a:avLst/>
          </a:prstGeom>
        </p:spPr>
      </p:pic>
    </p:spTree>
    <p:extLst>
      <p:ext uri="{BB962C8B-B14F-4D97-AF65-F5344CB8AC3E}">
        <p14:creationId xmlns:p14="http://schemas.microsoft.com/office/powerpoint/2010/main" val="252893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21C1BF-D70F-9024-C45B-C7B875D6C3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Class  Diagram</a:t>
            </a:r>
          </a:p>
        </p:txBody>
      </p:sp>
      <p:pic>
        <p:nvPicPr>
          <p:cNvPr id="3" name="Content Placeholder 2">
            <a:extLst>
              <a:ext uri="{FF2B5EF4-FFF2-40B4-BE49-F238E27FC236}">
                <a16:creationId xmlns:a16="http://schemas.microsoft.com/office/drawing/2014/main" id="{2B06A9EB-4206-7649-4281-D2B656EBC998}"/>
              </a:ext>
            </a:extLst>
          </p:cNvPr>
          <p:cNvPicPr>
            <a:picLocks noGrp="1" noChangeAspect="1"/>
          </p:cNvPicPr>
          <p:nvPr>
            <p:ph idx="1"/>
          </p:nvPr>
        </p:nvPicPr>
        <p:blipFill>
          <a:blip r:embed="rId3"/>
          <a:stretch>
            <a:fillRect/>
          </a:stretch>
        </p:blipFill>
        <p:spPr>
          <a:xfrm>
            <a:off x="755308" y="1393227"/>
            <a:ext cx="10807384" cy="5462199"/>
          </a:xfrm>
          <a:prstGeom prst="rect">
            <a:avLst/>
          </a:prstGeom>
        </p:spPr>
      </p:pic>
    </p:spTree>
    <p:extLst>
      <p:ext uri="{BB962C8B-B14F-4D97-AF65-F5344CB8AC3E}">
        <p14:creationId xmlns:p14="http://schemas.microsoft.com/office/powerpoint/2010/main" val="922577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0A39FD-7340-709F-9414-6894E50381CC}"/>
            </a:ext>
          </a:extLst>
        </p:cNvPr>
        <p:cNvGrpSpPr/>
        <p:nvPr/>
      </p:nvGrpSpPr>
      <p:grpSpPr>
        <a:xfrm>
          <a:off x="0" y="0"/>
          <a:ext cx="0" cy="0"/>
          <a:chOff x="0" y="0"/>
          <a:chExt cx="0" cy="0"/>
        </a:xfrm>
      </p:grpSpPr>
      <p:sp>
        <p:nvSpPr>
          <p:cNvPr id="90" name="Rectangle 89">
            <a:extLst>
              <a:ext uri="{FF2B5EF4-FFF2-40B4-BE49-F238E27FC236}">
                <a16:creationId xmlns:a16="http://schemas.microsoft.com/office/drawing/2014/main" id="{6F2D7691-5834-E754-5DFD-9E089080D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191EB3-D0B8-FD8E-2283-C4B1EC3241E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a:solidFill>
                  <a:schemeClr val="bg1"/>
                </a:solidFill>
              </a:rPr>
              <a:t>Entity-Relationship</a:t>
            </a:r>
            <a:r>
              <a:rPr lang="en-US" sz="3200" b="1" kern="1200">
                <a:solidFill>
                  <a:schemeClr val="bg1"/>
                </a:solidFill>
                <a:latin typeface="+mj-lt"/>
                <a:ea typeface="+mj-ea"/>
                <a:cs typeface="+mj-cs"/>
              </a:rPr>
              <a:t> Diagram</a:t>
            </a:r>
          </a:p>
        </p:txBody>
      </p:sp>
      <p:pic>
        <p:nvPicPr>
          <p:cNvPr id="6" name="Content Placeholder 5" descr="A diagram of a fraud&#10;&#10;AI-generated content may be incorrect.">
            <a:extLst>
              <a:ext uri="{FF2B5EF4-FFF2-40B4-BE49-F238E27FC236}">
                <a16:creationId xmlns:a16="http://schemas.microsoft.com/office/drawing/2014/main" id="{BEE67E80-9FDB-13CF-FB3B-3E79649D9C75}"/>
              </a:ext>
            </a:extLst>
          </p:cNvPr>
          <p:cNvPicPr>
            <a:picLocks noGrp="1" noChangeAspect="1"/>
          </p:cNvPicPr>
          <p:nvPr>
            <p:ph idx="1"/>
          </p:nvPr>
        </p:nvPicPr>
        <p:blipFill>
          <a:blip r:embed="rId2"/>
          <a:stretch>
            <a:fillRect/>
          </a:stretch>
        </p:blipFill>
        <p:spPr>
          <a:xfrm>
            <a:off x="1256666" y="1561625"/>
            <a:ext cx="9798667" cy="5269338"/>
          </a:xfrm>
          <a:prstGeom prst="rect">
            <a:avLst/>
          </a:prstGeom>
        </p:spPr>
      </p:pic>
    </p:spTree>
    <p:extLst>
      <p:ext uri="{BB962C8B-B14F-4D97-AF65-F5344CB8AC3E}">
        <p14:creationId xmlns:p14="http://schemas.microsoft.com/office/powerpoint/2010/main" val="1338084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99427F4-F048-8612-CD60-C63A0E905500}"/>
              </a:ext>
            </a:extLst>
          </p:cNvPr>
          <p:cNvSpPr>
            <a:spLocks noGrp="1"/>
          </p:cNvSpPr>
          <p:nvPr>
            <p:ph type="title"/>
          </p:nvPr>
        </p:nvSpPr>
        <p:spPr>
          <a:xfrm>
            <a:off x="264645" y="300446"/>
            <a:ext cx="4620584" cy="847610"/>
          </a:xfrm>
        </p:spPr>
        <p:txBody>
          <a:bodyPr vert="horz" lIns="91440" tIns="45720" rIns="91440" bIns="45720" rtlCol="0" anchor="b">
            <a:normAutofit/>
          </a:bodyPr>
          <a:lstStyle/>
          <a:p>
            <a:r>
              <a:rPr lang="en-US" kern="1200">
                <a:latin typeface="Calibri"/>
                <a:ea typeface="Calibri"/>
                <a:cs typeface="Calibri"/>
              </a:rPr>
              <a:t>Sprint-2 Recap</a:t>
            </a:r>
          </a:p>
        </p:txBody>
      </p:sp>
      <p:sp>
        <p:nvSpPr>
          <p:cNvPr id="5" name="TextBox 4">
            <a:extLst>
              <a:ext uri="{FF2B5EF4-FFF2-40B4-BE49-F238E27FC236}">
                <a16:creationId xmlns:a16="http://schemas.microsoft.com/office/drawing/2014/main" id="{EC2A7690-9466-B97D-CC07-8C1E8C511881}"/>
              </a:ext>
            </a:extLst>
          </p:cNvPr>
          <p:cNvSpPr txBox="1"/>
          <p:nvPr/>
        </p:nvSpPr>
        <p:spPr>
          <a:xfrm>
            <a:off x="408000" y="1506000"/>
            <a:ext cx="58680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latin typeface="Gill Sans Bold"/>
                <a:ea typeface="Calibri"/>
                <a:cs typeface="Calibri"/>
              </a:rPr>
              <a:t>During Sprint-2, we focused on improving the initial fraud detection model developed in Sprint-1 and expanding the overall system functionality.</a:t>
            </a:r>
            <a:endParaRPr lang="en-US">
              <a:latin typeface="Gill Sans Bold"/>
            </a:endParaRPr>
          </a:p>
          <a:p>
            <a:pPr marL="285750" indent="-285750">
              <a:buFont typeface="Calibri"/>
              <a:buChar char="-"/>
            </a:pPr>
            <a:endParaRPr lang="en-US">
              <a:latin typeface="Gill Sans Bold"/>
              <a:ea typeface="Calibri"/>
              <a:cs typeface="Calibri"/>
            </a:endParaRPr>
          </a:p>
          <a:p>
            <a:pPr marL="285750" indent="-285750">
              <a:buFont typeface="Calibri"/>
              <a:buChar char="-"/>
            </a:pPr>
            <a:r>
              <a:rPr lang="en-US">
                <a:latin typeface="Gill Sans Bold"/>
                <a:ea typeface="Calibri"/>
                <a:cs typeface="Calibri"/>
              </a:rPr>
              <a:t>We enhanced data preprocessing and feature handling and evaluated the model’s performance using relevant metrics to ensure reliable fraud detection.</a:t>
            </a:r>
            <a:endParaRPr lang="en-US">
              <a:latin typeface="Gill Sans Bold"/>
            </a:endParaRPr>
          </a:p>
          <a:p>
            <a:pPr marL="285750" indent="-285750">
              <a:buFont typeface="Calibri"/>
              <a:buChar char="-"/>
            </a:pPr>
            <a:endParaRPr lang="en-US">
              <a:latin typeface="Gill Sans Bold"/>
              <a:ea typeface="Calibri"/>
              <a:cs typeface="Calibri"/>
            </a:endParaRPr>
          </a:p>
          <a:p>
            <a:pPr marL="285750" indent="-285750">
              <a:buFont typeface="Calibri"/>
              <a:buChar char="-"/>
            </a:pPr>
            <a:r>
              <a:rPr lang="en-US">
                <a:latin typeface="Gill Sans Bold"/>
                <a:ea typeface="Calibri"/>
                <a:cs typeface="Calibri"/>
              </a:rPr>
              <a:t>The model was integrated more smoothly with the transaction generator, enabling real-time transaction analysis with improved input control.</a:t>
            </a:r>
            <a:endParaRPr lang="en-US">
              <a:latin typeface="Gill Sans Bold"/>
            </a:endParaRPr>
          </a:p>
          <a:p>
            <a:pPr marL="285750" indent="-285750">
              <a:buFont typeface="Calibri"/>
              <a:buChar char="-"/>
            </a:pPr>
            <a:endParaRPr lang="en-US">
              <a:latin typeface="Gill Sans Bold"/>
              <a:ea typeface="Calibri"/>
              <a:cs typeface="Calibri"/>
            </a:endParaRPr>
          </a:p>
          <a:p>
            <a:pPr marL="285750" indent="-285750">
              <a:buFont typeface="Calibri"/>
              <a:buChar char="-"/>
            </a:pPr>
            <a:r>
              <a:rPr lang="en-US">
                <a:latin typeface="Gill Sans Bold"/>
                <a:ea typeface="Calibri"/>
                <a:cs typeface="Calibri"/>
              </a:rPr>
              <a:t>Our live demo demonstrated a complete fraud detection pipeline, from transaction generation to real-time classification of fraudulent and legitimate transactions.</a:t>
            </a:r>
            <a:endParaRPr lang="en-US">
              <a:latin typeface="Gill Sans Bold"/>
            </a:endParaRPr>
          </a:p>
          <a:p>
            <a:pPr marL="285750" indent="-285750">
              <a:buFont typeface="Calibri"/>
              <a:buChar char="-"/>
            </a:pPr>
            <a:endParaRPr lang="en-US">
              <a:latin typeface="Calibri"/>
              <a:ea typeface="Calibri"/>
              <a:cs typeface="Calibri"/>
            </a:endParaRPr>
          </a:p>
        </p:txBody>
      </p:sp>
      <p:pic>
        <p:nvPicPr>
          <p:cNvPr id="4" name="Online Media 3" title="CS691 Fall 2025 Team 1 Sprint 2 Presentation">
            <a:hlinkClick r:id="" action="ppaction://noaction"/>
            <a:extLst>
              <a:ext uri="{FF2B5EF4-FFF2-40B4-BE49-F238E27FC236}">
                <a16:creationId xmlns:a16="http://schemas.microsoft.com/office/drawing/2014/main" id="{19A8DC0A-6CF1-B85F-AFF8-BE352F7C10F6}"/>
              </a:ext>
            </a:extLst>
          </p:cNvPr>
          <p:cNvPicPr>
            <a:picLocks noRot="1" noChangeAspect="1"/>
          </p:cNvPicPr>
          <p:nvPr>
            <a:videoFile r:link="rId1"/>
          </p:nvPr>
        </p:nvPicPr>
        <p:blipFill>
          <a:blip r:embed="rId3"/>
          <a:stretch>
            <a:fillRect/>
          </a:stretch>
        </p:blipFill>
        <p:spPr>
          <a:xfrm>
            <a:off x="6418174" y="1150111"/>
            <a:ext cx="5774144" cy="3448636"/>
          </a:xfrm>
          <a:prstGeom prst="rect">
            <a:avLst/>
          </a:prstGeom>
        </p:spPr>
      </p:pic>
    </p:spTree>
    <p:extLst>
      <p:ext uri="{BB962C8B-B14F-4D97-AF65-F5344CB8AC3E}">
        <p14:creationId xmlns:p14="http://schemas.microsoft.com/office/powerpoint/2010/main" val="1475412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6DB57-6A39-B053-850E-A659DE80392C}"/>
              </a:ext>
            </a:extLst>
          </p:cNvPr>
          <p:cNvSpPr>
            <a:spLocks noGrp="1"/>
          </p:cNvSpPr>
          <p:nvPr>
            <p:ph type="title"/>
          </p:nvPr>
        </p:nvSpPr>
        <p:spPr>
          <a:xfrm>
            <a:off x="334200" y="-875"/>
            <a:ext cx="10515600" cy="1325563"/>
          </a:xfrm>
        </p:spPr>
        <p:txBody>
          <a:bodyPr/>
          <a:lstStyle/>
          <a:p>
            <a:r>
              <a:rPr lang="en-US">
                <a:latin typeface="Calibri"/>
                <a:ea typeface="Calibri"/>
                <a:cs typeface="Calibri"/>
              </a:rPr>
              <a:t>Sprint-1 Summary: Burndown Chart</a:t>
            </a:r>
          </a:p>
        </p:txBody>
      </p:sp>
      <p:pic>
        <p:nvPicPr>
          <p:cNvPr id="4" name="Picture 3" descr="A graph with a line and numbers&#10;&#10;AI-generated content may be incorrect.">
            <a:extLst>
              <a:ext uri="{FF2B5EF4-FFF2-40B4-BE49-F238E27FC236}">
                <a16:creationId xmlns:a16="http://schemas.microsoft.com/office/drawing/2014/main" id="{C1032D70-2254-6562-F603-58DEECE0D63E}"/>
              </a:ext>
            </a:extLst>
          </p:cNvPr>
          <p:cNvPicPr>
            <a:picLocks noChangeAspect="1"/>
          </p:cNvPicPr>
          <p:nvPr/>
        </p:nvPicPr>
        <p:blipFill>
          <a:blip r:embed="rId2"/>
          <a:stretch>
            <a:fillRect/>
          </a:stretch>
        </p:blipFill>
        <p:spPr>
          <a:xfrm>
            <a:off x="1888421" y="1051367"/>
            <a:ext cx="8964955" cy="5536557"/>
          </a:xfrm>
          <a:prstGeom prst="rect">
            <a:avLst/>
          </a:prstGeom>
        </p:spPr>
      </p:pic>
    </p:spTree>
    <p:extLst>
      <p:ext uri="{BB962C8B-B14F-4D97-AF65-F5344CB8AC3E}">
        <p14:creationId xmlns:p14="http://schemas.microsoft.com/office/powerpoint/2010/main" val="2402790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D26DA-BEBF-51B8-0788-5E32F93F9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47B76-F8F9-FCDF-5444-4BB6A8DC7108}"/>
              </a:ext>
            </a:extLst>
          </p:cNvPr>
          <p:cNvSpPr>
            <a:spLocks noGrp="1"/>
          </p:cNvSpPr>
          <p:nvPr>
            <p:ph type="title"/>
          </p:nvPr>
        </p:nvSpPr>
        <p:spPr>
          <a:xfrm>
            <a:off x="85526" y="-4669"/>
            <a:ext cx="11911672" cy="1325563"/>
          </a:xfrm>
        </p:spPr>
        <p:txBody>
          <a:bodyPr>
            <a:normAutofit/>
          </a:bodyPr>
          <a:lstStyle/>
          <a:p>
            <a:r>
              <a:rPr lang="en-US" sz="3600" b="1">
                <a:latin typeface="Calibri"/>
                <a:ea typeface="Calibri"/>
                <a:cs typeface="Calibri"/>
              </a:rPr>
              <a:t>Sprint-1 Summary: Stories Completed And Not Completed</a:t>
            </a:r>
          </a:p>
        </p:txBody>
      </p:sp>
      <p:graphicFrame>
        <p:nvGraphicFramePr>
          <p:cNvPr id="6" name="Table 5">
            <a:extLst>
              <a:ext uri="{FF2B5EF4-FFF2-40B4-BE49-F238E27FC236}">
                <a16:creationId xmlns:a16="http://schemas.microsoft.com/office/drawing/2014/main" id="{A2280681-0B34-3E0C-69CB-4221D81B6F1A}"/>
              </a:ext>
            </a:extLst>
          </p:cNvPr>
          <p:cNvGraphicFramePr>
            <a:graphicFrameLocks noGrp="1"/>
          </p:cNvGraphicFramePr>
          <p:nvPr>
            <p:extLst>
              <p:ext uri="{D42A27DB-BD31-4B8C-83A1-F6EECF244321}">
                <p14:modId xmlns:p14="http://schemas.microsoft.com/office/powerpoint/2010/main" val="3980685536"/>
              </p:ext>
            </p:extLst>
          </p:nvPr>
        </p:nvGraphicFramePr>
        <p:xfrm>
          <a:off x="67235" y="973863"/>
          <a:ext cx="12017299" cy="3555392"/>
        </p:xfrm>
        <a:graphic>
          <a:graphicData uri="http://schemas.openxmlformats.org/drawingml/2006/table">
            <a:tbl>
              <a:tblPr firstRow="1" bandRow="1">
                <a:tableStyleId>{5C22544A-7EE6-4342-B048-85BDC9FD1C3A}</a:tableStyleId>
              </a:tblPr>
              <a:tblGrid>
                <a:gridCol w="1243792">
                  <a:extLst>
                    <a:ext uri="{9D8B030D-6E8A-4147-A177-3AD203B41FA5}">
                      <a16:colId xmlns:a16="http://schemas.microsoft.com/office/drawing/2014/main" val="3368656161"/>
                    </a:ext>
                  </a:extLst>
                </a:gridCol>
                <a:gridCol w="4144977">
                  <a:extLst>
                    <a:ext uri="{9D8B030D-6E8A-4147-A177-3AD203B41FA5}">
                      <a16:colId xmlns:a16="http://schemas.microsoft.com/office/drawing/2014/main" val="3829799536"/>
                    </a:ext>
                  </a:extLst>
                </a:gridCol>
                <a:gridCol w="2209510">
                  <a:extLst>
                    <a:ext uri="{9D8B030D-6E8A-4147-A177-3AD203B41FA5}">
                      <a16:colId xmlns:a16="http://schemas.microsoft.com/office/drawing/2014/main" val="173840191"/>
                    </a:ext>
                  </a:extLst>
                </a:gridCol>
                <a:gridCol w="2209510">
                  <a:extLst>
                    <a:ext uri="{9D8B030D-6E8A-4147-A177-3AD203B41FA5}">
                      <a16:colId xmlns:a16="http://schemas.microsoft.com/office/drawing/2014/main" val="788618954"/>
                    </a:ext>
                  </a:extLst>
                </a:gridCol>
                <a:gridCol w="2209510">
                  <a:extLst>
                    <a:ext uri="{9D8B030D-6E8A-4147-A177-3AD203B41FA5}">
                      <a16:colId xmlns:a16="http://schemas.microsoft.com/office/drawing/2014/main" val="4077433623"/>
                    </a:ext>
                  </a:extLst>
                </a:gridCol>
              </a:tblGrid>
              <a:tr h="888848">
                <a:tc>
                  <a:txBody>
                    <a:bodyPr/>
                    <a:lstStyle/>
                    <a:p>
                      <a:pPr algn="ctr" fontAlgn="t"/>
                      <a:r>
                        <a:rPr lang="en-US" sz="1500" u="none" strike="noStrike">
                          <a:effectLst/>
                          <a:latin typeface="Calibri"/>
                        </a:rPr>
                        <a:t>S.NO</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User Story</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Story Points</a:t>
                      </a:r>
                      <a:endParaRPr lang="en-US" sz="1500" b="1" i="0" u="none" strike="noStrike">
                        <a:solidFill>
                          <a:srgbClr val="000000"/>
                        </a:solidFill>
                        <a:effectLst/>
                        <a:latin typeface="Calibri"/>
                      </a:endParaRPr>
                    </a:p>
                  </a:txBody>
                  <a:tcPr marL="8386" marR="8386" marT="8386" marB="0" anchor="ctr"/>
                </a:tc>
                <a:tc>
                  <a:txBody>
                    <a:bodyPr/>
                    <a:lstStyle/>
                    <a:p>
                      <a:pPr lvl="0" algn="ctr">
                        <a:buNone/>
                      </a:pPr>
                      <a:r>
                        <a:rPr lang="en-US" sz="1500" u="none" strike="noStrike">
                          <a:effectLst/>
                          <a:latin typeface="Calibri"/>
                        </a:rPr>
                        <a:t>Completed</a:t>
                      </a:r>
                    </a:p>
                  </a:txBody>
                  <a:tcPr marL="8385" marR="8385" marT="8385" marB="0" anchor="ctr"/>
                </a:tc>
                <a:tc>
                  <a:txBody>
                    <a:bodyPr/>
                    <a:lstStyle/>
                    <a:p>
                      <a:pPr lvl="0" algn="ctr">
                        <a:buNone/>
                      </a:pPr>
                      <a:r>
                        <a:rPr lang="en-US" sz="1500" u="none" strike="noStrike">
                          <a:effectLst/>
                          <a:latin typeface="Calibri"/>
                        </a:rPr>
                        <a:t>Date Completed</a:t>
                      </a:r>
                      <a:endParaRPr lang="en-US">
                        <a:latin typeface="Calibri"/>
                      </a:endParaRPr>
                    </a:p>
                  </a:txBody>
                  <a:tcPr marL="8385" marR="8385" marT="8385" marB="0" anchor="ctr"/>
                </a:tc>
                <a:extLst>
                  <a:ext uri="{0D108BD9-81ED-4DB2-BD59-A6C34878D82A}">
                    <a16:rowId xmlns:a16="http://schemas.microsoft.com/office/drawing/2014/main" val="4046513150"/>
                  </a:ext>
                </a:extLst>
              </a:tr>
              <a:tr h="888848">
                <a:tc>
                  <a:txBody>
                    <a:bodyPr/>
                    <a:lstStyle/>
                    <a:p>
                      <a:pPr algn="ctr" fontAlgn="b"/>
                      <a:r>
                        <a:rPr lang="en-US" sz="1500" u="none" strike="noStrike">
                          <a:effectLst/>
                          <a:latin typeface="Calibri"/>
                        </a:rPr>
                        <a:t> 1.</a:t>
                      </a:r>
                    </a:p>
                  </a:txBody>
                  <a:tcPr marL="8386" marR="8386" marT="8386" marB="0" anchor="ctr"/>
                </a:tc>
                <a:tc>
                  <a:txBody>
                    <a:bodyPr/>
                    <a:lstStyle/>
                    <a:p>
                      <a:pPr algn="l" fontAlgn="b"/>
                      <a:r>
                        <a:rPr lang="en-US" sz="1500" u="none" strike="noStrike">
                          <a:effectLst/>
                          <a:latin typeface="Calibri"/>
                        </a:rPr>
                        <a:t>As a system owner I want to make a base model for prediction</a:t>
                      </a:r>
                    </a:p>
                  </a:txBody>
                  <a:tcPr marL="8386" marR="8386" marT="8386" marB="0" anchor="ctr"/>
                </a:tc>
                <a:tc>
                  <a:txBody>
                    <a:bodyPr/>
                    <a:lstStyle/>
                    <a:p>
                      <a:pPr algn="ctr" fontAlgn="b"/>
                      <a:r>
                        <a:rPr lang="en-US" sz="1500" u="none" strike="noStrike">
                          <a:effectLst/>
                          <a:latin typeface="Calibri"/>
                        </a:rPr>
                        <a:t>8</a:t>
                      </a:r>
                    </a:p>
                  </a:txBody>
                  <a:tcPr marL="8386" marR="8386" marT="8386" marB="0" anchor="ctr"/>
                </a:tc>
                <a:tc>
                  <a:txBody>
                    <a:bodyPr/>
                    <a:lstStyle/>
                    <a:p>
                      <a:pPr lvl="0" algn="ctr">
                        <a:buNone/>
                      </a:pPr>
                      <a:r>
                        <a:rPr lang="en-US" sz="1500" u="none" strike="noStrike">
                          <a:effectLst/>
                          <a:latin typeface="Calibri"/>
                        </a:rPr>
                        <a:t>8</a:t>
                      </a:r>
                    </a:p>
                  </a:txBody>
                  <a:tcPr marL="8385" marR="8385" marT="8385" marB="0" anchor="ctr"/>
                </a:tc>
                <a:tc>
                  <a:txBody>
                    <a:bodyPr/>
                    <a:lstStyle/>
                    <a:p>
                      <a:pPr lvl="0" algn="ctr">
                        <a:buNone/>
                      </a:pPr>
                      <a:r>
                        <a:rPr lang="en-US" sz="1500" u="none" strike="noStrike">
                          <a:effectLst/>
                          <a:latin typeface="Calibri"/>
                        </a:rPr>
                        <a:t>-</a:t>
                      </a:r>
                    </a:p>
                  </a:txBody>
                  <a:tcPr marL="8385" marR="8385" marT="8385" marB="0" anchor="ctr"/>
                </a:tc>
                <a:extLst>
                  <a:ext uri="{0D108BD9-81ED-4DB2-BD59-A6C34878D82A}">
                    <a16:rowId xmlns:a16="http://schemas.microsoft.com/office/drawing/2014/main" val="1832139782"/>
                  </a:ext>
                </a:extLst>
              </a:tr>
              <a:tr h="888848">
                <a:tc>
                  <a:txBody>
                    <a:bodyPr/>
                    <a:lstStyle/>
                    <a:p>
                      <a:pPr algn="ctr" fontAlgn="b"/>
                      <a:r>
                        <a:rPr lang="en-US" sz="1500" u="none" strike="noStrike">
                          <a:effectLst/>
                          <a:latin typeface="Calibri"/>
                        </a:rPr>
                        <a:t> 2.</a:t>
                      </a:r>
                    </a:p>
                  </a:txBody>
                  <a:tcPr marL="8386" marR="8386" marT="8386" marB="0" anchor="ctr"/>
                </a:tc>
                <a:tc>
                  <a:txBody>
                    <a:bodyPr/>
                    <a:lstStyle/>
                    <a:p>
                      <a:pPr algn="l" fontAlgn="b"/>
                      <a:r>
                        <a:rPr lang="en-US" sz="1500" u="none" strike="noStrike">
                          <a:effectLst/>
                          <a:latin typeface="Calibri"/>
                        </a:rPr>
                        <a:t>As a system owner, I want to make a demo UI model for testing and development</a:t>
                      </a:r>
                    </a:p>
                  </a:txBody>
                  <a:tcPr marL="8386" marR="8386" marT="8386" marB="0" anchor="ctr"/>
                </a:tc>
                <a:tc>
                  <a:txBody>
                    <a:bodyPr/>
                    <a:lstStyle/>
                    <a:p>
                      <a:pPr algn="ctr" fontAlgn="b"/>
                      <a:r>
                        <a:rPr lang="en-US" sz="1500" u="none" strike="noStrike">
                          <a:effectLst/>
                          <a:latin typeface="Calibri"/>
                        </a:rPr>
                        <a:t>10</a:t>
                      </a:r>
                    </a:p>
                  </a:txBody>
                  <a:tcPr marL="8386" marR="8386" marT="8386" marB="0" anchor="ctr"/>
                </a:tc>
                <a:tc>
                  <a:txBody>
                    <a:bodyPr/>
                    <a:lstStyle/>
                    <a:p>
                      <a:pPr lvl="0" algn="ctr">
                        <a:buNone/>
                      </a:pPr>
                      <a:r>
                        <a:rPr lang="en-US" sz="1500" u="none" strike="noStrike">
                          <a:effectLst/>
                          <a:latin typeface="Calibri"/>
                        </a:rPr>
                        <a:t>10</a:t>
                      </a:r>
                    </a:p>
                  </a:txBody>
                  <a:tcPr marL="8385" marR="8385" marT="8385" marB="0" anchor="ctr"/>
                </a:tc>
                <a:tc>
                  <a:txBody>
                    <a:bodyPr/>
                    <a:lstStyle/>
                    <a:p>
                      <a:pPr lvl="0" algn="ctr">
                        <a:buNone/>
                      </a:pPr>
                      <a:r>
                        <a:rPr lang="en-US" sz="1500" u="none" strike="noStrike">
                          <a:effectLst/>
                          <a:latin typeface="Calibri"/>
                        </a:rPr>
                        <a:t>-</a:t>
                      </a:r>
                    </a:p>
                  </a:txBody>
                  <a:tcPr marL="8385" marR="8385" marT="8385" marB="0" anchor="ctr"/>
                </a:tc>
                <a:extLst>
                  <a:ext uri="{0D108BD9-81ED-4DB2-BD59-A6C34878D82A}">
                    <a16:rowId xmlns:a16="http://schemas.microsoft.com/office/drawing/2014/main" val="2060717731"/>
                  </a:ext>
                </a:extLst>
              </a:tr>
              <a:tr h="888848">
                <a:tc>
                  <a:txBody>
                    <a:bodyPr/>
                    <a:lstStyle/>
                    <a:p>
                      <a:pPr algn="ctr" fontAlgn="b"/>
                      <a:r>
                        <a:rPr lang="en-US" sz="1400" b="0" i="0" u="none" strike="noStrike">
                          <a:solidFill>
                            <a:srgbClr val="000000"/>
                          </a:solidFill>
                          <a:effectLst/>
                          <a:latin typeface="Calibri"/>
                        </a:rPr>
                        <a:t>3.</a:t>
                      </a:r>
                    </a:p>
                  </a:txBody>
                  <a:tcPr marL="9525" marR="9525" marT="9525" marB="0" anchor="ctr"/>
                </a:tc>
                <a:tc>
                  <a:txBody>
                    <a:bodyPr/>
                    <a:lstStyle/>
                    <a:p>
                      <a:pPr algn="l" fontAlgn="b"/>
                      <a:r>
                        <a:rPr lang="en-US" sz="1400" b="0" i="0" u="none" strike="noStrike">
                          <a:solidFill>
                            <a:srgbClr val="000000"/>
                          </a:solidFill>
                          <a:effectLst/>
                          <a:latin typeface="Calibri"/>
                        </a:rPr>
                        <a:t>As a system owner base research needs to be done to understand how to develop the machine learning model</a:t>
                      </a:r>
                    </a:p>
                  </a:txBody>
                  <a:tcPr marL="9525" marR="9525" marT="9525" marB="0" anchor="ctr"/>
                </a:tc>
                <a:tc>
                  <a:txBody>
                    <a:bodyPr/>
                    <a:lstStyle/>
                    <a:p>
                      <a:pPr algn="ctr" fontAlgn="b"/>
                      <a:r>
                        <a:rPr lang="en-US" sz="1400" b="0" i="0" u="none" strike="noStrike">
                          <a:solidFill>
                            <a:srgbClr val="000000"/>
                          </a:solidFill>
                          <a:effectLst/>
                          <a:latin typeface="Calibri"/>
                        </a:rPr>
                        <a:t>10</a:t>
                      </a:r>
                    </a:p>
                  </a:txBody>
                  <a:tcPr marL="9525" marR="9525" marT="9525" marB="0" anchor="ctr"/>
                </a:tc>
                <a:tc>
                  <a:txBody>
                    <a:bodyPr/>
                    <a:lstStyle/>
                    <a:p>
                      <a:pPr lvl="0" algn="ctr">
                        <a:buNone/>
                      </a:pPr>
                      <a:r>
                        <a:rPr lang="en-US" sz="1400" b="0" i="0" u="none" strike="noStrike">
                          <a:solidFill>
                            <a:srgbClr val="000000"/>
                          </a:solidFill>
                          <a:effectLst/>
                          <a:latin typeface="Calibri"/>
                        </a:rPr>
                        <a:t>10</a:t>
                      </a:r>
                    </a:p>
                  </a:txBody>
                  <a:tcPr marL="9524" marR="9524" marT="9524" marB="0" anchor="ctr"/>
                </a:tc>
                <a:tc>
                  <a:txBody>
                    <a:bodyPr/>
                    <a:lstStyle/>
                    <a:p>
                      <a:pPr lvl="0" algn="ctr">
                        <a:buNone/>
                      </a:pPr>
                      <a:endParaRPr lang="en-US" sz="1400" b="0" i="0" u="none" strike="noStrike">
                        <a:solidFill>
                          <a:srgbClr val="000000"/>
                        </a:solidFill>
                        <a:effectLst/>
                        <a:latin typeface="Calibri"/>
                      </a:endParaRPr>
                    </a:p>
                  </a:txBody>
                  <a:tcPr marL="9524" marR="9524" marT="9524" marB="0" anchor="ctr"/>
                </a:tc>
                <a:extLst>
                  <a:ext uri="{0D108BD9-81ED-4DB2-BD59-A6C34878D82A}">
                    <a16:rowId xmlns:a16="http://schemas.microsoft.com/office/drawing/2014/main" val="3042597131"/>
                  </a:ext>
                </a:extLst>
              </a:tr>
            </a:tbl>
          </a:graphicData>
        </a:graphic>
      </p:graphicFrame>
      <p:graphicFrame>
        <p:nvGraphicFramePr>
          <p:cNvPr id="8" name="Table 7">
            <a:extLst>
              <a:ext uri="{FF2B5EF4-FFF2-40B4-BE49-F238E27FC236}">
                <a16:creationId xmlns:a16="http://schemas.microsoft.com/office/drawing/2014/main" id="{56D27788-A992-0D0D-9C6F-01EAC853BD9F}"/>
              </a:ext>
            </a:extLst>
          </p:cNvPr>
          <p:cNvGraphicFramePr>
            <a:graphicFrameLocks noGrp="1"/>
          </p:cNvGraphicFramePr>
          <p:nvPr>
            <p:extLst>
              <p:ext uri="{D42A27DB-BD31-4B8C-83A1-F6EECF244321}">
                <p14:modId xmlns:p14="http://schemas.microsoft.com/office/powerpoint/2010/main" val="3416527576"/>
              </p:ext>
            </p:extLst>
          </p:nvPr>
        </p:nvGraphicFramePr>
        <p:xfrm>
          <a:off x="67235" y="4482352"/>
          <a:ext cx="12021624" cy="840000"/>
        </p:xfrm>
        <a:graphic>
          <a:graphicData uri="http://schemas.openxmlformats.org/drawingml/2006/table">
            <a:tbl>
              <a:tblPr bandRow="1">
                <a:tableStyleId>{5C22544A-7EE6-4342-B048-85BDC9FD1C3A}</a:tableStyleId>
              </a:tblPr>
              <a:tblGrid>
                <a:gridCol w="1259686">
                  <a:extLst>
                    <a:ext uri="{9D8B030D-6E8A-4147-A177-3AD203B41FA5}">
                      <a16:colId xmlns:a16="http://schemas.microsoft.com/office/drawing/2014/main" val="575970552"/>
                    </a:ext>
                  </a:extLst>
                </a:gridCol>
                <a:gridCol w="4140000">
                  <a:extLst>
                    <a:ext uri="{9D8B030D-6E8A-4147-A177-3AD203B41FA5}">
                      <a16:colId xmlns:a16="http://schemas.microsoft.com/office/drawing/2014/main" val="3620716438"/>
                    </a:ext>
                  </a:extLst>
                </a:gridCol>
                <a:gridCol w="2232000">
                  <a:extLst>
                    <a:ext uri="{9D8B030D-6E8A-4147-A177-3AD203B41FA5}">
                      <a16:colId xmlns:a16="http://schemas.microsoft.com/office/drawing/2014/main" val="3705313365"/>
                    </a:ext>
                  </a:extLst>
                </a:gridCol>
                <a:gridCol w="2183999">
                  <a:extLst>
                    <a:ext uri="{9D8B030D-6E8A-4147-A177-3AD203B41FA5}">
                      <a16:colId xmlns:a16="http://schemas.microsoft.com/office/drawing/2014/main" val="1125232925"/>
                    </a:ext>
                  </a:extLst>
                </a:gridCol>
                <a:gridCol w="2205939">
                  <a:extLst>
                    <a:ext uri="{9D8B030D-6E8A-4147-A177-3AD203B41FA5}">
                      <a16:colId xmlns:a16="http://schemas.microsoft.com/office/drawing/2014/main" val="1589413076"/>
                    </a:ext>
                  </a:extLst>
                </a:gridCol>
              </a:tblGrid>
              <a:tr h="840000">
                <a:tc>
                  <a:txBody>
                    <a:bodyPr/>
                    <a:lstStyle/>
                    <a:p>
                      <a:pPr rtl="0" fontAlgn="base">
                        <a:lnSpc>
                          <a:spcPts val="1350"/>
                        </a:lnSpc>
                        <a:buNone/>
                      </a:pPr>
                      <a:r>
                        <a:rPr lang="en-US" sz="1400">
                          <a:effectLst/>
                          <a:latin typeface="Calibri"/>
                        </a:rPr>
                        <a:t>      4. </a:t>
                      </a: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 As a system owner we need to find a good source of data in order to train our model</a:t>
                      </a: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4</a:t>
                      </a: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4</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30241">
                      <a:solidFill>
                        <a:srgbClr val="FFFFFF"/>
                      </a:solidFill>
                    </a:lnT>
                    <a:lnB w="10077">
                      <a:solidFill>
                        <a:srgbClr val="FFFFFF"/>
                      </a:solidFill>
                    </a:lnB>
                    <a:solidFill>
                      <a:srgbClr val="CCD2D8"/>
                    </a:solidFill>
                  </a:tcPr>
                </a:tc>
                <a:tc>
                  <a:txBody>
                    <a:bodyPr/>
                    <a:lstStyle/>
                    <a:p>
                      <a:pPr lvl="0" algn="ctr">
                        <a:lnSpc>
                          <a:spcPts val="1350"/>
                        </a:lnSpc>
                        <a:buNone/>
                      </a:pPr>
                      <a:endParaRPr lang="en-US" sz="1400">
                        <a:effectLst/>
                        <a:latin typeface="Calibri"/>
                      </a:endParaRPr>
                    </a:p>
                  </a:txBody>
                  <a:tcPr marL="7551" marR="7551" marT="7551" anchor="ctr">
                    <a:lnL w="10077">
                      <a:solidFill>
                        <a:srgbClr val="FFFFFF"/>
                      </a:solidFill>
                    </a:lnL>
                    <a:lnR w="10077">
                      <a:solidFill>
                        <a:srgbClr val="FFFFFF"/>
                      </a:solidFill>
                    </a:lnR>
                    <a:lnT w="30240">
                      <a:solidFill>
                        <a:srgbClr val="FFFFFF"/>
                      </a:solidFill>
                    </a:lnT>
                    <a:lnB w="10077">
                      <a:solidFill>
                        <a:srgbClr val="FFFFFF"/>
                      </a:solidFill>
                    </a:lnB>
                    <a:solidFill>
                      <a:srgbClr val="CCD2D8"/>
                    </a:solidFill>
                  </a:tcPr>
                </a:tc>
                <a:extLst>
                  <a:ext uri="{0D108BD9-81ED-4DB2-BD59-A6C34878D82A}">
                    <a16:rowId xmlns:a16="http://schemas.microsoft.com/office/drawing/2014/main" val="509414492"/>
                  </a:ext>
                </a:extLst>
              </a:tr>
            </a:tbl>
          </a:graphicData>
        </a:graphic>
      </p:graphicFrame>
    </p:spTree>
    <p:extLst>
      <p:ext uri="{BB962C8B-B14F-4D97-AF65-F5344CB8AC3E}">
        <p14:creationId xmlns:p14="http://schemas.microsoft.com/office/powerpoint/2010/main" val="1102102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D4EDF-E2C2-C9E9-7343-1F71C0EF6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A8B5B-F3D6-504A-9DE8-D0AD9096B289}"/>
              </a:ext>
            </a:extLst>
          </p:cNvPr>
          <p:cNvSpPr>
            <a:spLocks noGrp="1"/>
          </p:cNvSpPr>
          <p:nvPr>
            <p:ph type="title"/>
          </p:nvPr>
        </p:nvSpPr>
        <p:spPr>
          <a:xfrm>
            <a:off x="334200" y="-875"/>
            <a:ext cx="10515600" cy="1325563"/>
          </a:xfrm>
        </p:spPr>
        <p:txBody>
          <a:bodyPr/>
          <a:lstStyle/>
          <a:p>
            <a:r>
              <a:rPr lang="en-US">
                <a:latin typeface="Calibri"/>
                <a:ea typeface="Calibri"/>
                <a:cs typeface="Calibri"/>
              </a:rPr>
              <a:t>Sprint-2 Summary: Burndown Chart</a:t>
            </a:r>
          </a:p>
        </p:txBody>
      </p:sp>
      <p:graphicFrame>
        <p:nvGraphicFramePr>
          <p:cNvPr id="3" name="Chart 2">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584169972"/>
              </p:ext>
            </p:extLst>
          </p:nvPr>
        </p:nvGraphicFramePr>
        <p:xfrm>
          <a:off x="-1639" y="1322263"/>
          <a:ext cx="11444800" cy="5212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0916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7036-A5FD-B1AC-423B-05666B3FDA54}"/>
              </a:ext>
            </a:extLst>
          </p:cNvPr>
          <p:cNvSpPr>
            <a:spLocks noGrp="1"/>
          </p:cNvSpPr>
          <p:nvPr>
            <p:ph type="title"/>
          </p:nvPr>
        </p:nvSpPr>
        <p:spPr>
          <a:xfrm>
            <a:off x="85526" y="-4669"/>
            <a:ext cx="11911672" cy="1325563"/>
          </a:xfrm>
        </p:spPr>
        <p:txBody>
          <a:bodyPr>
            <a:normAutofit/>
          </a:bodyPr>
          <a:lstStyle/>
          <a:p>
            <a:r>
              <a:rPr lang="en-US" sz="3600" b="1">
                <a:latin typeface="Calibri"/>
                <a:ea typeface="Calibri"/>
                <a:cs typeface="Calibri"/>
              </a:rPr>
              <a:t>Sprint-2 Summary: Stories Completed And Not Completed</a:t>
            </a:r>
          </a:p>
        </p:txBody>
      </p:sp>
      <p:graphicFrame>
        <p:nvGraphicFramePr>
          <p:cNvPr id="6" name="Table 5">
            <a:extLst>
              <a:ext uri="{FF2B5EF4-FFF2-40B4-BE49-F238E27FC236}">
                <a16:creationId xmlns:a16="http://schemas.microsoft.com/office/drawing/2014/main" id="{7AE223A0-4273-ED7C-1712-947F9981F449}"/>
              </a:ext>
            </a:extLst>
          </p:cNvPr>
          <p:cNvGraphicFramePr>
            <a:graphicFrameLocks noGrp="1"/>
          </p:cNvGraphicFramePr>
          <p:nvPr/>
        </p:nvGraphicFramePr>
        <p:xfrm>
          <a:off x="67235" y="973863"/>
          <a:ext cx="12017299" cy="3555392"/>
        </p:xfrm>
        <a:graphic>
          <a:graphicData uri="http://schemas.openxmlformats.org/drawingml/2006/table">
            <a:tbl>
              <a:tblPr firstRow="1" bandRow="1">
                <a:tableStyleId>{5C22544A-7EE6-4342-B048-85BDC9FD1C3A}</a:tableStyleId>
              </a:tblPr>
              <a:tblGrid>
                <a:gridCol w="1243792">
                  <a:extLst>
                    <a:ext uri="{9D8B030D-6E8A-4147-A177-3AD203B41FA5}">
                      <a16:colId xmlns:a16="http://schemas.microsoft.com/office/drawing/2014/main" val="3368656161"/>
                    </a:ext>
                  </a:extLst>
                </a:gridCol>
                <a:gridCol w="4144977">
                  <a:extLst>
                    <a:ext uri="{9D8B030D-6E8A-4147-A177-3AD203B41FA5}">
                      <a16:colId xmlns:a16="http://schemas.microsoft.com/office/drawing/2014/main" val="3829799536"/>
                    </a:ext>
                  </a:extLst>
                </a:gridCol>
                <a:gridCol w="2209510">
                  <a:extLst>
                    <a:ext uri="{9D8B030D-6E8A-4147-A177-3AD203B41FA5}">
                      <a16:colId xmlns:a16="http://schemas.microsoft.com/office/drawing/2014/main" val="173840191"/>
                    </a:ext>
                  </a:extLst>
                </a:gridCol>
                <a:gridCol w="2209510">
                  <a:extLst>
                    <a:ext uri="{9D8B030D-6E8A-4147-A177-3AD203B41FA5}">
                      <a16:colId xmlns:a16="http://schemas.microsoft.com/office/drawing/2014/main" val="788618954"/>
                    </a:ext>
                  </a:extLst>
                </a:gridCol>
                <a:gridCol w="2209510">
                  <a:extLst>
                    <a:ext uri="{9D8B030D-6E8A-4147-A177-3AD203B41FA5}">
                      <a16:colId xmlns:a16="http://schemas.microsoft.com/office/drawing/2014/main" val="4077433623"/>
                    </a:ext>
                  </a:extLst>
                </a:gridCol>
              </a:tblGrid>
              <a:tr h="888848">
                <a:tc>
                  <a:txBody>
                    <a:bodyPr/>
                    <a:lstStyle/>
                    <a:p>
                      <a:pPr algn="ctr" fontAlgn="t"/>
                      <a:r>
                        <a:rPr lang="en-US" sz="1500" u="none" strike="noStrike">
                          <a:effectLst/>
                          <a:latin typeface="Calibri"/>
                        </a:rPr>
                        <a:t>S.NO</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User Story</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Story Points</a:t>
                      </a:r>
                      <a:endParaRPr lang="en-US" sz="1500" b="1" i="0" u="none" strike="noStrike">
                        <a:solidFill>
                          <a:srgbClr val="000000"/>
                        </a:solidFill>
                        <a:effectLst/>
                        <a:latin typeface="Calibri"/>
                      </a:endParaRPr>
                    </a:p>
                  </a:txBody>
                  <a:tcPr marL="8386" marR="8386" marT="8386" marB="0" anchor="ctr"/>
                </a:tc>
                <a:tc>
                  <a:txBody>
                    <a:bodyPr/>
                    <a:lstStyle/>
                    <a:p>
                      <a:pPr lvl="0" algn="ctr">
                        <a:buNone/>
                      </a:pPr>
                      <a:r>
                        <a:rPr lang="en-US" sz="1500" u="none" strike="noStrike">
                          <a:effectLst/>
                          <a:latin typeface="Calibri"/>
                        </a:rPr>
                        <a:t>Completed</a:t>
                      </a:r>
                    </a:p>
                  </a:txBody>
                  <a:tcPr marL="8385" marR="8385" marT="8385" marB="0" anchor="ctr"/>
                </a:tc>
                <a:tc>
                  <a:txBody>
                    <a:bodyPr/>
                    <a:lstStyle/>
                    <a:p>
                      <a:pPr lvl="0" algn="ctr">
                        <a:buNone/>
                      </a:pPr>
                      <a:r>
                        <a:rPr lang="en-US" sz="1500" u="none" strike="noStrike">
                          <a:effectLst/>
                          <a:latin typeface="Calibri"/>
                        </a:rPr>
                        <a:t>Date Completed</a:t>
                      </a:r>
                      <a:endParaRPr lang="en-US">
                        <a:latin typeface="Calibri"/>
                      </a:endParaRPr>
                    </a:p>
                  </a:txBody>
                  <a:tcPr marL="8385" marR="8385" marT="8385" marB="0" anchor="ctr"/>
                </a:tc>
                <a:extLst>
                  <a:ext uri="{0D108BD9-81ED-4DB2-BD59-A6C34878D82A}">
                    <a16:rowId xmlns:a16="http://schemas.microsoft.com/office/drawing/2014/main" val="4046513150"/>
                  </a:ext>
                </a:extLst>
              </a:tr>
              <a:tr h="888848">
                <a:tc>
                  <a:txBody>
                    <a:bodyPr/>
                    <a:lstStyle/>
                    <a:p>
                      <a:pPr algn="l" fontAlgn="b"/>
                      <a:r>
                        <a:rPr lang="en-US" sz="1500" u="none" strike="noStrike">
                          <a:effectLst/>
                          <a:latin typeface="Calibri"/>
                        </a:rPr>
                        <a:t>US_02</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As a user, I want to link my credit card so that the system can start monitoring transactions for fraud.</a:t>
                      </a:r>
                      <a:endParaRPr lang="en-US" sz="1500" b="0" i="0" u="none" strike="noStrike">
                        <a:solidFill>
                          <a:srgbClr val="000000"/>
                        </a:solidFill>
                        <a:effectLst/>
                        <a:latin typeface="Calibri"/>
                      </a:endParaRPr>
                    </a:p>
                  </a:txBody>
                  <a:tcPr marL="8386" marR="8386" marT="8386" marB="0" anchor="ctr"/>
                </a:tc>
                <a:tc>
                  <a:txBody>
                    <a:bodyPr/>
                    <a:lstStyle/>
                    <a:p>
                      <a:pPr algn="ctr" fontAlgn="b"/>
                      <a:r>
                        <a:rPr lang="en-US" sz="1500" u="none" strike="noStrike">
                          <a:effectLst/>
                          <a:latin typeface="Calibri"/>
                        </a:rPr>
                        <a:t>3</a:t>
                      </a:r>
                      <a:endParaRPr lang="en-US" sz="1500" b="0" i="0" u="none" strike="noStrike">
                        <a:solidFill>
                          <a:srgbClr val="000000"/>
                        </a:solidFill>
                        <a:effectLst/>
                        <a:latin typeface="Calibri"/>
                      </a:endParaRPr>
                    </a:p>
                  </a:txBody>
                  <a:tcPr marL="8386" marR="8386" marT="8386" marB="0" anchor="ctr"/>
                </a:tc>
                <a:tc>
                  <a:txBody>
                    <a:bodyPr/>
                    <a:lstStyle/>
                    <a:p>
                      <a:pPr lvl="0" algn="ctr">
                        <a:buNone/>
                      </a:pPr>
                      <a:r>
                        <a:rPr lang="en-US" sz="1500" u="none" strike="noStrike">
                          <a:effectLst/>
                          <a:latin typeface="Calibri"/>
                        </a:rPr>
                        <a:t>3</a:t>
                      </a:r>
                    </a:p>
                  </a:txBody>
                  <a:tcPr marL="8385" marR="8385" marT="8385" marB="0" anchor="ctr"/>
                </a:tc>
                <a:tc>
                  <a:txBody>
                    <a:bodyPr/>
                    <a:lstStyle/>
                    <a:p>
                      <a:pPr lvl="0" algn="ctr">
                        <a:buNone/>
                      </a:pPr>
                      <a:r>
                        <a:rPr lang="en-US" sz="1500" u="none" strike="noStrike">
                          <a:effectLst/>
                          <a:latin typeface="Calibri"/>
                        </a:rPr>
                        <a:t>Nov 4</a:t>
                      </a:r>
                      <a:endParaRPr lang="en-US">
                        <a:latin typeface="Calibri"/>
                      </a:endParaRPr>
                    </a:p>
                  </a:txBody>
                  <a:tcPr marL="8385" marR="8385" marT="8385" marB="0" anchor="ctr"/>
                </a:tc>
                <a:extLst>
                  <a:ext uri="{0D108BD9-81ED-4DB2-BD59-A6C34878D82A}">
                    <a16:rowId xmlns:a16="http://schemas.microsoft.com/office/drawing/2014/main" val="1832139782"/>
                  </a:ext>
                </a:extLst>
              </a:tr>
              <a:tr h="888848">
                <a:tc>
                  <a:txBody>
                    <a:bodyPr/>
                    <a:lstStyle/>
                    <a:p>
                      <a:pPr algn="l" fontAlgn="b"/>
                      <a:r>
                        <a:rPr lang="en-US" sz="1500" u="none" strike="noStrike">
                          <a:effectLst/>
                          <a:latin typeface="Calibri"/>
                        </a:rPr>
                        <a:t>US_03</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As the system, I want to ingest transactions so that fraud analysis can begin immediately.</a:t>
                      </a:r>
                      <a:endParaRPr lang="en-US" sz="1500" b="0" i="0" u="none" strike="noStrike">
                        <a:solidFill>
                          <a:srgbClr val="000000"/>
                        </a:solidFill>
                        <a:effectLst/>
                        <a:latin typeface="Calibri"/>
                      </a:endParaRPr>
                    </a:p>
                  </a:txBody>
                  <a:tcPr marL="8386" marR="8386" marT="8386" marB="0" anchor="ctr"/>
                </a:tc>
                <a:tc>
                  <a:txBody>
                    <a:bodyPr/>
                    <a:lstStyle/>
                    <a:p>
                      <a:pPr algn="ctr" fontAlgn="b"/>
                      <a:r>
                        <a:rPr lang="en-US" sz="1500" u="none" strike="noStrike">
                          <a:effectLst/>
                          <a:latin typeface="Calibri"/>
                        </a:rPr>
                        <a:t>5</a:t>
                      </a:r>
                      <a:endParaRPr lang="en-US" sz="1500" b="0" i="0" u="none" strike="noStrike">
                        <a:solidFill>
                          <a:srgbClr val="000000"/>
                        </a:solidFill>
                        <a:effectLst/>
                        <a:latin typeface="Calibri"/>
                      </a:endParaRPr>
                    </a:p>
                  </a:txBody>
                  <a:tcPr marL="8386" marR="8386" marT="8386" marB="0" anchor="ctr"/>
                </a:tc>
                <a:tc>
                  <a:txBody>
                    <a:bodyPr/>
                    <a:lstStyle/>
                    <a:p>
                      <a:pPr lvl="0" algn="ctr">
                        <a:buNone/>
                      </a:pPr>
                      <a:r>
                        <a:rPr lang="en-US" sz="1500" u="none" strike="noStrike">
                          <a:effectLst/>
                          <a:latin typeface="Calibri"/>
                        </a:rPr>
                        <a:t>5</a:t>
                      </a:r>
                    </a:p>
                  </a:txBody>
                  <a:tcPr marL="8385" marR="8385" marT="8385" marB="0" anchor="ctr"/>
                </a:tc>
                <a:tc>
                  <a:txBody>
                    <a:bodyPr/>
                    <a:lstStyle/>
                    <a:p>
                      <a:pPr lvl="0" algn="ctr">
                        <a:buNone/>
                      </a:pPr>
                      <a:r>
                        <a:rPr lang="en-US" sz="1500" u="none" strike="noStrike">
                          <a:effectLst/>
                          <a:latin typeface="Calibri"/>
                        </a:rPr>
                        <a:t>Nov 12</a:t>
                      </a:r>
                    </a:p>
                  </a:txBody>
                  <a:tcPr marL="8385" marR="8385" marT="8385" marB="0" anchor="ctr"/>
                </a:tc>
                <a:extLst>
                  <a:ext uri="{0D108BD9-81ED-4DB2-BD59-A6C34878D82A}">
                    <a16:rowId xmlns:a16="http://schemas.microsoft.com/office/drawing/2014/main" val="2060717731"/>
                  </a:ext>
                </a:extLst>
              </a:tr>
              <a:tr h="888848">
                <a:tc>
                  <a:txBody>
                    <a:bodyPr/>
                    <a:lstStyle/>
                    <a:p>
                      <a:pPr algn="l" fontAlgn="b"/>
                      <a:r>
                        <a:rPr lang="en-US" sz="1400" b="0" i="0" u="none" strike="noStrike">
                          <a:solidFill>
                            <a:srgbClr val="000000"/>
                          </a:solidFill>
                          <a:effectLst/>
                          <a:latin typeface="Calibri"/>
                        </a:rPr>
                        <a:t>US_15</a:t>
                      </a:r>
                    </a:p>
                  </a:txBody>
                  <a:tcPr marL="9525" marR="9525" marT="9525" marB="0" anchor="ctr"/>
                </a:tc>
                <a:tc>
                  <a:txBody>
                    <a:bodyPr/>
                    <a:lstStyle/>
                    <a:p>
                      <a:pPr algn="l" fontAlgn="b"/>
                      <a:r>
                        <a:rPr lang="en-US" sz="1400" b="0" i="0" u="none" strike="noStrike">
                          <a:solidFill>
                            <a:srgbClr val="000000"/>
                          </a:solidFill>
                          <a:effectLst/>
                          <a:latin typeface="Calibri"/>
                        </a:rPr>
                        <a:t>As an admin, I want analytic reports so that I can review overall fraud trends monthly.</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tc>
                  <a:txBody>
                    <a:bodyPr/>
                    <a:lstStyle/>
                    <a:p>
                      <a:pPr lvl="0" algn="ctr">
                        <a:buNone/>
                      </a:pPr>
                      <a:r>
                        <a:rPr lang="en-US" sz="1400" b="0" i="0" u="none" strike="noStrike">
                          <a:solidFill>
                            <a:srgbClr val="000000"/>
                          </a:solidFill>
                          <a:effectLst/>
                          <a:latin typeface="Calibri"/>
                        </a:rPr>
                        <a:t>0</a:t>
                      </a:r>
                    </a:p>
                  </a:txBody>
                  <a:tcPr marL="9524" marR="9524" marT="9524" marB="0" anchor="ctr"/>
                </a:tc>
                <a:tc>
                  <a:txBody>
                    <a:bodyPr/>
                    <a:lstStyle/>
                    <a:p>
                      <a:pPr lvl="0" algn="ctr">
                        <a:buNone/>
                      </a:pPr>
                      <a:r>
                        <a:rPr lang="en-US" sz="1400" b="0" i="0" u="none" strike="noStrike">
                          <a:solidFill>
                            <a:srgbClr val="000000"/>
                          </a:solidFill>
                          <a:effectLst/>
                          <a:latin typeface="Calibri"/>
                        </a:rPr>
                        <a:t>-</a:t>
                      </a:r>
                    </a:p>
                  </a:txBody>
                  <a:tcPr marL="9524" marR="9524" marT="9524" marB="0" anchor="ctr"/>
                </a:tc>
                <a:extLst>
                  <a:ext uri="{0D108BD9-81ED-4DB2-BD59-A6C34878D82A}">
                    <a16:rowId xmlns:a16="http://schemas.microsoft.com/office/drawing/2014/main" val="3042597131"/>
                  </a:ext>
                </a:extLst>
              </a:tr>
            </a:tbl>
          </a:graphicData>
        </a:graphic>
      </p:graphicFrame>
      <p:graphicFrame>
        <p:nvGraphicFramePr>
          <p:cNvPr id="8" name="Table 7">
            <a:extLst>
              <a:ext uri="{FF2B5EF4-FFF2-40B4-BE49-F238E27FC236}">
                <a16:creationId xmlns:a16="http://schemas.microsoft.com/office/drawing/2014/main" id="{766130F8-00A4-B58F-36F3-4800762980D2}"/>
              </a:ext>
            </a:extLst>
          </p:cNvPr>
          <p:cNvGraphicFramePr>
            <a:graphicFrameLocks noGrp="1"/>
          </p:cNvGraphicFramePr>
          <p:nvPr/>
        </p:nvGraphicFramePr>
        <p:xfrm>
          <a:off x="67235" y="4482352"/>
          <a:ext cx="12021624" cy="2346074"/>
        </p:xfrm>
        <a:graphic>
          <a:graphicData uri="http://schemas.openxmlformats.org/drawingml/2006/table">
            <a:tbl>
              <a:tblPr bandRow="1">
                <a:tableStyleId>{5C22544A-7EE6-4342-B048-85BDC9FD1C3A}</a:tableStyleId>
              </a:tblPr>
              <a:tblGrid>
                <a:gridCol w="1259686">
                  <a:extLst>
                    <a:ext uri="{9D8B030D-6E8A-4147-A177-3AD203B41FA5}">
                      <a16:colId xmlns:a16="http://schemas.microsoft.com/office/drawing/2014/main" val="575970552"/>
                    </a:ext>
                  </a:extLst>
                </a:gridCol>
                <a:gridCol w="4140000">
                  <a:extLst>
                    <a:ext uri="{9D8B030D-6E8A-4147-A177-3AD203B41FA5}">
                      <a16:colId xmlns:a16="http://schemas.microsoft.com/office/drawing/2014/main" val="3620716438"/>
                    </a:ext>
                  </a:extLst>
                </a:gridCol>
                <a:gridCol w="2232000">
                  <a:extLst>
                    <a:ext uri="{9D8B030D-6E8A-4147-A177-3AD203B41FA5}">
                      <a16:colId xmlns:a16="http://schemas.microsoft.com/office/drawing/2014/main" val="3705313365"/>
                    </a:ext>
                  </a:extLst>
                </a:gridCol>
                <a:gridCol w="2183999">
                  <a:extLst>
                    <a:ext uri="{9D8B030D-6E8A-4147-A177-3AD203B41FA5}">
                      <a16:colId xmlns:a16="http://schemas.microsoft.com/office/drawing/2014/main" val="1125232925"/>
                    </a:ext>
                  </a:extLst>
                </a:gridCol>
                <a:gridCol w="2205939">
                  <a:extLst>
                    <a:ext uri="{9D8B030D-6E8A-4147-A177-3AD203B41FA5}">
                      <a16:colId xmlns:a16="http://schemas.microsoft.com/office/drawing/2014/main" val="1589413076"/>
                    </a:ext>
                  </a:extLst>
                </a:gridCol>
              </a:tblGrid>
              <a:tr h="840000">
                <a:tc>
                  <a:txBody>
                    <a:bodyPr/>
                    <a:lstStyle/>
                    <a:p>
                      <a:pPr rtl="0" fontAlgn="base">
                        <a:lnSpc>
                          <a:spcPts val="1350"/>
                        </a:lnSpc>
                        <a:buNone/>
                      </a:pPr>
                      <a:r>
                        <a:rPr lang="en-US" sz="1400">
                          <a:effectLst/>
                          <a:latin typeface="Calibri"/>
                        </a:rPr>
                        <a:t>US_06</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the system, I want to run a machine learning fraud detection model so that fraudulent patterns can be identified.</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8</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8</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30241">
                      <a:solidFill>
                        <a:srgbClr val="FFFFFF"/>
                      </a:solidFill>
                    </a:lnT>
                    <a:lnB w="10077">
                      <a:solidFill>
                        <a:srgbClr val="FFFFFF"/>
                      </a:solidFill>
                    </a:lnB>
                    <a:solidFill>
                      <a:srgbClr val="CCD2D8"/>
                    </a:solidFill>
                  </a:tcPr>
                </a:tc>
                <a:tc>
                  <a:txBody>
                    <a:bodyPr/>
                    <a:lstStyle/>
                    <a:p>
                      <a:pPr lvl="0" algn="ctr">
                        <a:lnSpc>
                          <a:spcPts val="1350"/>
                        </a:lnSpc>
                        <a:buNone/>
                      </a:pPr>
                      <a:r>
                        <a:rPr lang="en-US" sz="1400">
                          <a:effectLst/>
                          <a:latin typeface="Calibri"/>
                        </a:rPr>
                        <a:t>Nov 16</a:t>
                      </a:r>
                    </a:p>
                  </a:txBody>
                  <a:tcPr marL="7551" marR="7551" marT="7551" anchor="ctr">
                    <a:lnL w="10077">
                      <a:solidFill>
                        <a:srgbClr val="FFFFFF"/>
                      </a:solidFill>
                    </a:lnL>
                    <a:lnR w="10077">
                      <a:solidFill>
                        <a:srgbClr val="FFFFFF"/>
                      </a:solidFill>
                    </a:lnR>
                    <a:lnT w="30240">
                      <a:solidFill>
                        <a:srgbClr val="FFFFFF"/>
                      </a:solidFill>
                    </a:lnT>
                    <a:lnB w="10077">
                      <a:solidFill>
                        <a:srgbClr val="FFFFFF"/>
                      </a:solidFill>
                    </a:lnB>
                    <a:solidFill>
                      <a:srgbClr val="CCD2D8"/>
                    </a:solidFill>
                  </a:tcPr>
                </a:tc>
                <a:extLst>
                  <a:ext uri="{0D108BD9-81ED-4DB2-BD59-A6C34878D82A}">
                    <a16:rowId xmlns:a16="http://schemas.microsoft.com/office/drawing/2014/main" val="509414492"/>
                  </a:ext>
                </a:extLst>
              </a:tr>
              <a:tr h="753037">
                <a:tc>
                  <a:txBody>
                    <a:bodyPr/>
                    <a:lstStyle/>
                    <a:p>
                      <a:pPr rtl="0" fontAlgn="base">
                        <a:lnSpc>
                          <a:spcPts val="1350"/>
                        </a:lnSpc>
                        <a:buNone/>
                      </a:pPr>
                      <a:r>
                        <a:rPr lang="en-US" sz="1400">
                          <a:effectLst/>
                          <a:latin typeface="Calibri"/>
                        </a:rPr>
                        <a:t>US_07</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rtl="0" fontAlgn="base">
                        <a:lnSpc>
                          <a:spcPts val="1350"/>
                        </a:lnSpc>
                        <a:buNone/>
                      </a:pPr>
                      <a:r>
                        <a:rPr lang="en-US" sz="1400">
                          <a:effectLst/>
                          <a:latin typeface="Calibri"/>
                        </a:rPr>
                        <a:t>As a fraud analyst, I want to mark transactions as fraud or safe so that the model improves over time.</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ctr" rtl="0" fontAlgn="base">
                        <a:lnSpc>
                          <a:spcPts val="1350"/>
                        </a:lnSpc>
                        <a:buNone/>
                      </a:pPr>
                      <a:r>
                        <a:rPr lang="en-US" sz="1400">
                          <a:effectLst/>
                          <a:latin typeface="Calibri"/>
                        </a:rPr>
                        <a:t>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lvl="0" algn="ctr">
                        <a:lnSpc>
                          <a:spcPts val="1350"/>
                        </a:lnSpc>
                        <a:buNone/>
                      </a:pPr>
                      <a:r>
                        <a:rPr lang="en-US" sz="1400">
                          <a:effectLst/>
                          <a:latin typeface="Calibri"/>
                        </a:rPr>
                        <a:t>3</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E7EAED"/>
                    </a:solidFill>
                  </a:tcPr>
                </a:tc>
                <a:tc>
                  <a:txBody>
                    <a:bodyPr/>
                    <a:lstStyle/>
                    <a:p>
                      <a:pPr lvl="0" algn="ctr">
                        <a:lnSpc>
                          <a:spcPts val="1350"/>
                        </a:lnSpc>
                        <a:buNone/>
                      </a:pPr>
                      <a:r>
                        <a:rPr lang="en-US" sz="1400">
                          <a:effectLst/>
                          <a:latin typeface="Calibri"/>
                        </a:rPr>
                        <a:t>Nov 12</a:t>
                      </a:r>
                    </a:p>
                  </a:txBody>
                  <a:tcPr marL="7551" marR="7551" marT="7551" anchor="ctr">
                    <a:lnL w="10077">
                      <a:solidFill>
                        <a:srgbClr val="FFFFFF"/>
                      </a:solidFill>
                    </a:lnL>
                    <a:lnR w="10077">
                      <a:solidFill>
                        <a:srgbClr val="FFFFFF"/>
                      </a:solidFill>
                    </a:lnR>
                    <a:lnT w="10077">
                      <a:solidFill>
                        <a:srgbClr val="FFFFFF"/>
                      </a:solidFill>
                    </a:lnT>
                    <a:lnB w="10077">
                      <a:solidFill>
                        <a:srgbClr val="FFFFFF"/>
                      </a:solidFill>
                    </a:lnB>
                    <a:solidFill>
                      <a:srgbClr val="E7EAED"/>
                    </a:solidFill>
                  </a:tcPr>
                </a:tc>
                <a:extLst>
                  <a:ext uri="{0D108BD9-81ED-4DB2-BD59-A6C34878D82A}">
                    <a16:rowId xmlns:a16="http://schemas.microsoft.com/office/drawing/2014/main" val="2477527898"/>
                  </a:ext>
                </a:extLst>
              </a:tr>
              <a:tr h="753037">
                <a:tc>
                  <a:txBody>
                    <a:bodyPr/>
                    <a:lstStyle/>
                    <a:p>
                      <a:pPr rtl="0" fontAlgn="base">
                        <a:lnSpc>
                          <a:spcPts val="1350"/>
                        </a:lnSpc>
                        <a:buNone/>
                      </a:pPr>
                      <a:r>
                        <a:rPr lang="en-US" sz="1400">
                          <a:effectLst/>
                          <a:latin typeface="Calibri"/>
                        </a:rPr>
                        <a:t>US_10</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an admin, I want to manage system roles so that access controls are enforced.</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CCD2D8"/>
                    </a:solidFill>
                  </a:tcPr>
                </a:tc>
                <a:tc>
                  <a:txBody>
                    <a:bodyPr/>
                    <a:lstStyle/>
                    <a:p>
                      <a:pPr lvl="0" algn="ctr">
                        <a:lnSpc>
                          <a:spcPts val="1350"/>
                        </a:lnSpc>
                        <a:buNone/>
                      </a:pPr>
                      <a:r>
                        <a:rPr lang="en-US" sz="1400">
                          <a:effectLst/>
                          <a:latin typeface="Calibri"/>
                        </a:rPr>
                        <a:t>_</a:t>
                      </a:r>
                    </a:p>
                  </a:txBody>
                  <a:tcPr marL="7551" marR="7551" marT="7551" anchor="ctr">
                    <a:lnL w="10077">
                      <a:solidFill>
                        <a:srgbClr val="FFFFFF"/>
                      </a:solidFill>
                    </a:lnL>
                    <a:lnR w="10077">
                      <a:solidFill>
                        <a:srgbClr val="FFFFFF"/>
                      </a:solidFill>
                    </a:lnR>
                    <a:lnT w="10077">
                      <a:solidFill>
                        <a:srgbClr val="FFFFFF"/>
                      </a:solidFill>
                    </a:lnT>
                    <a:lnB w="10077">
                      <a:solidFill>
                        <a:srgbClr val="FFFFFF"/>
                      </a:solidFill>
                    </a:lnB>
                    <a:solidFill>
                      <a:srgbClr val="CCD2D8"/>
                    </a:solidFill>
                  </a:tcPr>
                </a:tc>
                <a:extLst>
                  <a:ext uri="{0D108BD9-81ED-4DB2-BD59-A6C34878D82A}">
                    <a16:rowId xmlns:a16="http://schemas.microsoft.com/office/drawing/2014/main" val="2174144502"/>
                  </a:ext>
                </a:extLst>
              </a:tr>
            </a:tbl>
          </a:graphicData>
        </a:graphic>
      </p:graphicFrame>
    </p:spTree>
    <p:extLst>
      <p:ext uri="{BB962C8B-B14F-4D97-AF65-F5344CB8AC3E}">
        <p14:creationId xmlns:p14="http://schemas.microsoft.com/office/powerpoint/2010/main" val="1849057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053DA-0550-410D-D496-0F5F6B792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14364-4AF7-0735-065A-B78A8AF9191E}"/>
              </a:ext>
            </a:extLst>
          </p:cNvPr>
          <p:cNvSpPr>
            <a:spLocks noGrp="1"/>
          </p:cNvSpPr>
          <p:nvPr>
            <p:ph type="title"/>
          </p:nvPr>
        </p:nvSpPr>
        <p:spPr>
          <a:xfrm>
            <a:off x="24343" y="893"/>
            <a:ext cx="12128591" cy="1325563"/>
          </a:xfrm>
        </p:spPr>
        <p:txBody>
          <a:bodyPr/>
          <a:lstStyle/>
          <a:p>
            <a:r>
              <a:rPr lang="en-US" sz="3800" b="1">
                <a:latin typeface="Aptos Display"/>
              </a:rPr>
              <a:t>Sprint-2 </a:t>
            </a:r>
            <a:r>
              <a:rPr lang="en-US" sz="3800" b="1" err="1">
                <a:latin typeface="Aptos Display"/>
              </a:rPr>
              <a:t>Summary:Stories</a:t>
            </a:r>
            <a:r>
              <a:rPr lang="en-US" sz="3800" b="1">
                <a:latin typeface="Aptos Display"/>
              </a:rPr>
              <a:t> Completed And Not Completed</a:t>
            </a:r>
          </a:p>
        </p:txBody>
      </p:sp>
      <p:graphicFrame>
        <p:nvGraphicFramePr>
          <p:cNvPr id="7" name="Table 6">
            <a:extLst>
              <a:ext uri="{FF2B5EF4-FFF2-40B4-BE49-F238E27FC236}">
                <a16:creationId xmlns:a16="http://schemas.microsoft.com/office/drawing/2014/main" id="{885AC7AC-2BC5-442D-4730-870CFE7AF4C3}"/>
              </a:ext>
            </a:extLst>
          </p:cNvPr>
          <p:cNvGraphicFramePr>
            <a:graphicFrameLocks noGrp="1"/>
          </p:cNvGraphicFramePr>
          <p:nvPr/>
        </p:nvGraphicFramePr>
        <p:xfrm>
          <a:off x="90437" y="2024114"/>
          <a:ext cx="12002929" cy="3599994"/>
        </p:xfrm>
        <a:graphic>
          <a:graphicData uri="http://schemas.openxmlformats.org/drawingml/2006/table">
            <a:tbl>
              <a:tblPr bandRow="1">
                <a:tableStyleId>{5C22544A-7EE6-4342-B048-85BDC9FD1C3A}</a:tableStyleId>
              </a:tblPr>
              <a:tblGrid>
                <a:gridCol w="1260000">
                  <a:extLst>
                    <a:ext uri="{9D8B030D-6E8A-4147-A177-3AD203B41FA5}">
                      <a16:colId xmlns:a16="http://schemas.microsoft.com/office/drawing/2014/main" val="694733962"/>
                    </a:ext>
                  </a:extLst>
                </a:gridCol>
                <a:gridCol w="4176812">
                  <a:extLst>
                    <a:ext uri="{9D8B030D-6E8A-4147-A177-3AD203B41FA5}">
                      <a16:colId xmlns:a16="http://schemas.microsoft.com/office/drawing/2014/main" val="1142781901"/>
                    </a:ext>
                  </a:extLst>
                </a:gridCol>
                <a:gridCol w="2171998">
                  <a:extLst>
                    <a:ext uri="{9D8B030D-6E8A-4147-A177-3AD203B41FA5}">
                      <a16:colId xmlns:a16="http://schemas.microsoft.com/office/drawing/2014/main" val="2575816368"/>
                    </a:ext>
                  </a:extLst>
                </a:gridCol>
                <a:gridCol w="2220000">
                  <a:extLst>
                    <a:ext uri="{9D8B030D-6E8A-4147-A177-3AD203B41FA5}">
                      <a16:colId xmlns:a16="http://schemas.microsoft.com/office/drawing/2014/main" val="2616169518"/>
                    </a:ext>
                  </a:extLst>
                </a:gridCol>
                <a:gridCol w="2174119">
                  <a:extLst>
                    <a:ext uri="{9D8B030D-6E8A-4147-A177-3AD203B41FA5}">
                      <a16:colId xmlns:a16="http://schemas.microsoft.com/office/drawing/2014/main" val="4165658920"/>
                    </a:ext>
                  </a:extLst>
                </a:gridCol>
              </a:tblGrid>
              <a:tr h="1199998">
                <a:tc>
                  <a:txBody>
                    <a:bodyPr/>
                    <a:lstStyle/>
                    <a:p>
                      <a:pPr rtl="0" fontAlgn="base">
                        <a:lnSpc>
                          <a:spcPts val="1350"/>
                        </a:lnSpc>
                        <a:buNone/>
                      </a:pPr>
                      <a:r>
                        <a:rPr lang="en-US" sz="1400">
                          <a:effectLst/>
                          <a:latin typeface="Calibri"/>
                        </a:rPr>
                        <a:t>US_12</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a user, I want to file a dispute for fraudulent charges so the bank can take action.</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30241">
                      <a:solidFill>
                        <a:srgbClr val="FFFFFF"/>
                      </a:solidFill>
                    </a:lnT>
                    <a:lnB w="10077">
                      <a:solidFill>
                        <a:srgbClr val="FFFFFF"/>
                      </a:solidFill>
                    </a:lnB>
                    <a:solidFill>
                      <a:srgbClr val="CCD2D8"/>
                    </a:solidFill>
                  </a:tcPr>
                </a:tc>
                <a:tc>
                  <a:txBody>
                    <a:bodyPr/>
                    <a:lstStyle/>
                    <a:p>
                      <a:pPr lvl="0" algn="ctr">
                        <a:lnSpc>
                          <a:spcPts val="1350"/>
                        </a:lnSpc>
                        <a:buNone/>
                      </a:pPr>
                      <a:r>
                        <a:rPr lang="en-US" sz="1400">
                          <a:effectLst/>
                          <a:latin typeface="Calibri"/>
                        </a:rPr>
                        <a:t>-</a:t>
                      </a:r>
                    </a:p>
                  </a:txBody>
                  <a:tcPr marL="7551" marR="7551" marT="7551" anchor="ctr">
                    <a:lnL w="10077">
                      <a:solidFill>
                        <a:srgbClr val="FFFFFF"/>
                      </a:solidFill>
                    </a:lnL>
                    <a:lnR w="10077">
                      <a:solidFill>
                        <a:srgbClr val="FFFFFF"/>
                      </a:solidFill>
                    </a:lnR>
                    <a:lnT w="30240">
                      <a:solidFill>
                        <a:srgbClr val="FFFFFF"/>
                      </a:solidFill>
                    </a:lnT>
                    <a:lnB w="10077">
                      <a:solidFill>
                        <a:srgbClr val="FFFFFF"/>
                      </a:solidFill>
                    </a:lnB>
                    <a:solidFill>
                      <a:srgbClr val="CCD2D8"/>
                    </a:solidFill>
                  </a:tcPr>
                </a:tc>
                <a:extLst>
                  <a:ext uri="{0D108BD9-81ED-4DB2-BD59-A6C34878D82A}">
                    <a16:rowId xmlns:a16="http://schemas.microsoft.com/office/drawing/2014/main" val="2188963083"/>
                  </a:ext>
                </a:extLst>
              </a:tr>
              <a:tr h="1199998">
                <a:tc>
                  <a:txBody>
                    <a:bodyPr/>
                    <a:lstStyle/>
                    <a:p>
                      <a:pPr rtl="0" fontAlgn="base">
                        <a:lnSpc>
                          <a:spcPts val="1350"/>
                        </a:lnSpc>
                        <a:buNone/>
                      </a:pPr>
                      <a:r>
                        <a:rPr lang="en-US" sz="1400">
                          <a:effectLst/>
                          <a:latin typeface="Calibri"/>
                        </a:rPr>
                        <a:t>US_13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rtl="0" fontAlgn="base">
                        <a:lnSpc>
                          <a:spcPts val="1350"/>
                        </a:lnSpc>
                        <a:buNone/>
                      </a:pPr>
                      <a:r>
                        <a:rPr lang="en-US" sz="1400">
                          <a:effectLst/>
                          <a:latin typeface="Calibri"/>
                        </a:rPr>
                        <a:t>As the system, I want to maintain audit logs so that all actions related to fraud can be reviewed.</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ctr" rtl="0" fontAlgn="base">
                        <a:lnSpc>
                          <a:spcPts val="1350"/>
                        </a:lnSpc>
                        <a:buNone/>
                      </a:pPr>
                      <a:r>
                        <a:rPr lang="en-US" sz="1400">
                          <a:effectLst/>
                          <a:latin typeface="Calibri"/>
                        </a:rPr>
                        <a:t>2</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E7EAED"/>
                    </a:solidFill>
                  </a:tcPr>
                </a:tc>
                <a:tc>
                  <a:txBody>
                    <a:bodyPr/>
                    <a:lstStyle/>
                    <a:p>
                      <a:pPr lvl="0" algn="ctr">
                        <a:lnSpc>
                          <a:spcPts val="1350"/>
                        </a:lnSpc>
                        <a:buNone/>
                      </a:pPr>
                      <a:r>
                        <a:rPr lang="en-US" sz="1400">
                          <a:effectLst/>
                          <a:latin typeface="Calibri"/>
                        </a:rPr>
                        <a:t>-</a:t>
                      </a:r>
                    </a:p>
                  </a:txBody>
                  <a:tcPr marL="7551" marR="7551" marT="7551" anchor="ctr">
                    <a:lnL w="10077">
                      <a:solidFill>
                        <a:srgbClr val="FFFFFF"/>
                      </a:solidFill>
                    </a:lnL>
                    <a:lnR w="10077">
                      <a:solidFill>
                        <a:srgbClr val="FFFFFF"/>
                      </a:solidFill>
                    </a:lnR>
                    <a:lnT w="10077">
                      <a:solidFill>
                        <a:srgbClr val="FFFFFF"/>
                      </a:solidFill>
                    </a:lnT>
                    <a:lnB w="10077">
                      <a:solidFill>
                        <a:srgbClr val="FFFFFF"/>
                      </a:solidFill>
                    </a:lnB>
                    <a:solidFill>
                      <a:srgbClr val="E7EAED"/>
                    </a:solidFill>
                  </a:tcPr>
                </a:tc>
                <a:extLst>
                  <a:ext uri="{0D108BD9-81ED-4DB2-BD59-A6C34878D82A}">
                    <a16:rowId xmlns:a16="http://schemas.microsoft.com/office/drawing/2014/main" val="3343777677"/>
                  </a:ext>
                </a:extLst>
              </a:tr>
              <a:tr h="1199998">
                <a:tc>
                  <a:txBody>
                    <a:bodyPr/>
                    <a:lstStyle/>
                    <a:p>
                      <a:pPr rtl="0" fontAlgn="base">
                        <a:lnSpc>
                          <a:spcPts val="1350"/>
                        </a:lnSpc>
                        <a:buNone/>
                      </a:pPr>
                      <a:r>
                        <a:rPr lang="en-US" sz="1400">
                          <a:effectLst/>
                          <a:latin typeface="Calibri"/>
                        </a:rPr>
                        <a:t>US_14</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a user, I want to enable/disable fraud notifications so I have control over alerts.</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2</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CCD2D8"/>
                    </a:solidFill>
                  </a:tcPr>
                </a:tc>
                <a:tc>
                  <a:txBody>
                    <a:bodyPr/>
                    <a:lstStyle/>
                    <a:p>
                      <a:pPr lvl="0" algn="ctr">
                        <a:lnSpc>
                          <a:spcPts val="1350"/>
                        </a:lnSpc>
                        <a:buNone/>
                      </a:pPr>
                      <a:r>
                        <a:rPr lang="en-US" sz="1400">
                          <a:effectLst/>
                          <a:latin typeface="Calibri"/>
                        </a:rPr>
                        <a:t>-</a:t>
                      </a:r>
                    </a:p>
                  </a:txBody>
                  <a:tcPr marL="7551" marR="7551" marT="7551" anchor="ctr">
                    <a:lnL w="10077">
                      <a:solidFill>
                        <a:srgbClr val="FFFFFF"/>
                      </a:solidFill>
                    </a:lnL>
                    <a:lnR w="10077">
                      <a:solidFill>
                        <a:srgbClr val="FFFFFF"/>
                      </a:solidFill>
                    </a:lnR>
                    <a:lnT w="10077">
                      <a:solidFill>
                        <a:srgbClr val="FFFFFF"/>
                      </a:solidFill>
                    </a:lnT>
                    <a:lnB w="10077">
                      <a:solidFill>
                        <a:srgbClr val="FFFFFF"/>
                      </a:solidFill>
                    </a:lnB>
                    <a:solidFill>
                      <a:srgbClr val="CCD2D8"/>
                    </a:solidFill>
                  </a:tcPr>
                </a:tc>
                <a:extLst>
                  <a:ext uri="{0D108BD9-81ED-4DB2-BD59-A6C34878D82A}">
                    <a16:rowId xmlns:a16="http://schemas.microsoft.com/office/drawing/2014/main" val="155347773"/>
                  </a:ext>
                </a:extLst>
              </a:tr>
            </a:tbl>
          </a:graphicData>
        </a:graphic>
      </p:graphicFrame>
      <p:graphicFrame>
        <p:nvGraphicFramePr>
          <p:cNvPr id="9" name="Table 8">
            <a:extLst>
              <a:ext uri="{FF2B5EF4-FFF2-40B4-BE49-F238E27FC236}">
                <a16:creationId xmlns:a16="http://schemas.microsoft.com/office/drawing/2014/main" id="{684CD8D9-473E-25CE-355D-89D5875A6DDE}"/>
              </a:ext>
            </a:extLst>
          </p:cNvPr>
          <p:cNvGraphicFramePr>
            <a:graphicFrameLocks noGrp="1"/>
          </p:cNvGraphicFramePr>
          <p:nvPr/>
        </p:nvGraphicFramePr>
        <p:xfrm>
          <a:off x="87344" y="1135945"/>
          <a:ext cx="12017311" cy="888997"/>
        </p:xfrm>
        <a:graphic>
          <a:graphicData uri="http://schemas.openxmlformats.org/drawingml/2006/table">
            <a:tbl>
              <a:tblPr bandRow="1">
                <a:tableStyleId>{5C22544A-7EE6-4342-B048-85BDC9FD1C3A}</a:tableStyleId>
              </a:tblPr>
              <a:tblGrid>
                <a:gridCol w="1243794">
                  <a:extLst>
                    <a:ext uri="{9D8B030D-6E8A-4147-A177-3AD203B41FA5}">
                      <a16:colId xmlns:a16="http://schemas.microsoft.com/office/drawing/2014/main" val="3619701278"/>
                    </a:ext>
                  </a:extLst>
                </a:gridCol>
                <a:gridCol w="4144975">
                  <a:extLst>
                    <a:ext uri="{9D8B030D-6E8A-4147-A177-3AD203B41FA5}">
                      <a16:colId xmlns:a16="http://schemas.microsoft.com/office/drawing/2014/main" val="3687698885"/>
                    </a:ext>
                  </a:extLst>
                </a:gridCol>
                <a:gridCol w="2209514">
                  <a:extLst>
                    <a:ext uri="{9D8B030D-6E8A-4147-A177-3AD203B41FA5}">
                      <a16:colId xmlns:a16="http://schemas.microsoft.com/office/drawing/2014/main" val="3281985301"/>
                    </a:ext>
                  </a:extLst>
                </a:gridCol>
                <a:gridCol w="2209514">
                  <a:extLst>
                    <a:ext uri="{9D8B030D-6E8A-4147-A177-3AD203B41FA5}">
                      <a16:colId xmlns:a16="http://schemas.microsoft.com/office/drawing/2014/main" val="2777516335"/>
                    </a:ext>
                  </a:extLst>
                </a:gridCol>
                <a:gridCol w="2209514">
                  <a:extLst>
                    <a:ext uri="{9D8B030D-6E8A-4147-A177-3AD203B41FA5}">
                      <a16:colId xmlns:a16="http://schemas.microsoft.com/office/drawing/2014/main" val="2315140396"/>
                    </a:ext>
                  </a:extLst>
                </a:gridCol>
              </a:tblGrid>
              <a:tr h="888997">
                <a:tc>
                  <a:txBody>
                    <a:bodyPr/>
                    <a:lstStyle/>
                    <a:p>
                      <a:pPr algn="ctr" rtl="0" fontAlgn="base">
                        <a:lnSpc>
                          <a:spcPts val="1200"/>
                        </a:lnSpc>
                        <a:buNone/>
                      </a:pPr>
                      <a:r>
                        <a:rPr lang="en-US" sz="1500" b="1">
                          <a:solidFill>
                            <a:srgbClr val="FFFFFF"/>
                          </a:solidFill>
                          <a:effectLst/>
                          <a:latin typeface="Calibri"/>
                        </a:rPr>
                        <a:t>S.NO</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User Story</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Story Points</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Completed</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Date Completed</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2213173454"/>
                  </a:ext>
                </a:extLst>
              </a:tr>
            </a:tbl>
          </a:graphicData>
        </a:graphic>
      </p:graphicFrame>
    </p:spTree>
    <p:extLst>
      <p:ext uri="{BB962C8B-B14F-4D97-AF65-F5344CB8AC3E}">
        <p14:creationId xmlns:p14="http://schemas.microsoft.com/office/powerpoint/2010/main" val="281821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D07DBF-38C7-57B0-2E8B-AC27ABD62D93}"/>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b="1" kern="1200">
                <a:solidFill>
                  <a:schemeClr val="bg1"/>
                </a:solidFill>
                <a:latin typeface="+mj-lt"/>
                <a:ea typeface="+mj-ea"/>
                <a:cs typeface="+mj-cs"/>
              </a:rPr>
              <a:t>Sprint-3  Product  Backlog</a:t>
            </a:r>
          </a:p>
        </p:txBody>
      </p:sp>
      <p:sp>
        <p:nvSpPr>
          <p:cNvPr id="5" name="TextBox 4">
            <a:extLst>
              <a:ext uri="{FF2B5EF4-FFF2-40B4-BE49-F238E27FC236}">
                <a16:creationId xmlns:a16="http://schemas.microsoft.com/office/drawing/2014/main" id="{02101EB3-FED6-3E04-2D12-2DF26A7E4F25}"/>
              </a:ext>
            </a:extLst>
          </p:cNvPr>
          <p:cNvSpPr txBox="1"/>
          <p:nvPr/>
        </p:nvSpPr>
        <p:spPr>
          <a:xfrm>
            <a:off x="8572499" y="390832"/>
            <a:ext cx="3233585" cy="873612"/>
          </a:xfrm>
          <a:prstGeom prst="rect">
            <a:avLst/>
          </a:prstGeom>
        </p:spPr>
        <p:txBody>
          <a:bodyPr vert="horz" lIns="91440" tIns="45720" rIns="91440" bIns="45720" rtlCol="0" anchor="ctr">
            <a:normAutofit/>
          </a:bodyPr>
          <a:lstStyle/>
          <a:p>
            <a:pPr>
              <a:lnSpc>
                <a:spcPct val="90000"/>
              </a:lnSpc>
              <a:spcBef>
                <a:spcPts val="1000"/>
              </a:spcBef>
            </a:pPr>
            <a:endParaRPr lang="en-US" sz="2000" b="1" kern="1200">
              <a:solidFill>
                <a:srgbClr val="FFFFFF"/>
              </a:solidFill>
              <a:latin typeface="+mn-lt"/>
              <a:ea typeface="+mn-ea"/>
              <a:cs typeface="+mn-cs"/>
            </a:endParaRPr>
          </a:p>
        </p:txBody>
      </p:sp>
      <p:graphicFrame>
        <p:nvGraphicFramePr>
          <p:cNvPr id="3" name="Table 2">
            <a:extLst>
              <a:ext uri="{FF2B5EF4-FFF2-40B4-BE49-F238E27FC236}">
                <a16:creationId xmlns:a16="http://schemas.microsoft.com/office/drawing/2014/main" id="{0CE4335A-CAB5-19B2-F65F-63124284E0DC}"/>
              </a:ext>
            </a:extLst>
          </p:cNvPr>
          <p:cNvGraphicFramePr>
            <a:graphicFrameLocks noGrp="1"/>
          </p:cNvGraphicFramePr>
          <p:nvPr>
            <p:extLst>
              <p:ext uri="{D42A27DB-BD31-4B8C-83A1-F6EECF244321}">
                <p14:modId xmlns:p14="http://schemas.microsoft.com/office/powerpoint/2010/main" val="3843012860"/>
              </p:ext>
            </p:extLst>
          </p:nvPr>
        </p:nvGraphicFramePr>
        <p:xfrm>
          <a:off x="230459" y="1662083"/>
          <a:ext cx="11731082" cy="4941804"/>
        </p:xfrm>
        <a:graphic>
          <a:graphicData uri="http://schemas.openxmlformats.org/drawingml/2006/table">
            <a:tbl>
              <a:tblPr firstRow="1" bandRow="1">
                <a:tableStyleId>{5C22544A-7EE6-4342-B048-85BDC9FD1C3A}</a:tableStyleId>
              </a:tblPr>
              <a:tblGrid>
                <a:gridCol w="783372">
                  <a:extLst>
                    <a:ext uri="{9D8B030D-6E8A-4147-A177-3AD203B41FA5}">
                      <a16:colId xmlns:a16="http://schemas.microsoft.com/office/drawing/2014/main" val="2464638804"/>
                    </a:ext>
                  </a:extLst>
                </a:gridCol>
                <a:gridCol w="5278251">
                  <a:extLst>
                    <a:ext uri="{9D8B030D-6E8A-4147-A177-3AD203B41FA5}">
                      <a16:colId xmlns:a16="http://schemas.microsoft.com/office/drawing/2014/main" val="2729374138"/>
                    </a:ext>
                  </a:extLst>
                </a:gridCol>
                <a:gridCol w="4907852">
                  <a:extLst>
                    <a:ext uri="{9D8B030D-6E8A-4147-A177-3AD203B41FA5}">
                      <a16:colId xmlns:a16="http://schemas.microsoft.com/office/drawing/2014/main" val="3248680779"/>
                    </a:ext>
                  </a:extLst>
                </a:gridCol>
                <a:gridCol w="761607">
                  <a:extLst>
                    <a:ext uri="{9D8B030D-6E8A-4147-A177-3AD203B41FA5}">
                      <a16:colId xmlns:a16="http://schemas.microsoft.com/office/drawing/2014/main" val="1810283987"/>
                    </a:ext>
                  </a:extLst>
                </a:gridCol>
              </a:tblGrid>
              <a:tr h="669634">
                <a:tc>
                  <a:txBody>
                    <a:bodyPr/>
                    <a:lstStyle/>
                    <a:p>
                      <a:pPr algn="ctr" fontAlgn="t">
                        <a:lnSpc>
                          <a:spcPct val="100000"/>
                        </a:lnSpc>
                      </a:pPr>
                      <a:r>
                        <a:rPr lang="en-US" sz="1700" u="none" strike="noStrike">
                          <a:effectLst/>
                          <a:latin typeface="Calibri"/>
                        </a:rPr>
                        <a:t>S.NO</a:t>
                      </a:r>
                      <a:endParaRPr lang="en-US" sz="1700" b="1" i="0" u="none" strike="noStrike">
                        <a:solidFill>
                          <a:srgbClr val="000000"/>
                        </a:solidFill>
                        <a:effectLst/>
                        <a:latin typeface="Calibri"/>
                      </a:endParaRPr>
                    </a:p>
                  </a:txBody>
                  <a:tcPr marL="10789" marR="10789" marT="10789" marB="0"/>
                </a:tc>
                <a:tc>
                  <a:txBody>
                    <a:bodyPr/>
                    <a:lstStyle/>
                    <a:p>
                      <a:pPr algn="ctr" fontAlgn="t">
                        <a:lnSpc>
                          <a:spcPct val="100000"/>
                        </a:lnSpc>
                      </a:pPr>
                      <a:r>
                        <a:rPr lang="en-US" sz="1700" u="none" strike="noStrike">
                          <a:effectLst/>
                          <a:latin typeface="Calibri"/>
                        </a:rPr>
                        <a:t>User Story</a:t>
                      </a:r>
                      <a:endParaRPr lang="en-US" sz="1700" b="1" i="0" u="none" strike="noStrike">
                        <a:solidFill>
                          <a:srgbClr val="000000"/>
                        </a:solidFill>
                        <a:effectLst/>
                        <a:latin typeface="Calibri"/>
                      </a:endParaRPr>
                    </a:p>
                  </a:txBody>
                  <a:tcPr marL="10789" marR="10789" marT="10789" marB="0"/>
                </a:tc>
                <a:tc>
                  <a:txBody>
                    <a:bodyPr/>
                    <a:lstStyle/>
                    <a:p>
                      <a:pPr algn="ctr" fontAlgn="t">
                        <a:lnSpc>
                          <a:spcPct val="100000"/>
                        </a:lnSpc>
                      </a:pPr>
                      <a:r>
                        <a:rPr lang="en-US" sz="1700" u="none" strike="noStrike">
                          <a:effectLst/>
                          <a:latin typeface="Calibri"/>
                        </a:rPr>
                        <a:t>Acceptance Criteria</a:t>
                      </a:r>
                      <a:endParaRPr lang="en-US" sz="1700" b="1" i="0" u="none" strike="noStrike">
                        <a:solidFill>
                          <a:srgbClr val="000000"/>
                        </a:solidFill>
                        <a:effectLst/>
                        <a:latin typeface="Calibri"/>
                      </a:endParaRPr>
                    </a:p>
                  </a:txBody>
                  <a:tcPr marL="10789" marR="10789" marT="10789" marB="0"/>
                </a:tc>
                <a:tc>
                  <a:txBody>
                    <a:bodyPr/>
                    <a:lstStyle/>
                    <a:p>
                      <a:pPr algn="ctr" fontAlgn="t">
                        <a:lnSpc>
                          <a:spcPct val="100000"/>
                        </a:lnSpc>
                      </a:pPr>
                      <a:r>
                        <a:rPr lang="en-US" sz="1700" u="none" strike="noStrike">
                          <a:effectLst/>
                          <a:latin typeface="Calibri"/>
                        </a:rPr>
                        <a:t>Story Points</a:t>
                      </a:r>
                      <a:endParaRPr lang="en-US" sz="1700" b="1" i="0" u="none" strike="noStrike">
                        <a:solidFill>
                          <a:srgbClr val="000000"/>
                        </a:solidFill>
                        <a:effectLst/>
                        <a:latin typeface="Calibri"/>
                      </a:endParaRPr>
                    </a:p>
                  </a:txBody>
                  <a:tcPr marL="10789" marR="10789" marT="10789" marB="0"/>
                </a:tc>
                <a:extLst>
                  <a:ext uri="{0D108BD9-81ED-4DB2-BD59-A6C34878D82A}">
                    <a16:rowId xmlns:a16="http://schemas.microsoft.com/office/drawing/2014/main" val="177380489"/>
                  </a:ext>
                </a:extLst>
              </a:tr>
              <a:tr h="977634">
                <a:tc>
                  <a:txBody>
                    <a:bodyPr/>
                    <a:lstStyle/>
                    <a:p>
                      <a:pPr algn="ctr" fontAlgn="b"/>
                      <a:r>
                        <a:rPr lang="en-US" sz="1700" u="none" strike="noStrike">
                          <a:effectLst/>
                          <a:latin typeface="Calibri"/>
                        </a:rPr>
                        <a:t>US_01</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As a Registered user, I want to securely register and log in so that my financial data remains protected.</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User can sign up, log in, and authentication is validated using encrypted credentials and session tokens.</a:t>
                      </a:r>
                      <a:endParaRPr lang="en-US" sz="1700" b="0" i="0" u="none" strike="noStrike">
                        <a:solidFill>
                          <a:srgbClr val="000000"/>
                        </a:solidFill>
                        <a:effectLst/>
                        <a:latin typeface="Calibri"/>
                      </a:endParaRPr>
                    </a:p>
                  </a:txBody>
                  <a:tcPr marL="10789" marR="10789" marT="10789" marB="0" anchor="ctr"/>
                </a:tc>
                <a:tc>
                  <a:txBody>
                    <a:bodyPr/>
                    <a:lstStyle/>
                    <a:p>
                      <a:pPr algn="ctr" fontAlgn="b"/>
                      <a:endParaRPr lang="en-US" sz="1700" u="none" strike="noStrike">
                        <a:effectLst/>
                        <a:latin typeface="Calibri"/>
                      </a:endParaRPr>
                    </a:p>
                    <a:p>
                      <a:pPr algn="ctr" fontAlgn="b"/>
                      <a:r>
                        <a:rPr lang="en-US" sz="1700" u="none" strike="noStrike">
                          <a:effectLst/>
                          <a:latin typeface="Calibri"/>
                        </a:rPr>
                        <a:t>5</a:t>
                      </a:r>
                      <a:endParaRPr lang="en-US" sz="1700" b="0" i="0" u="none" strike="noStrike">
                        <a:solidFill>
                          <a:srgbClr val="000000"/>
                        </a:solidFill>
                        <a:effectLst/>
                        <a:latin typeface="Calibri"/>
                      </a:endParaRPr>
                    </a:p>
                  </a:txBody>
                  <a:tcPr marL="10789" marR="10789" marT="10789" marB="0"/>
                </a:tc>
                <a:extLst>
                  <a:ext uri="{0D108BD9-81ED-4DB2-BD59-A6C34878D82A}">
                    <a16:rowId xmlns:a16="http://schemas.microsoft.com/office/drawing/2014/main" val="1868524462"/>
                  </a:ext>
                </a:extLst>
              </a:tr>
              <a:tr h="669634">
                <a:tc>
                  <a:txBody>
                    <a:bodyPr/>
                    <a:lstStyle/>
                    <a:p>
                      <a:pPr algn="ctr" fontAlgn="b"/>
                      <a:r>
                        <a:rPr lang="en-US" sz="1700" u="none" strike="noStrike">
                          <a:effectLst/>
                          <a:latin typeface="Calibri"/>
                        </a:rPr>
                        <a:t>US_02</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As System user, I want to link my credit card so that the system can analyze transactions for fraud.</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User can add, validate, and save encrypted card details.</a:t>
                      </a:r>
                      <a:endParaRPr lang="en-US" sz="1700" b="0" i="0" u="none" strike="noStrike">
                        <a:solidFill>
                          <a:srgbClr val="000000"/>
                        </a:solidFill>
                        <a:effectLst/>
                        <a:latin typeface="Calibri"/>
                      </a:endParaRPr>
                    </a:p>
                  </a:txBody>
                  <a:tcPr marL="10789" marR="10789" marT="10789" marB="0" anchor="ctr"/>
                </a:tc>
                <a:tc>
                  <a:txBody>
                    <a:bodyPr/>
                    <a:lstStyle/>
                    <a:p>
                      <a:pPr algn="ctr" fontAlgn="b"/>
                      <a:r>
                        <a:rPr lang="en-US" sz="1700" u="none" strike="noStrike">
                          <a:effectLst/>
                          <a:latin typeface="Calibri"/>
                        </a:rPr>
                        <a:t>5</a:t>
                      </a:r>
                      <a:endParaRPr lang="en-US" sz="1700" b="0" i="0" u="none" strike="noStrike">
                        <a:solidFill>
                          <a:srgbClr val="000000"/>
                        </a:solidFill>
                        <a:effectLst/>
                        <a:latin typeface="Calibri"/>
                      </a:endParaRPr>
                    </a:p>
                  </a:txBody>
                  <a:tcPr marL="10789" marR="10789" marT="10789" marB="0"/>
                </a:tc>
                <a:extLst>
                  <a:ext uri="{0D108BD9-81ED-4DB2-BD59-A6C34878D82A}">
                    <a16:rowId xmlns:a16="http://schemas.microsoft.com/office/drawing/2014/main" val="3170538320"/>
                  </a:ext>
                </a:extLst>
              </a:tr>
              <a:tr h="977634">
                <a:tc>
                  <a:txBody>
                    <a:bodyPr/>
                    <a:lstStyle/>
                    <a:p>
                      <a:pPr algn="ctr" fontAlgn="b"/>
                      <a:r>
                        <a:rPr lang="en-US" sz="1700" u="none" strike="noStrike">
                          <a:effectLst/>
                          <a:latin typeface="Calibri"/>
                        </a:rPr>
                        <a:t>US_03</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As a developer, I want to ingest real-time transactions so that fraud detection happens instantly.</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System successfully receives, validates, and stores transaction streams in the database.</a:t>
                      </a:r>
                      <a:endParaRPr lang="en-US" sz="1700" b="0" i="0" u="none" strike="noStrike">
                        <a:solidFill>
                          <a:srgbClr val="000000"/>
                        </a:solidFill>
                        <a:effectLst/>
                        <a:latin typeface="Calibri"/>
                      </a:endParaRPr>
                    </a:p>
                  </a:txBody>
                  <a:tcPr marL="10789" marR="10789" marT="10789" marB="0" anchor="ctr"/>
                </a:tc>
                <a:tc>
                  <a:txBody>
                    <a:bodyPr/>
                    <a:lstStyle/>
                    <a:p>
                      <a:pPr algn="ctr" fontAlgn="b"/>
                      <a:endParaRPr lang="en-US" sz="1700" u="none" strike="noStrike">
                        <a:effectLst/>
                        <a:latin typeface="Calibri"/>
                      </a:endParaRPr>
                    </a:p>
                    <a:p>
                      <a:pPr algn="ctr" fontAlgn="b"/>
                      <a:r>
                        <a:rPr lang="en-US" sz="1700" u="none" strike="noStrike">
                          <a:effectLst/>
                          <a:latin typeface="Calibri"/>
                        </a:rPr>
                        <a:t>8</a:t>
                      </a:r>
                      <a:endParaRPr lang="en-US" sz="1700" b="0" i="0" u="none" strike="noStrike">
                        <a:solidFill>
                          <a:srgbClr val="000000"/>
                        </a:solidFill>
                        <a:effectLst/>
                        <a:latin typeface="Calibri"/>
                      </a:endParaRPr>
                    </a:p>
                  </a:txBody>
                  <a:tcPr marL="10789" marR="10789" marT="10789" marB="0"/>
                </a:tc>
                <a:extLst>
                  <a:ext uri="{0D108BD9-81ED-4DB2-BD59-A6C34878D82A}">
                    <a16:rowId xmlns:a16="http://schemas.microsoft.com/office/drawing/2014/main" val="3400458735"/>
                  </a:ext>
                </a:extLst>
              </a:tr>
              <a:tr h="669634">
                <a:tc>
                  <a:txBody>
                    <a:bodyPr/>
                    <a:lstStyle/>
                    <a:p>
                      <a:pPr algn="ctr" fontAlgn="b"/>
                      <a:r>
                        <a:rPr lang="en-US" sz="1700" u="none" strike="noStrike">
                          <a:effectLst/>
                          <a:latin typeface="Calibri"/>
                        </a:rPr>
                        <a:t>US_04</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As a fraud analyst, I want to review risky transactions so that I can quickly take action.</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Analysts can view flagged transactions with risk scores and transaction details.</a:t>
                      </a:r>
                      <a:endParaRPr lang="en-US" sz="1700" b="0" i="0" u="none" strike="noStrike">
                        <a:solidFill>
                          <a:srgbClr val="000000"/>
                        </a:solidFill>
                        <a:effectLst/>
                        <a:latin typeface="Calibri"/>
                      </a:endParaRPr>
                    </a:p>
                  </a:txBody>
                  <a:tcPr marL="10789" marR="10789" marT="10789" marB="0" anchor="ctr"/>
                </a:tc>
                <a:tc>
                  <a:txBody>
                    <a:bodyPr/>
                    <a:lstStyle/>
                    <a:p>
                      <a:pPr algn="ctr" fontAlgn="b"/>
                      <a:r>
                        <a:rPr lang="en-US" sz="1700" u="none" strike="noStrike">
                          <a:effectLst/>
                          <a:latin typeface="Calibri"/>
                        </a:rPr>
                        <a:t>5</a:t>
                      </a:r>
                      <a:endParaRPr lang="en-US" sz="1700" b="0" i="0" u="none" strike="noStrike">
                        <a:solidFill>
                          <a:srgbClr val="000000"/>
                        </a:solidFill>
                        <a:effectLst/>
                        <a:latin typeface="Calibri"/>
                      </a:endParaRPr>
                    </a:p>
                  </a:txBody>
                  <a:tcPr marL="10789" marR="10789" marT="10789" marB="0"/>
                </a:tc>
                <a:extLst>
                  <a:ext uri="{0D108BD9-81ED-4DB2-BD59-A6C34878D82A}">
                    <a16:rowId xmlns:a16="http://schemas.microsoft.com/office/drawing/2014/main" val="1130040014"/>
                  </a:ext>
                </a:extLst>
              </a:tr>
              <a:tr h="977634">
                <a:tc>
                  <a:txBody>
                    <a:bodyPr/>
                    <a:lstStyle/>
                    <a:p>
                      <a:pPr algn="ctr" fontAlgn="b"/>
                      <a:r>
                        <a:rPr lang="en-US" sz="1700" u="none" strike="noStrike">
                          <a:effectLst/>
                          <a:latin typeface="Calibri"/>
                        </a:rPr>
                        <a:t>US_05</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As a product user, I want to receive alerts when suspicious activity occurs so that I can respond immediately.</a:t>
                      </a:r>
                      <a:endParaRPr lang="en-US" sz="1700" b="0" i="0" u="none" strike="noStrike">
                        <a:solidFill>
                          <a:srgbClr val="000000"/>
                        </a:solidFill>
                        <a:effectLst/>
                        <a:latin typeface="Calibri"/>
                      </a:endParaRPr>
                    </a:p>
                  </a:txBody>
                  <a:tcPr marL="10789" marR="10789" marT="10789" marB="0" anchor="ctr"/>
                </a:tc>
                <a:tc>
                  <a:txBody>
                    <a:bodyPr/>
                    <a:lstStyle/>
                    <a:p>
                      <a:pPr algn="l" fontAlgn="b"/>
                      <a:r>
                        <a:rPr lang="en-US" sz="1700" u="none" strike="noStrike">
                          <a:effectLst/>
                          <a:latin typeface="Calibri"/>
                        </a:rPr>
                        <a:t>Alerts trigger when fraud score exceeds threshold via dashboard notification.</a:t>
                      </a:r>
                      <a:endParaRPr lang="en-US" sz="1700" b="0" i="0" u="none" strike="noStrike">
                        <a:solidFill>
                          <a:srgbClr val="000000"/>
                        </a:solidFill>
                        <a:effectLst/>
                        <a:latin typeface="Calibri"/>
                      </a:endParaRPr>
                    </a:p>
                  </a:txBody>
                  <a:tcPr marL="10789" marR="10789" marT="10789" marB="0" anchor="ctr"/>
                </a:tc>
                <a:tc>
                  <a:txBody>
                    <a:bodyPr/>
                    <a:lstStyle/>
                    <a:p>
                      <a:pPr algn="ctr" fontAlgn="b"/>
                      <a:endParaRPr lang="en-US" sz="1700" u="none" strike="noStrike">
                        <a:effectLst/>
                        <a:latin typeface="Calibri"/>
                      </a:endParaRPr>
                    </a:p>
                    <a:p>
                      <a:pPr algn="ctr" fontAlgn="b"/>
                      <a:r>
                        <a:rPr lang="en-US" sz="1700" u="none" strike="noStrike">
                          <a:effectLst/>
                          <a:latin typeface="Calibri"/>
                        </a:rPr>
                        <a:t>5</a:t>
                      </a:r>
                      <a:endParaRPr lang="en-US" sz="1700" b="0" i="0" u="none" strike="noStrike">
                        <a:solidFill>
                          <a:srgbClr val="000000"/>
                        </a:solidFill>
                        <a:effectLst/>
                        <a:latin typeface="Calibri"/>
                      </a:endParaRPr>
                    </a:p>
                  </a:txBody>
                  <a:tcPr marL="10789" marR="10789" marT="10789" marB="0"/>
                </a:tc>
                <a:extLst>
                  <a:ext uri="{0D108BD9-81ED-4DB2-BD59-A6C34878D82A}">
                    <a16:rowId xmlns:a16="http://schemas.microsoft.com/office/drawing/2014/main" val="1024524961"/>
                  </a:ext>
                </a:extLst>
              </a:tr>
            </a:tbl>
          </a:graphicData>
        </a:graphic>
      </p:graphicFrame>
    </p:spTree>
    <p:extLst>
      <p:ext uri="{BB962C8B-B14F-4D97-AF65-F5344CB8AC3E}">
        <p14:creationId xmlns:p14="http://schemas.microsoft.com/office/powerpoint/2010/main" val="1590635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D07DBF-38C7-57B0-2E8B-AC27ABD62D93}"/>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b="1" kern="1200">
                <a:solidFill>
                  <a:schemeClr val="bg1"/>
                </a:solidFill>
                <a:latin typeface="+mj-lt"/>
                <a:ea typeface="+mj-ea"/>
                <a:cs typeface="+mj-cs"/>
              </a:rPr>
              <a:t>Sprint-3  Product  Backlog</a:t>
            </a:r>
          </a:p>
        </p:txBody>
      </p:sp>
      <p:sp>
        <p:nvSpPr>
          <p:cNvPr id="5" name="TextBox 4">
            <a:extLst>
              <a:ext uri="{FF2B5EF4-FFF2-40B4-BE49-F238E27FC236}">
                <a16:creationId xmlns:a16="http://schemas.microsoft.com/office/drawing/2014/main" id="{02101EB3-FED6-3E04-2D12-2DF26A7E4F25}"/>
              </a:ext>
            </a:extLst>
          </p:cNvPr>
          <p:cNvSpPr txBox="1"/>
          <p:nvPr/>
        </p:nvSpPr>
        <p:spPr>
          <a:xfrm>
            <a:off x="8572499" y="390832"/>
            <a:ext cx="3233585" cy="873612"/>
          </a:xfrm>
          <a:prstGeom prst="rect">
            <a:avLst/>
          </a:prstGeom>
        </p:spPr>
        <p:txBody>
          <a:bodyPr vert="horz" lIns="91440" tIns="45720" rIns="91440" bIns="45720" rtlCol="0" anchor="ctr">
            <a:normAutofit/>
          </a:bodyPr>
          <a:lstStyle/>
          <a:p>
            <a:pPr>
              <a:lnSpc>
                <a:spcPct val="90000"/>
              </a:lnSpc>
              <a:spcBef>
                <a:spcPts val="1000"/>
              </a:spcBef>
            </a:pPr>
            <a:endParaRPr lang="en-US" sz="2000" b="1" kern="1200">
              <a:solidFill>
                <a:srgbClr val="FFFFFF"/>
              </a:solidFill>
              <a:latin typeface="+mn-lt"/>
              <a:ea typeface="+mn-ea"/>
              <a:cs typeface="+mn-cs"/>
            </a:endParaRPr>
          </a:p>
        </p:txBody>
      </p:sp>
      <p:graphicFrame>
        <p:nvGraphicFramePr>
          <p:cNvPr id="4" name="Table 3">
            <a:extLst>
              <a:ext uri="{FF2B5EF4-FFF2-40B4-BE49-F238E27FC236}">
                <a16:creationId xmlns:a16="http://schemas.microsoft.com/office/drawing/2014/main" id="{EFD56CBA-92AC-CC1B-C5EE-C8F01FD2CDE2}"/>
              </a:ext>
            </a:extLst>
          </p:cNvPr>
          <p:cNvGraphicFramePr>
            <a:graphicFrameLocks noGrp="1"/>
          </p:cNvGraphicFramePr>
          <p:nvPr>
            <p:extLst>
              <p:ext uri="{D42A27DB-BD31-4B8C-83A1-F6EECF244321}">
                <p14:modId xmlns:p14="http://schemas.microsoft.com/office/powerpoint/2010/main" val="1353000215"/>
              </p:ext>
            </p:extLst>
          </p:nvPr>
        </p:nvGraphicFramePr>
        <p:xfrm>
          <a:off x="193964" y="1640938"/>
          <a:ext cx="11804072" cy="5041215"/>
        </p:xfrm>
        <a:graphic>
          <a:graphicData uri="http://schemas.openxmlformats.org/drawingml/2006/table">
            <a:tbl>
              <a:tblPr firstRow="1" bandRow="1">
                <a:tableStyleId>{5C22544A-7EE6-4342-B048-85BDC9FD1C3A}</a:tableStyleId>
              </a:tblPr>
              <a:tblGrid>
                <a:gridCol w="805890">
                  <a:extLst>
                    <a:ext uri="{9D8B030D-6E8A-4147-A177-3AD203B41FA5}">
                      <a16:colId xmlns:a16="http://schemas.microsoft.com/office/drawing/2014/main" val="2464638804"/>
                    </a:ext>
                  </a:extLst>
                </a:gridCol>
                <a:gridCol w="5415014">
                  <a:extLst>
                    <a:ext uri="{9D8B030D-6E8A-4147-A177-3AD203B41FA5}">
                      <a16:colId xmlns:a16="http://schemas.microsoft.com/office/drawing/2014/main" val="2729374138"/>
                    </a:ext>
                  </a:extLst>
                </a:gridCol>
                <a:gridCol w="4834104">
                  <a:extLst>
                    <a:ext uri="{9D8B030D-6E8A-4147-A177-3AD203B41FA5}">
                      <a16:colId xmlns:a16="http://schemas.microsoft.com/office/drawing/2014/main" val="3248680779"/>
                    </a:ext>
                  </a:extLst>
                </a:gridCol>
                <a:gridCol w="749064">
                  <a:extLst>
                    <a:ext uri="{9D8B030D-6E8A-4147-A177-3AD203B41FA5}">
                      <a16:colId xmlns:a16="http://schemas.microsoft.com/office/drawing/2014/main" val="1810283987"/>
                    </a:ext>
                  </a:extLst>
                </a:gridCol>
              </a:tblGrid>
              <a:tr h="782983">
                <a:tc>
                  <a:txBody>
                    <a:bodyPr/>
                    <a:lstStyle/>
                    <a:p>
                      <a:pPr algn="ctr" fontAlgn="t">
                        <a:lnSpc>
                          <a:spcPct val="100000"/>
                        </a:lnSpc>
                      </a:pPr>
                      <a:r>
                        <a:rPr lang="en-US" sz="1700" u="none" strike="noStrike">
                          <a:effectLst/>
                          <a:latin typeface="Calibri"/>
                        </a:rPr>
                        <a:t>S.NO</a:t>
                      </a:r>
                      <a:endParaRPr lang="en-US" sz="17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700" u="none" strike="noStrike">
                          <a:effectLst/>
                          <a:latin typeface="Calibri"/>
                        </a:rPr>
                        <a:t>User Story</a:t>
                      </a:r>
                      <a:endParaRPr lang="en-US" sz="17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700" u="none" strike="noStrike">
                          <a:effectLst/>
                          <a:latin typeface="Calibri"/>
                        </a:rPr>
                        <a:t>Acceptance Criteria</a:t>
                      </a:r>
                      <a:endParaRPr lang="en-US" sz="17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700" u="none" strike="noStrike">
                          <a:effectLst/>
                          <a:latin typeface="Calibri"/>
                        </a:rPr>
                        <a:t>Story Points</a:t>
                      </a:r>
                      <a:endParaRPr lang="en-US" sz="1700" b="1" i="0" u="none" strike="noStrike">
                        <a:solidFill>
                          <a:srgbClr val="000000"/>
                        </a:solidFill>
                        <a:effectLst/>
                        <a:latin typeface="Calibri"/>
                      </a:endParaRPr>
                    </a:p>
                  </a:txBody>
                  <a:tcPr marL="9312" marR="9312" marT="9312" marB="0" anchor="ctr"/>
                </a:tc>
                <a:extLst>
                  <a:ext uri="{0D108BD9-81ED-4DB2-BD59-A6C34878D82A}">
                    <a16:rowId xmlns:a16="http://schemas.microsoft.com/office/drawing/2014/main" val="177380489"/>
                  </a:ext>
                </a:extLst>
              </a:tr>
              <a:tr h="1126300">
                <a:tc>
                  <a:txBody>
                    <a:bodyPr/>
                    <a:lstStyle/>
                    <a:p>
                      <a:pPr algn="ctr" fontAlgn="b"/>
                      <a:r>
                        <a:rPr lang="en-US" sz="1700" b="0" i="0" u="none" strike="noStrike">
                          <a:solidFill>
                            <a:srgbClr val="000000"/>
                          </a:solidFill>
                          <a:effectLst/>
                          <a:latin typeface="Calibri"/>
                        </a:rPr>
                        <a:t>US_06</a:t>
                      </a:r>
                    </a:p>
                  </a:txBody>
                  <a:tcPr marL="9525" marR="9525" marT="9525" marB="0" anchor="ctr"/>
                </a:tc>
                <a:tc>
                  <a:txBody>
                    <a:bodyPr/>
                    <a:lstStyle/>
                    <a:p>
                      <a:pPr algn="l" fontAlgn="b"/>
                      <a:r>
                        <a:rPr lang="en-US" sz="1700" b="0" i="0" u="none" strike="noStrike">
                          <a:solidFill>
                            <a:srgbClr val="000000"/>
                          </a:solidFill>
                          <a:effectLst/>
                          <a:latin typeface="Calibri"/>
                        </a:rPr>
                        <a:t>As the system, I want to run ML models to detect fraudulent          patterns so that high-risk transactions are identified.</a:t>
                      </a:r>
                    </a:p>
                  </a:txBody>
                  <a:tcPr marL="9525" marR="9525" marT="9525" marB="0" anchor="ctr"/>
                </a:tc>
                <a:tc>
                  <a:txBody>
                    <a:bodyPr/>
                    <a:lstStyle/>
                    <a:p>
                      <a:pPr algn="l" fontAlgn="b"/>
                      <a:r>
                        <a:rPr lang="en-US" sz="1700" b="0" i="0" u="none" strike="noStrike">
                          <a:solidFill>
                            <a:srgbClr val="000000"/>
                          </a:solidFill>
                          <a:effectLst/>
                          <a:latin typeface="Calibri"/>
                        </a:rPr>
                        <a:t>ML model generates fraud probability score for every transaction.</a:t>
                      </a:r>
                    </a:p>
                  </a:txBody>
                  <a:tcPr marL="9525" marR="9525" marT="9525" marB="0" anchor="ctr"/>
                </a:tc>
                <a:tc>
                  <a:txBody>
                    <a:bodyPr/>
                    <a:lstStyle/>
                    <a:p>
                      <a:pPr algn="ctr" fontAlgn="b"/>
                      <a:r>
                        <a:rPr lang="en-US" sz="1700" b="0" i="0" u="none" strike="noStrike">
                          <a:solidFill>
                            <a:srgbClr val="000000"/>
                          </a:solidFill>
                          <a:effectLst/>
                          <a:latin typeface="Calibri"/>
                        </a:rPr>
                        <a:t>8</a:t>
                      </a:r>
                    </a:p>
                  </a:txBody>
                  <a:tcPr marL="9525" marR="9525" marT="9525" marB="0" anchor="ctr"/>
                </a:tc>
                <a:extLst>
                  <a:ext uri="{0D108BD9-81ED-4DB2-BD59-A6C34878D82A}">
                    <a16:rowId xmlns:a16="http://schemas.microsoft.com/office/drawing/2014/main" val="1868524462"/>
                  </a:ext>
                </a:extLst>
              </a:tr>
              <a:tr h="782983">
                <a:tc>
                  <a:txBody>
                    <a:bodyPr/>
                    <a:lstStyle/>
                    <a:p>
                      <a:pPr algn="ctr" fontAlgn="b"/>
                      <a:r>
                        <a:rPr lang="en-US" sz="1700" b="0" i="0" u="none" strike="noStrike">
                          <a:solidFill>
                            <a:srgbClr val="000000"/>
                          </a:solidFill>
                          <a:effectLst/>
                          <a:latin typeface="Calibri"/>
                        </a:rPr>
                        <a:t>US_07</a:t>
                      </a:r>
                    </a:p>
                  </a:txBody>
                  <a:tcPr marL="9525" marR="9525" marT="9525" marB="0" anchor="ctr"/>
                </a:tc>
                <a:tc>
                  <a:txBody>
                    <a:bodyPr/>
                    <a:lstStyle/>
                    <a:p>
                      <a:pPr algn="l" fontAlgn="b"/>
                      <a:r>
                        <a:rPr lang="en-US" sz="1700" b="0" i="0" u="none" strike="noStrike">
                          <a:solidFill>
                            <a:srgbClr val="000000"/>
                          </a:solidFill>
                          <a:effectLst/>
                          <a:latin typeface="Calibri"/>
                        </a:rPr>
                        <a:t>As an admin, I need to secure access to my dashboard so that no unauthorized person can view sensitive data.</a:t>
                      </a:r>
                    </a:p>
                  </a:txBody>
                  <a:tcPr marL="9525" marR="9525" marT="9525" marB="0" anchor="ctr"/>
                </a:tc>
                <a:tc>
                  <a:txBody>
                    <a:bodyPr/>
                    <a:lstStyle/>
                    <a:p>
                      <a:pPr algn="l" fontAlgn="b"/>
                      <a:r>
                        <a:rPr lang="en-US" sz="1700" b="0" i="0" u="none" strike="noStrike">
                          <a:solidFill>
                            <a:srgbClr val="000000"/>
                          </a:solidFill>
                          <a:effectLst/>
                          <a:latin typeface="Calibri"/>
                        </a:rPr>
                        <a:t>Admin dashboard is protected with role-based access control and audit logging.</a:t>
                      </a:r>
                    </a:p>
                  </a:txBody>
                  <a:tcPr marL="9525" marR="9525" marT="9525" marB="0" anchor="ctr"/>
                </a:tc>
                <a:tc>
                  <a:txBody>
                    <a:bodyPr/>
                    <a:lstStyle/>
                    <a:p>
                      <a:pPr algn="ctr" fontAlgn="b"/>
                      <a:r>
                        <a:rPr lang="en-US" sz="17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3170538320"/>
                  </a:ext>
                </a:extLst>
              </a:tr>
              <a:tr h="782983">
                <a:tc>
                  <a:txBody>
                    <a:bodyPr/>
                    <a:lstStyle/>
                    <a:p>
                      <a:pPr algn="ctr" fontAlgn="b"/>
                      <a:r>
                        <a:rPr lang="en-US" sz="1700" b="0" i="0" u="none" strike="noStrike">
                          <a:solidFill>
                            <a:srgbClr val="000000"/>
                          </a:solidFill>
                          <a:effectLst/>
                          <a:latin typeface="Calibri"/>
                        </a:rPr>
                        <a:t>US_08</a:t>
                      </a:r>
                    </a:p>
                  </a:txBody>
                  <a:tcPr marL="9525" marR="9525" marT="9525" marB="0" anchor="ctr"/>
                </a:tc>
                <a:tc>
                  <a:txBody>
                    <a:bodyPr/>
                    <a:lstStyle/>
                    <a:p>
                      <a:pPr algn="l" fontAlgn="b"/>
                      <a:r>
                        <a:rPr lang="en-US" sz="1700" b="0" i="0" u="none" strike="noStrike">
                          <a:solidFill>
                            <a:srgbClr val="000000"/>
                          </a:solidFill>
                          <a:effectLst/>
                          <a:latin typeface="Calibri"/>
                        </a:rPr>
                        <a:t>As a fraud analyst, I want a rule-based engine so I can define custom fraud rules.</a:t>
                      </a:r>
                    </a:p>
                  </a:txBody>
                  <a:tcPr marL="9525" marR="9525" marT="9525" marB="0" anchor="ctr"/>
                </a:tc>
                <a:tc>
                  <a:txBody>
                    <a:bodyPr/>
                    <a:lstStyle/>
                    <a:p>
                      <a:pPr algn="l" fontAlgn="b"/>
                      <a:r>
                        <a:rPr lang="en-US" sz="1700" b="0" i="0" u="none" strike="noStrike">
                          <a:solidFill>
                            <a:srgbClr val="000000"/>
                          </a:solidFill>
                          <a:effectLst/>
                          <a:latin typeface="Calibri"/>
                        </a:rPr>
                        <a:t>Analysts can create and activate rules such as amount limits or location mismatch.</a:t>
                      </a:r>
                    </a:p>
                  </a:txBody>
                  <a:tcPr marL="9525" marR="9525" marT="9525" marB="0" anchor="ctr"/>
                </a:tc>
                <a:tc>
                  <a:txBody>
                    <a:bodyPr/>
                    <a:lstStyle/>
                    <a:p>
                      <a:pPr algn="ctr" fontAlgn="b"/>
                      <a:r>
                        <a:rPr lang="en-US" sz="17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3400458735"/>
                  </a:ext>
                </a:extLst>
              </a:tr>
              <a:tr h="782983">
                <a:tc>
                  <a:txBody>
                    <a:bodyPr/>
                    <a:lstStyle/>
                    <a:p>
                      <a:pPr algn="ctr" fontAlgn="b"/>
                      <a:r>
                        <a:rPr lang="en-US" sz="1700" b="0" i="0" u="none" strike="noStrike">
                          <a:solidFill>
                            <a:srgbClr val="000000"/>
                          </a:solidFill>
                          <a:effectLst/>
                          <a:latin typeface="Calibri"/>
                        </a:rPr>
                        <a:t>US_09</a:t>
                      </a:r>
                    </a:p>
                  </a:txBody>
                  <a:tcPr marL="9525" marR="9525" marT="9525" marB="0" anchor="ctr"/>
                </a:tc>
                <a:tc>
                  <a:txBody>
                    <a:bodyPr/>
                    <a:lstStyle/>
                    <a:p>
                      <a:pPr algn="l" fontAlgn="b"/>
                      <a:r>
                        <a:rPr lang="en-US" sz="1700" b="0" i="0" u="none" strike="noStrike">
                          <a:solidFill>
                            <a:srgbClr val="000000"/>
                          </a:solidFill>
                          <a:effectLst/>
                          <a:latin typeface="Calibri"/>
                        </a:rPr>
                        <a:t>As a product user, I want to view spending analytics so I can understand my financial behavior.</a:t>
                      </a:r>
                    </a:p>
                  </a:txBody>
                  <a:tcPr marL="9525" marR="9525" marT="9525" marB="0" anchor="ctr"/>
                </a:tc>
                <a:tc>
                  <a:txBody>
                    <a:bodyPr/>
                    <a:lstStyle/>
                    <a:p>
                      <a:pPr algn="l" fontAlgn="b"/>
                      <a:r>
                        <a:rPr lang="en-US" sz="1700" b="0" i="0" u="none" strike="noStrike">
                          <a:solidFill>
                            <a:srgbClr val="000000"/>
                          </a:solidFill>
                          <a:effectLst/>
                          <a:latin typeface="Calibri"/>
                        </a:rPr>
                        <a:t>Dashboard displays charts for spending patterns, merchants, and time-based trends.</a:t>
                      </a:r>
                    </a:p>
                  </a:txBody>
                  <a:tcPr marL="9525" marR="9525" marT="9525" marB="0" anchor="ctr"/>
                </a:tc>
                <a:tc>
                  <a:txBody>
                    <a:bodyPr/>
                    <a:lstStyle/>
                    <a:p>
                      <a:pPr algn="ctr" fontAlgn="b"/>
                      <a:r>
                        <a:rPr lang="en-US" sz="1700" b="0" i="0" u="none" strike="noStrike">
                          <a:solidFill>
                            <a:srgbClr val="000000"/>
                          </a:solidFill>
                          <a:effectLst/>
                          <a:latin typeface="Calibri"/>
                        </a:rPr>
                        <a:t>3</a:t>
                      </a:r>
                    </a:p>
                  </a:txBody>
                  <a:tcPr marL="9525" marR="9525" marT="9525" marB="0" anchor="ctr"/>
                </a:tc>
                <a:extLst>
                  <a:ext uri="{0D108BD9-81ED-4DB2-BD59-A6C34878D82A}">
                    <a16:rowId xmlns:a16="http://schemas.microsoft.com/office/drawing/2014/main" val="1130040014"/>
                  </a:ext>
                </a:extLst>
              </a:tr>
              <a:tr h="782983">
                <a:tc>
                  <a:txBody>
                    <a:bodyPr/>
                    <a:lstStyle/>
                    <a:p>
                      <a:pPr algn="ctr" fontAlgn="b"/>
                      <a:r>
                        <a:rPr lang="en-US" sz="1700" b="0" i="0" u="none" strike="noStrike">
                          <a:solidFill>
                            <a:srgbClr val="000000"/>
                          </a:solidFill>
                          <a:effectLst/>
                          <a:latin typeface="Calibri"/>
                        </a:rPr>
                        <a:t>US_10</a:t>
                      </a:r>
                    </a:p>
                  </a:txBody>
                  <a:tcPr marL="9525" marR="9525" marT="9525" marB="0" anchor="ctr"/>
                </a:tc>
                <a:tc>
                  <a:txBody>
                    <a:bodyPr/>
                    <a:lstStyle/>
                    <a:p>
                      <a:pPr algn="l" fontAlgn="b"/>
                      <a:r>
                        <a:rPr lang="en-US" sz="1700" b="0" i="0" u="none" strike="noStrike">
                          <a:solidFill>
                            <a:srgbClr val="000000"/>
                          </a:solidFill>
                          <a:effectLst/>
                          <a:latin typeface="Calibri"/>
                        </a:rPr>
                        <a:t>As a fraud analyst, I want to mark transactions as fraud or safe for model learning.</a:t>
                      </a:r>
                    </a:p>
                  </a:txBody>
                  <a:tcPr marL="9525" marR="9525" marT="9525" marB="0" anchor="ctr"/>
                </a:tc>
                <a:tc>
                  <a:txBody>
                    <a:bodyPr/>
                    <a:lstStyle/>
                    <a:p>
                      <a:pPr algn="l" fontAlgn="b"/>
                      <a:r>
                        <a:rPr lang="en-US" sz="1700" b="0" i="0" u="none" strike="noStrike">
                          <a:solidFill>
                            <a:srgbClr val="000000"/>
                          </a:solidFill>
                          <a:effectLst/>
                          <a:latin typeface="Calibri"/>
                        </a:rPr>
                        <a:t>Analyst can update labels, add notes, and change case status.</a:t>
                      </a:r>
                    </a:p>
                  </a:txBody>
                  <a:tcPr marL="9525" marR="9525" marT="9525" marB="0" anchor="ctr"/>
                </a:tc>
                <a:tc>
                  <a:txBody>
                    <a:bodyPr/>
                    <a:lstStyle/>
                    <a:p>
                      <a:pPr algn="ctr" fontAlgn="b"/>
                      <a:r>
                        <a:rPr lang="en-US" sz="17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1024524961"/>
                  </a:ext>
                </a:extLst>
              </a:tr>
            </a:tbl>
          </a:graphicData>
        </a:graphic>
      </p:graphicFrame>
    </p:spTree>
    <p:extLst>
      <p:ext uri="{BB962C8B-B14F-4D97-AF65-F5344CB8AC3E}">
        <p14:creationId xmlns:p14="http://schemas.microsoft.com/office/powerpoint/2010/main" val="1212215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D07DBF-38C7-57B0-2E8B-AC27ABD62D93}"/>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b="1" kern="1200">
                <a:solidFill>
                  <a:schemeClr val="bg1"/>
                </a:solidFill>
                <a:latin typeface="+mj-lt"/>
                <a:ea typeface="+mj-ea"/>
                <a:cs typeface="+mj-cs"/>
              </a:rPr>
              <a:t>Sprint-3  Product  Backlog</a:t>
            </a:r>
          </a:p>
        </p:txBody>
      </p:sp>
      <p:sp>
        <p:nvSpPr>
          <p:cNvPr id="5" name="TextBox 4">
            <a:extLst>
              <a:ext uri="{FF2B5EF4-FFF2-40B4-BE49-F238E27FC236}">
                <a16:creationId xmlns:a16="http://schemas.microsoft.com/office/drawing/2014/main" id="{02101EB3-FED6-3E04-2D12-2DF26A7E4F25}"/>
              </a:ext>
            </a:extLst>
          </p:cNvPr>
          <p:cNvSpPr txBox="1"/>
          <p:nvPr/>
        </p:nvSpPr>
        <p:spPr>
          <a:xfrm>
            <a:off x="8572499" y="390832"/>
            <a:ext cx="3233585" cy="873612"/>
          </a:xfrm>
          <a:prstGeom prst="rect">
            <a:avLst/>
          </a:prstGeom>
        </p:spPr>
        <p:txBody>
          <a:bodyPr vert="horz" lIns="91440" tIns="45720" rIns="91440" bIns="45720" rtlCol="0" anchor="ctr">
            <a:normAutofit/>
          </a:bodyPr>
          <a:lstStyle/>
          <a:p>
            <a:pPr>
              <a:lnSpc>
                <a:spcPct val="90000"/>
              </a:lnSpc>
              <a:spcBef>
                <a:spcPts val="1000"/>
              </a:spcBef>
            </a:pPr>
            <a:endParaRPr lang="en-US" sz="2000" b="1" kern="1200">
              <a:solidFill>
                <a:srgbClr val="FFFFFF"/>
              </a:solidFill>
              <a:latin typeface="+mn-lt"/>
              <a:ea typeface="+mn-ea"/>
              <a:cs typeface="+mn-cs"/>
            </a:endParaRPr>
          </a:p>
        </p:txBody>
      </p:sp>
      <p:graphicFrame>
        <p:nvGraphicFramePr>
          <p:cNvPr id="4" name="Table 3">
            <a:extLst>
              <a:ext uri="{FF2B5EF4-FFF2-40B4-BE49-F238E27FC236}">
                <a16:creationId xmlns:a16="http://schemas.microsoft.com/office/drawing/2014/main" id="{69C2A185-B492-C449-7274-6FE881A0472E}"/>
              </a:ext>
            </a:extLst>
          </p:cNvPr>
          <p:cNvGraphicFramePr>
            <a:graphicFrameLocks noGrp="1"/>
          </p:cNvGraphicFramePr>
          <p:nvPr>
            <p:extLst>
              <p:ext uri="{D42A27DB-BD31-4B8C-83A1-F6EECF244321}">
                <p14:modId xmlns:p14="http://schemas.microsoft.com/office/powerpoint/2010/main" val="1860231193"/>
              </p:ext>
            </p:extLst>
          </p:nvPr>
        </p:nvGraphicFramePr>
        <p:xfrm>
          <a:off x="193964" y="1783693"/>
          <a:ext cx="11804072" cy="4179938"/>
        </p:xfrm>
        <a:graphic>
          <a:graphicData uri="http://schemas.openxmlformats.org/drawingml/2006/table">
            <a:tbl>
              <a:tblPr firstRow="1" bandRow="1">
                <a:tableStyleId>{5C22544A-7EE6-4342-B048-85BDC9FD1C3A}</a:tableStyleId>
              </a:tblPr>
              <a:tblGrid>
                <a:gridCol w="805890">
                  <a:extLst>
                    <a:ext uri="{9D8B030D-6E8A-4147-A177-3AD203B41FA5}">
                      <a16:colId xmlns:a16="http://schemas.microsoft.com/office/drawing/2014/main" val="2464638804"/>
                    </a:ext>
                  </a:extLst>
                </a:gridCol>
                <a:gridCol w="5385435">
                  <a:extLst>
                    <a:ext uri="{9D8B030D-6E8A-4147-A177-3AD203B41FA5}">
                      <a16:colId xmlns:a16="http://schemas.microsoft.com/office/drawing/2014/main" val="2729374138"/>
                    </a:ext>
                  </a:extLst>
                </a:gridCol>
                <a:gridCol w="4863683">
                  <a:extLst>
                    <a:ext uri="{9D8B030D-6E8A-4147-A177-3AD203B41FA5}">
                      <a16:colId xmlns:a16="http://schemas.microsoft.com/office/drawing/2014/main" val="3248680779"/>
                    </a:ext>
                  </a:extLst>
                </a:gridCol>
                <a:gridCol w="749064">
                  <a:extLst>
                    <a:ext uri="{9D8B030D-6E8A-4147-A177-3AD203B41FA5}">
                      <a16:colId xmlns:a16="http://schemas.microsoft.com/office/drawing/2014/main" val="1810283987"/>
                    </a:ext>
                  </a:extLst>
                </a:gridCol>
              </a:tblGrid>
              <a:tr h="768587">
                <a:tc>
                  <a:txBody>
                    <a:bodyPr/>
                    <a:lstStyle/>
                    <a:p>
                      <a:pPr algn="ctr" fontAlgn="t">
                        <a:lnSpc>
                          <a:spcPct val="100000"/>
                        </a:lnSpc>
                      </a:pPr>
                      <a:r>
                        <a:rPr lang="en-US" sz="1700" u="none" strike="noStrike">
                          <a:effectLst/>
                          <a:latin typeface="Calibri"/>
                        </a:rPr>
                        <a:t>S.NO</a:t>
                      </a:r>
                      <a:endParaRPr lang="en-US" sz="17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700" u="none" strike="noStrike">
                          <a:effectLst/>
                          <a:latin typeface="Calibri"/>
                        </a:rPr>
                        <a:t>User Story</a:t>
                      </a:r>
                      <a:endParaRPr lang="en-US" sz="17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700" u="none" strike="noStrike">
                          <a:effectLst/>
                          <a:latin typeface="Calibri"/>
                        </a:rPr>
                        <a:t>Acceptance Criteria</a:t>
                      </a:r>
                      <a:endParaRPr lang="en-US" sz="17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700" u="none" strike="noStrike">
                          <a:effectLst/>
                          <a:latin typeface="Calibri"/>
                        </a:rPr>
                        <a:t>Story Points</a:t>
                      </a:r>
                      <a:endParaRPr lang="en-US" sz="1700" b="1" i="0" u="none" strike="noStrike">
                        <a:solidFill>
                          <a:srgbClr val="000000"/>
                        </a:solidFill>
                        <a:effectLst/>
                        <a:latin typeface="Calibri"/>
                      </a:endParaRPr>
                    </a:p>
                  </a:txBody>
                  <a:tcPr marL="9312" marR="9312" marT="9312" marB="0" anchor="ctr"/>
                </a:tc>
                <a:extLst>
                  <a:ext uri="{0D108BD9-81ED-4DB2-BD59-A6C34878D82A}">
                    <a16:rowId xmlns:a16="http://schemas.microsoft.com/office/drawing/2014/main" val="177380489"/>
                  </a:ext>
                </a:extLst>
              </a:tr>
              <a:tr h="1105590">
                <a:tc>
                  <a:txBody>
                    <a:bodyPr/>
                    <a:lstStyle/>
                    <a:p>
                      <a:pPr algn="l" fontAlgn="b"/>
                      <a:r>
                        <a:rPr lang="en-US" sz="1700" b="0" i="0" u="none" strike="noStrike">
                          <a:solidFill>
                            <a:srgbClr val="000000"/>
                          </a:solidFill>
                          <a:effectLst/>
                          <a:latin typeface="Calibri"/>
                        </a:rPr>
                        <a:t>US_11</a:t>
                      </a:r>
                    </a:p>
                  </a:txBody>
                  <a:tcPr marL="9525" marR="9525" marT="9525" marB="0" anchor="ctr"/>
                </a:tc>
                <a:tc>
                  <a:txBody>
                    <a:bodyPr/>
                    <a:lstStyle/>
                    <a:p>
                      <a:pPr algn="l" fontAlgn="b"/>
                      <a:r>
                        <a:rPr lang="en-US" sz="1700" b="0" i="0" u="none" strike="noStrike">
                          <a:solidFill>
                            <a:srgbClr val="000000"/>
                          </a:solidFill>
                          <a:effectLst/>
                          <a:latin typeface="Calibri"/>
                        </a:rPr>
                        <a:t>As a system user, I want to file a chargeback for confirmed fraudulent transactions.</a:t>
                      </a:r>
                    </a:p>
                  </a:txBody>
                  <a:tcPr marL="9525" marR="9525" marT="9525" marB="0" anchor="ctr"/>
                </a:tc>
                <a:tc>
                  <a:txBody>
                    <a:bodyPr/>
                    <a:lstStyle/>
                    <a:p>
                      <a:pPr algn="l" fontAlgn="b"/>
                      <a:r>
                        <a:rPr lang="en-US" sz="1700" b="0" i="0" u="none" strike="noStrike">
                          <a:solidFill>
                            <a:srgbClr val="000000"/>
                          </a:solidFill>
                          <a:effectLst/>
                          <a:latin typeface="Calibri"/>
                        </a:rPr>
                        <a:t>User can generate a chargeback request with required transaction information.</a:t>
                      </a:r>
                    </a:p>
                  </a:txBody>
                  <a:tcPr marL="9525" marR="9525" marT="9525" marB="0" anchor="ctr"/>
                </a:tc>
                <a:tc>
                  <a:txBody>
                    <a:bodyPr/>
                    <a:lstStyle/>
                    <a:p>
                      <a:pPr algn="ctr" fontAlgn="b"/>
                      <a:r>
                        <a:rPr lang="en-US" sz="17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1868524462"/>
                  </a:ext>
                </a:extLst>
              </a:tr>
              <a:tr h="768587">
                <a:tc>
                  <a:txBody>
                    <a:bodyPr/>
                    <a:lstStyle/>
                    <a:p>
                      <a:pPr algn="l" fontAlgn="b"/>
                      <a:r>
                        <a:rPr lang="en-US" sz="1700" b="0" i="0" u="none" strike="noStrike">
                          <a:solidFill>
                            <a:srgbClr val="000000"/>
                          </a:solidFill>
                          <a:effectLst/>
                          <a:latin typeface="Calibri"/>
                        </a:rPr>
                        <a:t>US_12</a:t>
                      </a:r>
                    </a:p>
                  </a:txBody>
                  <a:tcPr marL="9525" marR="9525" marT="9525" marB="0" anchor="ctr"/>
                </a:tc>
                <a:tc>
                  <a:txBody>
                    <a:bodyPr/>
                    <a:lstStyle/>
                    <a:p>
                      <a:pPr algn="l" fontAlgn="b"/>
                      <a:r>
                        <a:rPr lang="en-US" sz="1700" b="0" i="0" u="none" strike="noStrike">
                          <a:solidFill>
                            <a:srgbClr val="000000"/>
                          </a:solidFill>
                          <a:effectLst/>
                          <a:latin typeface="Calibri"/>
                        </a:rPr>
                        <a:t>As an admin, I want to manage and verify financial institutions integrating with our system.</a:t>
                      </a:r>
                    </a:p>
                  </a:txBody>
                  <a:tcPr marL="9525" marR="9525" marT="9525" marB="0" anchor="ctr"/>
                </a:tc>
                <a:tc>
                  <a:txBody>
                    <a:bodyPr/>
                    <a:lstStyle/>
                    <a:p>
                      <a:pPr algn="l" fontAlgn="b"/>
                      <a:r>
                        <a:rPr lang="en-US" sz="1700" b="0" i="0" u="none" strike="noStrike">
                          <a:solidFill>
                            <a:srgbClr val="000000"/>
                          </a:solidFill>
                          <a:effectLst/>
                          <a:latin typeface="Calibri"/>
                        </a:rPr>
                        <a:t>Admin can approve or reject banks after verifying API credentials.</a:t>
                      </a:r>
                    </a:p>
                  </a:txBody>
                  <a:tcPr marL="9525" marR="9525" marT="9525" marB="0" anchor="ctr"/>
                </a:tc>
                <a:tc>
                  <a:txBody>
                    <a:bodyPr/>
                    <a:lstStyle/>
                    <a:p>
                      <a:pPr algn="ctr" fontAlgn="b"/>
                      <a:r>
                        <a:rPr lang="en-US" sz="17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3170538320"/>
                  </a:ext>
                </a:extLst>
              </a:tr>
              <a:tr h="768587">
                <a:tc>
                  <a:txBody>
                    <a:bodyPr/>
                    <a:lstStyle/>
                    <a:p>
                      <a:pPr algn="l" fontAlgn="b"/>
                      <a:r>
                        <a:rPr lang="en-US" sz="1700" b="0" i="0" u="none" strike="noStrike">
                          <a:solidFill>
                            <a:srgbClr val="000000"/>
                          </a:solidFill>
                          <a:effectLst/>
                          <a:latin typeface="Calibri"/>
                        </a:rPr>
                        <a:t>US_13</a:t>
                      </a:r>
                    </a:p>
                  </a:txBody>
                  <a:tcPr marL="9525" marR="9525" marT="9525" marB="0" anchor="ctr"/>
                </a:tc>
                <a:tc>
                  <a:txBody>
                    <a:bodyPr/>
                    <a:lstStyle/>
                    <a:p>
                      <a:pPr algn="l" fontAlgn="b"/>
                      <a:r>
                        <a:rPr lang="en-US" sz="1700" b="0" i="0" u="none" strike="noStrike">
                          <a:solidFill>
                            <a:srgbClr val="000000"/>
                          </a:solidFill>
                          <a:effectLst/>
                          <a:latin typeface="Calibri"/>
                        </a:rPr>
                        <a:t>As the system Developer, I want to log all fraud-related events so that investigators can review them later.</a:t>
                      </a:r>
                    </a:p>
                  </a:txBody>
                  <a:tcPr marL="9525" marR="9525" marT="9525" marB="0" anchor="ctr"/>
                </a:tc>
                <a:tc>
                  <a:txBody>
                    <a:bodyPr/>
                    <a:lstStyle/>
                    <a:p>
                      <a:pPr algn="l" fontAlgn="b"/>
                      <a:r>
                        <a:rPr lang="en-US" sz="1700" b="0" i="0" u="none" strike="noStrike">
                          <a:solidFill>
                            <a:srgbClr val="000000"/>
                          </a:solidFill>
                          <a:effectLst/>
                          <a:latin typeface="Calibri"/>
                        </a:rPr>
                        <a:t>Every fraud-related action is saved with timestamp, reviewer notes, and device metadata.</a:t>
                      </a:r>
                    </a:p>
                  </a:txBody>
                  <a:tcPr marL="9525" marR="9525" marT="9525" marB="0" anchor="ctr"/>
                </a:tc>
                <a:tc>
                  <a:txBody>
                    <a:bodyPr/>
                    <a:lstStyle/>
                    <a:p>
                      <a:pPr algn="ctr" fontAlgn="b"/>
                      <a:r>
                        <a:rPr lang="en-US" sz="1700" b="0" i="0" u="none" strike="noStrike">
                          <a:solidFill>
                            <a:srgbClr val="000000"/>
                          </a:solidFill>
                          <a:effectLst/>
                          <a:latin typeface="Calibri"/>
                        </a:rPr>
                        <a:t>3</a:t>
                      </a:r>
                    </a:p>
                  </a:txBody>
                  <a:tcPr marL="9525" marR="9525" marT="9525" marB="0" anchor="ctr"/>
                </a:tc>
                <a:extLst>
                  <a:ext uri="{0D108BD9-81ED-4DB2-BD59-A6C34878D82A}">
                    <a16:rowId xmlns:a16="http://schemas.microsoft.com/office/drawing/2014/main" val="3400458735"/>
                  </a:ext>
                </a:extLst>
              </a:tr>
              <a:tr h="768587">
                <a:tc>
                  <a:txBody>
                    <a:bodyPr/>
                    <a:lstStyle/>
                    <a:p>
                      <a:pPr algn="l" fontAlgn="b"/>
                      <a:r>
                        <a:rPr lang="en-US" sz="1700" b="0" i="0" u="none" strike="noStrike">
                          <a:solidFill>
                            <a:srgbClr val="000000"/>
                          </a:solidFill>
                          <a:effectLst/>
                          <a:latin typeface="Calibri"/>
                        </a:rPr>
                        <a:t>US_14</a:t>
                      </a:r>
                    </a:p>
                  </a:txBody>
                  <a:tcPr marL="9525" marR="9525" marT="9525" marB="0" anchor="ctr"/>
                </a:tc>
                <a:tc>
                  <a:txBody>
                    <a:bodyPr/>
                    <a:lstStyle/>
                    <a:p>
                      <a:pPr algn="l" fontAlgn="b"/>
                      <a:r>
                        <a:rPr lang="en-US" sz="1700" b="0" i="0" u="none" strike="noStrike">
                          <a:solidFill>
                            <a:srgbClr val="000000"/>
                          </a:solidFill>
                          <a:effectLst/>
                          <a:latin typeface="Calibri"/>
                        </a:rPr>
                        <a:t>As a product user, I want OTP verification for high-risk login attempts so that my account stays protected.</a:t>
                      </a:r>
                    </a:p>
                  </a:txBody>
                  <a:tcPr marL="9525" marR="9525" marT="9525" marB="0" anchor="ctr"/>
                </a:tc>
                <a:tc>
                  <a:txBody>
                    <a:bodyPr/>
                    <a:lstStyle/>
                    <a:p>
                      <a:pPr algn="l" fontAlgn="b"/>
                      <a:r>
                        <a:rPr lang="en-US" sz="1700" b="0" i="0" u="none" strike="noStrike">
                          <a:solidFill>
                            <a:srgbClr val="000000"/>
                          </a:solidFill>
                          <a:effectLst/>
                          <a:latin typeface="Calibri"/>
                        </a:rPr>
                        <a:t>OTP is sent on suspicious logins and must be verified to continue.</a:t>
                      </a:r>
                    </a:p>
                  </a:txBody>
                  <a:tcPr marL="9525" marR="9525" marT="9525" marB="0" anchor="ctr"/>
                </a:tc>
                <a:tc>
                  <a:txBody>
                    <a:bodyPr/>
                    <a:lstStyle/>
                    <a:p>
                      <a:pPr algn="ctr" fontAlgn="b"/>
                      <a:r>
                        <a:rPr lang="en-US" sz="17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1024524961"/>
                  </a:ext>
                </a:extLst>
              </a:tr>
            </a:tbl>
          </a:graphicData>
        </a:graphic>
      </p:graphicFrame>
    </p:spTree>
    <p:extLst>
      <p:ext uri="{BB962C8B-B14F-4D97-AF65-F5344CB8AC3E}">
        <p14:creationId xmlns:p14="http://schemas.microsoft.com/office/powerpoint/2010/main" val="2598623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0E5DF2-B80C-6A09-536C-7C6C452A9EB5}"/>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Sprint-3 User backlog </a:t>
            </a:r>
          </a:p>
        </p:txBody>
      </p:sp>
      <p:graphicFrame>
        <p:nvGraphicFramePr>
          <p:cNvPr id="5" name="Content Placeholder 4">
            <a:extLst>
              <a:ext uri="{FF2B5EF4-FFF2-40B4-BE49-F238E27FC236}">
                <a16:creationId xmlns:a16="http://schemas.microsoft.com/office/drawing/2014/main" id="{709FE290-3669-9FA1-2815-804B2D293289}"/>
              </a:ext>
            </a:extLst>
          </p:cNvPr>
          <p:cNvGraphicFramePr>
            <a:graphicFrameLocks noGrp="1"/>
          </p:cNvGraphicFramePr>
          <p:nvPr>
            <p:ph idx="1"/>
            <p:extLst>
              <p:ext uri="{D42A27DB-BD31-4B8C-83A1-F6EECF244321}">
                <p14:modId xmlns:p14="http://schemas.microsoft.com/office/powerpoint/2010/main" val="1480263025"/>
              </p:ext>
            </p:extLst>
          </p:nvPr>
        </p:nvGraphicFramePr>
        <p:xfrm>
          <a:off x="154746" y="1924818"/>
          <a:ext cx="11802791" cy="3952725"/>
        </p:xfrm>
        <a:graphic>
          <a:graphicData uri="http://schemas.openxmlformats.org/drawingml/2006/table">
            <a:tbl>
              <a:tblPr firstRow="1" bandRow="1">
                <a:tableStyleId>{5C22544A-7EE6-4342-B048-85BDC9FD1C3A}</a:tableStyleId>
              </a:tblPr>
              <a:tblGrid>
                <a:gridCol w="793349">
                  <a:extLst>
                    <a:ext uri="{9D8B030D-6E8A-4147-A177-3AD203B41FA5}">
                      <a16:colId xmlns:a16="http://schemas.microsoft.com/office/drawing/2014/main" val="1403022323"/>
                    </a:ext>
                  </a:extLst>
                </a:gridCol>
                <a:gridCol w="5059218">
                  <a:extLst>
                    <a:ext uri="{9D8B030D-6E8A-4147-A177-3AD203B41FA5}">
                      <a16:colId xmlns:a16="http://schemas.microsoft.com/office/drawing/2014/main" val="1981049063"/>
                    </a:ext>
                  </a:extLst>
                </a:gridCol>
                <a:gridCol w="3757031">
                  <a:extLst>
                    <a:ext uri="{9D8B030D-6E8A-4147-A177-3AD203B41FA5}">
                      <a16:colId xmlns:a16="http://schemas.microsoft.com/office/drawing/2014/main" val="3829358648"/>
                    </a:ext>
                  </a:extLst>
                </a:gridCol>
                <a:gridCol w="1455909">
                  <a:extLst>
                    <a:ext uri="{9D8B030D-6E8A-4147-A177-3AD203B41FA5}">
                      <a16:colId xmlns:a16="http://schemas.microsoft.com/office/drawing/2014/main" val="3415755263"/>
                    </a:ext>
                  </a:extLst>
                </a:gridCol>
                <a:gridCol w="737284">
                  <a:extLst>
                    <a:ext uri="{9D8B030D-6E8A-4147-A177-3AD203B41FA5}">
                      <a16:colId xmlns:a16="http://schemas.microsoft.com/office/drawing/2014/main" val="2023515234"/>
                    </a:ext>
                  </a:extLst>
                </a:gridCol>
              </a:tblGrid>
              <a:tr h="790545">
                <a:tc>
                  <a:txBody>
                    <a:bodyPr/>
                    <a:lstStyle/>
                    <a:p>
                      <a:pPr algn="ctr" fontAlgn="t"/>
                      <a:endParaRPr lang="en-US" sz="1700" u="none" strike="noStrike">
                        <a:effectLst/>
                      </a:endParaRPr>
                    </a:p>
                    <a:p>
                      <a:pPr algn="ctr" fontAlgn="t"/>
                      <a:r>
                        <a:rPr lang="en-US" sz="1700" u="none" strike="noStrike">
                          <a:effectLst/>
                        </a:rPr>
                        <a:t>S.NO</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endParaRPr lang="en-US" sz="1700" u="none" strike="noStrike">
                        <a:effectLst/>
                      </a:endParaRPr>
                    </a:p>
                    <a:p>
                      <a:pPr algn="ctr" fontAlgn="t"/>
                      <a:r>
                        <a:rPr lang="en-US" sz="1700" u="none" strike="noStrike">
                          <a:effectLst/>
                        </a:rPr>
                        <a:t>User Story</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endParaRPr lang="en-US" sz="1700" u="none" strike="noStrike">
                        <a:effectLst/>
                      </a:endParaRPr>
                    </a:p>
                    <a:p>
                      <a:pPr algn="ctr" fontAlgn="t"/>
                      <a:r>
                        <a:rPr lang="en-US" sz="1700" u="none" strike="noStrike">
                          <a:effectLst/>
                        </a:rPr>
                        <a:t>Acceptance Criteria</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endParaRPr lang="en-US" sz="1700" u="none" strike="noStrike">
                        <a:effectLst/>
                      </a:endParaRPr>
                    </a:p>
                    <a:p>
                      <a:pPr algn="ctr" fontAlgn="t"/>
                      <a:r>
                        <a:rPr lang="en-US" sz="1700" u="none" strike="noStrike">
                          <a:effectLst/>
                        </a:rPr>
                        <a:t>Feature</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endParaRPr lang="en-US" sz="1700" u="none" strike="noStrike">
                        <a:effectLst/>
                      </a:endParaRPr>
                    </a:p>
                    <a:p>
                      <a:pPr algn="ctr" fontAlgn="t"/>
                      <a:r>
                        <a:rPr lang="en-US" sz="1700" u="none" strike="noStrike">
                          <a:effectLst/>
                        </a:rPr>
                        <a:t>Story Points</a:t>
                      </a:r>
                      <a:endParaRPr lang="en-US" sz="1700" b="1" i="0" u="none" strike="noStrike">
                        <a:solidFill>
                          <a:srgbClr val="000000"/>
                        </a:solidFill>
                        <a:effectLst/>
                        <a:latin typeface="Calibri" panose="020F0502020204030204" pitchFamily="34" charset="0"/>
                      </a:endParaRPr>
                    </a:p>
                  </a:txBody>
                  <a:tcPr marL="8403" marR="8403" marT="8403" marB="0" anchor="ctr"/>
                </a:tc>
                <a:extLst>
                  <a:ext uri="{0D108BD9-81ED-4DB2-BD59-A6C34878D82A}">
                    <a16:rowId xmlns:a16="http://schemas.microsoft.com/office/drawing/2014/main" val="960775581"/>
                  </a:ext>
                </a:extLst>
              </a:tr>
              <a:tr h="790545">
                <a:tc>
                  <a:txBody>
                    <a:bodyPr/>
                    <a:lstStyle/>
                    <a:p>
                      <a:pPr algn="l" fontAlgn="b"/>
                      <a:r>
                        <a:rPr lang="en-US" sz="1700" u="none" strike="noStrike">
                          <a:effectLst/>
                        </a:rPr>
                        <a:t>US_02</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As a user, I want to link my credit card so that the system can start monitoring transactions for fraud.</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User can add a card, Luhn validation passes, and card is stored securely.</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Credit Card Linking</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b"/>
                      <a:r>
                        <a:rPr lang="en-US" sz="1700" b="0" i="0" u="none" strike="noStrike">
                          <a:solidFill>
                            <a:srgbClr val="000000"/>
                          </a:solidFill>
                          <a:effectLst/>
                          <a:latin typeface="Calibri" panose="020F0502020204030204" pitchFamily="34" charset="0"/>
                        </a:rPr>
                        <a:t>3</a:t>
                      </a:r>
                    </a:p>
                  </a:txBody>
                  <a:tcPr marL="8403" marR="8403" marT="8403" marB="0" anchor="ctr"/>
                </a:tc>
                <a:extLst>
                  <a:ext uri="{0D108BD9-81ED-4DB2-BD59-A6C34878D82A}">
                    <a16:rowId xmlns:a16="http://schemas.microsoft.com/office/drawing/2014/main" val="2747301234"/>
                  </a:ext>
                </a:extLst>
              </a:tr>
              <a:tr h="790545">
                <a:tc>
                  <a:txBody>
                    <a:bodyPr/>
                    <a:lstStyle/>
                    <a:p>
                      <a:pPr algn="l" fontAlgn="b"/>
                      <a:r>
                        <a:rPr lang="en-US" sz="1700" u="none" strike="noStrike">
                          <a:effectLst/>
                        </a:rPr>
                        <a:t>US_03</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As the system, I want to ingest transactions so that fraud analysis can begin immediately.</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System receives, validates, and stores transaction data automatically.</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Transaction Ingestion</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b"/>
                      <a:r>
                        <a:rPr lang="en-US" sz="1700" b="0" i="0" u="none" strike="noStrike">
                          <a:solidFill>
                            <a:srgbClr val="000000"/>
                          </a:solidFill>
                          <a:effectLst/>
                          <a:latin typeface="Calibri" panose="020F0502020204030204" pitchFamily="34" charset="0"/>
                        </a:rPr>
                        <a:t>4</a:t>
                      </a:r>
                    </a:p>
                  </a:txBody>
                  <a:tcPr marL="8403" marR="8403" marT="8403" marB="0" anchor="ctr"/>
                </a:tc>
                <a:extLst>
                  <a:ext uri="{0D108BD9-81ED-4DB2-BD59-A6C34878D82A}">
                    <a16:rowId xmlns:a16="http://schemas.microsoft.com/office/drawing/2014/main" val="3950812951"/>
                  </a:ext>
                </a:extLst>
              </a:tr>
              <a:tr h="790545">
                <a:tc>
                  <a:txBody>
                    <a:bodyPr/>
                    <a:lstStyle/>
                    <a:p>
                      <a:pPr algn="l" fontAlgn="b"/>
                      <a:r>
                        <a:rPr lang="en-US" sz="1700" u="none" strike="noStrike">
                          <a:effectLst/>
                        </a:rPr>
                        <a:t>US_04</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As a user, I want to receive alerts when suspicious activity occurs so that I can take action quickly.</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Alert triggers when fraud score exceeds threshold.</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u="none" strike="noStrike">
                          <a:effectLst/>
                        </a:rPr>
                        <a:t>Fraud Alerts</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b"/>
                      <a:r>
                        <a:rPr lang="en-US" sz="1700" b="0" i="0" u="none" strike="noStrike">
                          <a:solidFill>
                            <a:srgbClr val="000000"/>
                          </a:solidFill>
                          <a:effectLst/>
                          <a:latin typeface="Calibri" panose="020F0502020204030204" pitchFamily="34" charset="0"/>
                        </a:rPr>
                        <a:t>3</a:t>
                      </a:r>
                    </a:p>
                  </a:txBody>
                  <a:tcPr marL="8403" marR="8403" marT="8403" marB="0" anchor="ctr"/>
                </a:tc>
                <a:extLst>
                  <a:ext uri="{0D108BD9-81ED-4DB2-BD59-A6C34878D82A}">
                    <a16:rowId xmlns:a16="http://schemas.microsoft.com/office/drawing/2014/main" val="349745193"/>
                  </a:ext>
                </a:extLst>
              </a:tr>
              <a:tr h="790545">
                <a:tc>
                  <a:txBody>
                    <a:bodyPr/>
                    <a:lstStyle/>
                    <a:p>
                      <a:pPr algn="l" fontAlgn="b"/>
                      <a:r>
                        <a:rPr lang="en-US" sz="1700" u="none" strike="noStrike">
                          <a:effectLst/>
                        </a:rPr>
                        <a:t>US_05</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a:t>As a user, I want the application to be secure so that my data remains safe</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a:t>User data is stored securely</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l" fontAlgn="b"/>
                      <a:r>
                        <a:rPr lang="en-US" sz="1700"/>
                        <a:t>Audit logs / security monitoring</a:t>
                      </a:r>
                      <a:endParaRPr lang="en-US" sz="1700" b="0"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b"/>
                      <a:r>
                        <a:rPr lang="en-US" sz="1700" u="none" strike="noStrike">
                          <a:effectLst/>
                        </a:rPr>
                        <a:t>13</a:t>
                      </a:r>
                      <a:endParaRPr lang="en-US" sz="1700" b="0" i="0" u="none" strike="noStrike">
                        <a:solidFill>
                          <a:srgbClr val="000000"/>
                        </a:solidFill>
                        <a:effectLst/>
                        <a:latin typeface="Calibri" panose="020F0502020204030204" pitchFamily="34" charset="0"/>
                      </a:endParaRPr>
                    </a:p>
                  </a:txBody>
                  <a:tcPr marL="8403" marR="8403" marT="8403" marB="0" anchor="ctr"/>
                </a:tc>
                <a:extLst>
                  <a:ext uri="{0D108BD9-81ED-4DB2-BD59-A6C34878D82A}">
                    <a16:rowId xmlns:a16="http://schemas.microsoft.com/office/drawing/2014/main" val="4081300958"/>
                  </a:ext>
                </a:extLst>
              </a:tr>
            </a:tbl>
          </a:graphicData>
        </a:graphic>
      </p:graphicFrame>
    </p:spTree>
    <p:extLst>
      <p:ext uri="{BB962C8B-B14F-4D97-AF65-F5344CB8AC3E}">
        <p14:creationId xmlns:p14="http://schemas.microsoft.com/office/powerpoint/2010/main" val="4267195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0E5DF2-B80C-6A09-536C-7C6C452A9EB5}"/>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Sprint-3 User backlog </a:t>
            </a:r>
          </a:p>
        </p:txBody>
      </p:sp>
      <p:sp>
        <p:nvSpPr>
          <p:cNvPr id="8" name="Content Placeholder 7">
            <a:extLst>
              <a:ext uri="{FF2B5EF4-FFF2-40B4-BE49-F238E27FC236}">
                <a16:creationId xmlns:a16="http://schemas.microsoft.com/office/drawing/2014/main" id="{A076F325-51C9-F7D7-214D-E04B60AA0C48}"/>
              </a:ext>
            </a:extLst>
          </p:cNvPr>
          <p:cNvSpPr>
            <a:spLocks noGrp="1"/>
          </p:cNvSpPr>
          <p:nvPr>
            <p:ph idx="1"/>
          </p:nvPr>
        </p:nvSpPr>
        <p:spPr/>
        <p:txBody>
          <a:bodyPr/>
          <a:lstStyle/>
          <a:p>
            <a:endParaRPr lang="en-US"/>
          </a:p>
        </p:txBody>
      </p:sp>
      <p:graphicFrame>
        <p:nvGraphicFramePr>
          <p:cNvPr id="9" name="Content Placeholder 4">
            <a:extLst>
              <a:ext uri="{FF2B5EF4-FFF2-40B4-BE49-F238E27FC236}">
                <a16:creationId xmlns:a16="http://schemas.microsoft.com/office/drawing/2014/main" id="{6AEFBDFE-E49E-FCC4-DAC0-1F77D89BB0E3}"/>
              </a:ext>
            </a:extLst>
          </p:cNvPr>
          <p:cNvGraphicFramePr>
            <a:graphicFrameLocks/>
          </p:cNvGraphicFramePr>
          <p:nvPr>
            <p:extLst>
              <p:ext uri="{D42A27DB-BD31-4B8C-83A1-F6EECF244321}">
                <p14:modId xmlns:p14="http://schemas.microsoft.com/office/powerpoint/2010/main" val="1742906631"/>
              </p:ext>
            </p:extLst>
          </p:nvPr>
        </p:nvGraphicFramePr>
        <p:xfrm>
          <a:off x="208669" y="1764218"/>
          <a:ext cx="11774657" cy="4609688"/>
        </p:xfrm>
        <a:graphic>
          <a:graphicData uri="http://schemas.openxmlformats.org/drawingml/2006/table">
            <a:tbl>
              <a:tblPr firstRow="1" bandRow="1">
                <a:tableStyleId>{5C22544A-7EE6-4342-B048-85BDC9FD1C3A}</a:tableStyleId>
              </a:tblPr>
              <a:tblGrid>
                <a:gridCol w="791458">
                  <a:extLst>
                    <a:ext uri="{9D8B030D-6E8A-4147-A177-3AD203B41FA5}">
                      <a16:colId xmlns:a16="http://schemas.microsoft.com/office/drawing/2014/main" val="1403022323"/>
                    </a:ext>
                  </a:extLst>
                </a:gridCol>
                <a:gridCol w="5047158">
                  <a:extLst>
                    <a:ext uri="{9D8B030D-6E8A-4147-A177-3AD203B41FA5}">
                      <a16:colId xmlns:a16="http://schemas.microsoft.com/office/drawing/2014/main" val="1981049063"/>
                    </a:ext>
                  </a:extLst>
                </a:gridCol>
                <a:gridCol w="3748075">
                  <a:extLst>
                    <a:ext uri="{9D8B030D-6E8A-4147-A177-3AD203B41FA5}">
                      <a16:colId xmlns:a16="http://schemas.microsoft.com/office/drawing/2014/main" val="3829358648"/>
                    </a:ext>
                  </a:extLst>
                </a:gridCol>
                <a:gridCol w="1452439">
                  <a:extLst>
                    <a:ext uri="{9D8B030D-6E8A-4147-A177-3AD203B41FA5}">
                      <a16:colId xmlns:a16="http://schemas.microsoft.com/office/drawing/2014/main" val="3415755263"/>
                    </a:ext>
                  </a:extLst>
                </a:gridCol>
                <a:gridCol w="735527">
                  <a:extLst>
                    <a:ext uri="{9D8B030D-6E8A-4147-A177-3AD203B41FA5}">
                      <a16:colId xmlns:a16="http://schemas.microsoft.com/office/drawing/2014/main" val="2023515234"/>
                    </a:ext>
                  </a:extLst>
                </a:gridCol>
              </a:tblGrid>
              <a:tr h="1152422">
                <a:tc>
                  <a:txBody>
                    <a:bodyPr/>
                    <a:lstStyle/>
                    <a:p>
                      <a:pPr algn="ctr" fontAlgn="t"/>
                      <a:endParaRPr lang="en-US" sz="1700" u="none" strike="noStrike">
                        <a:effectLst/>
                      </a:endParaRPr>
                    </a:p>
                    <a:p>
                      <a:pPr algn="ctr" fontAlgn="t"/>
                      <a:r>
                        <a:rPr lang="en-US" sz="1700" u="none" strike="noStrike">
                          <a:effectLst/>
                        </a:rPr>
                        <a:t>S.NOs</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endParaRPr lang="en-US" sz="1700" u="none" strike="noStrike">
                        <a:effectLst/>
                      </a:endParaRPr>
                    </a:p>
                    <a:p>
                      <a:pPr algn="ctr" fontAlgn="t"/>
                      <a:r>
                        <a:rPr lang="en-US" sz="1700" u="none" strike="noStrike">
                          <a:effectLst/>
                        </a:rPr>
                        <a:t>User Story</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endParaRPr lang="en-US" sz="1700" u="none" strike="noStrike">
                        <a:effectLst/>
                      </a:endParaRPr>
                    </a:p>
                    <a:p>
                      <a:pPr algn="ctr" fontAlgn="t"/>
                      <a:r>
                        <a:rPr lang="en-US" sz="1700" u="none" strike="noStrike">
                          <a:effectLst/>
                        </a:rPr>
                        <a:t>Acceptance Criteria</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endParaRPr lang="en-US" sz="1700" u="none" strike="noStrike">
                        <a:effectLst/>
                      </a:endParaRPr>
                    </a:p>
                    <a:p>
                      <a:pPr algn="ctr" fontAlgn="t"/>
                      <a:r>
                        <a:rPr lang="en-US" sz="1700" u="none" strike="noStrike">
                          <a:effectLst/>
                        </a:rPr>
                        <a:t>Feature</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r>
                        <a:rPr lang="en-US" sz="1700" u="none" strike="noStrike">
                          <a:effectLst/>
                        </a:rPr>
                        <a:t>Story Points</a:t>
                      </a:r>
                      <a:endParaRPr lang="en-US" sz="1700" b="1" i="0" u="none" strike="noStrike">
                        <a:solidFill>
                          <a:srgbClr val="000000"/>
                        </a:solidFill>
                        <a:effectLst/>
                        <a:latin typeface="Calibri" panose="020F0502020204030204" pitchFamily="34" charset="0"/>
                      </a:endParaRPr>
                    </a:p>
                  </a:txBody>
                  <a:tcPr marL="8403" marR="8403" marT="8403" marB="0" anchor="ctr"/>
                </a:tc>
                <a:extLst>
                  <a:ext uri="{0D108BD9-81ED-4DB2-BD59-A6C34878D82A}">
                    <a16:rowId xmlns:a16="http://schemas.microsoft.com/office/drawing/2014/main" val="960775581"/>
                  </a:ext>
                </a:extLst>
              </a:tr>
              <a:tr h="1152422">
                <a:tc>
                  <a:txBody>
                    <a:bodyPr/>
                    <a:lstStyle/>
                    <a:p>
                      <a:pPr algn="l" fontAlgn="b"/>
                      <a:r>
                        <a:rPr lang="en-US" sz="1700" b="0" i="0" u="none" strike="noStrike">
                          <a:solidFill>
                            <a:srgbClr val="000000"/>
                          </a:solidFill>
                          <a:effectLst/>
                          <a:latin typeface="Calibri" panose="020F0502020204030204" pitchFamily="34" charset="0"/>
                        </a:rPr>
                        <a:t>US_06</a:t>
                      </a:r>
                    </a:p>
                  </a:txBody>
                  <a:tcPr marL="9525" marR="9525" marT="9525"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700" b="0"/>
                    </a:p>
                    <a:p>
                      <a:pPr algn="l" fontAlgn="b"/>
                      <a:r>
                        <a:rPr lang="en-US" sz="1700">
                          <a:latin typeface="Calibri" panose="020F0502020204030204" pitchFamily="34" charset="0"/>
                          <a:cs typeface="Calibri" panose="020F0502020204030204" pitchFamily="34" charset="0"/>
                        </a:rPr>
                        <a:t>As a user, I want a visually appealing and user-friendly interface so that I can easily navigate and enjoy using the application.</a:t>
                      </a: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l" fontAlgn="b"/>
                      <a:r>
                        <a:rPr lang="en-US" sz="1700">
                          <a:latin typeface="Calibri" panose="020F0502020204030204" pitchFamily="34" charset="0"/>
                          <a:cs typeface="Calibri" panose="020F0502020204030204" pitchFamily="34" charset="0"/>
                        </a:rPr>
                        <a:t>The interface uses a clean and consistent design.</a:t>
                      </a: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User friendly interface</a:t>
                      </a:r>
                    </a:p>
                  </a:txBody>
                  <a:tcPr marL="9525" marR="9525" marT="9525" marB="0" anchor="ctr"/>
                </a:tc>
                <a:tc>
                  <a:txBody>
                    <a:bodyPr/>
                    <a:lstStyle/>
                    <a:p>
                      <a:pPr algn="ctr" fontAlgn="b"/>
                      <a:r>
                        <a:rPr lang="en-US" sz="1700" b="0" i="0" u="none" strike="noStrike">
                          <a:solidFill>
                            <a:srgbClr val="000000"/>
                          </a:solidFill>
                          <a:effectLst/>
                          <a:latin typeface="Calibri" panose="020F0502020204030204" pitchFamily="34" charset="0"/>
                        </a:rPr>
                        <a:t>13</a:t>
                      </a:r>
                    </a:p>
                  </a:txBody>
                  <a:tcPr marL="9525" marR="9525" marT="9525" marB="0" anchor="ctr"/>
                </a:tc>
                <a:extLst>
                  <a:ext uri="{0D108BD9-81ED-4DB2-BD59-A6C34878D82A}">
                    <a16:rowId xmlns:a16="http://schemas.microsoft.com/office/drawing/2014/main" val="1133764447"/>
                  </a:ext>
                </a:extLst>
              </a:tr>
              <a:tr h="1152422">
                <a:tc>
                  <a:txBody>
                    <a:bodyPr/>
                    <a:lstStyle/>
                    <a:p>
                      <a:pPr algn="l" fontAlgn="b"/>
                      <a:r>
                        <a:rPr lang="en-US" sz="1700" b="0" i="0" u="none" strike="noStrike">
                          <a:solidFill>
                            <a:srgbClr val="000000"/>
                          </a:solidFill>
                          <a:effectLst/>
                          <a:latin typeface="Calibri" panose="020F0502020204030204" pitchFamily="34" charset="0"/>
                        </a:rPr>
                        <a:t>US_07</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As a fraud analyst, I want to mark transactions as fraud or safe so that the model improves over time.</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Analyst can label transactions and add case notes.</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Case Management</a:t>
                      </a:r>
                    </a:p>
                  </a:txBody>
                  <a:tcPr marL="9525" marR="9525" marT="9525" marB="0" anchor="ctr"/>
                </a:tc>
                <a:tc>
                  <a:txBody>
                    <a:bodyPr/>
                    <a:lstStyle/>
                    <a:p>
                      <a:pPr algn="ctr" fontAlgn="b"/>
                      <a:r>
                        <a:rPr lang="en-US" sz="17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2747301234"/>
                  </a:ext>
                </a:extLst>
              </a:tr>
              <a:tr h="1152422">
                <a:tc>
                  <a:txBody>
                    <a:bodyPr/>
                    <a:lstStyle/>
                    <a:p>
                      <a:pPr algn="l" fontAlgn="b"/>
                      <a:r>
                        <a:rPr lang="en-US" sz="1700" b="0" i="0" u="none" strike="noStrike">
                          <a:solidFill>
                            <a:srgbClr val="000000"/>
                          </a:solidFill>
                          <a:effectLst/>
                          <a:latin typeface="Calibri" panose="020F0502020204030204" pitchFamily="34" charset="0"/>
                        </a:rPr>
                        <a:t>US_08</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As a user, I want to view my recent transactions so I can verify if anything looks suspicious.</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User can view transaction list with amount, date, merchant, status.</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Transaction History</a:t>
                      </a:r>
                    </a:p>
                  </a:txBody>
                  <a:tcPr marL="9525" marR="9525" marT="9525" marB="0" anchor="ctr"/>
                </a:tc>
                <a:tc>
                  <a:txBody>
                    <a:bodyPr/>
                    <a:lstStyle/>
                    <a:p>
                      <a:pPr algn="ctr" fontAlgn="b"/>
                      <a:r>
                        <a:rPr lang="en-US" sz="1700" b="0" i="0" u="none" strike="noStrike">
                          <a:solidFill>
                            <a:srgbClr val="000000"/>
                          </a:solidFill>
                          <a:effectLst/>
                          <a:latin typeface="Calibri" panose="020F0502020204030204" pitchFamily="34" charset="0"/>
                        </a:rPr>
                        <a:t>8</a:t>
                      </a:r>
                    </a:p>
                  </a:txBody>
                  <a:tcPr marL="9525" marR="9525" marT="9525" marB="0" anchor="ctr"/>
                </a:tc>
                <a:extLst>
                  <a:ext uri="{0D108BD9-81ED-4DB2-BD59-A6C34878D82A}">
                    <a16:rowId xmlns:a16="http://schemas.microsoft.com/office/drawing/2014/main" val="3950812951"/>
                  </a:ext>
                </a:extLst>
              </a:tr>
            </a:tbl>
          </a:graphicData>
        </a:graphic>
      </p:graphicFrame>
    </p:spTree>
    <p:extLst>
      <p:ext uri="{BB962C8B-B14F-4D97-AF65-F5344CB8AC3E}">
        <p14:creationId xmlns:p14="http://schemas.microsoft.com/office/powerpoint/2010/main" val="2424751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0E5DF2-B80C-6A09-536C-7C6C452A9EB5}"/>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Sprint-3 User backlog </a:t>
            </a:r>
          </a:p>
        </p:txBody>
      </p:sp>
      <p:sp>
        <p:nvSpPr>
          <p:cNvPr id="8" name="Content Placeholder 7">
            <a:extLst>
              <a:ext uri="{FF2B5EF4-FFF2-40B4-BE49-F238E27FC236}">
                <a16:creationId xmlns:a16="http://schemas.microsoft.com/office/drawing/2014/main" id="{A076F325-51C9-F7D7-214D-E04B60AA0C48}"/>
              </a:ext>
            </a:extLst>
          </p:cNvPr>
          <p:cNvSpPr>
            <a:spLocks noGrp="1"/>
          </p:cNvSpPr>
          <p:nvPr>
            <p:ph idx="1"/>
          </p:nvPr>
        </p:nvSpPr>
        <p:spPr/>
        <p:txBody>
          <a:bodyPr/>
          <a:lstStyle/>
          <a:p>
            <a:endParaRPr lang="en-US"/>
          </a:p>
        </p:txBody>
      </p:sp>
      <p:graphicFrame>
        <p:nvGraphicFramePr>
          <p:cNvPr id="9" name="Content Placeholder 4">
            <a:extLst>
              <a:ext uri="{FF2B5EF4-FFF2-40B4-BE49-F238E27FC236}">
                <a16:creationId xmlns:a16="http://schemas.microsoft.com/office/drawing/2014/main" id="{6AEFBDFE-E49E-FCC4-DAC0-1F77D89BB0E3}"/>
              </a:ext>
            </a:extLst>
          </p:cNvPr>
          <p:cNvGraphicFramePr>
            <a:graphicFrameLocks/>
          </p:cNvGraphicFramePr>
          <p:nvPr>
            <p:extLst>
              <p:ext uri="{D42A27DB-BD31-4B8C-83A1-F6EECF244321}">
                <p14:modId xmlns:p14="http://schemas.microsoft.com/office/powerpoint/2010/main" val="3996440126"/>
              </p:ext>
            </p:extLst>
          </p:nvPr>
        </p:nvGraphicFramePr>
        <p:xfrm>
          <a:off x="112542" y="1764217"/>
          <a:ext cx="11929403" cy="4650028"/>
        </p:xfrm>
        <a:graphic>
          <a:graphicData uri="http://schemas.openxmlformats.org/drawingml/2006/table">
            <a:tbl>
              <a:tblPr firstRow="1" bandRow="1">
                <a:tableStyleId>{5C22544A-7EE6-4342-B048-85BDC9FD1C3A}</a:tableStyleId>
              </a:tblPr>
              <a:tblGrid>
                <a:gridCol w="733947">
                  <a:extLst>
                    <a:ext uri="{9D8B030D-6E8A-4147-A177-3AD203B41FA5}">
                      <a16:colId xmlns:a16="http://schemas.microsoft.com/office/drawing/2014/main" val="1403022323"/>
                    </a:ext>
                  </a:extLst>
                </a:gridCol>
                <a:gridCol w="5022081">
                  <a:extLst>
                    <a:ext uri="{9D8B030D-6E8A-4147-A177-3AD203B41FA5}">
                      <a16:colId xmlns:a16="http://schemas.microsoft.com/office/drawing/2014/main" val="1981049063"/>
                    </a:ext>
                  </a:extLst>
                </a:gridCol>
                <a:gridCol w="3897929">
                  <a:extLst>
                    <a:ext uri="{9D8B030D-6E8A-4147-A177-3AD203B41FA5}">
                      <a16:colId xmlns:a16="http://schemas.microsoft.com/office/drawing/2014/main" val="3829358648"/>
                    </a:ext>
                  </a:extLst>
                </a:gridCol>
                <a:gridCol w="1510511">
                  <a:extLst>
                    <a:ext uri="{9D8B030D-6E8A-4147-A177-3AD203B41FA5}">
                      <a16:colId xmlns:a16="http://schemas.microsoft.com/office/drawing/2014/main" val="3415755263"/>
                    </a:ext>
                  </a:extLst>
                </a:gridCol>
                <a:gridCol w="764935">
                  <a:extLst>
                    <a:ext uri="{9D8B030D-6E8A-4147-A177-3AD203B41FA5}">
                      <a16:colId xmlns:a16="http://schemas.microsoft.com/office/drawing/2014/main" val="2023515234"/>
                    </a:ext>
                  </a:extLst>
                </a:gridCol>
              </a:tblGrid>
              <a:tr h="1162507">
                <a:tc>
                  <a:txBody>
                    <a:bodyPr/>
                    <a:lstStyle/>
                    <a:p>
                      <a:pPr algn="l" fontAlgn="t"/>
                      <a:endParaRPr lang="en-US" sz="1700" u="none" strike="noStrike">
                        <a:effectLst/>
                      </a:endParaRPr>
                    </a:p>
                    <a:p>
                      <a:pPr algn="l" fontAlgn="t"/>
                      <a:r>
                        <a:rPr lang="en-US" sz="1700" u="none" strike="noStrike">
                          <a:effectLst/>
                        </a:rPr>
                        <a:t>S.NO</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l" fontAlgn="t"/>
                      <a:endParaRPr lang="en-US" sz="1700" u="none" strike="noStrike">
                        <a:effectLst/>
                      </a:endParaRPr>
                    </a:p>
                    <a:p>
                      <a:pPr algn="ctr" fontAlgn="t"/>
                      <a:r>
                        <a:rPr lang="en-US" sz="1700" u="none" strike="noStrike">
                          <a:effectLst/>
                        </a:rPr>
                        <a:t>User Story</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l" fontAlgn="t"/>
                      <a:endParaRPr lang="en-US" sz="1700" u="none" strike="noStrike">
                        <a:effectLst/>
                      </a:endParaRPr>
                    </a:p>
                    <a:p>
                      <a:pPr algn="ctr" fontAlgn="t"/>
                      <a:r>
                        <a:rPr lang="en-US" sz="1700" u="none" strike="noStrike">
                          <a:effectLst/>
                        </a:rPr>
                        <a:t>Acceptance Criteria</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l" fontAlgn="t"/>
                      <a:endParaRPr lang="en-US" sz="1700" u="none" strike="noStrike">
                        <a:effectLst/>
                      </a:endParaRPr>
                    </a:p>
                    <a:p>
                      <a:pPr algn="l" fontAlgn="t"/>
                      <a:r>
                        <a:rPr lang="en-US" sz="1700" u="none" strike="noStrike">
                          <a:effectLst/>
                        </a:rPr>
                        <a:t>Feature</a:t>
                      </a:r>
                      <a:endParaRPr lang="en-US" sz="1700" b="1" i="0" u="none" strike="noStrike">
                        <a:solidFill>
                          <a:srgbClr val="000000"/>
                        </a:solidFill>
                        <a:effectLst/>
                        <a:latin typeface="Calibri" panose="020F0502020204030204" pitchFamily="34" charset="0"/>
                      </a:endParaRPr>
                    </a:p>
                  </a:txBody>
                  <a:tcPr marL="8403" marR="8403" marT="8403" marB="0" anchor="ctr"/>
                </a:tc>
                <a:tc>
                  <a:txBody>
                    <a:bodyPr/>
                    <a:lstStyle/>
                    <a:p>
                      <a:pPr algn="ctr" fontAlgn="t"/>
                      <a:r>
                        <a:rPr lang="en-US" sz="1700" u="none" strike="noStrike">
                          <a:effectLst/>
                        </a:rPr>
                        <a:t>Story Points</a:t>
                      </a:r>
                      <a:endParaRPr lang="en-US" sz="1700" b="1" i="0" u="none" strike="noStrike">
                        <a:solidFill>
                          <a:srgbClr val="000000"/>
                        </a:solidFill>
                        <a:effectLst/>
                        <a:latin typeface="Calibri" panose="020F0502020204030204" pitchFamily="34" charset="0"/>
                      </a:endParaRPr>
                    </a:p>
                  </a:txBody>
                  <a:tcPr marL="8403" marR="8403" marT="8403" marB="0" anchor="ctr"/>
                </a:tc>
                <a:extLst>
                  <a:ext uri="{0D108BD9-81ED-4DB2-BD59-A6C34878D82A}">
                    <a16:rowId xmlns:a16="http://schemas.microsoft.com/office/drawing/2014/main" val="960775581"/>
                  </a:ext>
                </a:extLst>
              </a:tr>
              <a:tr h="1162507">
                <a:tc>
                  <a:txBody>
                    <a:bodyPr/>
                    <a:lstStyle/>
                    <a:p>
                      <a:pPr algn="l" fontAlgn="b"/>
                      <a:r>
                        <a:rPr lang="en-US" sz="1700" b="0" i="0" u="none" strike="noStrike">
                          <a:solidFill>
                            <a:srgbClr val="000000"/>
                          </a:solidFill>
                          <a:effectLst/>
                          <a:latin typeface="Calibri" panose="020F0502020204030204" pitchFamily="34" charset="0"/>
                        </a:rPr>
                        <a:t>US_09</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As a user, I want to file a dispute for fraudulent charges so the bank can take action.</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User fills dispute form linked to a specific transaction.</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Fraud Dispute Filing</a:t>
                      </a:r>
                    </a:p>
                  </a:txBody>
                  <a:tcPr marL="9525" marR="9525" marT="9525" marB="0" anchor="ctr"/>
                </a:tc>
                <a:tc>
                  <a:txBody>
                    <a:bodyPr/>
                    <a:lstStyle/>
                    <a:p>
                      <a:pPr algn="ctr" fontAlgn="b"/>
                      <a:r>
                        <a:rPr lang="en-US" sz="17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2747301234"/>
                  </a:ext>
                </a:extLst>
              </a:tr>
              <a:tr h="1162507">
                <a:tc>
                  <a:txBody>
                    <a:bodyPr/>
                    <a:lstStyle/>
                    <a:p>
                      <a:pPr algn="l" fontAlgn="b"/>
                      <a:r>
                        <a:rPr lang="en-US" sz="1700" b="0" i="0" u="none" strike="noStrike">
                          <a:solidFill>
                            <a:srgbClr val="000000"/>
                          </a:solidFill>
                          <a:effectLst/>
                          <a:latin typeface="Calibri" panose="020F0502020204030204" pitchFamily="34" charset="0"/>
                        </a:rPr>
                        <a:t>US_10</a:t>
                      </a:r>
                    </a:p>
                  </a:txBody>
                  <a:tcPr marL="9525" marR="9525" marT="9525"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700"/>
                    </a:p>
                    <a:p>
                      <a:pPr marL="0" marR="0" lvl="0" indent="0" algn="l" defTabSz="914400" rtl="0" eaLnBrk="1" fontAlgn="b" latinLnBrk="0" hangingPunct="1">
                        <a:lnSpc>
                          <a:spcPct val="100000"/>
                        </a:lnSpc>
                        <a:spcBef>
                          <a:spcPts val="0"/>
                        </a:spcBef>
                        <a:spcAft>
                          <a:spcPts val="0"/>
                        </a:spcAft>
                        <a:buClrTx/>
                        <a:buSzTx/>
                        <a:buFontTx/>
                        <a:buNone/>
                        <a:tabLst/>
                        <a:defRPr/>
                      </a:pPr>
                      <a:r>
                        <a:rPr lang="en-US" sz="1700"/>
                        <a:t>As a user, I want the system to monitor all my cards so that I can stay informed and protected.</a:t>
                      </a:r>
                    </a:p>
                    <a:p>
                      <a:pPr algn="l" fontAlgn="b"/>
                      <a:endParaRPr lang="en-US" sz="17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en-US" sz="1700"/>
                        <a:t>The system monitors activity on all user-linked cards.</a:t>
                      </a:r>
                      <a:endParaRPr lang="en-US" sz="17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en-US" sz="1700"/>
                        <a:t>Real-time card activity tracking</a:t>
                      </a:r>
                      <a:endParaRPr lang="en-US" sz="17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700" b="0" i="0" u="none" strike="noStrike">
                          <a:solidFill>
                            <a:srgbClr val="000000"/>
                          </a:solidFill>
                          <a:effectLst/>
                          <a:latin typeface="Calibri" panose="020F0502020204030204" pitchFamily="34" charset="0"/>
                        </a:rPr>
                        <a:t>14</a:t>
                      </a:r>
                    </a:p>
                  </a:txBody>
                  <a:tcPr marL="9525" marR="9525" marT="9525" marB="0" anchor="ctr"/>
                </a:tc>
                <a:extLst>
                  <a:ext uri="{0D108BD9-81ED-4DB2-BD59-A6C34878D82A}">
                    <a16:rowId xmlns:a16="http://schemas.microsoft.com/office/drawing/2014/main" val="3950812951"/>
                  </a:ext>
                </a:extLst>
              </a:tr>
              <a:tr h="1162507">
                <a:tc>
                  <a:txBody>
                    <a:bodyPr/>
                    <a:lstStyle/>
                    <a:p>
                      <a:pPr algn="l" fontAlgn="b"/>
                      <a:r>
                        <a:rPr lang="en-US" sz="1700" b="0" i="0" u="none" strike="noStrike">
                          <a:solidFill>
                            <a:srgbClr val="000000"/>
                          </a:solidFill>
                          <a:effectLst/>
                          <a:latin typeface="Calibri" panose="020F0502020204030204" pitchFamily="34" charset="0"/>
                        </a:rPr>
                        <a:t>US_11</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As a user, I want to enable/disable fraud notifications so I have control over alerts.</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User can toggle notification preferences in settings.</a:t>
                      </a:r>
                    </a:p>
                  </a:txBody>
                  <a:tcPr marL="9525" marR="9525" marT="9525" marB="0" anchor="ctr"/>
                </a:tc>
                <a:tc>
                  <a:txBody>
                    <a:bodyPr/>
                    <a:lstStyle/>
                    <a:p>
                      <a:pPr algn="l" fontAlgn="b"/>
                      <a:r>
                        <a:rPr lang="en-US" sz="1700" b="0" i="0" u="none" strike="noStrike">
                          <a:solidFill>
                            <a:srgbClr val="000000"/>
                          </a:solidFill>
                          <a:effectLst/>
                          <a:latin typeface="Calibri" panose="020F0502020204030204" pitchFamily="34" charset="0"/>
                        </a:rPr>
                        <a:t>Notification Settings</a:t>
                      </a:r>
                    </a:p>
                  </a:txBody>
                  <a:tcPr marL="9525" marR="9525" marT="9525" marB="0" anchor="ctr"/>
                </a:tc>
                <a:tc>
                  <a:txBody>
                    <a:bodyPr/>
                    <a:lstStyle/>
                    <a:p>
                      <a:pPr algn="ctr" fontAlgn="b"/>
                      <a:r>
                        <a:rPr lang="en-US" sz="1700" b="0" i="0" u="none" strike="noStrike">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349745193"/>
                  </a:ext>
                </a:extLst>
              </a:tr>
            </a:tbl>
          </a:graphicData>
        </a:graphic>
      </p:graphicFrame>
    </p:spTree>
    <p:extLst>
      <p:ext uri="{BB962C8B-B14F-4D97-AF65-F5344CB8AC3E}">
        <p14:creationId xmlns:p14="http://schemas.microsoft.com/office/powerpoint/2010/main" val="106141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EE2D9D-0B9B-2DEA-F6C0-D443B678060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a:solidFill>
                  <a:srgbClr val="FFFFFF"/>
                </a:solidFill>
                <a:latin typeface="Calibri"/>
                <a:ea typeface="Calibri"/>
                <a:cs typeface="Calibri"/>
              </a:rPr>
              <a:t>Sprint-3Test</a:t>
            </a:r>
            <a:r>
              <a:rPr lang="en-US" sz="4000" b="1" kern="1200">
                <a:solidFill>
                  <a:srgbClr val="FFFFFF"/>
                </a:solidFill>
                <a:latin typeface="Calibri"/>
                <a:ea typeface="Calibri"/>
                <a:cs typeface="Calibri"/>
              </a:rPr>
              <a:t> Cases</a:t>
            </a:r>
          </a:p>
        </p:txBody>
      </p:sp>
      <p:graphicFrame>
        <p:nvGraphicFramePr>
          <p:cNvPr id="4" name="Table 3">
            <a:extLst>
              <a:ext uri="{FF2B5EF4-FFF2-40B4-BE49-F238E27FC236}">
                <a16:creationId xmlns:a16="http://schemas.microsoft.com/office/drawing/2014/main" id="{89998EED-C643-C5CA-2205-D8C187BB2DDB}"/>
              </a:ext>
            </a:extLst>
          </p:cNvPr>
          <p:cNvGraphicFramePr>
            <a:graphicFrameLocks noGrp="1"/>
          </p:cNvGraphicFramePr>
          <p:nvPr>
            <p:extLst>
              <p:ext uri="{D42A27DB-BD31-4B8C-83A1-F6EECF244321}">
                <p14:modId xmlns:p14="http://schemas.microsoft.com/office/powerpoint/2010/main" val="1694174629"/>
              </p:ext>
            </p:extLst>
          </p:nvPr>
        </p:nvGraphicFramePr>
        <p:xfrm>
          <a:off x="2" y="1655276"/>
          <a:ext cx="12191998" cy="5001399"/>
        </p:xfrm>
        <a:graphic>
          <a:graphicData uri="http://schemas.openxmlformats.org/drawingml/2006/table">
            <a:tbl>
              <a:tblPr firstRow="1" bandRow="1">
                <a:tableStyleId>{5C22544A-7EE6-4342-B048-85BDC9FD1C3A}</a:tableStyleId>
              </a:tblPr>
              <a:tblGrid>
                <a:gridCol w="750988">
                  <a:extLst>
                    <a:ext uri="{9D8B030D-6E8A-4147-A177-3AD203B41FA5}">
                      <a16:colId xmlns:a16="http://schemas.microsoft.com/office/drawing/2014/main" val="3024870283"/>
                    </a:ext>
                  </a:extLst>
                </a:gridCol>
                <a:gridCol w="750988">
                  <a:extLst>
                    <a:ext uri="{9D8B030D-6E8A-4147-A177-3AD203B41FA5}">
                      <a16:colId xmlns:a16="http://schemas.microsoft.com/office/drawing/2014/main" val="871049167"/>
                    </a:ext>
                  </a:extLst>
                </a:gridCol>
                <a:gridCol w="3599789">
                  <a:extLst>
                    <a:ext uri="{9D8B030D-6E8A-4147-A177-3AD203B41FA5}">
                      <a16:colId xmlns:a16="http://schemas.microsoft.com/office/drawing/2014/main" val="4063394581"/>
                    </a:ext>
                  </a:extLst>
                </a:gridCol>
                <a:gridCol w="4344090">
                  <a:extLst>
                    <a:ext uri="{9D8B030D-6E8A-4147-A177-3AD203B41FA5}">
                      <a16:colId xmlns:a16="http://schemas.microsoft.com/office/drawing/2014/main" val="1119478212"/>
                    </a:ext>
                  </a:extLst>
                </a:gridCol>
                <a:gridCol w="2102817">
                  <a:extLst>
                    <a:ext uri="{9D8B030D-6E8A-4147-A177-3AD203B41FA5}">
                      <a16:colId xmlns:a16="http://schemas.microsoft.com/office/drawing/2014/main" val="2777596622"/>
                    </a:ext>
                  </a:extLst>
                </a:gridCol>
                <a:gridCol w="643326">
                  <a:extLst>
                    <a:ext uri="{9D8B030D-6E8A-4147-A177-3AD203B41FA5}">
                      <a16:colId xmlns:a16="http://schemas.microsoft.com/office/drawing/2014/main" val="1822710263"/>
                    </a:ext>
                  </a:extLst>
                </a:gridCol>
              </a:tblGrid>
              <a:tr h="156876">
                <a:tc>
                  <a:txBody>
                    <a:bodyPr/>
                    <a:lstStyle/>
                    <a:p>
                      <a:pPr algn="ctr" fontAlgn="t"/>
                      <a:r>
                        <a:rPr lang="en-US" sz="1300" u="none" strike="noStrike">
                          <a:effectLst/>
                          <a:latin typeface="Calibri"/>
                        </a:rPr>
                        <a:t>US_ID</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TC_ID</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Test Case</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Steps</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Execution Status</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Result</a:t>
                      </a:r>
                      <a:endParaRPr lang="en-US" sz="1300" b="1" i="0" u="none" strike="noStrike">
                        <a:solidFill>
                          <a:srgbClr val="000000"/>
                        </a:solidFill>
                        <a:effectLst/>
                        <a:latin typeface="Calibri"/>
                      </a:endParaRPr>
                    </a:p>
                  </a:txBody>
                  <a:tcPr marL="9832" marR="9832" marT="9832" marB="0" anchor="ctr"/>
                </a:tc>
                <a:extLst>
                  <a:ext uri="{0D108BD9-81ED-4DB2-BD59-A6C34878D82A}">
                    <a16:rowId xmlns:a16="http://schemas.microsoft.com/office/drawing/2014/main" val="326236406"/>
                  </a:ext>
                </a:extLst>
              </a:tr>
              <a:tr h="1040545">
                <a:tc>
                  <a:txBody>
                    <a:bodyPr/>
                    <a:lstStyle/>
                    <a:p>
                      <a:pPr algn="l" fontAlgn="b"/>
                      <a:r>
                        <a:rPr lang="en-US" sz="1300" u="none" strike="noStrike">
                          <a:effectLst/>
                          <a:latin typeface="Calibri"/>
                        </a:rPr>
                        <a:t>US_05</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TC_31</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Trigger Fraud Alert for Suspicious Transaction</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1. Login as Customer</a:t>
                      </a:r>
                      <a:br>
                        <a:rPr lang="en-US" sz="1300" u="none" strike="noStrike">
                          <a:effectLst/>
                          <a:latin typeface="Calibri"/>
                        </a:rPr>
                      </a:br>
                      <a:r>
                        <a:rPr lang="en-US" sz="1300" u="none" strike="noStrike">
                          <a:effectLst/>
                          <a:latin typeface="Calibri"/>
                        </a:rPr>
                        <a:t>2. Perform high-value transaction</a:t>
                      </a:r>
                      <a:br>
                        <a:rPr lang="en-US" sz="1300" u="none" strike="noStrike">
                          <a:effectLst/>
                          <a:latin typeface="Calibri"/>
                        </a:rPr>
                      </a:br>
                      <a:r>
                        <a:rPr lang="en-US" sz="1300" u="none" strike="noStrike">
                          <a:effectLst/>
                          <a:latin typeface="Calibri"/>
                        </a:rPr>
                        <a:t>3. Check system fraud alert</a:t>
                      </a:r>
                      <a:br>
                        <a:rPr lang="en-US" sz="1300" u="none" strike="noStrike">
                          <a:effectLst/>
                          <a:latin typeface="Calibri"/>
                        </a:rPr>
                      </a:br>
                      <a:r>
                        <a:rPr lang="en-US" sz="1300" u="none" strike="noStrike">
                          <a:effectLst/>
                          <a:latin typeface="Calibri"/>
                        </a:rPr>
                        <a:t>4. Validate alert is logged</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Fraud alert should trigger</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Pass</a:t>
                      </a:r>
                      <a:endParaRPr lang="en-US" sz="1300" b="0" i="0" u="none" strike="noStrike">
                        <a:solidFill>
                          <a:srgbClr val="000000"/>
                        </a:solidFill>
                        <a:effectLst/>
                        <a:latin typeface="Calibri"/>
                      </a:endParaRPr>
                    </a:p>
                  </a:txBody>
                  <a:tcPr marL="9832" marR="9832" marT="9832" marB="0" anchor="ctr"/>
                </a:tc>
                <a:extLst>
                  <a:ext uri="{0D108BD9-81ED-4DB2-BD59-A6C34878D82A}">
                    <a16:rowId xmlns:a16="http://schemas.microsoft.com/office/drawing/2014/main" val="929835385"/>
                  </a:ext>
                </a:extLst>
              </a:tr>
              <a:tr h="1283096">
                <a:tc>
                  <a:txBody>
                    <a:bodyPr/>
                    <a:lstStyle/>
                    <a:p>
                      <a:pPr algn="l" fontAlgn="b"/>
                      <a:r>
                        <a:rPr lang="en-US" sz="1300" u="none" strike="noStrike">
                          <a:effectLst/>
                          <a:latin typeface="Calibri"/>
                        </a:rPr>
                        <a:t>US_06</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TC_33</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Approve/Decline Suspicious Transaction</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1. Login as Analyst</a:t>
                      </a:r>
                      <a:br>
                        <a:rPr lang="en-US" sz="1300" u="none" strike="noStrike">
                          <a:effectLst/>
                          <a:latin typeface="Calibri"/>
                        </a:rPr>
                      </a:br>
                      <a:r>
                        <a:rPr lang="en-US" sz="1300" u="none" strike="noStrike">
                          <a:effectLst/>
                          <a:latin typeface="Calibri"/>
                        </a:rPr>
                        <a:t>2. Open fraud alert</a:t>
                      </a:r>
                      <a:br>
                        <a:rPr lang="en-US" sz="1300" u="none" strike="noStrike">
                          <a:effectLst/>
                          <a:latin typeface="Calibri"/>
                        </a:rPr>
                      </a:br>
                      <a:r>
                        <a:rPr lang="en-US" sz="1300" u="none" strike="noStrike">
                          <a:effectLst/>
                          <a:latin typeface="Calibri"/>
                        </a:rPr>
                        <a:t>3. Approve/Decline</a:t>
                      </a:r>
                      <a:br>
                        <a:rPr lang="en-US" sz="1300" u="none" strike="noStrike">
                          <a:effectLst/>
                          <a:latin typeface="Calibri"/>
                        </a:rPr>
                      </a:br>
                      <a:r>
                        <a:rPr lang="en-US" sz="1300" u="none" strike="noStrike">
                          <a:effectLst/>
                          <a:latin typeface="Calibri"/>
                        </a:rPr>
                        <a:t>4. Add notes</a:t>
                      </a:r>
                      <a:br>
                        <a:rPr lang="en-US" sz="1300" u="none" strike="noStrike">
                          <a:effectLst/>
                          <a:latin typeface="Calibri"/>
                        </a:rPr>
                      </a:br>
                      <a:r>
                        <a:rPr lang="en-US" sz="1300" u="none" strike="noStrike">
                          <a:effectLst/>
                          <a:latin typeface="Calibri"/>
                        </a:rPr>
                        <a:t>5. Submit</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Decision recorded</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Pass</a:t>
                      </a:r>
                      <a:endParaRPr lang="en-US" sz="1300" b="0" i="0" u="none" strike="noStrike">
                        <a:solidFill>
                          <a:srgbClr val="000000"/>
                        </a:solidFill>
                        <a:effectLst/>
                        <a:latin typeface="Calibri"/>
                      </a:endParaRPr>
                    </a:p>
                  </a:txBody>
                  <a:tcPr marL="9832" marR="9832" marT="9832" marB="0" anchor="ctr"/>
                </a:tc>
                <a:extLst>
                  <a:ext uri="{0D108BD9-81ED-4DB2-BD59-A6C34878D82A}">
                    <a16:rowId xmlns:a16="http://schemas.microsoft.com/office/drawing/2014/main" val="83586553"/>
                  </a:ext>
                </a:extLst>
              </a:tr>
              <a:tr h="1283096">
                <a:tc>
                  <a:txBody>
                    <a:bodyPr/>
                    <a:lstStyle/>
                    <a:p>
                      <a:pPr algn="l" fontAlgn="b"/>
                      <a:r>
                        <a:rPr lang="en-US" sz="1300" u="none" strike="noStrike">
                          <a:effectLst/>
                          <a:latin typeface="Calibri"/>
                        </a:rPr>
                        <a:t>US_12</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a:effectLst/>
                          <a:latin typeface="Calibri"/>
                        </a:rPr>
                        <a:t>TC_39</a:t>
                      </a:r>
                      <a:endParaRPr lang="en-US" sz="1300" b="0" i="0" u="none" strike="noStrike">
                        <a:solidFill>
                          <a:srgbClr val="000000"/>
                        </a:solidFill>
                        <a:effectLst/>
                        <a:latin typeface="Calibri"/>
                      </a:endParaRPr>
                    </a:p>
                  </a:txBody>
                  <a:tcPr marL="7620" marR="7620" marT="7620" marB="0" anchor="ctr"/>
                </a:tc>
                <a:tc>
                  <a:txBody>
                    <a:bodyPr/>
                    <a:lstStyle/>
                    <a:p>
                      <a:pPr algn="l" fontAlgn="b"/>
                      <a:endParaRPr lang="en-US" sz="1300" u="none" strike="noStrike">
                        <a:effectLst/>
                        <a:latin typeface="Calibri"/>
                      </a:endParaRPr>
                    </a:p>
                    <a:p>
                      <a:pPr algn="l" fontAlgn="b"/>
                      <a:r>
                        <a:rPr lang="en-US" sz="1300" u="none" strike="noStrike">
                          <a:effectLst/>
                          <a:latin typeface="Calibri"/>
                        </a:rPr>
                        <a:t>Export Monthly Fraud Report</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a:effectLst/>
                          <a:latin typeface="Calibri"/>
                        </a:rPr>
                        <a:t>1. Login as Admin</a:t>
                      </a:r>
                      <a:br>
                        <a:rPr lang="en-US" sz="1300" u="none" strike="noStrike">
                          <a:effectLst/>
                          <a:latin typeface="Calibri"/>
                        </a:rPr>
                      </a:br>
                      <a:r>
                        <a:rPr lang="en-US" sz="1300" u="none" strike="noStrike">
                          <a:effectLst/>
                          <a:latin typeface="Calibri"/>
                        </a:rPr>
                        <a:t>2. Go to Reports</a:t>
                      </a:r>
                      <a:br>
                        <a:rPr lang="en-US" sz="1300" u="none" strike="noStrike">
                          <a:effectLst/>
                          <a:latin typeface="Calibri"/>
                        </a:rPr>
                      </a:br>
                      <a:r>
                        <a:rPr lang="en-US" sz="1300" u="none" strike="noStrike">
                          <a:effectLst/>
                          <a:latin typeface="Calibri"/>
                        </a:rPr>
                        <a:t>3. Generate Monthly Report</a:t>
                      </a:r>
                      <a:br>
                        <a:rPr lang="en-US" sz="1300" u="none" strike="noStrike">
                          <a:effectLst/>
                          <a:latin typeface="Calibri"/>
                        </a:rPr>
                      </a:br>
                      <a:r>
                        <a:rPr lang="en-US" sz="1300" u="none" strike="noStrike">
                          <a:effectLst/>
                          <a:latin typeface="Calibri"/>
                        </a:rPr>
                        <a:t>4. Download PDF/Excel</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a:effectLst/>
                          <a:latin typeface="Calibri"/>
                        </a:rPr>
                        <a:t>Report exported</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a:effectLst/>
                          <a:latin typeface="Calibri"/>
                        </a:rPr>
                        <a:t>Pass</a:t>
                      </a:r>
                      <a:endParaRPr lang="en-US" sz="1300" b="0" i="0" u="none" strike="noStrike">
                        <a:solidFill>
                          <a:srgbClr val="000000"/>
                        </a:solidFill>
                        <a:effectLst/>
                        <a:latin typeface="Calibri"/>
                      </a:endParaRPr>
                    </a:p>
                  </a:txBody>
                  <a:tcPr marL="7620" marR="7620" marT="7620" marB="0" anchor="ctr"/>
                </a:tc>
                <a:extLst>
                  <a:ext uri="{0D108BD9-81ED-4DB2-BD59-A6C34878D82A}">
                    <a16:rowId xmlns:a16="http://schemas.microsoft.com/office/drawing/2014/main" val="442543891"/>
                  </a:ext>
                </a:extLst>
              </a:tr>
              <a:tr h="1186710">
                <a:tc>
                  <a:txBody>
                    <a:bodyPr/>
                    <a:lstStyle/>
                    <a:p>
                      <a:pPr algn="l" fontAlgn="b"/>
                      <a:r>
                        <a:rPr lang="en-US" sz="1300" b="0" i="0" u="none" strike="noStrike">
                          <a:solidFill>
                            <a:srgbClr val="000000"/>
                          </a:solidFill>
                          <a:effectLst/>
                          <a:latin typeface="Calibri" panose="020F0502020204030204" pitchFamily="34" charset="0"/>
                        </a:rPr>
                        <a:t>US_09</a:t>
                      </a:r>
                    </a:p>
                  </a:txBody>
                  <a:tcPr marL="9525" marR="9525" marT="9525" marB="0" anchor="ctr"/>
                </a:tc>
                <a:tc>
                  <a:txBody>
                    <a:bodyPr/>
                    <a:lstStyle/>
                    <a:p>
                      <a:pPr algn="l" fontAlgn="b"/>
                      <a:r>
                        <a:rPr lang="en-US" sz="1300" b="0" i="0" u="none" strike="noStrike">
                          <a:solidFill>
                            <a:srgbClr val="000000"/>
                          </a:solidFill>
                          <a:effectLst/>
                          <a:latin typeface="Calibri" panose="020F0502020204030204" pitchFamily="34" charset="0"/>
                        </a:rPr>
                        <a:t>TC_36</a:t>
                      </a:r>
                    </a:p>
                  </a:txBody>
                  <a:tcPr marL="9525" marR="9525" marT="9525"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a:solidFill>
                          <a:srgbClr val="000000"/>
                        </a:solidFill>
                        <a:effectLst/>
                        <a:latin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a:solidFill>
                            <a:srgbClr val="000000"/>
                          </a:solidFill>
                          <a:effectLst/>
                          <a:latin typeface="Calibri" panose="020F0502020204030204" pitchFamily="34" charset="0"/>
                        </a:rPr>
                        <a:t>Customer Receives Fraud Notification</a:t>
                      </a:r>
                    </a:p>
                    <a:p>
                      <a:pPr algn="l" fontAlgn="b"/>
                      <a:endParaRPr lang="en-US" sz="13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en-US" sz="1300" b="0" i="0" u="none" strike="noStrike">
                          <a:solidFill>
                            <a:srgbClr val="000000"/>
                          </a:solidFill>
                          <a:effectLst/>
                          <a:latin typeface="Calibri" panose="020F0502020204030204" pitchFamily="34" charset="0"/>
                        </a:rPr>
                        <a:t>1. Trigger fraud</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System blocks card</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Notification sent SMS/Email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Verify message</a:t>
                      </a:r>
                    </a:p>
                  </a:txBody>
                  <a:tcPr marL="9525" marR="9525" marT="9525" marB="0" anchor="ctr"/>
                </a:tc>
                <a:tc>
                  <a:txBody>
                    <a:bodyPr/>
                    <a:lstStyle/>
                    <a:p>
                      <a:pPr algn="l" fontAlgn="b"/>
                      <a:r>
                        <a:rPr lang="en-US" sz="1300" b="0" i="0" u="none" strike="noStrike">
                          <a:solidFill>
                            <a:srgbClr val="000000"/>
                          </a:solidFill>
                          <a:effectLst/>
                          <a:latin typeface="Calibri" panose="020F0502020204030204" pitchFamily="34" charset="0"/>
                        </a:rPr>
                        <a:t>Notification received</a:t>
                      </a:r>
                    </a:p>
                  </a:txBody>
                  <a:tcPr marL="9525" marR="9525" marT="9525" marB="0" anchor="ctr"/>
                </a:tc>
                <a:tc>
                  <a:txBody>
                    <a:bodyPr/>
                    <a:lstStyle/>
                    <a:p>
                      <a:pPr algn="l" fontAlgn="b"/>
                      <a:r>
                        <a:rPr lang="en-US" sz="1300" b="0" i="0" u="none" strike="noStrike">
                          <a:solidFill>
                            <a:srgbClr val="000000"/>
                          </a:solidFill>
                          <a:effectLst/>
                          <a:latin typeface="Calibri" panose="020F0502020204030204" pitchFamily="34" charset="0"/>
                        </a:rPr>
                        <a:t>Pass</a:t>
                      </a:r>
                    </a:p>
                  </a:txBody>
                  <a:tcPr marL="9525" marR="9525" marT="9525" marB="0" anchor="ctr"/>
                </a:tc>
                <a:extLst>
                  <a:ext uri="{0D108BD9-81ED-4DB2-BD59-A6C34878D82A}">
                    <a16:rowId xmlns:a16="http://schemas.microsoft.com/office/drawing/2014/main" val="3670638437"/>
                  </a:ext>
                </a:extLst>
              </a:tr>
            </a:tbl>
          </a:graphicData>
        </a:graphic>
      </p:graphicFrame>
    </p:spTree>
    <p:extLst>
      <p:ext uri="{BB962C8B-B14F-4D97-AF65-F5344CB8AC3E}">
        <p14:creationId xmlns:p14="http://schemas.microsoft.com/office/powerpoint/2010/main" val="1900112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EE2D9D-0B9B-2DEA-F6C0-D443B678060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solidFill>
                  <a:schemeClr val="bg1"/>
                </a:solidFill>
                <a:latin typeface="Calibri"/>
                <a:ea typeface="Calibri"/>
                <a:cs typeface="Calibri"/>
              </a:rPr>
              <a:t>Sprint-3 Test Cases</a:t>
            </a:r>
          </a:p>
        </p:txBody>
      </p:sp>
      <p:graphicFrame>
        <p:nvGraphicFramePr>
          <p:cNvPr id="4" name="Table 3">
            <a:extLst>
              <a:ext uri="{FF2B5EF4-FFF2-40B4-BE49-F238E27FC236}">
                <a16:creationId xmlns:a16="http://schemas.microsoft.com/office/drawing/2014/main" id="{89998EED-C643-C5CA-2205-D8C187BB2DDB}"/>
              </a:ext>
            </a:extLst>
          </p:cNvPr>
          <p:cNvGraphicFramePr>
            <a:graphicFrameLocks noGrp="1"/>
          </p:cNvGraphicFramePr>
          <p:nvPr>
            <p:extLst>
              <p:ext uri="{D42A27DB-BD31-4B8C-83A1-F6EECF244321}">
                <p14:modId xmlns:p14="http://schemas.microsoft.com/office/powerpoint/2010/main" val="2683749103"/>
              </p:ext>
            </p:extLst>
          </p:nvPr>
        </p:nvGraphicFramePr>
        <p:xfrm>
          <a:off x="-3" y="2042663"/>
          <a:ext cx="12191998" cy="4567299"/>
        </p:xfrm>
        <a:graphic>
          <a:graphicData uri="http://schemas.openxmlformats.org/drawingml/2006/table">
            <a:tbl>
              <a:tblPr firstRow="1" bandRow="1">
                <a:tableStyleId>{5C22544A-7EE6-4342-B048-85BDC9FD1C3A}</a:tableStyleId>
              </a:tblPr>
              <a:tblGrid>
                <a:gridCol w="750989">
                  <a:extLst>
                    <a:ext uri="{9D8B030D-6E8A-4147-A177-3AD203B41FA5}">
                      <a16:colId xmlns:a16="http://schemas.microsoft.com/office/drawing/2014/main" val="3024870283"/>
                    </a:ext>
                  </a:extLst>
                </a:gridCol>
                <a:gridCol w="750989">
                  <a:extLst>
                    <a:ext uri="{9D8B030D-6E8A-4147-A177-3AD203B41FA5}">
                      <a16:colId xmlns:a16="http://schemas.microsoft.com/office/drawing/2014/main" val="871049167"/>
                    </a:ext>
                  </a:extLst>
                </a:gridCol>
                <a:gridCol w="3599789">
                  <a:extLst>
                    <a:ext uri="{9D8B030D-6E8A-4147-A177-3AD203B41FA5}">
                      <a16:colId xmlns:a16="http://schemas.microsoft.com/office/drawing/2014/main" val="4063394581"/>
                    </a:ext>
                  </a:extLst>
                </a:gridCol>
                <a:gridCol w="4344089">
                  <a:extLst>
                    <a:ext uri="{9D8B030D-6E8A-4147-A177-3AD203B41FA5}">
                      <a16:colId xmlns:a16="http://schemas.microsoft.com/office/drawing/2014/main" val="1119478212"/>
                    </a:ext>
                  </a:extLst>
                </a:gridCol>
                <a:gridCol w="2102817">
                  <a:extLst>
                    <a:ext uri="{9D8B030D-6E8A-4147-A177-3AD203B41FA5}">
                      <a16:colId xmlns:a16="http://schemas.microsoft.com/office/drawing/2014/main" val="2777596622"/>
                    </a:ext>
                  </a:extLst>
                </a:gridCol>
                <a:gridCol w="643325">
                  <a:extLst>
                    <a:ext uri="{9D8B030D-6E8A-4147-A177-3AD203B41FA5}">
                      <a16:colId xmlns:a16="http://schemas.microsoft.com/office/drawing/2014/main" val="1822710263"/>
                    </a:ext>
                  </a:extLst>
                </a:gridCol>
              </a:tblGrid>
              <a:tr h="388643">
                <a:tc>
                  <a:txBody>
                    <a:bodyPr/>
                    <a:lstStyle/>
                    <a:p>
                      <a:pPr algn="ctr" fontAlgn="t"/>
                      <a:r>
                        <a:rPr lang="en-US" sz="1300" u="none" strike="noStrike">
                          <a:effectLst/>
                          <a:latin typeface="Calibri"/>
                        </a:rPr>
                        <a:t>US_ID</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TC_ID</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Test Case</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Steps</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Execution Status</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Result</a:t>
                      </a:r>
                      <a:endParaRPr lang="en-US" sz="1300" b="1" i="0" u="none" strike="noStrike">
                        <a:solidFill>
                          <a:srgbClr val="000000"/>
                        </a:solidFill>
                        <a:effectLst/>
                        <a:latin typeface="Calibri"/>
                      </a:endParaRPr>
                    </a:p>
                  </a:txBody>
                  <a:tcPr marL="9832" marR="9832" marT="9832" marB="0" anchor="ctr"/>
                </a:tc>
                <a:extLst>
                  <a:ext uri="{0D108BD9-81ED-4DB2-BD59-A6C34878D82A}">
                    <a16:rowId xmlns:a16="http://schemas.microsoft.com/office/drawing/2014/main" val="326236406"/>
                  </a:ext>
                </a:extLst>
              </a:tr>
              <a:tr h="1292461">
                <a:tc>
                  <a:txBody>
                    <a:bodyPr/>
                    <a:lstStyle/>
                    <a:p>
                      <a:pPr algn="l" fontAlgn="b"/>
                      <a:r>
                        <a:rPr lang="en-US" sz="1100" b="0" i="0" u="none" strike="noStrike">
                          <a:solidFill>
                            <a:srgbClr val="000000"/>
                          </a:solidFill>
                          <a:effectLst/>
                          <a:latin typeface="Calibri"/>
                        </a:rPr>
                        <a:t>US_09</a:t>
                      </a:r>
                    </a:p>
                  </a:txBody>
                  <a:tcPr marL="9525" marR="9525" marT="9525" marB="0" anchor="ctr"/>
                </a:tc>
                <a:tc>
                  <a:txBody>
                    <a:bodyPr/>
                    <a:lstStyle/>
                    <a:p>
                      <a:pPr algn="l" fontAlgn="b"/>
                      <a:r>
                        <a:rPr lang="en-US" sz="1100" b="0" i="0" u="none" strike="noStrike">
                          <a:solidFill>
                            <a:srgbClr val="000000"/>
                          </a:solidFill>
                          <a:effectLst/>
                          <a:latin typeface="Calibri"/>
                        </a:rPr>
                        <a:t>TC_36</a:t>
                      </a:r>
                    </a:p>
                  </a:txBody>
                  <a:tcPr marL="9525" marR="9525" marT="9525" marB="0" anchor="ctr"/>
                </a:tc>
                <a:tc>
                  <a:txBody>
                    <a:bodyPr/>
                    <a:lstStyle/>
                    <a:p>
                      <a:pPr algn="l" fontAlgn="b"/>
                      <a:r>
                        <a:rPr lang="en-US" sz="1100" b="0" i="0" u="none" strike="noStrike">
                          <a:solidFill>
                            <a:srgbClr val="000000"/>
                          </a:solidFill>
                          <a:effectLst/>
                          <a:latin typeface="Calibri"/>
                        </a:rPr>
                        <a:t>Customer Receives Fraud Notification</a:t>
                      </a:r>
                    </a:p>
                  </a:txBody>
                  <a:tcPr marL="9525" marR="9525" marT="9525" marB="0" anchor="ctr"/>
                </a:tc>
                <a:tc>
                  <a:txBody>
                    <a:bodyPr/>
                    <a:lstStyle/>
                    <a:p>
                      <a:pPr algn="l" fontAlgn="b"/>
                      <a:r>
                        <a:rPr lang="en-US" sz="1100" b="0" i="0" u="none" strike="noStrike">
                          <a:solidFill>
                            <a:srgbClr val="000000"/>
                          </a:solidFill>
                          <a:effectLst/>
                          <a:latin typeface="Calibri"/>
                        </a:rPr>
                        <a:t>1. Trigger fraud</a:t>
                      </a:r>
                      <a:br>
                        <a:rPr lang="en-US" sz="1100" b="0" i="0" u="none" strike="noStrike">
                          <a:solidFill>
                            <a:srgbClr val="000000"/>
                          </a:solidFill>
                          <a:effectLst/>
                          <a:latin typeface="Calibri"/>
                        </a:rPr>
                      </a:br>
                      <a:r>
                        <a:rPr lang="en-US" sz="1100" b="0" i="0" u="none" strike="noStrike">
                          <a:solidFill>
                            <a:srgbClr val="000000"/>
                          </a:solidFill>
                          <a:effectLst/>
                          <a:latin typeface="Calibri"/>
                        </a:rPr>
                        <a:t>2. System blocks card</a:t>
                      </a:r>
                      <a:br>
                        <a:rPr lang="en-US" sz="1100" b="0" i="0" u="none" strike="noStrike">
                          <a:solidFill>
                            <a:srgbClr val="000000"/>
                          </a:solidFill>
                          <a:effectLst/>
                          <a:latin typeface="Calibri"/>
                        </a:rPr>
                      </a:br>
                      <a:r>
                        <a:rPr lang="en-US" sz="1100" b="0" i="0" u="none" strike="noStrike">
                          <a:solidFill>
                            <a:srgbClr val="000000"/>
                          </a:solidFill>
                          <a:effectLst/>
                          <a:latin typeface="Calibri"/>
                        </a:rPr>
                        <a:t>3. Notification sent SMS/Email</a:t>
                      </a:r>
                      <a:br>
                        <a:rPr lang="en-US" sz="1100" b="0" i="0" u="none" strike="noStrike">
                          <a:solidFill>
                            <a:srgbClr val="000000"/>
                          </a:solidFill>
                          <a:effectLst/>
                          <a:latin typeface="Calibri"/>
                        </a:rPr>
                      </a:br>
                      <a:r>
                        <a:rPr lang="en-US" sz="1100" b="0" i="0" u="none" strike="noStrike">
                          <a:solidFill>
                            <a:srgbClr val="000000"/>
                          </a:solidFill>
                          <a:effectLst/>
                          <a:latin typeface="Calibri"/>
                        </a:rPr>
                        <a:t>4. Verify message</a:t>
                      </a:r>
                    </a:p>
                  </a:txBody>
                  <a:tcPr marL="9525" marR="9525" marT="9525" marB="0" anchor="ctr"/>
                </a:tc>
                <a:tc>
                  <a:txBody>
                    <a:bodyPr/>
                    <a:lstStyle/>
                    <a:p>
                      <a:pPr algn="l" fontAlgn="b"/>
                      <a:r>
                        <a:rPr lang="en-US" sz="1100" b="0" i="0" u="none" strike="noStrike">
                          <a:solidFill>
                            <a:srgbClr val="000000"/>
                          </a:solidFill>
                          <a:effectLst/>
                          <a:latin typeface="Calibri"/>
                        </a:rPr>
                        <a:t>Notification received</a:t>
                      </a:r>
                    </a:p>
                  </a:txBody>
                  <a:tcPr marL="9525" marR="9525" marT="9525" marB="0" anchor="ctr"/>
                </a:tc>
                <a:tc>
                  <a:txBody>
                    <a:bodyPr/>
                    <a:lstStyle/>
                    <a:p>
                      <a:pPr algn="l" fontAlgn="b"/>
                      <a:r>
                        <a:rPr lang="en-US" sz="1100" b="0" i="0" u="none" strike="noStrike">
                          <a:solidFill>
                            <a:srgbClr val="000000"/>
                          </a:solidFill>
                          <a:effectLst/>
                          <a:latin typeface="Calibri"/>
                        </a:rPr>
                        <a:t>Pass</a:t>
                      </a:r>
                    </a:p>
                  </a:txBody>
                  <a:tcPr marL="9525" marR="9525" marT="9525" marB="0" anchor="ctr"/>
                </a:tc>
                <a:extLst>
                  <a:ext uri="{0D108BD9-81ED-4DB2-BD59-A6C34878D82A}">
                    <a16:rowId xmlns:a16="http://schemas.microsoft.com/office/drawing/2014/main" val="1481396234"/>
                  </a:ext>
                </a:extLst>
              </a:tr>
              <a:tr h="1593734">
                <a:tc>
                  <a:txBody>
                    <a:bodyPr/>
                    <a:lstStyle/>
                    <a:p>
                      <a:pPr algn="l" fontAlgn="b"/>
                      <a:r>
                        <a:rPr lang="en-US" sz="1100" b="0" i="0" u="none" strike="noStrike">
                          <a:solidFill>
                            <a:srgbClr val="000000"/>
                          </a:solidFill>
                          <a:effectLst/>
                          <a:latin typeface="Calibri"/>
                        </a:rPr>
                        <a:t>US_10</a:t>
                      </a:r>
                    </a:p>
                  </a:txBody>
                  <a:tcPr marL="9525" marR="9525" marT="9525" marB="0" anchor="ctr"/>
                </a:tc>
                <a:tc>
                  <a:txBody>
                    <a:bodyPr/>
                    <a:lstStyle/>
                    <a:p>
                      <a:pPr algn="l" fontAlgn="b"/>
                      <a:r>
                        <a:rPr lang="en-US" sz="1100" b="0" i="0" u="none" strike="noStrike">
                          <a:solidFill>
                            <a:srgbClr val="000000"/>
                          </a:solidFill>
                          <a:effectLst/>
                          <a:latin typeface="Calibri"/>
                        </a:rPr>
                        <a:t>TC_37</a:t>
                      </a:r>
                    </a:p>
                  </a:txBody>
                  <a:tcPr marL="9525" marR="9525" marT="9525" marB="0" anchor="ctr"/>
                </a:tc>
                <a:tc>
                  <a:txBody>
                    <a:bodyPr/>
                    <a:lstStyle/>
                    <a:p>
                      <a:pPr algn="l" fontAlgn="b"/>
                      <a:r>
                        <a:rPr lang="en-US" sz="1100" b="0" i="0" u="none" strike="noStrike">
                          <a:solidFill>
                            <a:srgbClr val="000000"/>
                          </a:solidFill>
                          <a:effectLst/>
                          <a:latin typeface="Calibri"/>
                        </a:rPr>
                        <a:t>False Positive Check – Legit Transaction</a:t>
                      </a:r>
                    </a:p>
                  </a:txBody>
                  <a:tcPr marL="9525" marR="9525" marT="9525" marB="0" anchor="ctr"/>
                </a:tc>
                <a:tc>
                  <a:txBody>
                    <a:bodyPr/>
                    <a:lstStyle/>
                    <a:p>
                      <a:pPr algn="l" fontAlgn="b"/>
                      <a:r>
                        <a:rPr lang="en-US" sz="1100" b="0" i="0" u="none" strike="noStrike">
                          <a:solidFill>
                            <a:srgbClr val="000000"/>
                          </a:solidFill>
                          <a:effectLst/>
                          <a:latin typeface="Calibri"/>
                        </a:rPr>
                        <a:t>1. Perform normal transaction</a:t>
                      </a:r>
                      <a:br>
                        <a:rPr lang="en-US" sz="1100" b="0" i="0" u="none" strike="noStrike">
                          <a:solidFill>
                            <a:srgbClr val="000000"/>
                          </a:solidFill>
                          <a:effectLst/>
                          <a:latin typeface="Calibri"/>
                        </a:rPr>
                      </a:br>
                      <a:r>
                        <a:rPr lang="en-US" sz="1100" b="0" i="0" u="none" strike="noStrike">
                          <a:solidFill>
                            <a:srgbClr val="000000"/>
                          </a:solidFill>
                          <a:effectLst/>
                          <a:latin typeface="Calibri"/>
                        </a:rPr>
                        <a:t>2. Model evaluates</a:t>
                      </a:r>
                      <a:br>
                        <a:rPr lang="en-US" sz="1100" b="0" i="0" u="none" strike="noStrike">
                          <a:solidFill>
                            <a:srgbClr val="000000"/>
                          </a:solidFill>
                          <a:effectLst/>
                          <a:latin typeface="Calibri"/>
                        </a:rPr>
                      </a:br>
                      <a:r>
                        <a:rPr lang="en-US" sz="1100" b="0" i="0" u="none" strike="noStrike">
                          <a:solidFill>
                            <a:srgbClr val="000000"/>
                          </a:solidFill>
                          <a:effectLst/>
                          <a:latin typeface="Calibri"/>
                        </a:rPr>
                        <a:t>3. No fraud alert</a:t>
                      </a:r>
                      <a:br>
                        <a:rPr lang="en-US" sz="1100" b="0" i="0" u="none" strike="noStrike">
                          <a:solidFill>
                            <a:srgbClr val="000000"/>
                          </a:solidFill>
                          <a:effectLst/>
                          <a:latin typeface="Calibri"/>
                        </a:rPr>
                      </a:br>
                      <a:r>
                        <a:rPr lang="en-US" sz="1100" b="0" i="0" u="none" strike="noStrike">
                          <a:solidFill>
                            <a:srgbClr val="000000"/>
                          </a:solidFill>
                          <a:effectLst/>
                          <a:latin typeface="Calibri"/>
                        </a:rPr>
                        <a:t>4. Transaction succeeds</a:t>
                      </a:r>
                    </a:p>
                  </a:txBody>
                  <a:tcPr marL="9525" marR="9525" marT="9525" marB="0" anchor="ctr"/>
                </a:tc>
                <a:tc>
                  <a:txBody>
                    <a:bodyPr/>
                    <a:lstStyle/>
                    <a:p>
                      <a:pPr algn="l" fontAlgn="b"/>
                      <a:r>
                        <a:rPr lang="en-US" sz="1100" b="0" i="0" u="none" strike="noStrike">
                          <a:solidFill>
                            <a:srgbClr val="000000"/>
                          </a:solidFill>
                          <a:effectLst/>
                          <a:latin typeface="Calibri"/>
                        </a:rPr>
                        <a:t>Transaction allowed</a:t>
                      </a:r>
                    </a:p>
                  </a:txBody>
                  <a:tcPr marL="9525" marR="9525" marT="9525" marB="0" anchor="ctr"/>
                </a:tc>
                <a:tc>
                  <a:txBody>
                    <a:bodyPr/>
                    <a:lstStyle/>
                    <a:p>
                      <a:pPr algn="l" fontAlgn="b"/>
                      <a:r>
                        <a:rPr lang="en-US" sz="1100" b="0" i="0" u="none" strike="noStrike">
                          <a:solidFill>
                            <a:srgbClr val="000000"/>
                          </a:solidFill>
                          <a:effectLst/>
                          <a:latin typeface="Calibri"/>
                        </a:rPr>
                        <a:t>Pass</a:t>
                      </a:r>
                    </a:p>
                  </a:txBody>
                  <a:tcPr marL="9525" marR="9525" marT="9525" marB="0" anchor="ctr"/>
                </a:tc>
                <a:extLst>
                  <a:ext uri="{0D108BD9-81ED-4DB2-BD59-A6C34878D82A}">
                    <a16:rowId xmlns:a16="http://schemas.microsoft.com/office/drawing/2014/main" val="83586553"/>
                  </a:ext>
                </a:extLst>
              </a:tr>
              <a:tr h="1292461">
                <a:tc>
                  <a:txBody>
                    <a:bodyPr/>
                    <a:lstStyle/>
                    <a:p>
                      <a:pPr algn="l" fontAlgn="b"/>
                      <a:r>
                        <a:rPr lang="en-US" sz="1100" b="0" i="0" u="none" strike="noStrike">
                          <a:solidFill>
                            <a:srgbClr val="000000"/>
                          </a:solidFill>
                          <a:effectLst/>
                          <a:latin typeface="Calibri"/>
                        </a:rPr>
                        <a:t>US_11</a:t>
                      </a:r>
                    </a:p>
                  </a:txBody>
                  <a:tcPr marL="9525" marR="9525" marT="9525" marB="0" anchor="ctr"/>
                </a:tc>
                <a:tc>
                  <a:txBody>
                    <a:bodyPr/>
                    <a:lstStyle/>
                    <a:p>
                      <a:pPr algn="l" fontAlgn="b"/>
                      <a:r>
                        <a:rPr lang="en-US" sz="1100" b="0" i="0" u="none" strike="noStrike">
                          <a:solidFill>
                            <a:srgbClr val="000000"/>
                          </a:solidFill>
                          <a:effectLst/>
                          <a:latin typeface="Calibri"/>
                        </a:rPr>
                        <a:t>TC_38</a:t>
                      </a:r>
                    </a:p>
                  </a:txBody>
                  <a:tcPr marL="9525" marR="9525" marT="9525" marB="0" anchor="ctr"/>
                </a:tc>
                <a:tc>
                  <a:txBody>
                    <a:bodyPr/>
                    <a:lstStyle/>
                    <a:p>
                      <a:pPr algn="l" fontAlgn="b"/>
                      <a:r>
                        <a:rPr lang="en-US" sz="1100" b="0" i="0" u="none" strike="noStrike">
                          <a:solidFill>
                            <a:srgbClr val="000000"/>
                          </a:solidFill>
                          <a:effectLst/>
                          <a:latin typeface="Calibri"/>
                        </a:rPr>
                        <a:t>Fraud Analyst Cannot View Restricted Cases</a:t>
                      </a:r>
                    </a:p>
                  </a:txBody>
                  <a:tcPr marL="9525" marR="9525" marT="9525" marB="0" anchor="ctr"/>
                </a:tc>
                <a:tc>
                  <a:txBody>
                    <a:bodyPr/>
                    <a:lstStyle/>
                    <a:p>
                      <a:pPr algn="l" fontAlgn="b"/>
                      <a:r>
                        <a:rPr lang="en-US" sz="1100" b="0" i="0" u="none" strike="noStrike">
                          <a:solidFill>
                            <a:srgbClr val="000000"/>
                          </a:solidFill>
                          <a:effectLst/>
                          <a:latin typeface="Calibri"/>
                        </a:rPr>
                        <a:t>1. Login as Analyst A</a:t>
                      </a:r>
                      <a:br>
                        <a:rPr lang="en-US" sz="1100" b="0" i="0" u="none" strike="noStrike">
                          <a:solidFill>
                            <a:srgbClr val="000000"/>
                          </a:solidFill>
                          <a:effectLst/>
                          <a:latin typeface="Calibri"/>
                        </a:rPr>
                      </a:br>
                      <a:r>
                        <a:rPr lang="en-US" sz="1100" b="0" i="0" u="none" strike="noStrike">
                          <a:solidFill>
                            <a:srgbClr val="000000"/>
                          </a:solidFill>
                          <a:effectLst/>
                          <a:latin typeface="Calibri"/>
                        </a:rPr>
                        <a:t>2. Try accessing Analyst B’s case</a:t>
                      </a:r>
                      <a:br>
                        <a:rPr lang="en-US" sz="1100" b="0" i="0" u="none" strike="noStrike">
                          <a:solidFill>
                            <a:srgbClr val="000000"/>
                          </a:solidFill>
                          <a:effectLst/>
                          <a:latin typeface="Calibri"/>
                        </a:rPr>
                      </a:br>
                      <a:r>
                        <a:rPr lang="en-US" sz="1100" b="0" i="0" u="none" strike="noStrike">
                          <a:solidFill>
                            <a:srgbClr val="000000"/>
                          </a:solidFill>
                          <a:effectLst/>
                          <a:latin typeface="Calibri"/>
                        </a:rPr>
                        <a:t>3. Access should be blocked</a:t>
                      </a:r>
                    </a:p>
                  </a:txBody>
                  <a:tcPr marL="9525" marR="9525" marT="9525" marB="0" anchor="ctr"/>
                </a:tc>
                <a:tc>
                  <a:txBody>
                    <a:bodyPr/>
                    <a:lstStyle/>
                    <a:p>
                      <a:pPr algn="l" fontAlgn="b"/>
                      <a:r>
                        <a:rPr lang="en-US" sz="1100" b="0" i="0" u="none" strike="noStrike">
                          <a:solidFill>
                            <a:srgbClr val="000000"/>
                          </a:solidFill>
                          <a:effectLst/>
                          <a:latin typeface="Calibri"/>
                        </a:rPr>
                        <a:t>Unauthorized access blocked</a:t>
                      </a:r>
                    </a:p>
                  </a:txBody>
                  <a:tcPr marL="9525" marR="9525" marT="9525" marB="0" anchor="ctr"/>
                </a:tc>
                <a:tc>
                  <a:txBody>
                    <a:bodyPr/>
                    <a:lstStyle/>
                    <a:p>
                      <a:pPr algn="l" fontAlgn="b"/>
                      <a:r>
                        <a:rPr lang="en-US" sz="1100" b="0" i="0" u="none" strike="noStrike">
                          <a:solidFill>
                            <a:srgbClr val="000000"/>
                          </a:solidFill>
                          <a:effectLst/>
                          <a:latin typeface="Calibri"/>
                        </a:rPr>
                        <a:t>Fail</a:t>
                      </a:r>
                    </a:p>
                  </a:txBody>
                  <a:tcPr marL="9525" marR="9525" marT="9525" marB="0" anchor="ctr"/>
                </a:tc>
                <a:extLst>
                  <a:ext uri="{0D108BD9-81ED-4DB2-BD59-A6C34878D82A}">
                    <a16:rowId xmlns:a16="http://schemas.microsoft.com/office/drawing/2014/main" val="597540560"/>
                  </a:ext>
                </a:extLst>
              </a:tr>
            </a:tbl>
          </a:graphicData>
        </a:graphic>
      </p:graphicFrame>
    </p:spTree>
    <p:extLst>
      <p:ext uri="{BB962C8B-B14F-4D97-AF65-F5344CB8AC3E}">
        <p14:creationId xmlns:p14="http://schemas.microsoft.com/office/powerpoint/2010/main" val="2519186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7036-A5FD-B1AC-423B-05666B3FDA54}"/>
              </a:ext>
            </a:extLst>
          </p:cNvPr>
          <p:cNvSpPr>
            <a:spLocks noGrp="1"/>
          </p:cNvSpPr>
          <p:nvPr>
            <p:ph type="title"/>
          </p:nvPr>
        </p:nvSpPr>
        <p:spPr>
          <a:xfrm>
            <a:off x="591671" y="-4669"/>
            <a:ext cx="10515600" cy="1325563"/>
          </a:xfrm>
        </p:spPr>
        <p:txBody>
          <a:bodyPr>
            <a:normAutofit/>
          </a:bodyPr>
          <a:lstStyle/>
          <a:p>
            <a:r>
              <a:rPr lang="en-US" sz="3600" b="1">
                <a:latin typeface="Calibri"/>
                <a:ea typeface="Calibri"/>
                <a:cs typeface="Calibri"/>
              </a:rPr>
              <a:t>Stories Completed</a:t>
            </a:r>
          </a:p>
        </p:txBody>
      </p:sp>
      <p:graphicFrame>
        <p:nvGraphicFramePr>
          <p:cNvPr id="6" name="Table 5">
            <a:extLst>
              <a:ext uri="{FF2B5EF4-FFF2-40B4-BE49-F238E27FC236}">
                <a16:creationId xmlns:a16="http://schemas.microsoft.com/office/drawing/2014/main" id="{7AE223A0-4273-ED7C-1712-947F9981F449}"/>
              </a:ext>
            </a:extLst>
          </p:cNvPr>
          <p:cNvGraphicFramePr>
            <a:graphicFrameLocks noGrp="1"/>
          </p:cNvGraphicFramePr>
          <p:nvPr>
            <p:extLst>
              <p:ext uri="{D42A27DB-BD31-4B8C-83A1-F6EECF244321}">
                <p14:modId xmlns:p14="http://schemas.microsoft.com/office/powerpoint/2010/main" val="1315273966"/>
              </p:ext>
            </p:extLst>
          </p:nvPr>
        </p:nvGraphicFramePr>
        <p:xfrm>
          <a:off x="67235" y="973863"/>
          <a:ext cx="12017299" cy="3555392"/>
        </p:xfrm>
        <a:graphic>
          <a:graphicData uri="http://schemas.openxmlformats.org/drawingml/2006/table">
            <a:tbl>
              <a:tblPr firstRow="1" bandRow="1">
                <a:tableStyleId>{5C22544A-7EE6-4342-B048-85BDC9FD1C3A}</a:tableStyleId>
              </a:tblPr>
              <a:tblGrid>
                <a:gridCol w="1243792">
                  <a:extLst>
                    <a:ext uri="{9D8B030D-6E8A-4147-A177-3AD203B41FA5}">
                      <a16:colId xmlns:a16="http://schemas.microsoft.com/office/drawing/2014/main" val="3368656161"/>
                    </a:ext>
                  </a:extLst>
                </a:gridCol>
                <a:gridCol w="4144977">
                  <a:extLst>
                    <a:ext uri="{9D8B030D-6E8A-4147-A177-3AD203B41FA5}">
                      <a16:colId xmlns:a16="http://schemas.microsoft.com/office/drawing/2014/main" val="3829799536"/>
                    </a:ext>
                  </a:extLst>
                </a:gridCol>
                <a:gridCol w="2216035">
                  <a:extLst>
                    <a:ext uri="{9D8B030D-6E8A-4147-A177-3AD203B41FA5}">
                      <a16:colId xmlns:a16="http://schemas.microsoft.com/office/drawing/2014/main" val="173840191"/>
                    </a:ext>
                  </a:extLst>
                </a:gridCol>
                <a:gridCol w="2202985">
                  <a:extLst>
                    <a:ext uri="{9D8B030D-6E8A-4147-A177-3AD203B41FA5}">
                      <a16:colId xmlns:a16="http://schemas.microsoft.com/office/drawing/2014/main" val="788618954"/>
                    </a:ext>
                  </a:extLst>
                </a:gridCol>
                <a:gridCol w="2209510">
                  <a:extLst>
                    <a:ext uri="{9D8B030D-6E8A-4147-A177-3AD203B41FA5}">
                      <a16:colId xmlns:a16="http://schemas.microsoft.com/office/drawing/2014/main" val="4077433623"/>
                    </a:ext>
                  </a:extLst>
                </a:gridCol>
              </a:tblGrid>
              <a:tr h="888848">
                <a:tc>
                  <a:txBody>
                    <a:bodyPr/>
                    <a:lstStyle/>
                    <a:p>
                      <a:pPr algn="ctr" fontAlgn="t"/>
                      <a:r>
                        <a:rPr lang="en-US" sz="1500" u="none" strike="noStrike">
                          <a:effectLst/>
                          <a:latin typeface="Calibri"/>
                        </a:rPr>
                        <a:t>S.NO</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User Story</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Story Points</a:t>
                      </a:r>
                      <a:endParaRPr lang="en-US" sz="1500" b="1" i="0" u="none" strike="noStrike">
                        <a:solidFill>
                          <a:srgbClr val="000000"/>
                        </a:solidFill>
                        <a:effectLst/>
                        <a:latin typeface="Calibri"/>
                      </a:endParaRPr>
                    </a:p>
                  </a:txBody>
                  <a:tcPr marL="8386" marR="8386" marT="8386" marB="0" anchor="ctr"/>
                </a:tc>
                <a:tc>
                  <a:txBody>
                    <a:bodyPr/>
                    <a:lstStyle/>
                    <a:p>
                      <a:pPr lvl="0" algn="ctr">
                        <a:buNone/>
                      </a:pPr>
                      <a:r>
                        <a:rPr lang="en-US" sz="1500" u="none" strike="noStrike">
                          <a:effectLst/>
                          <a:latin typeface="Calibri"/>
                        </a:rPr>
                        <a:t>Completed</a:t>
                      </a:r>
                    </a:p>
                  </a:txBody>
                  <a:tcPr marL="8385" marR="8385" marT="8385" marB="0" anchor="ctr"/>
                </a:tc>
                <a:tc>
                  <a:txBody>
                    <a:bodyPr/>
                    <a:lstStyle/>
                    <a:p>
                      <a:pPr lvl="0" algn="ctr">
                        <a:buNone/>
                      </a:pPr>
                      <a:r>
                        <a:rPr lang="en-US" sz="1500" u="none" strike="noStrike">
                          <a:effectLst/>
                          <a:latin typeface="Calibri"/>
                        </a:rPr>
                        <a:t>Date Completed</a:t>
                      </a:r>
                      <a:endParaRPr lang="en-US">
                        <a:latin typeface="Calibri"/>
                      </a:endParaRPr>
                    </a:p>
                  </a:txBody>
                  <a:tcPr marL="8385" marR="8385" marT="8385" marB="0" anchor="ctr"/>
                </a:tc>
                <a:extLst>
                  <a:ext uri="{0D108BD9-81ED-4DB2-BD59-A6C34878D82A}">
                    <a16:rowId xmlns:a16="http://schemas.microsoft.com/office/drawing/2014/main" val="4046513150"/>
                  </a:ext>
                </a:extLst>
              </a:tr>
              <a:tr h="888848">
                <a:tc>
                  <a:txBody>
                    <a:bodyPr/>
                    <a:lstStyle/>
                    <a:p>
                      <a:pPr algn="l" fontAlgn="b"/>
                      <a:r>
                        <a:rPr lang="en-US" sz="1500" b="0" i="0" u="none" strike="noStrike">
                          <a:solidFill>
                            <a:srgbClr val="000000"/>
                          </a:solidFill>
                          <a:effectLst/>
                          <a:latin typeface="Calibri" panose="020F0502020204030204" pitchFamily="34" charset="0"/>
                          <a:cs typeface="Calibri" panose="020F0502020204030204" pitchFamily="34" charset="0"/>
                        </a:rPr>
                        <a:t>US_02</a:t>
                      </a:r>
                    </a:p>
                  </a:txBody>
                  <a:tcPr marL="8403" marR="8403" marT="8403" marB="0" anchor="ctr"/>
                </a:tc>
                <a:tc>
                  <a:txBody>
                    <a:bodyPr/>
                    <a:lstStyle/>
                    <a:p>
                      <a:pPr algn="l" fontAlgn="b"/>
                      <a:r>
                        <a:rPr lang="en-US" sz="1500">
                          <a:latin typeface="Calibri" panose="020F0502020204030204" pitchFamily="34" charset="0"/>
                          <a:cs typeface="Calibri" panose="020F0502020204030204" pitchFamily="34" charset="0"/>
                        </a:rPr>
                        <a:t>As a user, I want the application to be secure so that my data remains safe</a:t>
                      </a: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8403" marR="8403" marT="8403" marB="0" anchor="ctr"/>
                </a:tc>
                <a:tc>
                  <a:txBody>
                    <a:bodyPr/>
                    <a:lstStyle/>
                    <a:p>
                      <a:pPr algn="ctr" fontAlgn="b"/>
                      <a:r>
                        <a:rPr lang="en-US" sz="1500" b="0" i="0" u="none" strike="noStrike">
                          <a:solidFill>
                            <a:srgbClr val="000000"/>
                          </a:solidFill>
                          <a:effectLst/>
                          <a:latin typeface="Calibri" panose="020F0502020204030204" pitchFamily="34" charset="0"/>
                          <a:cs typeface="Calibri" panose="020F0502020204030204" pitchFamily="34" charset="0"/>
                        </a:rPr>
                        <a:t>13</a:t>
                      </a:r>
                    </a:p>
                  </a:txBody>
                  <a:tcPr marL="8403" marR="8403" marT="8403" marB="0" anchor="ctr"/>
                </a:tc>
                <a:tc>
                  <a:txBody>
                    <a:bodyPr/>
                    <a:lstStyle/>
                    <a:p>
                      <a:pPr algn="ctr" fontAlgn="b"/>
                      <a:r>
                        <a:rPr lang="en-US" sz="1500" b="0" i="0" u="none" strike="noStrike">
                          <a:solidFill>
                            <a:srgbClr val="000000"/>
                          </a:solidFill>
                          <a:effectLst/>
                          <a:latin typeface="Calibri" panose="020F0502020204030204" pitchFamily="34" charset="0"/>
                          <a:cs typeface="Calibri" panose="020F0502020204030204" pitchFamily="34" charset="0"/>
                        </a:rPr>
                        <a:t>13</a:t>
                      </a:r>
                    </a:p>
                  </a:txBody>
                  <a:tcPr marL="8403" marR="8403" marT="8403" marB="0" anchor="ctr"/>
                </a:tc>
                <a:tc>
                  <a:txBody>
                    <a:bodyPr/>
                    <a:lstStyle/>
                    <a:p>
                      <a:pPr algn="ctr" fontAlgn="b"/>
                      <a:r>
                        <a:rPr lang="en-US" sz="1500" u="none" strike="noStrike">
                          <a:effectLst/>
                          <a:latin typeface="Calibri" panose="020F0502020204030204" pitchFamily="34" charset="0"/>
                          <a:cs typeface="Calibri" panose="020F0502020204030204" pitchFamily="34" charset="0"/>
                        </a:rPr>
                        <a:t>Dec 4</a:t>
                      </a: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8403" marR="8403" marT="8403" marB="0" anchor="ctr"/>
                </a:tc>
                <a:extLst>
                  <a:ext uri="{0D108BD9-81ED-4DB2-BD59-A6C34878D82A}">
                    <a16:rowId xmlns:a16="http://schemas.microsoft.com/office/drawing/2014/main" val="1832139782"/>
                  </a:ext>
                </a:extLst>
              </a:tr>
              <a:tr h="888848">
                <a:tc>
                  <a:txBody>
                    <a:bodyPr/>
                    <a:lstStyle/>
                    <a:p>
                      <a:pPr algn="l" fontAlgn="b"/>
                      <a:r>
                        <a:rPr lang="en-US" sz="1500" b="0" i="0" u="none" strike="noStrike">
                          <a:solidFill>
                            <a:srgbClr val="000000"/>
                          </a:solidFill>
                          <a:effectLst/>
                          <a:latin typeface="Calibri" panose="020F0502020204030204" pitchFamily="34" charset="0"/>
                          <a:cs typeface="Calibri" panose="020F0502020204030204" pitchFamily="34" charset="0"/>
                        </a:rPr>
                        <a:t>US_06</a:t>
                      </a:r>
                    </a:p>
                  </a:txBody>
                  <a:tcPr marL="9525" marR="9525" marT="9525" marB="0" anchor="ctr"/>
                </a:tc>
                <a:tc>
                  <a:txBody>
                    <a:bodyPr/>
                    <a:lstStyle/>
                    <a:p>
                      <a:pPr algn="l" fontAlgn="b"/>
                      <a:r>
                        <a:rPr lang="en-US" sz="1500">
                          <a:latin typeface="Calibri" panose="020F0502020204030204" pitchFamily="34" charset="0"/>
                          <a:cs typeface="Calibri" panose="020F0502020204030204" pitchFamily="34" charset="0"/>
                        </a:rPr>
                        <a:t>As a user, I want a visually appealing and user-friendly interface so that I can easily navigate and enjoy using the application.</a:t>
                      </a: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500" b="0" i="0" u="none" strike="noStrike">
                          <a:solidFill>
                            <a:srgbClr val="000000"/>
                          </a:solidFill>
                          <a:effectLst/>
                          <a:latin typeface="Calibri" panose="020F0502020204030204" pitchFamily="34" charset="0"/>
                          <a:cs typeface="Calibri" panose="020F0502020204030204" pitchFamily="34" charset="0"/>
                        </a:rPr>
                        <a:t>13</a:t>
                      </a:r>
                    </a:p>
                  </a:txBody>
                  <a:tcPr marL="9525" marR="9525" marT="9525" marB="0" anchor="ctr"/>
                </a:tc>
                <a:tc>
                  <a:txBody>
                    <a:bodyPr/>
                    <a:lstStyle/>
                    <a:p>
                      <a:pPr algn="ctr" fontAlgn="b"/>
                      <a:r>
                        <a:rPr lang="en-US" sz="1500" b="0" i="0" u="none" strike="noStrike">
                          <a:solidFill>
                            <a:srgbClr val="000000"/>
                          </a:solidFill>
                          <a:effectLst/>
                          <a:latin typeface="Calibri" panose="020F0502020204030204" pitchFamily="34" charset="0"/>
                          <a:cs typeface="Calibri" panose="020F0502020204030204" pitchFamily="34" charset="0"/>
                        </a:rPr>
                        <a:t>13</a:t>
                      </a:r>
                    </a:p>
                  </a:txBody>
                  <a:tcPr marL="9525" marR="9525" marT="9525" marB="0" anchor="ctr"/>
                </a:tc>
                <a:tc>
                  <a:txBody>
                    <a:bodyPr/>
                    <a:lstStyle/>
                    <a:p>
                      <a:pPr algn="ctr" fontAlgn="b"/>
                      <a:r>
                        <a:rPr lang="en-US" sz="1500" b="0" i="0" u="none" strike="noStrike">
                          <a:solidFill>
                            <a:srgbClr val="000000"/>
                          </a:solidFill>
                          <a:effectLst/>
                          <a:latin typeface="Calibri" panose="020F0502020204030204" pitchFamily="34" charset="0"/>
                          <a:cs typeface="Calibri" panose="020F0502020204030204" pitchFamily="34" charset="0"/>
                        </a:rPr>
                        <a:t>Dec 5</a:t>
                      </a:r>
                    </a:p>
                  </a:txBody>
                  <a:tcPr marL="9525" marR="9525" marT="9525" marB="0" anchor="ctr"/>
                </a:tc>
                <a:extLst>
                  <a:ext uri="{0D108BD9-81ED-4DB2-BD59-A6C34878D82A}">
                    <a16:rowId xmlns:a16="http://schemas.microsoft.com/office/drawing/2014/main" val="2060717731"/>
                  </a:ext>
                </a:extLst>
              </a:tr>
              <a:tr h="888848">
                <a:tc>
                  <a:txBody>
                    <a:bodyPr/>
                    <a:lstStyle/>
                    <a:p>
                      <a:pPr algn="l" fontAlgn="b"/>
                      <a:r>
                        <a:rPr lang="en-US" sz="1400" b="0" i="0" u="none" strike="noStrike">
                          <a:solidFill>
                            <a:srgbClr val="000000"/>
                          </a:solidFill>
                          <a:effectLst/>
                          <a:latin typeface="Calibri"/>
                        </a:rPr>
                        <a:t>US_15</a:t>
                      </a:r>
                    </a:p>
                  </a:txBody>
                  <a:tcPr marL="9525" marR="9525" marT="9525" marB="0" anchor="ctr"/>
                </a:tc>
                <a:tc>
                  <a:txBody>
                    <a:bodyPr/>
                    <a:lstStyle/>
                    <a:p>
                      <a:pPr algn="l" fontAlgn="b"/>
                      <a:r>
                        <a:rPr lang="en-US" sz="1400" b="0" i="0" u="none" strike="noStrike">
                          <a:solidFill>
                            <a:srgbClr val="000000"/>
                          </a:solidFill>
                          <a:effectLst/>
                          <a:latin typeface="Calibri"/>
                        </a:rPr>
                        <a:t>As an admin, I want analytic reports so that I can review overall fraud trends monthly.</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tc>
                  <a:txBody>
                    <a:bodyPr/>
                    <a:lstStyle/>
                    <a:p>
                      <a:pPr lvl="0" algn="ctr">
                        <a:buNone/>
                      </a:pPr>
                      <a:r>
                        <a:rPr lang="en-US" sz="1400" b="0" i="0" u="none" strike="noStrike">
                          <a:solidFill>
                            <a:srgbClr val="000000"/>
                          </a:solidFill>
                          <a:effectLst/>
                          <a:latin typeface="Calibri"/>
                        </a:rPr>
                        <a:t>5</a:t>
                      </a:r>
                    </a:p>
                  </a:txBody>
                  <a:tcPr marL="9524" marR="9524" marT="9524" marB="0" anchor="ctr"/>
                </a:tc>
                <a:tc>
                  <a:txBody>
                    <a:bodyPr/>
                    <a:lstStyle/>
                    <a:p>
                      <a:pPr lvl="0" algn="ctr">
                        <a:buNone/>
                      </a:pPr>
                      <a:r>
                        <a:rPr lang="en-US" sz="1400" b="0" i="0" u="none" strike="noStrike">
                          <a:solidFill>
                            <a:srgbClr val="000000"/>
                          </a:solidFill>
                          <a:effectLst/>
                          <a:latin typeface="Calibri"/>
                        </a:rPr>
                        <a:t>Dec 5</a:t>
                      </a:r>
                    </a:p>
                  </a:txBody>
                  <a:tcPr marL="9524" marR="9524" marT="9524" marB="0" anchor="ctr"/>
                </a:tc>
                <a:extLst>
                  <a:ext uri="{0D108BD9-81ED-4DB2-BD59-A6C34878D82A}">
                    <a16:rowId xmlns:a16="http://schemas.microsoft.com/office/drawing/2014/main" val="3042597131"/>
                  </a:ext>
                </a:extLst>
              </a:tr>
            </a:tbl>
          </a:graphicData>
        </a:graphic>
      </p:graphicFrame>
      <p:graphicFrame>
        <p:nvGraphicFramePr>
          <p:cNvPr id="8" name="Table 7">
            <a:extLst>
              <a:ext uri="{FF2B5EF4-FFF2-40B4-BE49-F238E27FC236}">
                <a16:creationId xmlns:a16="http://schemas.microsoft.com/office/drawing/2014/main" id="{766130F8-00A4-B58F-36F3-4800762980D2}"/>
              </a:ext>
            </a:extLst>
          </p:cNvPr>
          <p:cNvGraphicFramePr>
            <a:graphicFrameLocks noGrp="1"/>
          </p:cNvGraphicFramePr>
          <p:nvPr>
            <p:extLst>
              <p:ext uri="{D42A27DB-BD31-4B8C-83A1-F6EECF244321}">
                <p14:modId xmlns:p14="http://schemas.microsoft.com/office/powerpoint/2010/main" val="3041029709"/>
              </p:ext>
            </p:extLst>
          </p:nvPr>
        </p:nvGraphicFramePr>
        <p:xfrm>
          <a:off x="67235" y="4482352"/>
          <a:ext cx="12021624" cy="2346074"/>
        </p:xfrm>
        <a:graphic>
          <a:graphicData uri="http://schemas.openxmlformats.org/drawingml/2006/table">
            <a:tbl>
              <a:tblPr bandRow="1">
                <a:tableStyleId>{5C22544A-7EE6-4342-B048-85BDC9FD1C3A}</a:tableStyleId>
              </a:tblPr>
              <a:tblGrid>
                <a:gridCol w="1259686">
                  <a:extLst>
                    <a:ext uri="{9D8B030D-6E8A-4147-A177-3AD203B41FA5}">
                      <a16:colId xmlns:a16="http://schemas.microsoft.com/office/drawing/2014/main" val="575970552"/>
                    </a:ext>
                  </a:extLst>
                </a:gridCol>
                <a:gridCol w="4140000">
                  <a:extLst>
                    <a:ext uri="{9D8B030D-6E8A-4147-A177-3AD203B41FA5}">
                      <a16:colId xmlns:a16="http://schemas.microsoft.com/office/drawing/2014/main" val="3620716438"/>
                    </a:ext>
                  </a:extLst>
                </a:gridCol>
                <a:gridCol w="2232000">
                  <a:extLst>
                    <a:ext uri="{9D8B030D-6E8A-4147-A177-3AD203B41FA5}">
                      <a16:colId xmlns:a16="http://schemas.microsoft.com/office/drawing/2014/main" val="3705313365"/>
                    </a:ext>
                  </a:extLst>
                </a:gridCol>
                <a:gridCol w="2183999">
                  <a:extLst>
                    <a:ext uri="{9D8B030D-6E8A-4147-A177-3AD203B41FA5}">
                      <a16:colId xmlns:a16="http://schemas.microsoft.com/office/drawing/2014/main" val="1125232925"/>
                    </a:ext>
                  </a:extLst>
                </a:gridCol>
                <a:gridCol w="2205939">
                  <a:extLst>
                    <a:ext uri="{9D8B030D-6E8A-4147-A177-3AD203B41FA5}">
                      <a16:colId xmlns:a16="http://schemas.microsoft.com/office/drawing/2014/main" val="1589413076"/>
                    </a:ext>
                  </a:extLst>
                </a:gridCol>
              </a:tblGrid>
              <a:tr h="840000">
                <a:tc>
                  <a:txBody>
                    <a:bodyPr/>
                    <a:lstStyle/>
                    <a:p>
                      <a:pPr algn="l" fontAlgn="b"/>
                      <a:r>
                        <a:rPr lang="en-US" sz="1500" b="0" i="0" u="none" strike="noStrike">
                          <a:solidFill>
                            <a:srgbClr val="000000"/>
                          </a:solidFill>
                          <a:effectLst/>
                          <a:latin typeface="Calibri" panose="020F0502020204030204" pitchFamily="34" charset="0"/>
                          <a:cs typeface="Calibri" panose="020F0502020204030204" pitchFamily="34" charset="0"/>
                        </a:rPr>
                        <a:t>US_10</a:t>
                      </a:r>
                    </a:p>
                  </a:txBody>
                  <a:tcPr marL="9525" marR="9525" marT="9525"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500">
                          <a:latin typeface="Calibri" panose="020F0502020204030204" pitchFamily="34" charset="0"/>
                          <a:cs typeface="Calibri" panose="020F0502020204030204" pitchFamily="34" charset="0"/>
                        </a:rPr>
                        <a:t>As a user, I want the system to monitor all my cards so that I can stay informed and protected.</a:t>
                      </a:r>
                    </a:p>
                  </a:txBody>
                  <a:tcPr marL="9525" marR="9525" marT="9525"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500">
                          <a:effectLst/>
                          <a:latin typeface="Calibri"/>
                        </a:rPr>
                        <a:t>14</a:t>
                      </a: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14</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30241">
                      <a:solidFill>
                        <a:srgbClr val="FFFFFF"/>
                      </a:solidFill>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Dec 10</a:t>
                      </a:r>
                    </a:p>
                  </a:txBody>
                  <a:tcPr marL="7551" marR="7551" marT="7551" anchor="ctr">
                    <a:lnL w="10077">
                      <a:solidFill>
                        <a:srgbClr val="FFFFFF"/>
                      </a:solidFill>
                    </a:lnL>
                    <a:lnR w="10077">
                      <a:solidFill>
                        <a:srgbClr val="FFFFFF"/>
                      </a:solidFill>
                    </a:lnR>
                    <a:lnT w="30240">
                      <a:solidFill>
                        <a:srgbClr val="FFFFFF"/>
                      </a:solidFill>
                    </a:lnT>
                    <a:lnB w="10077"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509414492"/>
                  </a:ext>
                </a:extLst>
              </a:tr>
              <a:tr h="753037">
                <a:tc>
                  <a:txBody>
                    <a:bodyPr/>
                    <a:lstStyle/>
                    <a:p>
                      <a:pPr algn="l" fontAlgn="b"/>
                      <a:r>
                        <a:rPr lang="en-US" sz="1500" b="0" i="0" u="none" strike="noStrike">
                          <a:solidFill>
                            <a:srgbClr val="000000"/>
                          </a:solidFill>
                          <a:effectLst/>
                          <a:latin typeface="Calibri" panose="020F0502020204030204" pitchFamily="34" charset="0"/>
                        </a:rPr>
                        <a:t>US_11</a:t>
                      </a:r>
                    </a:p>
                  </a:txBody>
                  <a:tcPr marL="9525" marR="9525" marT="9525"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l" fontAlgn="b"/>
                      <a:r>
                        <a:rPr lang="en-US" sz="1500" b="0" i="0" u="none" strike="noStrike">
                          <a:solidFill>
                            <a:srgbClr val="000000"/>
                          </a:solidFill>
                          <a:effectLst/>
                          <a:latin typeface="Calibri" panose="020F0502020204030204" pitchFamily="34" charset="0"/>
                        </a:rPr>
                        <a:t>As a user, I want to enable/disable fraud notifications so I have control over alerts.</a:t>
                      </a:r>
                    </a:p>
                  </a:txBody>
                  <a:tcPr marL="9525" marR="9525" marT="9525"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ctr" fontAlgn="b"/>
                      <a:r>
                        <a:rPr lang="en-US" sz="1500" b="0" i="0" u="none" strike="noStrike">
                          <a:solidFill>
                            <a:srgbClr val="000000"/>
                          </a:solidFill>
                          <a:effectLst/>
                          <a:latin typeface="Calibri" panose="020F0502020204030204" pitchFamily="34" charset="0"/>
                        </a:rPr>
                        <a:t>3</a:t>
                      </a:r>
                    </a:p>
                  </a:txBody>
                  <a:tcPr marL="9525" marR="9525" marT="9525"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ctr" fontAlgn="b"/>
                      <a:r>
                        <a:rPr lang="en-US" sz="1500" b="0" i="0" u="none" strike="noStrike">
                          <a:solidFill>
                            <a:srgbClr val="000000"/>
                          </a:solidFill>
                          <a:effectLst/>
                          <a:latin typeface="Calibri" panose="020F0502020204030204" pitchFamily="34" charset="0"/>
                        </a:rPr>
                        <a:t>3</a:t>
                      </a:r>
                    </a:p>
                  </a:txBody>
                  <a:tcPr marL="9525" marR="9525" marT="9525" marB="0"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E7EAED"/>
                    </a:solidFill>
                  </a:tcPr>
                </a:tc>
                <a:tc>
                  <a:txBody>
                    <a:bodyPr/>
                    <a:lstStyle/>
                    <a:p>
                      <a:pPr algn="ctr" fontAlgn="b"/>
                      <a:endParaRPr lang="en-US" sz="1500" b="0" i="0" u="none" strike="noStrike">
                        <a:solidFill>
                          <a:srgbClr val="000000"/>
                        </a:solidFill>
                        <a:effectLst/>
                        <a:latin typeface="Calibri" panose="020F0502020204030204" pitchFamily="34" charset="0"/>
                      </a:endParaRPr>
                    </a:p>
                    <a:p>
                      <a:pPr algn="ctr" fontAlgn="b"/>
                      <a:r>
                        <a:rPr lang="en-US" sz="1500" b="0" i="0" u="none" strike="noStrike">
                          <a:solidFill>
                            <a:srgbClr val="000000"/>
                          </a:solidFill>
                          <a:effectLst/>
                          <a:latin typeface="Calibri" panose="020F0502020204030204" pitchFamily="34" charset="0"/>
                        </a:rPr>
                        <a:t>Dec 7</a:t>
                      </a:r>
                    </a:p>
                    <a:p>
                      <a:pPr algn="ctr" fontAlgn="b"/>
                      <a:endParaRPr lang="en-US" sz="1500" b="0" i="0" u="none" strike="noStrike">
                        <a:solidFill>
                          <a:srgbClr val="000000"/>
                        </a:solidFill>
                        <a:effectLst/>
                        <a:latin typeface="Calibri" panose="020F0502020204030204" pitchFamily="34" charset="0"/>
                      </a:endParaRPr>
                    </a:p>
                  </a:txBody>
                  <a:tcPr marL="9525" marR="9525" marT="9525" marB="0" anchor="ctr">
                    <a:lnL w="10077">
                      <a:solidFill>
                        <a:srgbClr val="FFFFFF"/>
                      </a:solidFill>
                    </a:lnL>
                    <a:lnR w="10077">
                      <a:solidFill>
                        <a:srgbClr val="FFFFFF"/>
                      </a:solidFill>
                    </a:lnR>
                    <a:lnT w="10077">
                      <a:solidFill>
                        <a:srgbClr val="FFFFFF"/>
                      </a:solidFill>
                    </a:lnT>
                    <a:lnB w="10077">
                      <a:solidFill>
                        <a:srgbClr val="FFFFFF"/>
                      </a:solidFill>
                    </a:lnB>
                    <a:solidFill>
                      <a:srgbClr val="E7EAED"/>
                    </a:solidFill>
                  </a:tcPr>
                </a:tc>
                <a:extLst>
                  <a:ext uri="{0D108BD9-81ED-4DB2-BD59-A6C34878D82A}">
                    <a16:rowId xmlns:a16="http://schemas.microsoft.com/office/drawing/2014/main" val="2477527898"/>
                  </a:ext>
                </a:extLst>
              </a:tr>
              <a:tr h="753037">
                <a:tc>
                  <a:txBody>
                    <a:bodyPr/>
                    <a:lstStyle/>
                    <a:p>
                      <a:pPr rtl="0" fontAlgn="base">
                        <a:lnSpc>
                          <a:spcPts val="1350"/>
                        </a:lnSpc>
                        <a:buNone/>
                      </a:pPr>
                      <a:r>
                        <a:rPr lang="en-US" sz="1400">
                          <a:effectLst/>
                          <a:latin typeface="Calibri"/>
                        </a:rPr>
                        <a:t>US_10</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an admin, I want to manage system roles so that access controls are enforced.</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3</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a:solidFill>
                        <a:srgbClr val="FFFFFF"/>
                      </a:solidFill>
                    </a:lnB>
                    <a:solidFill>
                      <a:srgbClr val="CCD2D8"/>
                    </a:solidFill>
                  </a:tcPr>
                </a:tc>
                <a:tc>
                  <a:txBody>
                    <a:bodyPr/>
                    <a:lstStyle/>
                    <a:p>
                      <a:pPr lvl="0" algn="ctr">
                        <a:lnSpc>
                          <a:spcPts val="1350"/>
                        </a:lnSpc>
                        <a:buNone/>
                      </a:pPr>
                      <a:r>
                        <a:rPr lang="en-US" sz="1400">
                          <a:effectLst/>
                          <a:latin typeface="Calibri"/>
                        </a:rPr>
                        <a:t>Dec8</a:t>
                      </a:r>
                    </a:p>
                  </a:txBody>
                  <a:tcPr marL="7551" marR="7551" marT="7551" anchor="ctr">
                    <a:lnL w="10077">
                      <a:solidFill>
                        <a:srgbClr val="FFFFFF"/>
                      </a:solidFill>
                    </a:lnL>
                    <a:lnR w="10077">
                      <a:solidFill>
                        <a:srgbClr val="FFFFFF"/>
                      </a:solidFill>
                    </a:lnR>
                    <a:lnT w="10077" cap="flat" cmpd="sng" algn="ctr">
                      <a:solidFill>
                        <a:srgbClr val="FFFFFF"/>
                      </a:solidFill>
                      <a:prstDash val="solid"/>
                      <a:round/>
                      <a:headEnd type="none" w="med" len="med"/>
                      <a:tailEnd type="none" w="med" len="med"/>
                    </a:lnT>
                    <a:lnB w="10077">
                      <a:solidFill>
                        <a:srgbClr val="FFFFFF"/>
                      </a:solidFill>
                    </a:lnB>
                    <a:solidFill>
                      <a:srgbClr val="CCD2D8"/>
                    </a:solidFill>
                  </a:tcPr>
                </a:tc>
                <a:extLst>
                  <a:ext uri="{0D108BD9-81ED-4DB2-BD59-A6C34878D82A}">
                    <a16:rowId xmlns:a16="http://schemas.microsoft.com/office/drawing/2014/main" val="2174144502"/>
                  </a:ext>
                </a:extLst>
              </a:tr>
            </a:tbl>
          </a:graphicData>
        </a:graphic>
      </p:graphicFrame>
    </p:spTree>
    <p:extLst>
      <p:ext uri="{BB962C8B-B14F-4D97-AF65-F5344CB8AC3E}">
        <p14:creationId xmlns:p14="http://schemas.microsoft.com/office/powerpoint/2010/main" val="3651835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053DA-0550-410D-D496-0F5F6B792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14364-4AF7-0735-065A-B78A8AF9191E}"/>
              </a:ext>
            </a:extLst>
          </p:cNvPr>
          <p:cNvSpPr>
            <a:spLocks noGrp="1"/>
          </p:cNvSpPr>
          <p:nvPr>
            <p:ph type="title"/>
          </p:nvPr>
        </p:nvSpPr>
        <p:spPr>
          <a:xfrm>
            <a:off x="591671" y="-4669"/>
            <a:ext cx="10515600" cy="1325563"/>
          </a:xfrm>
        </p:spPr>
        <p:txBody>
          <a:bodyPr/>
          <a:lstStyle/>
          <a:p>
            <a:r>
              <a:rPr lang="en-US" sz="3800" b="1">
                <a:latin typeface="Aptos Display"/>
              </a:rPr>
              <a:t>Stories Completed</a:t>
            </a:r>
          </a:p>
        </p:txBody>
      </p:sp>
      <p:graphicFrame>
        <p:nvGraphicFramePr>
          <p:cNvPr id="7" name="Table 6">
            <a:extLst>
              <a:ext uri="{FF2B5EF4-FFF2-40B4-BE49-F238E27FC236}">
                <a16:creationId xmlns:a16="http://schemas.microsoft.com/office/drawing/2014/main" id="{885AC7AC-2BC5-442D-4730-870CFE7AF4C3}"/>
              </a:ext>
            </a:extLst>
          </p:cNvPr>
          <p:cNvGraphicFramePr>
            <a:graphicFrameLocks noGrp="1"/>
          </p:cNvGraphicFramePr>
          <p:nvPr>
            <p:extLst>
              <p:ext uri="{D42A27DB-BD31-4B8C-83A1-F6EECF244321}">
                <p14:modId xmlns:p14="http://schemas.microsoft.com/office/powerpoint/2010/main" val="3129086567"/>
              </p:ext>
            </p:extLst>
          </p:nvPr>
        </p:nvGraphicFramePr>
        <p:xfrm>
          <a:off x="90437" y="2024114"/>
          <a:ext cx="12002929" cy="2399996"/>
        </p:xfrm>
        <a:graphic>
          <a:graphicData uri="http://schemas.openxmlformats.org/drawingml/2006/table">
            <a:tbl>
              <a:tblPr bandRow="1">
                <a:tableStyleId>{5C22544A-7EE6-4342-B048-85BDC9FD1C3A}</a:tableStyleId>
              </a:tblPr>
              <a:tblGrid>
                <a:gridCol w="1260000">
                  <a:extLst>
                    <a:ext uri="{9D8B030D-6E8A-4147-A177-3AD203B41FA5}">
                      <a16:colId xmlns:a16="http://schemas.microsoft.com/office/drawing/2014/main" val="694733962"/>
                    </a:ext>
                  </a:extLst>
                </a:gridCol>
                <a:gridCol w="4102509">
                  <a:extLst>
                    <a:ext uri="{9D8B030D-6E8A-4147-A177-3AD203B41FA5}">
                      <a16:colId xmlns:a16="http://schemas.microsoft.com/office/drawing/2014/main" val="1142781901"/>
                    </a:ext>
                  </a:extLst>
                </a:gridCol>
                <a:gridCol w="2246301">
                  <a:extLst>
                    <a:ext uri="{9D8B030D-6E8A-4147-A177-3AD203B41FA5}">
                      <a16:colId xmlns:a16="http://schemas.microsoft.com/office/drawing/2014/main" val="2575816368"/>
                    </a:ext>
                  </a:extLst>
                </a:gridCol>
                <a:gridCol w="2220000">
                  <a:extLst>
                    <a:ext uri="{9D8B030D-6E8A-4147-A177-3AD203B41FA5}">
                      <a16:colId xmlns:a16="http://schemas.microsoft.com/office/drawing/2014/main" val="2616169518"/>
                    </a:ext>
                  </a:extLst>
                </a:gridCol>
                <a:gridCol w="2174119">
                  <a:extLst>
                    <a:ext uri="{9D8B030D-6E8A-4147-A177-3AD203B41FA5}">
                      <a16:colId xmlns:a16="http://schemas.microsoft.com/office/drawing/2014/main" val="4165658920"/>
                    </a:ext>
                  </a:extLst>
                </a:gridCol>
              </a:tblGrid>
              <a:tr h="1199998">
                <a:tc>
                  <a:txBody>
                    <a:bodyPr/>
                    <a:lstStyle/>
                    <a:p>
                      <a:pPr algn="l" fontAlgn="b"/>
                      <a:r>
                        <a:rPr lang="en-US" sz="1500" u="none" strike="noStrike">
                          <a:effectLst/>
                        </a:rPr>
                        <a:t>US_04</a:t>
                      </a:r>
                      <a:endParaRPr lang="en-US" sz="1500" b="0" i="0" u="none" strike="noStrike">
                        <a:solidFill>
                          <a:srgbClr val="000000"/>
                        </a:solidFill>
                        <a:effectLst/>
                        <a:latin typeface="Calibri" panose="020F0502020204030204" pitchFamily="34" charset="0"/>
                      </a:endParaRPr>
                    </a:p>
                  </a:txBody>
                  <a:tcPr marL="8403" marR="8403" marT="8403"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l" fontAlgn="b"/>
                      <a:r>
                        <a:rPr lang="en-US" sz="1500" u="none" strike="noStrike">
                          <a:effectLst/>
                        </a:rPr>
                        <a:t>As a user, I want to receive alerts when suspicious activity occurs so that I can take action quickly.</a:t>
                      </a:r>
                      <a:endParaRPr lang="en-US" sz="1500" b="0" i="0" u="none" strike="noStrike">
                        <a:solidFill>
                          <a:srgbClr val="000000"/>
                        </a:solidFill>
                        <a:effectLst/>
                        <a:latin typeface="Calibri" panose="020F0502020204030204" pitchFamily="34" charset="0"/>
                      </a:endParaRPr>
                    </a:p>
                  </a:txBody>
                  <a:tcPr marL="8403" marR="8403" marT="8403"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fontAlgn="b"/>
                      <a:r>
                        <a:rPr lang="en-US" sz="1500" b="0" i="0" u="none" strike="noStrike">
                          <a:solidFill>
                            <a:srgbClr val="000000"/>
                          </a:solidFill>
                          <a:effectLst/>
                          <a:latin typeface="Calibri" panose="020F0502020204030204" pitchFamily="34" charset="0"/>
                        </a:rPr>
                        <a:t>3</a:t>
                      </a:r>
                    </a:p>
                  </a:txBody>
                  <a:tcPr marL="8403" marR="8403" marT="8403"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fontAlgn="b"/>
                      <a:r>
                        <a:rPr lang="en-US" sz="1500" b="0" i="0" u="none" strike="noStrike">
                          <a:solidFill>
                            <a:srgbClr val="000000"/>
                          </a:solidFill>
                          <a:effectLst/>
                          <a:latin typeface="Calibri" panose="020F0502020204030204" pitchFamily="34" charset="0"/>
                        </a:rPr>
                        <a:t>3 </a:t>
                      </a:r>
                    </a:p>
                  </a:txBody>
                  <a:tcPr marL="8403" marR="8403" marT="8403" marB="0" anchor="ctr">
                    <a:lnL w="10077">
                      <a:solidFill>
                        <a:srgbClr val="FFFFFF"/>
                      </a:solidFill>
                    </a:lnL>
                    <a:lnR w="10077" cap="flat" cmpd="sng" algn="ctr">
                      <a:solidFill>
                        <a:srgbClr val="FFFFFF"/>
                      </a:solidFill>
                      <a:prstDash val="solid"/>
                      <a:round/>
                      <a:headEnd type="none" w="med" len="med"/>
                      <a:tailEnd type="none" w="med" len="med"/>
                    </a:lnR>
                    <a:lnT w="30241">
                      <a:solidFill>
                        <a:srgbClr val="FFFFFF"/>
                      </a:solidFill>
                    </a:lnT>
                    <a:lnB w="10077">
                      <a:solidFill>
                        <a:srgbClr val="FFFFFF"/>
                      </a:solidFill>
                    </a:lnB>
                    <a:solidFill>
                      <a:srgbClr val="CCD2D8"/>
                    </a:solidFill>
                  </a:tcPr>
                </a:tc>
                <a:tc>
                  <a:txBody>
                    <a:bodyPr/>
                    <a:lstStyle/>
                    <a:p>
                      <a:pPr algn="ctr" fontAlgn="b"/>
                      <a:r>
                        <a:rPr lang="en-US" sz="1500" b="0" i="0" u="none" strike="noStrike">
                          <a:solidFill>
                            <a:srgbClr val="000000"/>
                          </a:solidFill>
                          <a:effectLst/>
                          <a:latin typeface="Calibri" panose="020F0502020204030204" pitchFamily="34" charset="0"/>
                        </a:rPr>
                        <a:t>Nov 30</a:t>
                      </a:r>
                    </a:p>
                  </a:txBody>
                  <a:tcPr marL="8403" marR="8403" marT="8403" marB="0" anchor="ctr">
                    <a:lnL w="10077">
                      <a:solidFill>
                        <a:srgbClr val="FFFFFF"/>
                      </a:solidFill>
                    </a:lnL>
                    <a:lnR w="10077">
                      <a:solidFill>
                        <a:srgbClr val="FFFFFF"/>
                      </a:solidFill>
                    </a:lnR>
                    <a:lnT w="30240">
                      <a:solidFill>
                        <a:srgbClr val="FFFFFF"/>
                      </a:solidFill>
                    </a:lnT>
                    <a:lnB w="10077">
                      <a:solidFill>
                        <a:srgbClr val="FFFFFF"/>
                      </a:solidFill>
                    </a:lnB>
                    <a:solidFill>
                      <a:srgbClr val="CCD2D8"/>
                    </a:solidFill>
                  </a:tcPr>
                </a:tc>
                <a:extLst>
                  <a:ext uri="{0D108BD9-81ED-4DB2-BD59-A6C34878D82A}">
                    <a16:rowId xmlns:a16="http://schemas.microsoft.com/office/drawing/2014/main" val="2188963083"/>
                  </a:ext>
                </a:extLst>
              </a:tr>
              <a:tr h="1199998">
                <a:tc>
                  <a:txBody>
                    <a:bodyPr/>
                    <a:lstStyle/>
                    <a:p>
                      <a:pPr algn="l" fontAlgn="b"/>
                      <a:r>
                        <a:rPr lang="en-US" sz="1500" b="0" i="0" u="none" strike="noStrike">
                          <a:solidFill>
                            <a:srgbClr val="000000"/>
                          </a:solidFill>
                          <a:effectLst/>
                          <a:latin typeface="Calibri" panose="020F0502020204030204" pitchFamily="34" charset="0"/>
                        </a:rPr>
                        <a:t>US_09</a:t>
                      </a:r>
                    </a:p>
                  </a:txBody>
                  <a:tcPr marL="9525" marR="9525" marT="9525"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l" fontAlgn="b"/>
                      <a:r>
                        <a:rPr lang="en-US" sz="1500" b="0" i="0" u="none" strike="noStrike">
                          <a:solidFill>
                            <a:srgbClr val="000000"/>
                          </a:solidFill>
                          <a:effectLst/>
                          <a:latin typeface="Calibri" panose="020F0502020204030204" pitchFamily="34" charset="0"/>
                        </a:rPr>
                        <a:t>As a user, I want to file a dispute for fraudulent charges so the bank can take action.</a:t>
                      </a:r>
                    </a:p>
                  </a:txBody>
                  <a:tcPr marL="9525" marR="9525" marT="9525" marB="0"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ctr" rtl="0" fontAlgn="base">
                        <a:lnSpc>
                          <a:spcPts val="1350"/>
                        </a:lnSpc>
                        <a:buNone/>
                      </a:pPr>
                      <a:r>
                        <a:rPr lang="en-US" sz="1400">
                          <a:effectLst/>
                          <a:latin typeface="Calibri"/>
                        </a:rPr>
                        <a:t>4</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a:solidFill>
                        <a:srgbClr val="FFFFFF"/>
                      </a:solidFill>
                    </a:lnB>
                    <a:solidFill>
                      <a:srgbClr val="E7EAED"/>
                    </a:solidFill>
                  </a:tcPr>
                </a:tc>
                <a:tc>
                  <a:txBody>
                    <a:bodyPr/>
                    <a:lstStyle/>
                    <a:p>
                      <a:pPr lvl="0" algn="ctr">
                        <a:lnSpc>
                          <a:spcPts val="1350"/>
                        </a:lnSpc>
                        <a:buNone/>
                      </a:pPr>
                      <a:r>
                        <a:rPr lang="en-US" sz="1400">
                          <a:effectLst/>
                          <a:latin typeface="Calibri"/>
                        </a:rPr>
                        <a:t>-</a:t>
                      </a:r>
                    </a:p>
                  </a:txBody>
                  <a:tcPr marL="7551" marR="7551" marT="7551" anchor="ctr">
                    <a:lnL w="10077">
                      <a:solidFill>
                        <a:srgbClr val="FFFFFF"/>
                      </a:solidFill>
                    </a:lnL>
                    <a:lnR w="10077">
                      <a:solidFill>
                        <a:srgbClr val="FFFFFF"/>
                      </a:solidFill>
                    </a:lnR>
                    <a:lnT w="10077" cap="flat" cmpd="sng" algn="ctr">
                      <a:solidFill>
                        <a:srgbClr val="FFFFFF"/>
                      </a:solidFill>
                      <a:prstDash val="solid"/>
                      <a:round/>
                      <a:headEnd type="none" w="med" len="med"/>
                      <a:tailEnd type="none" w="med" len="med"/>
                    </a:lnT>
                    <a:lnB w="10077">
                      <a:solidFill>
                        <a:srgbClr val="FFFFFF"/>
                      </a:solidFill>
                    </a:lnB>
                    <a:solidFill>
                      <a:srgbClr val="E7EAED"/>
                    </a:solidFill>
                  </a:tcPr>
                </a:tc>
                <a:extLst>
                  <a:ext uri="{0D108BD9-81ED-4DB2-BD59-A6C34878D82A}">
                    <a16:rowId xmlns:a16="http://schemas.microsoft.com/office/drawing/2014/main" val="3343777677"/>
                  </a:ext>
                </a:extLst>
              </a:tr>
            </a:tbl>
          </a:graphicData>
        </a:graphic>
      </p:graphicFrame>
      <p:graphicFrame>
        <p:nvGraphicFramePr>
          <p:cNvPr id="9" name="Table 8">
            <a:extLst>
              <a:ext uri="{FF2B5EF4-FFF2-40B4-BE49-F238E27FC236}">
                <a16:creationId xmlns:a16="http://schemas.microsoft.com/office/drawing/2014/main" id="{684CD8D9-473E-25CE-355D-89D5875A6DDE}"/>
              </a:ext>
            </a:extLst>
          </p:cNvPr>
          <p:cNvGraphicFramePr>
            <a:graphicFrameLocks noGrp="1"/>
          </p:cNvGraphicFramePr>
          <p:nvPr>
            <p:extLst>
              <p:ext uri="{D42A27DB-BD31-4B8C-83A1-F6EECF244321}">
                <p14:modId xmlns:p14="http://schemas.microsoft.com/office/powerpoint/2010/main" val="2493603153"/>
              </p:ext>
            </p:extLst>
          </p:nvPr>
        </p:nvGraphicFramePr>
        <p:xfrm>
          <a:off x="87344" y="1135945"/>
          <a:ext cx="12017311" cy="888997"/>
        </p:xfrm>
        <a:graphic>
          <a:graphicData uri="http://schemas.openxmlformats.org/drawingml/2006/table">
            <a:tbl>
              <a:tblPr bandRow="1">
                <a:tableStyleId>{5C22544A-7EE6-4342-B048-85BDC9FD1C3A}</a:tableStyleId>
              </a:tblPr>
              <a:tblGrid>
                <a:gridCol w="1243794">
                  <a:extLst>
                    <a:ext uri="{9D8B030D-6E8A-4147-A177-3AD203B41FA5}">
                      <a16:colId xmlns:a16="http://schemas.microsoft.com/office/drawing/2014/main" val="3619701278"/>
                    </a:ext>
                  </a:extLst>
                </a:gridCol>
                <a:gridCol w="4144975">
                  <a:extLst>
                    <a:ext uri="{9D8B030D-6E8A-4147-A177-3AD203B41FA5}">
                      <a16:colId xmlns:a16="http://schemas.microsoft.com/office/drawing/2014/main" val="3687698885"/>
                    </a:ext>
                  </a:extLst>
                </a:gridCol>
                <a:gridCol w="2209514">
                  <a:extLst>
                    <a:ext uri="{9D8B030D-6E8A-4147-A177-3AD203B41FA5}">
                      <a16:colId xmlns:a16="http://schemas.microsoft.com/office/drawing/2014/main" val="3281985301"/>
                    </a:ext>
                  </a:extLst>
                </a:gridCol>
                <a:gridCol w="2209514">
                  <a:extLst>
                    <a:ext uri="{9D8B030D-6E8A-4147-A177-3AD203B41FA5}">
                      <a16:colId xmlns:a16="http://schemas.microsoft.com/office/drawing/2014/main" val="2777516335"/>
                    </a:ext>
                  </a:extLst>
                </a:gridCol>
                <a:gridCol w="2209514">
                  <a:extLst>
                    <a:ext uri="{9D8B030D-6E8A-4147-A177-3AD203B41FA5}">
                      <a16:colId xmlns:a16="http://schemas.microsoft.com/office/drawing/2014/main" val="2315140396"/>
                    </a:ext>
                  </a:extLst>
                </a:gridCol>
              </a:tblGrid>
              <a:tr h="888997">
                <a:tc>
                  <a:txBody>
                    <a:bodyPr/>
                    <a:lstStyle/>
                    <a:p>
                      <a:pPr algn="ctr" rtl="0" fontAlgn="base">
                        <a:lnSpc>
                          <a:spcPts val="1200"/>
                        </a:lnSpc>
                        <a:buNone/>
                      </a:pPr>
                      <a:r>
                        <a:rPr lang="en-US" sz="1500" b="1">
                          <a:solidFill>
                            <a:srgbClr val="FFFFFF"/>
                          </a:solidFill>
                          <a:effectLst/>
                          <a:latin typeface="Calibri"/>
                        </a:rPr>
                        <a:t>S.NO</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User Story</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Story Points</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Completed</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Date Completed</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2213173454"/>
                  </a:ext>
                </a:extLst>
              </a:tr>
            </a:tbl>
          </a:graphicData>
        </a:graphic>
      </p:graphicFrame>
    </p:spTree>
    <p:extLst>
      <p:ext uri="{BB962C8B-B14F-4D97-AF65-F5344CB8AC3E}">
        <p14:creationId xmlns:p14="http://schemas.microsoft.com/office/powerpoint/2010/main" val="27207386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DCDAE5-62B1-C0C5-FC8C-B20EAB53652C}"/>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C9A06A6D-1AC0-1B55-6E04-BFEB58C6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83102BA-1964-1C1C-9CDC-FCF61F4266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84A8D1-AF17-CD39-F63F-4845C8EBDFF8}"/>
              </a:ext>
            </a:extLst>
          </p:cNvPr>
          <p:cNvSpPr>
            <a:spLocks noGrp="1"/>
          </p:cNvSpPr>
          <p:nvPr>
            <p:ph type="title"/>
          </p:nvPr>
        </p:nvSpPr>
        <p:spPr>
          <a:xfrm>
            <a:off x="2756662" y="2779832"/>
            <a:ext cx="6258109" cy="1297115"/>
          </a:xfrm>
          <a:prstGeom prst="ellipse">
            <a:avLst/>
          </a:prstGeom>
        </p:spPr>
        <p:txBody>
          <a:bodyPr vert="horz" lIns="91440" tIns="45720" rIns="91440" bIns="45720" rtlCol="0" anchor="t">
            <a:noAutofit/>
          </a:bodyPr>
          <a:lstStyle/>
          <a:p>
            <a:pPr algn="ctr"/>
            <a:r>
              <a:rPr lang="en-US" sz="7200" b="1">
                <a:solidFill>
                  <a:schemeClr val="tx2"/>
                </a:solidFill>
                <a:latin typeface="Aptos Display"/>
              </a:rPr>
              <a:t>Metrics</a:t>
            </a:r>
            <a:endParaRPr lang="en-US" sz="7200">
              <a:solidFill>
                <a:schemeClr val="tx2"/>
              </a:solidFill>
            </a:endParaRPr>
          </a:p>
        </p:txBody>
      </p:sp>
      <p:grpSp>
        <p:nvGrpSpPr>
          <p:cNvPr id="43" name="Group 42">
            <a:extLst>
              <a:ext uri="{FF2B5EF4-FFF2-40B4-BE49-F238E27FC236}">
                <a16:creationId xmlns:a16="http://schemas.microsoft.com/office/drawing/2014/main" id="{6B1C5CB7-E36A-3015-F340-9CA7D25759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44" name="Freeform: Shape 43">
              <a:extLst>
                <a:ext uri="{FF2B5EF4-FFF2-40B4-BE49-F238E27FC236}">
                  <a16:creationId xmlns:a16="http://schemas.microsoft.com/office/drawing/2014/main" id="{F16E1720-2F10-463D-0E2B-FB6B6E819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47D672C1-1468-1AF6-13A5-1B372029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1CC8E763-3B37-ED39-F6C7-937369066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74731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D528BB-F4A4-89FC-9CB0-D82E4C1FCE19}"/>
              </a:ext>
            </a:extLst>
          </p:cNvPr>
          <p:cNvSpPr>
            <a:spLocks noGrp="1"/>
          </p:cNvSpPr>
          <p:nvPr>
            <p:ph type="title"/>
          </p:nvPr>
        </p:nvSpPr>
        <p:spPr>
          <a:xfrm>
            <a:off x="699713" y="248038"/>
            <a:ext cx="7063721" cy="1159200"/>
          </a:xfrm>
          <a:prstGeom prst="ellipse">
            <a:avLst/>
          </a:prstGeom>
        </p:spPr>
        <p:txBody>
          <a:bodyPr vert="horz" lIns="91440" tIns="45720" rIns="91440" bIns="45720" rtlCol="0" anchor="ctr">
            <a:normAutofit fontScale="90000"/>
          </a:bodyPr>
          <a:lstStyle/>
          <a:p>
            <a:r>
              <a:rPr lang="en-US" sz="4000" b="1">
                <a:solidFill>
                  <a:srgbClr val="FFFFFF"/>
                </a:solidFill>
              </a:rPr>
              <a:t>Sprint 3 Burndown</a:t>
            </a:r>
            <a:r>
              <a:rPr lang="en-US" sz="4000" b="1" kern="1200">
                <a:solidFill>
                  <a:srgbClr val="FFFFFF"/>
                </a:solidFill>
                <a:latin typeface="+mj-lt"/>
                <a:ea typeface="+mj-ea"/>
                <a:cs typeface="+mj-cs"/>
              </a:rPr>
              <a:t> </a:t>
            </a:r>
            <a:r>
              <a:rPr lang="en-US" sz="4000" b="1">
                <a:solidFill>
                  <a:srgbClr val="FFFFFF"/>
                </a:solidFill>
              </a:rPr>
              <a:t>Chart</a:t>
            </a:r>
            <a:endParaRPr lang="en-US" sz="4000" b="1" kern="1200">
              <a:solidFill>
                <a:srgbClr val="FFFFFF"/>
              </a:solidFill>
              <a:latin typeface="+mj-lt"/>
              <a:ea typeface="+mj-ea"/>
              <a:cs typeface="+mj-cs"/>
            </a:endParaRPr>
          </a:p>
        </p:txBody>
      </p:sp>
      <p:graphicFrame>
        <p:nvGraphicFramePr>
          <p:cNvPr id="5" name="Chart 4">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539693943"/>
              </p:ext>
            </p:extLst>
          </p:nvPr>
        </p:nvGraphicFramePr>
        <p:xfrm>
          <a:off x="2464419" y="2174488"/>
          <a:ext cx="7014117" cy="39140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0916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56" name="Freeform: Shape 55">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Shape 57">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1" name="Freeform: Shape 60">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DD528BB-F4A4-89FC-9CB0-D82E4C1FCE19}"/>
              </a:ext>
            </a:extLst>
          </p:cNvPr>
          <p:cNvSpPr>
            <a:spLocks noGrp="1"/>
          </p:cNvSpPr>
          <p:nvPr>
            <p:ph type="title"/>
          </p:nvPr>
        </p:nvSpPr>
        <p:spPr>
          <a:xfrm>
            <a:off x="-3161" y="-237038"/>
            <a:ext cx="5754696" cy="1837349"/>
          </a:xfrm>
        </p:spPr>
        <p:txBody>
          <a:bodyPr anchor="ctr">
            <a:normAutofit/>
          </a:bodyPr>
          <a:lstStyle/>
          <a:p>
            <a:pPr algn="ctr"/>
            <a:r>
              <a:rPr lang="en-US">
                <a:latin typeface="Calibri"/>
                <a:ea typeface="Calibri"/>
                <a:cs typeface="Calibri"/>
              </a:rPr>
              <a:t>Sprint 3 Velocity Chart</a:t>
            </a:r>
          </a:p>
        </p:txBody>
      </p:sp>
      <p:pic>
        <p:nvPicPr>
          <p:cNvPr id="3" name="Picture 2" descr="A graph of a blue square&#10;&#10;AI-generated content may be incorrect.">
            <a:extLst>
              <a:ext uri="{FF2B5EF4-FFF2-40B4-BE49-F238E27FC236}">
                <a16:creationId xmlns:a16="http://schemas.microsoft.com/office/drawing/2014/main" id="{6B20C044-0DD3-6683-D54B-1297F94E83BD}"/>
              </a:ext>
            </a:extLst>
          </p:cNvPr>
          <p:cNvPicPr>
            <a:picLocks noChangeAspect="1"/>
          </p:cNvPicPr>
          <p:nvPr/>
        </p:nvPicPr>
        <p:blipFill>
          <a:blip r:embed="rId2"/>
          <a:stretch>
            <a:fillRect/>
          </a:stretch>
        </p:blipFill>
        <p:spPr>
          <a:xfrm>
            <a:off x="3238500" y="1710340"/>
            <a:ext cx="5715000" cy="3533775"/>
          </a:xfrm>
          <a:prstGeom prst="rect">
            <a:avLst/>
          </a:prstGeom>
        </p:spPr>
      </p:pic>
    </p:spTree>
    <p:extLst>
      <p:ext uri="{BB962C8B-B14F-4D97-AF65-F5344CB8AC3E}">
        <p14:creationId xmlns:p14="http://schemas.microsoft.com/office/powerpoint/2010/main" val="34588801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4F3988-F7B9-687F-4FC8-38DFF5FE34F5}"/>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EBC86150-BDF9-724C-4B1E-821D3F636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E17B54A-48DA-C052-0621-267F94B3B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0C692E08-49AE-65FC-81DB-4BD9A1778B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56" name="Freeform: Shape 55">
              <a:extLst>
                <a:ext uri="{FF2B5EF4-FFF2-40B4-BE49-F238E27FC236}">
                  <a16:creationId xmlns:a16="http://schemas.microsoft.com/office/drawing/2014/main" id="{C433BD43-5FAD-F155-380C-4D666F2A65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ACCAF2D7-BE51-CFDD-85D0-E064849DB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Shape 57">
              <a:extLst>
                <a:ext uri="{FF2B5EF4-FFF2-40B4-BE49-F238E27FC236}">
                  <a16:creationId xmlns:a16="http://schemas.microsoft.com/office/drawing/2014/main" id="{C49DA990-5EB5-EF98-C564-443DBDBBD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13750C48-8426-6ADC-D7DC-ED00E927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3DD529E5-2A64-1F99-0AE1-1653FC2AD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1" name="Freeform: Shape 60">
              <a:extLst>
                <a:ext uri="{FF2B5EF4-FFF2-40B4-BE49-F238E27FC236}">
                  <a16:creationId xmlns:a16="http://schemas.microsoft.com/office/drawing/2014/main" id="{1AE5AD30-DD4D-3768-64C1-D840DA86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5FE330C4-C685-CC78-9E4D-FD62D7FD0B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D6BD358-3FE0-18B7-1835-FC8401D879FE}"/>
              </a:ext>
            </a:extLst>
          </p:cNvPr>
          <p:cNvSpPr>
            <a:spLocks noGrp="1"/>
          </p:cNvSpPr>
          <p:nvPr>
            <p:ph type="title"/>
          </p:nvPr>
        </p:nvSpPr>
        <p:spPr>
          <a:xfrm>
            <a:off x="-843161" y="-369038"/>
            <a:ext cx="9677584" cy="1837349"/>
          </a:xfrm>
        </p:spPr>
        <p:txBody>
          <a:bodyPr anchor="ctr">
            <a:normAutofit/>
          </a:bodyPr>
          <a:lstStyle/>
          <a:p>
            <a:pPr algn="ctr"/>
            <a:r>
              <a:rPr lang="en-US">
                <a:latin typeface="Calibri"/>
                <a:ea typeface="Calibri"/>
                <a:cs typeface="Calibri"/>
              </a:rPr>
              <a:t>Historical &amp; Average Velocities</a:t>
            </a:r>
          </a:p>
        </p:txBody>
      </p:sp>
      <p:pic>
        <p:nvPicPr>
          <p:cNvPr id="3" name="Picture 2">
            <a:extLst>
              <a:ext uri="{FF2B5EF4-FFF2-40B4-BE49-F238E27FC236}">
                <a16:creationId xmlns:a16="http://schemas.microsoft.com/office/drawing/2014/main" id="{62C9AB0C-1059-4098-99EA-26B633B5792C}"/>
              </a:ext>
            </a:extLst>
          </p:cNvPr>
          <p:cNvPicPr>
            <a:picLocks noChangeAspect="1"/>
          </p:cNvPicPr>
          <p:nvPr/>
        </p:nvPicPr>
        <p:blipFill>
          <a:blip r:embed="rId2"/>
          <a:stretch>
            <a:fillRect/>
          </a:stretch>
        </p:blipFill>
        <p:spPr>
          <a:xfrm>
            <a:off x="3238500" y="1662112"/>
            <a:ext cx="5715000" cy="3533775"/>
          </a:xfrm>
          <a:prstGeom prst="rect">
            <a:avLst/>
          </a:prstGeom>
        </p:spPr>
      </p:pic>
    </p:spTree>
    <p:extLst>
      <p:ext uri="{BB962C8B-B14F-4D97-AF65-F5344CB8AC3E}">
        <p14:creationId xmlns:p14="http://schemas.microsoft.com/office/powerpoint/2010/main" val="41000467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675C24-64F3-F25E-4463-8EB4FF4BC0B4}"/>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A510F8EA-3BCD-CF56-51C0-C5E4ACD67E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E4CC625-BA5E-DF24-0AC1-69BABC542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A2985419-2487-15F8-E722-B1957C22D4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56" name="Freeform: Shape 55">
              <a:extLst>
                <a:ext uri="{FF2B5EF4-FFF2-40B4-BE49-F238E27FC236}">
                  <a16:creationId xmlns:a16="http://schemas.microsoft.com/office/drawing/2014/main" id="{0B095BB0-8C55-0910-C38B-361FA3D3D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17C301BA-546F-8BC6-3018-F74933C679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Shape 57">
              <a:extLst>
                <a:ext uri="{FF2B5EF4-FFF2-40B4-BE49-F238E27FC236}">
                  <a16:creationId xmlns:a16="http://schemas.microsoft.com/office/drawing/2014/main" id="{B3E3A5F6-DE82-0582-078D-64DEA815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024DABD8-71D2-476B-3594-7AEC93351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2B29C681-3AD5-3808-322E-1A8A9B15E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1" name="Freeform: Shape 60">
              <a:extLst>
                <a:ext uri="{FF2B5EF4-FFF2-40B4-BE49-F238E27FC236}">
                  <a16:creationId xmlns:a16="http://schemas.microsoft.com/office/drawing/2014/main" id="{984A71DD-98A2-FC3D-2BC7-47FC2BBF7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9CBEE4B7-AA5E-75E3-2F9E-80E025D8B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968BD34-E3B6-EF68-944E-607609DD233E}"/>
              </a:ext>
            </a:extLst>
          </p:cNvPr>
          <p:cNvSpPr>
            <a:spLocks noGrp="1"/>
          </p:cNvSpPr>
          <p:nvPr>
            <p:ph type="title"/>
          </p:nvPr>
        </p:nvSpPr>
        <p:spPr>
          <a:xfrm>
            <a:off x="-735161" y="-237038"/>
            <a:ext cx="9677584" cy="1837349"/>
          </a:xfrm>
        </p:spPr>
        <p:txBody>
          <a:bodyPr anchor="ctr">
            <a:normAutofit/>
          </a:bodyPr>
          <a:lstStyle/>
          <a:p>
            <a:pPr algn="ctr"/>
            <a:r>
              <a:rPr lang="en-US">
                <a:latin typeface="Calibri"/>
                <a:ea typeface="Calibri"/>
                <a:cs typeface="Calibri"/>
              </a:rPr>
              <a:t>Committed &amp; Completed Ratios</a:t>
            </a:r>
          </a:p>
        </p:txBody>
      </p:sp>
      <p:pic>
        <p:nvPicPr>
          <p:cNvPr id="4" name="Picture 3">
            <a:extLst>
              <a:ext uri="{FF2B5EF4-FFF2-40B4-BE49-F238E27FC236}">
                <a16:creationId xmlns:a16="http://schemas.microsoft.com/office/drawing/2014/main" id="{DA7CB86D-4E78-E6D6-FE52-B0F72A35027C}"/>
              </a:ext>
            </a:extLst>
          </p:cNvPr>
          <p:cNvPicPr>
            <a:picLocks noChangeAspect="1"/>
          </p:cNvPicPr>
          <p:nvPr/>
        </p:nvPicPr>
        <p:blipFill>
          <a:blip r:embed="rId2"/>
          <a:stretch>
            <a:fillRect/>
          </a:stretch>
        </p:blipFill>
        <p:spPr>
          <a:xfrm>
            <a:off x="3527867" y="1026167"/>
            <a:ext cx="5145912" cy="5336171"/>
          </a:xfrm>
          <a:prstGeom prst="rect">
            <a:avLst/>
          </a:prstGeom>
        </p:spPr>
      </p:pic>
    </p:spTree>
    <p:extLst>
      <p:ext uri="{BB962C8B-B14F-4D97-AF65-F5344CB8AC3E}">
        <p14:creationId xmlns:p14="http://schemas.microsoft.com/office/powerpoint/2010/main" val="14395495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5ED7E3-045A-D0BA-3011-0A2A85AB9B7A}"/>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52F03988-BA72-174E-64C3-9AC6A0559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C83BF7-54FE-B04D-B4EB-BA695F00745E}"/>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6600">
                <a:latin typeface="Calibri"/>
                <a:ea typeface="Calibri"/>
                <a:cs typeface="Calibri"/>
              </a:rPr>
              <a:t>Sprint 3 Retrospective</a:t>
            </a:r>
          </a:p>
        </p:txBody>
      </p:sp>
      <p:sp>
        <p:nvSpPr>
          <p:cNvPr id="48" name="sketch line">
            <a:extLst>
              <a:ext uri="{FF2B5EF4-FFF2-40B4-BE49-F238E27FC236}">
                <a16:creationId xmlns:a16="http://schemas.microsoft.com/office/drawing/2014/main" id="{74509993-C62C-9E1A-8238-463EA1B95D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69C392A-27C4-426F-F408-DDA7B349F810}"/>
              </a:ext>
            </a:extLst>
          </p:cNvPr>
          <p:cNvSpPr>
            <a:spLocks noGrp="1"/>
          </p:cNvSpPr>
          <p:nvPr>
            <p:ph idx="1"/>
          </p:nvPr>
        </p:nvSpPr>
        <p:spPr>
          <a:xfrm>
            <a:off x="838200" y="2664789"/>
            <a:ext cx="10515600" cy="3512174"/>
          </a:xfrm>
        </p:spPr>
        <p:txBody>
          <a:bodyPr vert="horz" lIns="91440" tIns="45720" rIns="91440" bIns="45720" rtlCol="0" anchor="t">
            <a:normAutofit/>
          </a:bodyPr>
          <a:lstStyle/>
          <a:p>
            <a:r>
              <a:rPr lang="en-US"/>
              <a:t>Video can be viewed here:</a:t>
            </a:r>
            <a:br>
              <a:rPr lang="en-US"/>
            </a:br>
            <a:r>
              <a:rPr lang="en-US">
                <a:ea typeface="+mn-lt"/>
                <a:cs typeface="+mn-lt"/>
                <a:hlinkClick r:id="rId2"/>
              </a:rPr>
              <a:t>https://youtu.be/JHORY5hOy9o</a:t>
            </a:r>
            <a:endParaRPr lang="en-US"/>
          </a:p>
          <a:p>
            <a:endParaRPr lang="en-US"/>
          </a:p>
          <a:p>
            <a:endParaRPr lang="en-US"/>
          </a:p>
          <a:p>
            <a:endParaRPr lang="en-US"/>
          </a:p>
        </p:txBody>
      </p:sp>
    </p:spTree>
    <p:extLst>
      <p:ext uri="{BB962C8B-B14F-4D97-AF65-F5344CB8AC3E}">
        <p14:creationId xmlns:p14="http://schemas.microsoft.com/office/powerpoint/2010/main" val="1449145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E67F0A-3BEE-F790-A7ED-24BD1C877FAC}"/>
              </a:ext>
            </a:extLst>
          </p:cNvPr>
          <p:cNvSpPr>
            <a:spLocks noGrp="1"/>
          </p:cNvSpPr>
          <p:nvPr>
            <p:ph type="title"/>
          </p:nvPr>
        </p:nvSpPr>
        <p:spPr>
          <a:xfrm>
            <a:off x="638881" y="243861"/>
            <a:ext cx="10909640" cy="1065836"/>
          </a:xfrm>
        </p:spPr>
        <p:txBody>
          <a:bodyPr vert="horz" lIns="91440" tIns="45720" rIns="91440" bIns="45720" rtlCol="0" anchor="ctr">
            <a:normAutofit/>
          </a:bodyPr>
          <a:lstStyle/>
          <a:p>
            <a:pPr algn="ctr"/>
            <a:r>
              <a:rPr lang="en-US" sz="6600">
                <a:latin typeface="Calibri"/>
                <a:ea typeface="Calibri"/>
                <a:cs typeface="Calibri"/>
              </a:rPr>
              <a:t>Sprint 3 Retrospective</a:t>
            </a:r>
          </a:p>
        </p:txBody>
      </p:sp>
      <p:sp>
        <p:nvSpPr>
          <p:cNvPr id="48"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white and black list with black text&#10;&#10;AI-generated content may be incorrect.">
            <a:extLst>
              <a:ext uri="{FF2B5EF4-FFF2-40B4-BE49-F238E27FC236}">
                <a16:creationId xmlns:a16="http://schemas.microsoft.com/office/drawing/2014/main" id="{1E10F17A-4029-1CAE-1C0F-0A287DCA3252}"/>
              </a:ext>
            </a:extLst>
          </p:cNvPr>
          <p:cNvPicPr>
            <a:picLocks noGrp="1" noChangeAspect="1"/>
          </p:cNvPicPr>
          <p:nvPr>
            <p:ph idx="1"/>
          </p:nvPr>
        </p:nvPicPr>
        <p:blipFill>
          <a:blip r:embed="rId2"/>
          <a:stretch>
            <a:fillRect/>
          </a:stretch>
        </p:blipFill>
        <p:spPr>
          <a:xfrm>
            <a:off x="178279" y="1977681"/>
            <a:ext cx="5566913" cy="2782019"/>
          </a:xfrm>
          <a:prstGeom prst="rect">
            <a:avLst/>
          </a:prstGeom>
        </p:spPr>
      </p:pic>
      <p:pic>
        <p:nvPicPr>
          <p:cNvPr id="9" name="Picture 8" descr="A white box with black text&#10;&#10;AI-generated content may be incorrect.">
            <a:extLst>
              <a:ext uri="{FF2B5EF4-FFF2-40B4-BE49-F238E27FC236}">
                <a16:creationId xmlns:a16="http://schemas.microsoft.com/office/drawing/2014/main" id="{A3A733D4-EC3A-106D-F940-FE03965A506C}"/>
              </a:ext>
            </a:extLst>
          </p:cNvPr>
          <p:cNvPicPr>
            <a:picLocks noChangeAspect="1"/>
          </p:cNvPicPr>
          <p:nvPr/>
        </p:nvPicPr>
        <p:blipFill>
          <a:blip r:embed="rId3"/>
          <a:stretch>
            <a:fillRect/>
          </a:stretch>
        </p:blipFill>
        <p:spPr>
          <a:xfrm>
            <a:off x="6096989" y="1984254"/>
            <a:ext cx="5447042" cy="2774471"/>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90AD3F37-CCEB-E9F6-4838-B3294754E547}"/>
              </a:ext>
            </a:extLst>
          </p:cNvPr>
          <p:cNvPicPr>
            <a:picLocks noChangeAspect="1"/>
          </p:cNvPicPr>
          <p:nvPr/>
        </p:nvPicPr>
        <p:blipFill>
          <a:blip r:embed="rId4"/>
          <a:stretch>
            <a:fillRect/>
          </a:stretch>
        </p:blipFill>
        <p:spPr>
          <a:xfrm>
            <a:off x="2679939" y="4756659"/>
            <a:ext cx="6817744" cy="1686644"/>
          </a:xfrm>
          <a:prstGeom prst="rect">
            <a:avLst/>
          </a:prstGeom>
        </p:spPr>
      </p:pic>
    </p:spTree>
    <p:extLst>
      <p:ext uri="{BB962C8B-B14F-4D97-AF65-F5344CB8AC3E}">
        <p14:creationId xmlns:p14="http://schemas.microsoft.com/office/powerpoint/2010/main" val="32189851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04FB27-D707-1E3A-C449-A45C676DA0A0}"/>
              </a:ext>
            </a:extLst>
          </p:cNvPr>
          <p:cNvSpPr>
            <a:spLocks noGrp="1"/>
          </p:cNvSpPr>
          <p:nvPr>
            <p:ph type="title"/>
          </p:nvPr>
        </p:nvSpPr>
        <p:spPr>
          <a:xfrm>
            <a:off x="574469" y="1889"/>
            <a:ext cx="11314399" cy="961185"/>
          </a:xfrm>
        </p:spPr>
        <p:txBody>
          <a:bodyPr vert="horz" lIns="91440" tIns="45720" rIns="91440" bIns="45720" rtlCol="0" anchor="b">
            <a:normAutofit/>
          </a:bodyPr>
          <a:lstStyle/>
          <a:p>
            <a:r>
              <a:rPr lang="en-US" sz="5200" kern="1200">
                <a:latin typeface="Calibri"/>
                <a:ea typeface="Calibri"/>
                <a:cs typeface="Calibri"/>
              </a:rPr>
              <a:t>Sprint-3 Planning</a:t>
            </a:r>
            <a:r>
              <a:rPr lang="en-US" sz="5200">
                <a:latin typeface="Calibri"/>
                <a:ea typeface="Calibri"/>
                <a:cs typeface="Calibri"/>
              </a:rPr>
              <a:t> Stories Carried Over</a:t>
            </a:r>
            <a:endParaRPr lang="en-US" sz="5200" kern="1200">
              <a:latin typeface="Calibri"/>
              <a:ea typeface="Calibri"/>
              <a:cs typeface="Calibri"/>
            </a:endParaRPr>
          </a:p>
        </p:txBody>
      </p:sp>
      <p:pic>
        <p:nvPicPr>
          <p:cNvPr id="9" name="Graphic 8" descr="Run">
            <a:extLst>
              <a:ext uri="{FF2B5EF4-FFF2-40B4-BE49-F238E27FC236}">
                <a16:creationId xmlns:a16="http://schemas.microsoft.com/office/drawing/2014/main" id="{A3EECB02-A7EA-4DBB-AD1B-B3AA5BEA5D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
        <p:nvSpPr>
          <p:cNvPr id="4" name="TextBox 3">
            <a:extLst>
              <a:ext uri="{FF2B5EF4-FFF2-40B4-BE49-F238E27FC236}">
                <a16:creationId xmlns:a16="http://schemas.microsoft.com/office/drawing/2014/main" id="{B4D71ADE-9A1C-C834-8BF2-CDE9866C24AB}"/>
              </a:ext>
            </a:extLst>
          </p:cNvPr>
          <p:cNvSpPr txBox="1"/>
          <p:nvPr/>
        </p:nvSpPr>
        <p:spPr>
          <a:xfrm>
            <a:off x="583096" y="1470991"/>
            <a:ext cx="107342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latin typeface="Aptos"/>
                <a:ea typeface="Calibri"/>
                <a:cs typeface="Calibri"/>
              </a:rPr>
              <a:t>As an admin, I want analytic reports so that I can review overall fraud trends monthly.</a:t>
            </a:r>
          </a:p>
          <a:p>
            <a:endParaRPr lang="en-US">
              <a:latin typeface="Aptos"/>
              <a:ea typeface="Calibri"/>
              <a:cs typeface="Calibri"/>
            </a:endParaRPr>
          </a:p>
        </p:txBody>
      </p:sp>
      <p:graphicFrame>
        <p:nvGraphicFramePr>
          <p:cNvPr id="7" name="Table 6">
            <a:extLst>
              <a:ext uri="{FF2B5EF4-FFF2-40B4-BE49-F238E27FC236}">
                <a16:creationId xmlns:a16="http://schemas.microsoft.com/office/drawing/2014/main" id="{D5177CCC-8A83-EB3D-589E-45F1F8F58030}"/>
              </a:ext>
            </a:extLst>
          </p:cNvPr>
          <p:cNvGraphicFramePr>
            <a:graphicFrameLocks noGrp="1"/>
          </p:cNvGraphicFramePr>
          <p:nvPr>
            <p:extLst>
              <p:ext uri="{D42A27DB-BD31-4B8C-83A1-F6EECF244321}">
                <p14:modId xmlns:p14="http://schemas.microsoft.com/office/powerpoint/2010/main" val="2543929305"/>
              </p:ext>
            </p:extLst>
          </p:nvPr>
        </p:nvGraphicFramePr>
        <p:xfrm>
          <a:off x="132000" y="1158000"/>
          <a:ext cx="11957456" cy="5256846"/>
        </p:xfrm>
        <a:graphic>
          <a:graphicData uri="http://schemas.openxmlformats.org/drawingml/2006/table">
            <a:tbl>
              <a:tblPr bandRow="1">
                <a:tableStyleId>{5C22544A-7EE6-4342-B048-85BDC9FD1C3A}</a:tableStyleId>
              </a:tblPr>
              <a:tblGrid>
                <a:gridCol w="803744">
                  <a:extLst>
                    <a:ext uri="{9D8B030D-6E8A-4147-A177-3AD203B41FA5}">
                      <a16:colId xmlns:a16="http://schemas.microsoft.com/office/drawing/2014/main" val="3439165704"/>
                    </a:ext>
                  </a:extLst>
                </a:gridCol>
                <a:gridCol w="2678499">
                  <a:extLst>
                    <a:ext uri="{9D8B030D-6E8A-4147-A177-3AD203B41FA5}">
                      <a16:colId xmlns:a16="http://schemas.microsoft.com/office/drawing/2014/main" val="523203684"/>
                    </a:ext>
                  </a:extLst>
                </a:gridCol>
                <a:gridCol w="5166523">
                  <a:extLst>
                    <a:ext uri="{9D8B030D-6E8A-4147-A177-3AD203B41FA5}">
                      <a16:colId xmlns:a16="http://schemas.microsoft.com/office/drawing/2014/main" val="3208642894"/>
                    </a:ext>
                  </a:extLst>
                </a:gridCol>
                <a:gridCol w="1880898">
                  <a:extLst>
                    <a:ext uri="{9D8B030D-6E8A-4147-A177-3AD203B41FA5}">
                      <a16:colId xmlns:a16="http://schemas.microsoft.com/office/drawing/2014/main" val="3177029620"/>
                    </a:ext>
                  </a:extLst>
                </a:gridCol>
                <a:gridCol w="1427792">
                  <a:extLst>
                    <a:ext uri="{9D8B030D-6E8A-4147-A177-3AD203B41FA5}">
                      <a16:colId xmlns:a16="http://schemas.microsoft.com/office/drawing/2014/main" val="1086596952"/>
                    </a:ext>
                  </a:extLst>
                </a:gridCol>
              </a:tblGrid>
              <a:tr h="876141">
                <a:tc>
                  <a:txBody>
                    <a:bodyPr/>
                    <a:lstStyle/>
                    <a:p>
                      <a:pPr algn="ctr" rtl="0" fontAlgn="base">
                        <a:lnSpc>
                          <a:spcPts val="1425"/>
                        </a:lnSpc>
                        <a:buNone/>
                      </a:pPr>
                      <a:r>
                        <a:rPr lang="en-US" sz="1500" b="1" i="0" u="none" strike="noStrike">
                          <a:solidFill>
                            <a:srgbClr val="FFFFFF"/>
                          </a:solidFill>
                          <a:effectLst/>
                          <a:latin typeface="Calibri"/>
                        </a:rPr>
                        <a:t>S.NO</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425"/>
                        </a:lnSpc>
                        <a:buNone/>
                      </a:pPr>
                      <a:r>
                        <a:rPr lang="en-US" sz="1500" b="1" i="0" u="none" strike="noStrike">
                          <a:solidFill>
                            <a:srgbClr val="FFFFFF"/>
                          </a:solidFill>
                          <a:effectLst/>
                          <a:latin typeface="Calibri"/>
                        </a:rPr>
                        <a:t>User Story</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425"/>
                        </a:lnSpc>
                        <a:buNone/>
                      </a:pPr>
                      <a:r>
                        <a:rPr lang="en-US" sz="1500" b="1" i="0" u="none" strike="noStrike">
                          <a:solidFill>
                            <a:srgbClr val="FFFFFF"/>
                          </a:solidFill>
                          <a:effectLst/>
                          <a:latin typeface="Calibri"/>
                        </a:rPr>
                        <a:t>Acceptance Criteria</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425"/>
                        </a:lnSpc>
                        <a:buNone/>
                      </a:pPr>
                      <a:r>
                        <a:rPr lang="en-US" sz="1500" b="1" i="0" u="none" strike="noStrike">
                          <a:solidFill>
                            <a:srgbClr val="FFFFFF"/>
                          </a:solidFill>
                          <a:effectLst/>
                          <a:latin typeface="Calibri"/>
                        </a:rPr>
                        <a:t>Feature</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425"/>
                        </a:lnSpc>
                        <a:buNone/>
                      </a:pPr>
                      <a:r>
                        <a:rPr lang="en-US" sz="1500" b="1" i="0" u="none" strike="noStrike">
                          <a:solidFill>
                            <a:srgbClr val="FFFFFF"/>
                          </a:solidFill>
                          <a:effectLst/>
                          <a:latin typeface="Calibri"/>
                        </a:rPr>
                        <a:t>Story Points</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3708966356"/>
                  </a:ext>
                </a:extLst>
              </a:tr>
              <a:tr h="876141">
                <a:tc>
                  <a:txBody>
                    <a:bodyPr/>
                    <a:lstStyle/>
                    <a:p>
                      <a:pPr lvl="0" algn="l">
                        <a:buNone/>
                      </a:pPr>
                      <a:r>
                        <a:rPr lang="en-US" sz="1400" b="0" i="0" u="none" strike="noStrike">
                          <a:solidFill>
                            <a:srgbClr val="000000"/>
                          </a:solidFill>
                          <a:effectLst/>
                          <a:latin typeface="Calibri"/>
                        </a:rPr>
                        <a:t>US_10</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tc>
                  <a:txBody>
                    <a:bodyPr/>
                    <a:lstStyle/>
                    <a:p>
                      <a:pPr lvl="0" algn="l">
                        <a:buNone/>
                      </a:pPr>
                      <a:r>
                        <a:rPr lang="en-US" sz="1400" b="0" i="0" u="none" strike="noStrike">
                          <a:solidFill>
                            <a:srgbClr val="000000"/>
                          </a:solidFill>
                          <a:effectLst/>
                          <a:latin typeface="Calibri"/>
                        </a:rPr>
                        <a:t>As an admin, I want to manage system roles so that access controls are enforced.</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tc>
                  <a:txBody>
                    <a:bodyPr/>
                    <a:lstStyle/>
                    <a:p>
                      <a:pPr lvl="0" algn="l">
                        <a:buNone/>
                      </a:pPr>
                      <a:r>
                        <a:rPr lang="en-US" sz="1400" b="0" i="0" u="none" strike="noStrike">
                          <a:solidFill>
                            <a:srgbClr val="000000"/>
                          </a:solidFill>
                          <a:effectLst/>
                          <a:latin typeface="Calibri"/>
                        </a:rPr>
                        <a:t>Admin can assign roles (user, analyst, admin) with RBAC.</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tc>
                  <a:txBody>
                    <a:bodyPr/>
                    <a:lstStyle/>
                    <a:p>
                      <a:pPr lvl="0" algn="l">
                        <a:buNone/>
                      </a:pPr>
                      <a:r>
                        <a:rPr lang="en-US" sz="1400" b="0" i="0" u="none" strike="noStrike">
                          <a:solidFill>
                            <a:srgbClr val="000000"/>
                          </a:solidFill>
                          <a:effectLst/>
                          <a:latin typeface="Calibri"/>
                        </a:rPr>
                        <a:t>Role-Based Access Control</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tc>
                  <a:txBody>
                    <a:bodyPr/>
                    <a:lstStyle/>
                    <a:p>
                      <a:pPr lvl="0" algn="ctr">
                        <a:buNone/>
                      </a:pPr>
                      <a:r>
                        <a:rPr lang="en-US" sz="1400" b="0" i="0" u="none" strike="noStrike">
                          <a:solidFill>
                            <a:srgbClr val="000000"/>
                          </a:solidFill>
                          <a:effectLst/>
                          <a:latin typeface="Calibri"/>
                        </a:rPr>
                        <a:t>3</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extLst>
                  <a:ext uri="{0D108BD9-81ED-4DB2-BD59-A6C34878D82A}">
                    <a16:rowId xmlns:a16="http://schemas.microsoft.com/office/drawing/2014/main" val="541146502"/>
                  </a:ext>
                </a:extLst>
              </a:tr>
              <a:tr h="876141">
                <a:tc>
                  <a:txBody>
                    <a:bodyPr/>
                    <a:lstStyle/>
                    <a:p>
                      <a:pPr lvl="0" algn="l">
                        <a:buNone/>
                      </a:pPr>
                      <a:r>
                        <a:rPr lang="en-US" sz="1400" b="0" i="0" u="none" strike="noStrike">
                          <a:solidFill>
                            <a:srgbClr val="000000"/>
                          </a:solidFill>
                          <a:effectLst/>
                          <a:latin typeface="Calibri"/>
                        </a:rPr>
                        <a:t>US_12</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As a user, I want to file a dispute for fraudulent charges so the bank can take action.</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User fills dispute form linked to a specific transaction.</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Fraud Dispute Filing</a:t>
                      </a:r>
                      <a:endParaRPr lang="en-US">
                        <a:latin typeface="Calibri"/>
                      </a:endParaRPr>
                    </a:p>
                  </a:txBody>
                  <a:tcPr marL="9525" marR="9525" marT="9525" marB="0" anchor="ctr"/>
                </a:tc>
                <a:tc>
                  <a:txBody>
                    <a:bodyPr/>
                    <a:lstStyle/>
                    <a:p>
                      <a:pPr lvl="0" algn="ctr">
                        <a:buNone/>
                      </a:pPr>
                      <a:r>
                        <a:rPr lang="en-US" sz="1400" b="0" i="0" u="none" strike="noStrike">
                          <a:solidFill>
                            <a:srgbClr val="000000"/>
                          </a:solidFill>
                          <a:effectLst/>
                          <a:latin typeface="Calibri"/>
                        </a:rPr>
                        <a:t>3</a:t>
                      </a:r>
                      <a:endParaRPr lang="en-US">
                        <a:latin typeface="Calibri"/>
                      </a:endParaRPr>
                    </a:p>
                  </a:txBody>
                  <a:tcPr marL="9525" marR="9525" marT="9525" marB="0" anchor="ctr"/>
                </a:tc>
                <a:extLst>
                  <a:ext uri="{0D108BD9-81ED-4DB2-BD59-A6C34878D82A}">
                    <a16:rowId xmlns:a16="http://schemas.microsoft.com/office/drawing/2014/main" val="4035058953"/>
                  </a:ext>
                </a:extLst>
              </a:tr>
              <a:tr h="876141">
                <a:tc>
                  <a:txBody>
                    <a:bodyPr/>
                    <a:lstStyle/>
                    <a:p>
                      <a:pPr lvl="0" algn="l">
                        <a:buNone/>
                      </a:pPr>
                      <a:r>
                        <a:rPr lang="en-US" sz="1400" b="0" i="0" u="none" strike="noStrike">
                          <a:solidFill>
                            <a:srgbClr val="000000"/>
                          </a:solidFill>
                          <a:effectLst/>
                          <a:latin typeface="Calibri"/>
                        </a:rPr>
                        <a:t>US_13</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As the system, I want to maintain audit logs so that all actions related to fraud can be reviewed.</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Every important action logged with timestamp, user, device info.</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Audit Log System</a:t>
                      </a:r>
                      <a:endParaRPr lang="en-US">
                        <a:latin typeface="Calibri"/>
                      </a:endParaRPr>
                    </a:p>
                  </a:txBody>
                  <a:tcPr marL="9525" marR="9525" marT="9525" marB="0" anchor="ctr"/>
                </a:tc>
                <a:tc>
                  <a:txBody>
                    <a:bodyPr/>
                    <a:lstStyle/>
                    <a:p>
                      <a:pPr lvl="0" algn="ctr">
                        <a:buNone/>
                      </a:pPr>
                      <a:r>
                        <a:rPr lang="en-US" sz="1400" b="0" i="0" u="none" strike="noStrike">
                          <a:solidFill>
                            <a:srgbClr val="000000"/>
                          </a:solidFill>
                          <a:effectLst/>
                          <a:latin typeface="Calibri"/>
                        </a:rPr>
                        <a:t>2</a:t>
                      </a:r>
                      <a:endParaRPr lang="en-US">
                        <a:latin typeface="Calibri"/>
                      </a:endParaRPr>
                    </a:p>
                  </a:txBody>
                  <a:tcPr marL="9525" marR="9525" marT="9525" marB="0" anchor="ctr"/>
                </a:tc>
                <a:extLst>
                  <a:ext uri="{0D108BD9-81ED-4DB2-BD59-A6C34878D82A}">
                    <a16:rowId xmlns:a16="http://schemas.microsoft.com/office/drawing/2014/main" val="1261076482"/>
                  </a:ext>
                </a:extLst>
              </a:tr>
              <a:tr h="876141">
                <a:tc>
                  <a:txBody>
                    <a:bodyPr/>
                    <a:lstStyle/>
                    <a:p>
                      <a:pPr lvl="0" algn="l">
                        <a:buNone/>
                      </a:pPr>
                      <a:r>
                        <a:rPr lang="en-US" sz="1400" b="0" i="0" u="none" strike="noStrike">
                          <a:solidFill>
                            <a:srgbClr val="000000"/>
                          </a:solidFill>
                          <a:effectLst/>
                          <a:latin typeface="Calibri"/>
                        </a:rPr>
                        <a:t>US_14</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As a user, I want to enable/disable fraud notifications so I have control over alerts.</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User can toggle notification preferences in settings.</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Notification Settings</a:t>
                      </a:r>
                      <a:endParaRPr lang="en-US">
                        <a:latin typeface="Calibri"/>
                      </a:endParaRPr>
                    </a:p>
                  </a:txBody>
                  <a:tcPr marL="9525" marR="9525" marT="9525" marB="0" anchor="ctr"/>
                </a:tc>
                <a:tc>
                  <a:txBody>
                    <a:bodyPr/>
                    <a:lstStyle/>
                    <a:p>
                      <a:pPr lvl="0" algn="ctr">
                        <a:buNone/>
                      </a:pPr>
                      <a:r>
                        <a:rPr lang="en-US" sz="1400" b="0" i="0" u="none" strike="noStrike">
                          <a:solidFill>
                            <a:srgbClr val="000000"/>
                          </a:solidFill>
                          <a:effectLst/>
                          <a:latin typeface="Calibri"/>
                        </a:rPr>
                        <a:t>2</a:t>
                      </a:r>
                      <a:endParaRPr lang="en-US">
                        <a:latin typeface="Calibri"/>
                      </a:endParaRPr>
                    </a:p>
                  </a:txBody>
                  <a:tcPr marL="9525" marR="9525" marT="9525" marB="0" anchor="ctr"/>
                </a:tc>
                <a:extLst>
                  <a:ext uri="{0D108BD9-81ED-4DB2-BD59-A6C34878D82A}">
                    <a16:rowId xmlns:a16="http://schemas.microsoft.com/office/drawing/2014/main" val="1153405369"/>
                  </a:ext>
                </a:extLst>
              </a:tr>
              <a:tr h="876141">
                <a:tc>
                  <a:txBody>
                    <a:bodyPr/>
                    <a:lstStyle/>
                    <a:p>
                      <a:pPr algn="l" rtl="0" fontAlgn="base">
                        <a:lnSpc>
                          <a:spcPts val="1350"/>
                        </a:lnSpc>
                        <a:buNone/>
                      </a:pPr>
                      <a:r>
                        <a:rPr lang="en-US" sz="1400" b="0" i="0" u="none" strike="noStrike">
                          <a:solidFill>
                            <a:srgbClr val="000000"/>
                          </a:solidFill>
                          <a:effectLst/>
                          <a:latin typeface="Calibri"/>
                        </a:rPr>
                        <a:t>US_15</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tc>
                  <a:txBody>
                    <a:bodyPr/>
                    <a:lstStyle/>
                    <a:p>
                      <a:pPr algn="l" rtl="0" fontAlgn="base">
                        <a:lnSpc>
                          <a:spcPts val="1350"/>
                        </a:lnSpc>
                        <a:buNone/>
                      </a:pPr>
                      <a:r>
                        <a:rPr lang="en-US" sz="1400" b="0" i="0" u="none" strike="noStrike">
                          <a:solidFill>
                            <a:srgbClr val="000000"/>
                          </a:solidFill>
                          <a:effectLst/>
                          <a:latin typeface="Calibri"/>
                        </a:rPr>
                        <a:t>As an admin, I want analytic reports so that I can review overall fraud trends monthly.</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tc>
                  <a:txBody>
                    <a:bodyPr/>
                    <a:lstStyle/>
                    <a:p>
                      <a:pPr algn="l" rtl="0" fontAlgn="base">
                        <a:lnSpc>
                          <a:spcPts val="1350"/>
                        </a:lnSpc>
                        <a:buNone/>
                      </a:pPr>
                      <a:r>
                        <a:rPr lang="en-US" sz="1400" b="0" i="0" u="none" strike="noStrike">
                          <a:solidFill>
                            <a:srgbClr val="000000"/>
                          </a:solidFill>
                          <a:effectLst/>
                          <a:latin typeface="Calibri"/>
                        </a:rPr>
                        <a:t>Monthly reports generated automatically with charts.</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tc>
                  <a:txBody>
                    <a:bodyPr/>
                    <a:lstStyle/>
                    <a:p>
                      <a:pPr algn="l" rtl="0" fontAlgn="base">
                        <a:lnSpc>
                          <a:spcPts val="1350"/>
                        </a:lnSpc>
                        <a:buNone/>
                      </a:pPr>
                      <a:r>
                        <a:rPr lang="en-US" sz="1400" b="0" i="0" u="none" strike="noStrike">
                          <a:solidFill>
                            <a:srgbClr val="000000"/>
                          </a:solidFill>
                          <a:effectLst/>
                          <a:latin typeface="Calibri"/>
                        </a:rPr>
                        <a:t>Fraud Reporting Engine</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tc>
                  <a:txBody>
                    <a:bodyPr/>
                    <a:lstStyle/>
                    <a:p>
                      <a:pPr algn="ctr" rtl="0" fontAlgn="base">
                        <a:lnSpc>
                          <a:spcPts val="1350"/>
                        </a:lnSpc>
                        <a:buNone/>
                      </a:pPr>
                      <a:r>
                        <a:rPr lang="en-US" sz="1400" b="0" i="0" u="none" strike="noStrike">
                          <a:solidFill>
                            <a:srgbClr val="000000"/>
                          </a:solidFill>
                          <a:effectLst/>
                          <a:latin typeface="Calibri"/>
                        </a:rPr>
                        <a:t>5</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extLst>
                  <a:ext uri="{0D108BD9-81ED-4DB2-BD59-A6C34878D82A}">
                    <a16:rowId xmlns:a16="http://schemas.microsoft.com/office/drawing/2014/main" val="1728198461"/>
                  </a:ext>
                </a:extLst>
              </a:tr>
            </a:tbl>
          </a:graphicData>
        </a:graphic>
      </p:graphicFrame>
    </p:spTree>
    <p:extLst>
      <p:ext uri="{BB962C8B-B14F-4D97-AF65-F5344CB8AC3E}">
        <p14:creationId xmlns:p14="http://schemas.microsoft.com/office/powerpoint/2010/main" val="1073021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FABBDD-BEEB-47CC-9DC2-83E0BCD1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2E14A10-F6FE-46B8-9F62-D17079044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CF9D6573-DAA5-4FC7-9CC6-80FFE6371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9300304-8097-4497-B7D7-CF98A9A74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16BEB36-8C72-450B-A22A-48D54766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D8BC9E3-E539-449C-B557-4074751AE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074FC277-4245-45E3-A41E-BE1CFF33C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CC5A682-E89A-B8A9-EF46-735D9E1CD19D}"/>
              </a:ext>
            </a:extLst>
          </p:cNvPr>
          <p:cNvSpPr>
            <a:spLocks noGrp="1"/>
          </p:cNvSpPr>
          <p:nvPr>
            <p:ph type="title"/>
          </p:nvPr>
        </p:nvSpPr>
        <p:spPr>
          <a:xfrm>
            <a:off x="550879" y="1249"/>
            <a:ext cx="7178026" cy="896659"/>
          </a:xfrm>
        </p:spPr>
        <p:txBody>
          <a:bodyPr anchor="b">
            <a:normAutofit/>
          </a:bodyPr>
          <a:lstStyle/>
          <a:p>
            <a:r>
              <a:rPr lang="en-US" sz="3600" b="1">
                <a:latin typeface="Calibri"/>
                <a:ea typeface="Calibri"/>
                <a:cs typeface="Calibri"/>
              </a:rPr>
              <a:t>Application Screenshots</a:t>
            </a:r>
          </a:p>
        </p:txBody>
      </p:sp>
      <p:sp>
        <p:nvSpPr>
          <p:cNvPr id="3" name="TextBox 2">
            <a:extLst>
              <a:ext uri="{FF2B5EF4-FFF2-40B4-BE49-F238E27FC236}">
                <a16:creationId xmlns:a16="http://schemas.microsoft.com/office/drawing/2014/main" id="{9512CC2F-1C96-993E-FBD0-00F6D0526855}"/>
              </a:ext>
            </a:extLst>
          </p:cNvPr>
          <p:cNvSpPr txBox="1"/>
          <p:nvPr/>
        </p:nvSpPr>
        <p:spPr>
          <a:xfrm>
            <a:off x="677333" y="1192389"/>
            <a:ext cx="7450666"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400">
                <a:latin typeface="Calibri"/>
                <a:ea typeface="Calibri"/>
                <a:cs typeface="Calibri"/>
              </a:rPr>
              <a:t>The Homepage shows a list of user credit cards, cards that have experienced fraudulent transactions will have a red exclamation badge to indicate the fraud to the user</a:t>
            </a:r>
          </a:p>
          <a:p>
            <a:pPr marL="285750" indent="-285750">
              <a:buFont typeface="Calibri"/>
              <a:buChar char="-"/>
            </a:pPr>
            <a:endParaRPr lang="en-US" sz="2400">
              <a:latin typeface="Calibri"/>
              <a:ea typeface="Calibri"/>
              <a:cs typeface="Calibri"/>
            </a:endParaRPr>
          </a:p>
          <a:p>
            <a:pPr marL="285750" indent="-285750">
              <a:buFont typeface="Calibri"/>
              <a:buChar char="-"/>
            </a:pPr>
            <a:r>
              <a:rPr lang="en-US" sz="2400">
                <a:latin typeface="Calibri"/>
                <a:ea typeface="Calibri"/>
                <a:cs typeface="Calibri"/>
              </a:rPr>
              <a:t>The User can scroll their list of credit cards and can click into a credit card to view the transactions for that card (shown on the next page)</a:t>
            </a:r>
          </a:p>
        </p:txBody>
      </p:sp>
      <p:pic>
        <p:nvPicPr>
          <p:cNvPr id="5" name="Picture 4" descr="A screenshot of a mobile phone&#10;&#10;AI-generated content may be incorrect.">
            <a:extLst>
              <a:ext uri="{FF2B5EF4-FFF2-40B4-BE49-F238E27FC236}">
                <a16:creationId xmlns:a16="http://schemas.microsoft.com/office/drawing/2014/main" id="{39948225-EBA2-DF7C-C7AE-1C03F0150BA6}"/>
              </a:ext>
            </a:extLst>
          </p:cNvPr>
          <p:cNvPicPr>
            <a:picLocks noChangeAspect="1"/>
          </p:cNvPicPr>
          <p:nvPr/>
        </p:nvPicPr>
        <p:blipFill>
          <a:blip r:embed="rId2"/>
          <a:stretch>
            <a:fillRect/>
          </a:stretch>
        </p:blipFill>
        <p:spPr>
          <a:xfrm>
            <a:off x="8554958" y="0"/>
            <a:ext cx="3266529" cy="6858000"/>
          </a:xfrm>
          <a:prstGeom prst="rect">
            <a:avLst/>
          </a:prstGeom>
        </p:spPr>
      </p:pic>
    </p:spTree>
    <p:extLst>
      <p:ext uri="{BB962C8B-B14F-4D97-AF65-F5344CB8AC3E}">
        <p14:creationId xmlns:p14="http://schemas.microsoft.com/office/powerpoint/2010/main" val="30233343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FC07B-3518-D1D1-686D-6166E969B951}"/>
              </a:ext>
            </a:extLst>
          </p:cNvPr>
          <p:cNvSpPr>
            <a:spLocks noGrp="1"/>
          </p:cNvSpPr>
          <p:nvPr>
            <p:ph type="title"/>
          </p:nvPr>
        </p:nvSpPr>
        <p:spPr/>
        <p:txBody>
          <a:bodyPr/>
          <a:lstStyle/>
          <a:p>
            <a:r>
              <a:rPr lang="en-US">
                <a:latin typeface="Aptos Display"/>
                <a:ea typeface="Calibri"/>
                <a:cs typeface="Calibri"/>
              </a:rPr>
              <a:t>Application Screenshots</a:t>
            </a:r>
          </a:p>
        </p:txBody>
      </p:sp>
      <p:pic>
        <p:nvPicPr>
          <p:cNvPr id="4" name="Content Placeholder 3" descr="A screenshot of a cell phone&#10;&#10;AI-generated content may be incorrect.">
            <a:extLst>
              <a:ext uri="{FF2B5EF4-FFF2-40B4-BE49-F238E27FC236}">
                <a16:creationId xmlns:a16="http://schemas.microsoft.com/office/drawing/2014/main" id="{1E194C4E-0DCA-B3F7-A9D1-392B079E270E}"/>
              </a:ext>
            </a:extLst>
          </p:cNvPr>
          <p:cNvPicPr>
            <a:picLocks noGrp="1" noChangeAspect="1"/>
          </p:cNvPicPr>
          <p:nvPr>
            <p:ph idx="1"/>
          </p:nvPr>
        </p:nvPicPr>
        <p:blipFill>
          <a:blip r:embed="rId2"/>
          <a:stretch>
            <a:fillRect/>
          </a:stretch>
        </p:blipFill>
        <p:spPr>
          <a:xfrm>
            <a:off x="8362890" y="366544"/>
            <a:ext cx="2978918" cy="6140604"/>
          </a:xfrm>
          <a:prstGeom prst="rect">
            <a:avLst/>
          </a:prstGeom>
        </p:spPr>
      </p:pic>
      <p:sp>
        <p:nvSpPr>
          <p:cNvPr id="5" name="TextBox 4">
            <a:extLst>
              <a:ext uri="{FF2B5EF4-FFF2-40B4-BE49-F238E27FC236}">
                <a16:creationId xmlns:a16="http://schemas.microsoft.com/office/drawing/2014/main" id="{75EB0819-E8DD-188E-C650-B51887BC46E1}"/>
              </a:ext>
            </a:extLst>
          </p:cNvPr>
          <p:cNvSpPr txBox="1"/>
          <p:nvPr/>
        </p:nvSpPr>
        <p:spPr>
          <a:xfrm>
            <a:off x="978828" y="1747024"/>
            <a:ext cx="7173951"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Real-Time Push Notifications:</a:t>
            </a:r>
            <a:r>
              <a:rPr lang="en-US">
                <a:ea typeface="+mn-lt"/>
                <a:cs typeface="+mn-lt"/>
              </a:rPr>
              <a:t> The application utilizes local notifications to instantly alert the user when the machine learning model flags a transaction as fraudulent.</a:t>
            </a:r>
            <a:endParaRPr lang="en-US"/>
          </a:p>
          <a:p>
            <a:endParaRPr lang="en-US" b="1">
              <a:ea typeface="+mn-lt"/>
              <a:cs typeface="+mn-lt"/>
            </a:endParaRPr>
          </a:p>
          <a:p>
            <a:r>
              <a:rPr lang="en-US" b="1">
                <a:ea typeface="+mn-lt"/>
                <a:cs typeface="+mn-lt"/>
              </a:rPr>
              <a:t>Immediate User Awareness:</a:t>
            </a:r>
            <a:r>
              <a:rPr lang="en-US">
                <a:ea typeface="+mn-lt"/>
                <a:cs typeface="+mn-lt"/>
              </a:rPr>
              <a:t> Ensures users are notified even when the application is closed or the phone is locked.</a:t>
            </a:r>
            <a:endParaRPr lang="en-US"/>
          </a:p>
          <a:p>
            <a:endParaRPr lang="en-US" b="1">
              <a:ea typeface="+mn-lt"/>
              <a:cs typeface="+mn-lt"/>
            </a:endParaRPr>
          </a:p>
          <a:p>
            <a:r>
              <a:rPr lang="en-US" b="1">
                <a:ea typeface="+mn-lt"/>
                <a:cs typeface="+mn-lt"/>
              </a:rPr>
              <a:t>Contextual Information:</a:t>
            </a:r>
            <a:r>
              <a:rPr lang="en-US">
                <a:ea typeface="+mn-lt"/>
                <a:cs typeface="+mn-lt"/>
              </a:rPr>
              <a:t> The alert displays key details—such as the specific credit card ending in "8888"—allowing the user to recognize the card immediately.</a:t>
            </a:r>
            <a:endParaRPr lang="en-US"/>
          </a:p>
          <a:p>
            <a:pPr algn="l"/>
            <a:endParaRPr lang="en-US"/>
          </a:p>
        </p:txBody>
      </p:sp>
    </p:spTree>
    <p:extLst>
      <p:ext uri="{BB962C8B-B14F-4D97-AF65-F5344CB8AC3E}">
        <p14:creationId xmlns:p14="http://schemas.microsoft.com/office/powerpoint/2010/main" val="22077428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FABBDD-BEEB-47CC-9DC2-83E0BCD1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2E14A10-F6FE-46B8-9F62-D17079044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CF9D6573-DAA5-4FC7-9CC6-80FFE6371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9300304-8097-4497-B7D7-CF98A9A74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16BEB36-8C72-450B-A22A-48D54766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D8BC9E3-E539-449C-B557-4074751AE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074FC277-4245-45E3-A41E-BE1CFF33C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CC5A682-E89A-B8A9-EF46-735D9E1CD19D}"/>
              </a:ext>
            </a:extLst>
          </p:cNvPr>
          <p:cNvSpPr>
            <a:spLocks noGrp="1"/>
          </p:cNvSpPr>
          <p:nvPr>
            <p:ph type="title"/>
          </p:nvPr>
        </p:nvSpPr>
        <p:spPr>
          <a:xfrm>
            <a:off x="547417" y="3778"/>
            <a:ext cx="7178026" cy="896659"/>
          </a:xfrm>
        </p:spPr>
        <p:txBody>
          <a:bodyPr anchor="b">
            <a:normAutofit/>
          </a:bodyPr>
          <a:lstStyle/>
          <a:p>
            <a:r>
              <a:rPr lang="en-US">
                <a:latin typeface="Calibri"/>
                <a:ea typeface="Calibri"/>
                <a:cs typeface="Calibri"/>
              </a:rPr>
              <a:t>Application Screenshots</a:t>
            </a:r>
          </a:p>
        </p:txBody>
      </p:sp>
      <p:pic>
        <p:nvPicPr>
          <p:cNvPr id="5" name="Picture 4" descr="A screenshot of a phone&#10;&#10;AI-generated content may be incorrect.">
            <a:extLst>
              <a:ext uri="{FF2B5EF4-FFF2-40B4-BE49-F238E27FC236}">
                <a16:creationId xmlns:a16="http://schemas.microsoft.com/office/drawing/2014/main" id="{78F6AA6C-6120-EC96-DB90-837A01E0839C}"/>
              </a:ext>
            </a:extLst>
          </p:cNvPr>
          <p:cNvPicPr>
            <a:picLocks noChangeAspect="1"/>
          </p:cNvPicPr>
          <p:nvPr/>
        </p:nvPicPr>
        <p:blipFill>
          <a:blip r:embed="rId2"/>
          <a:stretch>
            <a:fillRect/>
          </a:stretch>
        </p:blipFill>
        <p:spPr>
          <a:xfrm>
            <a:off x="8281980" y="0"/>
            <a:ext cx="3163373" cy="6858000"/>
          </a:xfrm>
          <a:prstGeom prst="rect">
            <a:avLst/>
          </a:prstGeom>
        </p:spPr>
      </p:pic>
      <p:sp>
        <p:nvSpPr>
          <p:cNvPr id="4" name="TextBox 3">
            <a:extLst>
              <a:ext uri="{FF2B5EF4-FFF2-40B4-BE49-F238E27FC236}">
                <a16:creationId xmlns:a16="http://schemas.microsoft.com/office/drawing/2014/main" id="{E5BC12A6-F979-AE27-F280-E68F50FA3B9E}"/>
              </a:ext>
            </a:extLst>
          </p:cNvPr>
          <p:cNvSpPr txBox="1"/>
          <p:nvPr/>
        </p:nvSpPr>
        <p:spPr>
          <a:xfrm>
            <a:off x="545333" y="1192389"/>
            <a:ext cx="745066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400">
                <a:latin typeface="Calibri"/>
                <a:ea typeface="Calibri"/>
                <a:cs typeface="Calibri"/>
              </a:rPr>
              <a:t>This page shows a list of transactions for a specific credit card</a:t>
            </a:r>
          </a:p>
          <a:p>
            <a:pPr marL="285750" indent="-285750">
              <a:buFont typeface="Calibri"/>
              <a:buChar char="-"/>
            </a:pPr>
            <a:endParaRPr lang="en-US" sz="2400">
              <a:latin typeface="Calibri"/>
              <a:ea typeface="Calibri"/>
              <a:cs typeface="Calibri"/>
            </a:endParaRPr>
          </a:p>
          <a:p>
            <a:pPr marL="285750" indent="-285750">
              <a:buFont typeface="Calibri"/>
              <a:buChar char="-"/>
            </a:pPr>
            <a:r>
              <a:rPr lang="en-US" sz="2400">
                <a:latin typeface="Calibri"/>
                <a:ea typeface="Calibri"/>
                <a:cs typeface="Calibri"/>
              </a:rPr>
              <a:t>The credit card number is shown at the top of the list as a header</a:t>
            </a:r>
          </a:p>
          <a:p>
            <a:pPr marL="285750" indent="-285750">
              <a:buFont typeface="Calibri"/>
              <a:buChar char="-"/>
            </a:pPr>
            <a:endParaRPr lang="en-US" sz="2400">
              <a:latin typeface="Calibri"/>
              <a:ea typeface="Calibri"/>
              <a:cs typeface="Calibri"/>
            </a:endParaRPr>
          </a:p>
          <a:p>
            <a:pPr marL="285750" indent="-285750">
              <a:buFont typeface="Calibri"/>
              <a:buChar char="-"/>
            </a:pPr>
            <a:r>
              <a:rPr lang="en-US" sz="2400">
                <a:latin typeface="Calibri"/>
                <a:ea typeface="Calibri"/>
                <a:cs typeface="Calibri"/>
              </a:rPr>
              <a:t>A transaction row contains the location, city, state, and time of transaction along with the amount</a:t>
            </a:r>
          </a:p>
          <a:p>
            <a:pPr marL="285750" indent="-285750">
              <a:buFont typeface="Calibri"/>
              <a:buChar char="-"/>
            </a:pPr>
            <a:endParaRPr lang="en-US" sz="2400">
              <a:latin typeface="Calibri"/>
              <a:ea typeface="Calibri"/>
              <a:cs typeface="Calibri"/>
            </a:endParaRPr>
          </a:p>
          <a:p>
            <a:pPr marL="285750" indent="-285750">
              <a:buFont typeface="Calibri"/>
              <a:buChar char="-"/>
            </a:pPr>
            <a:r>
              <a:rPr lang="en-US" sz="2400">
                <a:latin typeface="Calibri"/>
                <a:ea typeface="Calibri"/>
                <a:cs typeface="Calibri"/>
              </a:rPr>
              <a:t>If a transaction is believed to be fraudulent it will have a red exclamation point to the right of its transaction amount</a:t>
            </a:r>
          </a:p>
        </p:txBody>
      </p:sp>
    </p:spTree>
    <p:extLst>
      <p:ext uri="{BB962C8B-B14F-4D97-AF65-F5344CB8AC3E}">
        <p14:creationId xmlns:p14="http://schemas.microsoft.com/office/powerpoint/2010/main" val="38750625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722B8-4DB4-9346-9CA8-07664DFFE9C7}"/>
              </a:ext>
            </a:extLst>
          </p:cNvPr>
          <p:cNvSpPr>
            <a:spLocks noGrp="1"/>
          </p:cNvSpPr>
          <p:nvPr>
            <p:ph type="title"/>
          </p:nvPr>
        </p:nvSpPr>
        <p:spPr/>
        <p:txBody>
          <a:bodyPr/>
          <a:lstStyle/>
          <a:p>
            <a:r>
              <a:rPr lang="en-US">
                <a:ea typeface="+mj-lt"/>
                <a:cs typeface="+mj-lt"/>
              </a:rPr>
              <a:t>Approving and </a:t>
            </a:r>
            <a:r>
              <a:rPr lang="en-US">
                <a:latin typeface="Aptos Display"/>
                <a:ea typeface="Cambria"/>
                <a:cs typeface="+mj-lt"/>
              </a:rPr>
              <a:t>Denying</a:t>
            </a:r>
            <a:r>
              <a:rPr lang="en-US">
                <a:ea typeface="+mj-lt"/>
                <a:cs typeface="+mj-lt"/>
              </a:rPr>
              <a:t> Transactions</a:t>
            </a:r>
            <a:endParaRPr lang="en-US"/>
          </a:p>
          <a:p>
            <a:endParaRPr lang="en-US"/>
          </a:p>
        </p:txBody>
      </p:sp>
      <p:pic>
        <p:nvPicPr>
          <p:cNvPr id="4" name="Content Placeholder 3" descr="A screenshot of a phone&#10;&#10;AI-generated content may be incorrect.">
            <a:extLst>
              <a:ext uri="{FF2B5EF4-FFF2-40B4-BE49-F238E27FC236}">
                <a16:creationId xmlns:a16="http://schemas.microsoft.com/office/drawing/2014/main" id="{29989D7B-991E-6695-E09A-55120551D3D9}"/>
              </a:ext>
            </a:extLst>
          </p:cNvPr>
          <p:cNvPicPr>
            <a:picLocks noGrp="1" noChangeAspect="1"/>
          </p:cNvPicPr>
          <p:nvPr>
            <p:ph idx="1"/>
          </p:nvPr>
        </p:nvPicPr>
        <p:blipFill>
          <a:blip r:embed="rId2"/>
          <a:stretch>
            <a:fillRect/>
          </a:stretch>
        </p:blipFill>
        <p:spPr>
          <a:xfrm>
            <a:off x="5101123" y="1840421"/>
            <a:ext cx="2004549" cy="4351338"/>
          </a:xfrm>
          <a:prstGeom prst="rect">
            <a:avLst/>
          </a:prstGeom>
        </p:spPr>
      </p:pic>
      <p:pic>
        <p:nvPicPr>
          <p:cNvPr id="5" name="Picture 4" descr="A screenshot of a phone&#10;&#10;AI-generated content may be incorrect.">
            <a:extLst>
              <a:ext uri="{FF2B5EF4-FFF2-40B4-BE49-F238E27FC236}">
                <a16:creationId xmlns:a16="http://schemas.microsoft.com/office/drawing/2014/main" id="{C8EB1ECF-A1A8-B4AE-2E00-C67082A0CD53}"/>
              </a:ext>
            </a:extLst>
          </p:cNvPr>
          <p:cNvPicPr>
            <a:picLocks noChangeAspect="1"/>
          </p:cNvPicPr>
          <p:nvPr/>
        </p:nvPicPr>
        <p:blipFill>
          <a:blip r:embed="rId3"/>
          <a:stretch>
            <a:fillRect/>
          </a:stretch>
        </p:blipFill>
        <p:spPr>
          <a:xfrm>
            <a:off x="8009415" y="1840173"/>
            <a:ext cx="1995442" cy="4346545"/>
          </a:xfrm>
          <a:prstGeom prst="rect">
            <a:avLst/>
          </a:prstGeom>
        </p:spPr>
      </p:pic>
      <p:sp>
        <p:nvSpPr>
          <p:cNvPr id="6" name="TextBox 5">
            <a:extLst>
              <a:ext uri="{FF2B5EF4-FFF2-40B4-BE49-F238E27FC236}">
                <a16:creationId xmlns:a16="http://schemas.microsoft.com/office/drawing/2014/main" id="{BDF4DDC9-B1FD-1147-2819-C2DEE61EE621}"/>
              </a:ext>
            </a:extLst>
          </p:cNvPr>
          <p:cNvSpPr txBox="1"/>
          <p:nvPr/>
        </p:nvSpPr>
        <p:spPr>
          <a:xfrm>
            <a:off x="557560" y="1610731"/>
            <a:ext cx="415073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Swipe left on denied transaction → Tap green checkmark → Mark as Approved.</a:t>
            </a:r>
            <a:endParaRPr lang="en-US"/>
          </a:p>
          <a:p>
            <a:pPr algn="l"/>
            <a:endParaRPr lang="en-US"/>
          </a:p>
          <a:p>
            <a:endParaRPr lang="en-US"/>
          </a:p>
          <a:p>
            <a:r>
              <a:rPr lang="en-US">
                <a:ea typeface="+mn-lt"/>
                <a:cs typeface="+mn-lt"/>
              </a:rPr>
              <a:t>Swipe left → Tap red deny icon → Mark as Denied.</a:t>
            </a:r>
            <a:endParaRPr lang="en-US"/>
          </a:p>
          <a:p>
            <a:endParaRPr lang="en-US"/>
          </a:p>
        </p:txBody>
      </p:sp>
    </p:spTree>
    <p:extLst>
      <p:ext uri="{BB962C8B-B14F-4D97-AF65-F5344CB8AC3E}">
        <p14:creationId xmlns:p14="http://schemas.microsoft.com/office/powerpoint/2010/main" val="52157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F6F1-6782-07CB-3A8B-3AEFCEA394F4}"/>
              </a:ext>
            </a:extLst>
          </p:cNvPr>
          <p:cNvSpPr>
            <a:spLocks noGrp="1"/>
          </p:cNvSpPr>
          <p:nvPr>
            <p:ph type="title"/>
          </p:nvPr>
        </p:nvSpPr>
        <p:spPr/>
        <p:txBody>
          <a:bodyPr/>
          <a:lstStyle/>
          <a:p>
            <a:r>
              <a:rPr lang="en-US">
                <a:ea typeface="+mj-lt"/>
                <a:cs typeface="+mj-lt"/>
              </a:rPr>
              <a:t> Fraud Report</a:t>
            </a:r>
            <a:endParaRPr lang="en-US"/>
          </a:p>
          <a:p>
            <a:endParaRPr lang="en-US"/>
          </a:p>
        </p:txBody>
      </p:sp>
      <p:pic>
        <p:nvPicPr>
          <p:cNvPr id="4" name="Content Placeholder 3" descr="A screenshot of a phone&#10;&#10;AI-generated content may be incorrect.">
            <a:extLst>
              <a:ext uri="{FF2B5EF4-FFF2-40B4-BE49-F238E27FC236}">
                <a16:creationId xmlns:a16="http://schemas.microsoft.com/office/drawing/2014/main" id="{71CD5D72-6785-0A6B-480E-728B35A21ADF}"/>
              </a:ext>
            </a:extLst>
          </p:cNvPr>
          <p:cNvPicPr>
            <a:picLocks noGrp="1" noChangeAspect="1"/>
          </p:cNvPicPr>
          <p:nvPr>
            <p:ph idx="1"/>
          </p:nvPr>
        </p:nvPicPr>
        <p:blipFill>
          <a:blip r:embed="rId2"/>
          <a:stretch>
            <a:fillRect/>
          </a:stretch>
        </p:blipFill>
        <p:spPr>
          <a:xfrm>
            <a:off x="8522315" y="522304"/>
            <a:ext cx="2671737" cy="5807191"/>
          </a:xfrm>
          <a:prstGeom prst="rect">
            <a:avLst/>
          </a:prstGeom>
        </p:spPr>
      </p:pic>
      <p:sp>
        <p:nvSpPr>
          <p:cNvPr id="5" name="TextBox 4">
            <a:extLst>
              <a:ext uri="{FF2B5EF4-FFF2-40B4-BE49-F238E27FC236}">
                <a16:creationId xmlns:a16="http://schemas.microsoft.com/office/drawing/2014/main" id="{04CE2276-8CA9-6A7E-9BB8-55974F081E28}"/>
              </a:ext>
            </a:extLst>
          </p:cNvPr>
          <p:cNvSpPr txBox="1"/>
          <p:nvPr/>
        </p:nvSpPr>
        <p:spPr>
          <a:xfrm>
            <a:off x="944666" y="1455191"/>
            <a:ext cx="773488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 Reports Section provides analytics across different periods (Today, Week, Month and Custom).</a:t>
            </a:r>
            <a:endParaRPr lang="en-US"/>
          </a:p>
          <a:p>
            <a:endParaRPr lang="en-US">
              <a:ea typeface="+mn-lt"/>
              <a:cs typeface="+mn-lt"/>
            </a:endParaRPr>
          </a:p>
          <a:p>
            <a:r>
              <a:rPr lang="en-US">
                <a:ea typeface="+mn-lt"/>
                <a:cs typeface="+mn-lt"/>
              </a:rPr>
              <a:t>Metrics include:</a:t>
            </a:r>
            <a:endParaRPr lang="en-US"/>
          </a:p>
          <a:p>
            <a:r>
              <a:rPr lang="en-US">
                <a:ea typeface="+mn-lt"/>
                <a:cs typeface="+mn-lt"/>
              </a:rPr>
              <a:t>- Total Transactions: All processed transactions.</a:t>
            </a:r>
            <a:endParaRPr lang="en-US"/>
          </a:p>
          <a:p>
            <a:r>
              <a:rPr lang="en-US">
                <a:ea typeface="+mn-lt"/>
                <a:cs typeface="+mn-lt"/>
              </a:rPr>
              <a:t>- Flagged as Fraud: Transactions identified as suspicious.</a:t>
            </a:r>
            <a:endParaRPr lang="en-US"/>
          </a:p>
          <a:p>
            <a:r>
              <a:rPr lang="en-US">
                <a:ea typeface="+mn-lt"/>
                <a:cs typeface="+mn-lt"/>
              </a:rPr>
              <a:t>- Confirmed Fraud: Fraudulent transactions denied by the user.</a:t>
            </a:r>
            <a:endParaRPr lang="en-US"/>
          </a:p>
          <a:p>
            <a:r>
              <a:rPr lang="en-US">
                <a:ea typeface="+mn-lt"/>
                <a:cs typeface="+mn-lt"/>
              </a:rPr>
              <a:t>- Loss Prevented: The amount saved based on detected and denied fraud cases.</a:t>
            </a:r>
            <a:endParaRPr lang="en-US"/>
          </a:p>
          <a:p>
            <a:endParaRPr lang="en-US">
              <a:ea typeface="+mn-lt"/>
              <a:cs typeface="+mn-lt"/>
            </a:endParaRPr>
          </a:p>
          <a:p>
            <a:r>
              <a:rPr lang="en-US">
                <a:ea typeface="+mn-lt"/>
                <a:cs typeface="+mn-lt"/>
              </a:rPr>
              <a:t>Charts show a comparison of fraudulent vs legitimate activity to help understand spending patterns and risk exposure.</a:t>
            </a:r>
            <a:endParaRPr lang="en-US"/>
          </a:p>
          <a:p>
            <a:pPr algn="l"/>
            <a:endParaRPr lang="en-US"/>
          </a:p>
        </p:txBody>
      </p:sp>
    </p:spTree>
    <p:extLst>
      <p:ext uri="{BB962C8B-B14F-4D97-AF65-F5344CB8AC3E}">
        <p14:creationId xmlns:p14="http://schemas.microsoft.com/office/powerpoint/2010/main" val="32815279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FABBDD-BEEB-47CC-9DC2-83E0BCD1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2E14A10-F6FE-46B8-9F62-D17079044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CF9D6573-DAA5-4FC7-9CC6-80FFE6371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9300304-8097-4497-B7D7-CF98A9A74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16BEB36-8C72-450B-A22A-48D54766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D8BC9E3-E539-449C-B557-4074751AE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074FC277-4245-45E3-A41E-BE1CFF33C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CC5A682-E89A-B8A9-EF46-735D9E1CD19D}"/>
              </a:ext>
            </a:extLst>
          </p:cNvPr>
          <p:cNvSpPr>
            <a:spLocks noGrp="1"/>
          </p:cNvSpPr>
          <p:nvPr>
            <p:ph type="title"/>
          </p:nvPr>
        </p:nvSpPr>
        <p:spPr>
          <a:xfrm>
            <a:off x="550879" y="1249"/>
            <a:ext cx="7178026" cy="896659"/>
          </a:xfrm>
        </p:spPr>
        <p:txBody>
          <a:bodyPr anchor="b">
            <a:normAutofit/>
          </a:bodyPr>
          <a:lstStyle/>
          <a:p>
            <a:r>
              <a:rPr lang="en-US" sz="3600" b="1">
                <a:latin typeface="Calibri"/>
                <a:ea typeface="Calibri"/>
                <a:cs typeface="Calibri"/>
              </a:rPr>
              <a:t>REST API</a:t>
            </a:r>
          </a:p>
        </p:txBody>
      </p:sp>
      <p:sp>
        <p:nvSpPr>
          <p:cNvPr id="3" name="Content Placeholder 2">
            <a:extLst>
              <a:ext uri="{FF2B5EF4-FFF2-40B4-BE49-F238E27FC236}">
                <a16:creationId xmlns:a16="http://schemas.microsoft.com/office/drawing/2014/main" id="{3062E01B-1C96-4056-7191-693F0A6EF115}"/>
              </a:ext>
            </a:extLst>
          </p:cNvPr>
          <p:cNvSpPr>
            <a:spLocks noGrp="1"/>
          </p:cNvSpPr>
          <p:nvPr>
            <p:ph idx="1"/>
          </p:nvPr>
        </p:nvSpPr>
        <p:spPr>
          <a:xfrm>
            <a:off x="545989" y="887651"/>
            <a:ext cx="11094350" cy="5718537"/>
          </a:xfrm>
        </p:spPr>
        <p:txBody>
          <a:bodyPr vert="horz" lIns="91440" tIns="45720" rIns="91440" bIns="45720" rtlCol="0" anchor="t">
            <a:normAutofit/>
          </a:bodyPr>
          <a:lstStyle/>
          <a:p>
            <a:pPr marL="342900" indent="-342900">
              <a:buFont typeface="Calibri" panose="020B0604020202020204" pitchFamily="34" charset="0"/>
              <a:buChar char="-"/>
            </a:pPr>
            <a:r>
              <a:rPr lang="en-US" sz="2000">
                <a:latin typeface="Calibri"/>
                <a:ea typeface="Calibri"/>
                <a:cs typeface="Calibri"/>
              </a:rPr>
              <a:t>All APIs routes require an API secret in the auth header in-order to access the route</a:t>
            </a:r>
            <a:endParaRPr lang="en-US">
              <a:latin typeface="Calibri"/>
              <a:ea typeface="Calibri"/>
              <a:cs typeface="Calibri"/>
            </a:endParaRPr>
          </a:p>
          <a:p>
            <a:pPr marL="342900" indent="-342900">
              <a:buFont typeface="Calibri" panose="020B0604020202020204" pitchFamily="34" charset="0"/>
              <a:buChar char="-"/>
            </a:pPr>
            <a:r>
              <a:rPr lang="en-US" sz="2000">
                <a:solidFill>
                  <a:srgbClr val="000000"/>
                </a:solidFill>
                <a:latin typeface="Calibri"/>
                <a:ea typeface="Calibri"/>
                <a:cs typeface="Calibri"/>
              </a:rPr>
              <a:t>User ID information is also included in the http header rather than the URL</a:t>
            </a:r>
          </a:p>
          <a:p>
            <a:pPr marL="0" indent="0">
              <a:buNone/>
            </a:pPr>
            <a:r>
              <a:rPr lang="en-US" sz="2000" b="1">
                <a:solidFill>
                  <a:schemeClr val="accent6"/>
                </a:solidFill>
                <a:latin typeface="Calibri"/>
                <a:ea typeface="Calibri"/>
                <a:cs typeface="Calibri"/>
              </a:rPr>
              <a:t>GET </a:t>
            </a:r>
            <a:r>
              <a:rPr lang="en-US" sz="2000">
                <a:latin typeface="Calibri"/>
                <a:ea typeface="Calibri"/>
                <a:cs typeface="Calibri"/>
              </a:rPr>
              <a:t>/functions/v1/app-middleware/user : </a:t>
            </a:r>
            <a:r>
              <a:rPr lang="en-US" sz="1500">
                <a:latin typeface="Calibri"/>
                <a:ea typeface="Calibri"/>
                <a:cs typeface="Calibri"/>
              </a:rPr>
              <a:t>Retrieves</a:t>
            </a:r>
            <a:r>
              <a:rPr lang="en-US" sz="1500">
                <a:solidFill>
                  <a:srgbClr val="000000"/>
                </a:solidFill>
                <a:latin typeface="Calibri"/>
                <a:ea typeface="Calibri"/>
                <a:cs typeface="Calibri"/>
              </a:rPr>
              <a:t> all user information such as name, email, and list of credit cards</a:t>
            </a:r>
          </a:p>
          <a:p>
            <a:pPr marL="0" indent="0">
              <a:buNone/>
            </a:pPr>
            <a:r>
              <a:rPr lang="en-US" sz="2000" b="1">
                <a:solidFill>
                  <a:schemeClr val="accent5"/>
                </a:solidFill>
                <a:latin typeface="Calibri"/>
                <a:ea typeface="Calibri"/>
                <a:cs typeface="Calibri"/>
              </a:rPr>
              <a:t>POST </a:t>
            </a:r>
            <a:r>
              <a:rPr lang="en-US" sz="2000">
                <a:latin typeface="Calibri"/>
                <a:ea typeface="Calibri"/>
                <a:cs typeface="Calibri"/>
              </a:rPr>
              <a:t>/functions/v1/app-middleware/</a:t>
            </a:r>
            <a:r>
              <a:rPr lang="en-US" sz="2000" err="1">
                <a:latin typeface="Calibri"/>
                <a:ea typeface="Calibri"/>
                <a:cs typeface="Calibri"/>
              </a:rPr>
              <a:t>creditcard</a:t>
            </a:r>
            <a:r>
              <a:rPr lang="en-US" sz="2000">
                <a:latin typeface="Calibri"/>
                <a:ea typeface="Calibri"/>
                <a:cs typeface="Calibri"/>
              </a:rPr>
              <a:t> : </a:t>
            </a:r>
            <a:r>
              <a:rPr lang="en-US" sz="1500">
                <a:latin typeface="Calibri"/>
                <a:ea typeface="Calibri"/>
                <a:cs typeface="Calibri"/>
              </a:rPr>
              <a:t>Adds</a:t>
            </a:r>
            <a:r>
              <a:rPr lang="en-US" sz="1500">
                <a:solidFill>
                  <a:srgbClr val="000000"/>
                </a:solidFill>
                <a:latin typeface="Calibri"/>
                <a:ea typeface="Calibri"/>
                <a:cs typeface="Calibri"/>
              </a:rPr>
              <a:t> a new credit card to the user's account</a:t>
            </a:r>
          </a:p>
          <a:p>
            <a:pPr marL="0" indent="0">
              <a:buNone/>
            </a:pPr>
            <a:endParaRPr lang="en-US" sz="2000">
              <a:latin typeface="Calibri"/>
              <a:ea typeface="Calibri"/>
              <a:cs typeface="Calibri"/>
            </a:endParaRPr>
          </a:p>
          <a:p>
            <a:pPr marL="0" indent="0">
              <a:buNone/>
            </a:pPr>
            <a:r>
              <a:rPr lang="en-US" sz="2000">
                <a:latin typeface="Calibri"/>
                <a:ea typeface="Calibri"/>
                <a:cs typeface="Calibri"/>
              </a:rPr>
              <a:t> </a:t>
            </a:r>
          </a:p>
          <a:p>
            <a:pPr marL="0" indent="0">
              <a:buNone/>
            </a:pPr>
            <a:endParaRPr lang="en-US" sz="2000">
              <a:latin typeface="Calibri"/>
              <a:ea typeface="Calibri"/>
              <a:cs typeface="Calibri"/>
            </a:endParaRPr>
          </a:p>
        </p:txBody>
      </p:sp>
      <p:pic>
        <p:nvPicPr>
          <p:cNvPr id="4" name="Picture 3" descr="A black background with white text&#10;&#10;AI-generated content may be incorrect.">
            <a:extLst>
              <a:ext uri="{FF2B5EF4-FFF2-40B4-BE49-F238E27FC236}">
                <a16:creationId xmlns:a16="http://schemas.microsoft.com/office/drawing/2014/main" id="{88DE2E02-637C-5A8A-CD46-A5329D1C4611}"/>
              </a:ext>
            </a:extLst>
          </p:cNvPr>
          <p:cNvPicPr>
            <a:picLocks noChangeAspect="1"/>
          </p:cNvPicPr>
          <p:nvPr/>
        </p:nvPicPr>
        <p:blipFill>
          <a:blip r:embed="rId2"/>
          <a:stretch>
            <a:fillRect/>
          </a:stretch>
        </p:blipFill>
        <p:spPr>
          <a:xfrm>
            <a:off x="666397" y="2435225"/>
            <a:ext cx="5539317" cy="1945217"/>
          </a:xfrm>
          <a:prstGeom prst="rect">
            <a:avLst/>
          </a:prstGeom>
        </p:spPr>
      </p:pic>
      <p:sp>
        <p:nvSpPr>
          <p:cNvPr id="5" name="TextBox 4">
            <a:extLst>
              <a:ext uri="{FF2B5EF4-FFF2-40B4-BE49-F238E27FC236}">
                <a16:creationId xmlns:a16="http://schemas.microsoft.com/office/drawing/2014/main" id="{ECD05814-C5EC-85FF-5DB7-85BDD958D238}"/>
              </a:ext>
            </a:extLst>
          </p:cNvPr>
          <p:cNvSpPr txBox="1"/>
          <p:nvPr/>
        </p:nvSpPr>
        <p:spPr>
          <a:xfrm>
            <a:off x="552000" y="4395000"/>
            <a:ext cx="10956000" cy="1729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000" b="1" baseline="0">
                <a:solidFill>
                  <a:srgbClr val="4EA72E"/>
                </a:solidFill>
                <a:latin typeface="Calibri"/>
                <a:ea typeface="Segoe UI"/>
                <a:cs typeface="Segoe UI"/>
              </a:rPr>
              <a:t>GET </a:t>
            </a:r>
            <a:r>
              <a:rPr lang="en-US" sz="2000" baseline="0">
                <a:latin typeface="Calibri"/>
                <a:ea typeface="Segoe UI"/>
                <a:cs typeface="Segoe UI"/>
              </a:rPr>
              <a:t>/functions/v1/app-middleware/</a:t>
            </a:r>
            <a:r>
              <a:rPr lang="en-US" sz="2000" baseline="0" err="1">
                <a:latin typeface="Calibri"/>
                <a:ea typeface="Segoe UI"/>
                <a:cs typeface="Segoe UI"/>
              </a:rPr>
              <a:t>dailyreport?startTime</a:t>
            </a:r>
            <a:r>
              <a:rPr lang="en-US" sz="2000" baseline="0">
                <a:latin typeface="Calibri"/>
                <a:ea typeface="Segoe UI"/>
                <a:cs typeface="Segoe UI"/>
              </a:rPr>
              <a:t>=&lt;…&gt;&amp;</a:t>
            </a:r>
            <a:r>
              <a:rPr lang="en-US" sz="2000" baseline="0" err="1">
                <a:latin typeface="Calibri"/>
                <a:ea typeface="Segoe UI"/>
                <a:cs typeface="Segoe UI"/>
              </a:rPr>
              <a:t>endTime</a:t>
            </a:r>
            <a:r>
              <a:rPr lang="en-US" sz="2000" baseline="0">
                <a:latin typeface="Calibri"/>
                <a:ea typeface="Segoe UI"/>
                <a:cs typeface="Segoe UI"/>
              </a:rPr>
              <a:t>=&lt;…&gt;</a:t>
            </a:r>
            <a:r>
              <a:rPr lang="en-US" sz="2000">
                <a:latin typeface="Calibri"/>
                <a:ea typeface="Segoe UI"/>
                <a:cs typeface="Segoe UI"/>
              </a:rPr>
              <a:t>​</a:t>
            </a:r>
          </a:p>
          <a:p>
            <a:pPr rtl="0"/>
            <a:r>
              <a:rPr lang="en-US" sz="1600" baseline="0">
                <a:latin typeface="Calibri"/>
                <a:ea typeface="Segoe UI"/>
                <a:cs typeface="Segoe UI"/>
              </a:rPr>
              <a:t> If the user is an admin they can use this route to access a daily report of fraudulent transactions</a:t>
            </a:r>
            <a:r>
              <a:rPr lang="en-US" sz="1600">
                <a:latin typeface="Calibri"/>
                <a:ea typeface="Segoe UI"/>
                <a:cs typeface="Segoe UI"/>
              </a:rPr>
              <a:t>​</a:t>
            </a:r>
          </a:p>
          <a:p>
            <a:pPr rtl="0"/>
            <a:r>
              <a:rPr lang="en-US" sz="1600">
                <a:latin typeface="Calibri"/>
                <a:ea typeface="Segoe UI"/>
                <a:cs typeface="Segoe UI"/>
              </a:rPr>
              <a:t>​</a:t>
            </a:r>
          </a:p>
          <a:p>
            <a:pPr rtl="0"/>
            <a:r>
              <a:rPr lang="en-US" sz="2000" b="1" baseline="0">
                <a:solidFill>
                  <a:srgbClr val="4EA72E"/>
                </a:solidFill>
                <a:latin typeface="Calibri"/>
                <a:ea typeface="Segoe UI"/>
                <a:cs typeface="Segoe UI"/>
              </a:rPr>
              <a:t>GET </a:t>
            </a:r>
            <a:r>
              <a:rPr lang="en-US" sz="2000" baseline="0">
                <a:latin typeface="Calibri"/>
                <a:ea typeface="Segoe UI"/>
                <a:cs typeface="Segoe UI"/>
              </a:rPr>
              <a:t>/functions/v1/app-middleware/</a:t>
            </a:r>
            <a:r>
              <a:rPr lang="en-US" sz="2000" baseline="0" err="1">
                <a:latin typeface="Calibri"/>
                <a:ea typeface="Segoe UI"/>
                <a:cs typeface="Segoe UI"/>
              </a:rPr>
              <a:t>transactions?ccNumber</a:t>
            </a:r>
            <a:r>
              <a:rPr lang="en-US" sz="2000" baseline="0">
                <a:latin typeface="Calibri"/>
                <a:ea typeface="Segoe UI"/>
                <a:cs typeface="Segoe UI"/>
              </a:rPr>
              <a:t>=&lt;…&gt;</a:t>
            </a:r>
            <a:r>
              <a:rPr lang="en-US" sz="2000">
                <a:latin typeface="Calibri"/>
                <a:ea typeface="Segoe UI"/>
                <a:cs typeface="Segoe UI"/>
              </a:rPr>
              <a:t>​</a:t>
            </a:r>
          </a:p>
          <a:p>
            <a:pPr rtl="0"/>
            <a:r>
              <a:rPr lang="en-US" sz="1600" baseline="0">
                <a:latin typeface="Calibri"/>
                <a:ea typeface="Segoe UI"/>
                <a:cs typeface="Segoe UI"/>
              </a:rPr>
              <a:t> Retrieves all transactions for a user, with the option to get transactions only for a specific credit card</a:t>
            </a:r>
          </a:p>
          <a:p>
            <a:pPr algn="ctr"/>
            <a:endParaRPr lang="en-US">
              <a:latin typeface="Calibri"/>
              <a:ea typeface="Calibri"/>
              <a:cs typeface="Calibri"/>
            </a:endParaRPr>
          </a:p>
        </p:txBody>
      </p:sp>
    </p:spTree>
    <p:extLst>
      <p:ext uri="{BB962C8B-B14F-4D97-AF65-F5344CB8AC3E}">
        <p14:creationId xmlns:p14="http://schemas.microsoft.com/office/powerpoint/2010/main" val="23526529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822273-D66F-0323-2918-1336D1F2A2B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FB82622-7510-29DB-108F-D4D96958FB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9466AC72-6718-E74E-10F5-4ACB021A9D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55D66064-8D21-FF97-A0E7-D6AC222D0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3CC9795-5FCA-8843-2372-CB5B4636E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C65C3E98-7C23-1DDE-4798-12F6F159E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F3B7D78-02C6-6A61-1918-25F98D4E9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48A2565D-67BA-5F52-06B1-D7AE522665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31B4BF7D-5891-473D-84DA-07E641F78A62}"/>
              </a:ext>
            </a:extLst>
          </p:cNvPr>
          <p:cNvSpPr>
            <a:spLocks noGrp="1"/>
          </p:cNvSpPr>
          <p:nvPr>
            <p:ph type="title"/>
          </p:nvPr>
        </p:nvSpPr>
        <p:spPr>
          <a:xfrm>
            <a:off x="550879" y="1249"/>
            <a:ext cx="7178026" cy="896659"/>
          </a:xfrm>
        </p:spPr>
        <p:txBody>
          <a:bodyPr anchor="b">
            <a:normAutofit/>
          </a:bodyPr>
          <a:lstStyle/>
          <a:p>
            <a:r>
              <a:rPr lang="en-US" sz="3600" b="1">
                <a:latin typeface="Calibri"/>
                <a:ea typeface="Calibri"/>
                <a:cs typeface="Calibri"/>
              </a:rPr>
              <a:t>REST API - Continued</a:t>
            </a:r>
          </a:p>
        </p:txBody>
      </p:sp>
      <p:sp>
        <p:nvSpPr>
          <p:cNvPr id="3" name="Content Placeholder 2">
            <a:extLst>
              <a:ext uri="{FF2B5EF4-FFF2-40B4-BE49-F238E27FC236}">
                <a16:creationId xmlns:a16="http://schemas.microsoft.com/office/drawing/2014/main" id="{92D9F535-7FC7-1BC3-8DB4-4B9378362624}"/>
              </a:ext>
            </a:extLst>
          </p:cNvPr>
          <p:cNvSpPr>
            <a:spLocks noGrp="1"/>
          </p:cNvSpPr>
          <p:nvPr>
            <p:ph idx="1"/>
          </p:nvPr>
        </p:nvSpPr>
        <p:spPr>
          <a:xfrm>
            <a:off x="545989" y="887651"/>
            <a:ext cx="11094350" cy="5718537"/>
          </a:xfrm>
        </p:spPr>
        <p:txBody>
          <a:bodyPr vert="horz" lIns="91440" tIns="45720" rIns="91440" bIns="45720" rtlCol="0" anchor="t">
            <a:normAutofit/>
          </a:bodyPr>
          <a:lstStyle/>
          <a:p>
            <a:pPr marL="0" indent="0">
              <a:buNone/>
            </a:pPr>
            <a:r>
              <a:rPr lang="en-US" sz="2000" b="1">
                <a:solidFill>
                  <a:schemeClr val="accent5"/>
                </a:solidFill>
                <a:latin typeface="Calibri"/>
                <a:ea typeface="Calibri"/>
                <a:cs typeface="Calibri"/>
              </a:rPr>
              <a:t>POST </a:t>
            </a:r>
            <a:r>
              <a:rPr lang="en-US" sz="2000">
                <a:latin typeface="Calibri"/>
                <a:ea typeface="Calibri"/>
                <a:cs typeface="Calibri"/>
              </a:rPr>
              <a:t>/functions/v1/app-middleware/transactions : </a:t>
            </a:r>
            <a:r>
              <a:rPr lang="en-US" sz="1500">
                <a:latin typeface="Calibri"/>
                <a:ea typeface="Calibri"/>
                <a:cs typeface="Calibri"/>
              </a:rPr>
              <a:t>Create a new transaction</a:t>
            </a:r>
            <a:endParaRPr lang="en-US"/>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r>
              <a:rPr lang="en-US" sz="2000" b="1">
                <a:solidFill>
                  <a:schemeClr val="accent4"/>
                </a:solidFill>
                <a:latin typeface="Calibri"/>
                <a:ea typeface="Calibri"/>
                <a:cs typeface="Calibri"/>
              </a:rPr>
              <a:t>PUT </a:t>
            </a:r>
            <a:r>
              <a:rPr lang="en-US" sz="2000">
                <a:latin typeface="Calibri"/>
                <a:ea typeface="Calibri"/>
                <a:cs typeface="Calibri"/>
              </a:rPr>
              <a:t>/functions/v1/app-middleware/transactions : </a:t>
            </a:r>
            <a:r>
              <a:rPr lang="en-US" sz="1500">
                <a:latin typeface="Calibri"/>
                <a:ea typeface="Calibri"/>
                <a:cs typeface="Calibri"/>
              </a:rPr>
              <a:t>Update the state of a transaction, primarily fraud status</a:t>
            </a:r>
          </a:p>
          <a:p>
            <a:pPr marL="0" indent="0">
              <a:buNone/>
            </a:pPr>
            <a:endParaRPr lang="en-US" sz="1500">
              <a:latin typeface="Calibri"/>
              <a:ea typeface="Calibri"/>
              <a:cs typeface="Calibri"/>
            </a:endParaRPr>
          </a:p>
          <a:p>
            <a:pPr marL="0" indent="0">
              <a:buNone/>
            </a:pPr>
            <a:r>
              <a:rPr lang="en-US" sz="2000">
                <a:latin typeface="Calibri"/>
                <a:ea typeface="Calibri"/>
                <a:cs typeface="Calibri"/>
              </a:rPr>
              <a:t> </a:t>
            </a:r>
          </a:p>
          <a:p>
            <a:pPr marL="0" indent="0">
              <a:buNone/>
            </a:pPr>
            <a:endParaRPr lang="en-US" sz="2000">
              <a:latin typeface="Calibri"/>
              <a:ea typeface="Calibri"/>
              <a:cs typeface="Calibri"/>
            </a:endParaRPr>
          </a:p>
          <a:p>
            <a:pPr marL="0" indent="0">
              <a:buNone/>
            </a:pPr>
            <a:endParaRPr lang="en-US" sz="1500">
              <a:latin typeface="Calibri"/>
              <a:ea typeface="Calibri"/>
              <a:cs typeface="Calibri"/>
            </a:endParaRPr>
          </a:p>
        </p:txBody>
      </p:sp>
      <p:pic>
        <p:nvPicPr>
          <p:cNvPr id="5" name="Picture 4" descr="A computer code on a black background&#10;&#10;AI-generated content may be incorrect.">
            <a:extLst>
              <a:ext uri="{FF2B5EF4-FFF2-40B4-BE49-F238E27FC236}">
                <a16:creationId xmlns:a16="http://schemas.microsoft.com/office/drawing/2014/main" id="{5FCDD839-2A59-4340-C84F-B5752CD929E0}"/>
              </a:ext>
            </a:extLst>
          </p:cNvPr>
          <p:cNvPicPr>
            <a:picLocks noChangeAspect="1"/>
          </p:cNvPicPr>
          <p:nvPr/>
        </p:nvPicPr>
        <p:blipFill>
          <a:blip r:embed="rId2"/>
          <a:stretch>
            <a:fillRect/>
          </a:stretch>
        </p:blipFill>
        <p:spPr>
          <a:xfrm>
            <a:off x="659342" y="1240367"/>
            <a:ext cx="4890206" cy="2373490"/>
          </a:xfrm>
          <a:prstGeom prst="rect">
            <a:avLst/>
          </a:prstGeom>
        </p:spPr>
      </p:pic>
      <p:pic>
        <p:nvPicPr>
          <p:cNvPr id="6" name="Picture 5" descr="A black background with orange and white text&#10;&#10;AI-generated content may be incorrect.">
            <a:extLst>
              <a:ext uri="{FF2B5EF4-FFF2-40B4-BE49-F238E27FC236}">
                <a16:creationId xmlns:a16="http://schemas.microsoft.com/office/drawing/2014/main" id="{38B265F3-0CFC-AB24-B05C-58AD13B9919F}"/>
              </a:ext>
            </a:extLst>
          </p:cNvPr>
          <p:cNvPicPr>
            <a:picLocks noChangeAspect="1"/>
          </p:cNvPicPr>
          <p:nvPr/>
        </p:nvPicPr>
        <p:blipFill>
          <a:blip r:embed="rId3"/>
          <a:stretch>
            <a:fillRect/>
          </a:stretch>
        </p:blipFill>
        <p:spPr>
          <a:xfrm>
            <a:off x="657675" y="4397400"/>
            <a:ext cx="4869039" cy="873478"/>
          </a:xfrm>
          <a:prstGeom prst="rect">
            <a:avLst/>
          </a:prstGeom>
        </p:spPr>
      </p:pic>
    </p:spTree>
    <p:extLst>
      <p:ext uri="{BB962C8B-B14F-4D97-AF65-F5344CB8AC3E}">
        <p14:creationId xmlns:p14="http://schemas.microsoft.com/office/powerpoint/2010/main" val="35087485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65E8B9-CA18-9668-C40D-F828AC016D8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DAFD22D-783E-1D1D-9771-DD8304E199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FCC9F1F-F3B5-9238-61E2-C667A35F78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5A990B3F-9FB5-4867-ADA9-C09E94EC1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AF94AA-5BD2-5301-36A8-D99952989F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D277DAC6-A1D7-6776-6526-D0EE488D8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9C125A8-501B-FAD3-4008-D6415934A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D4DD79E7-55C2-CEFE-FD75-D622307E34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59364CB-1BAB-182F-E240-6076E583FEE5}"/>
              </a:ext>
            </a:extLst>
          </p:cNvPr>
          <p:cNvSpPr>
            <a:spLocks noGrp="1"/>
          </p:cNvSpPr>
          <p:nvPr>
            <p:ph type="title"/>
          </p:nvPr>
        </p:nvSpPr>
        <p:spPr>
          <a:xfrm>
            <a:off x="550879" y="1249"/>
            <a:ext cx="7178026" cy="896659"/>
          </a:xfrm>
        </p:spPr>
        <p:txBody>
          <a:bodyPr anchor="b">
            <a:normAutofit/>
          </a:bodyPr>
          <a:lstStyle/>
          <a:p>
            <a:r>
              <a:rPr lang="en-US" sz="3600" b="1">
                <a:latin typeface="Calibri"/>
                <a:ea typeface="Calibri"/>
                <a:cs typeface="Calibri"/>
              </a:rPr>
              <a:t>REST API - Continued</a:t>
            </a:r>
          </a:p>
        </p:txBody>
      </p:sp>
      <p:sp>
        <p:nvSpPr>
          <p:cNvPr id="3" name="Content Placeholder 2">
            <a:extLst>
              <a:ext uri="{FF2B5EF4-FFF2-40B4-BE49-F238E27FC236}">
                <a16:creationId xmlns:a16="http://schemas.microsoft.com/office/drawing/2014/main" id="{68163438-6AA2-BA2C-22ED-4A68ECFBF742}"/>
              </a:ext>
            </a:extLst>
          </p:cNvPr>
          <p:cNvSpPr>
            <a:spLocks noGrp="1"/>
          </p:cNvSpPr>
          <p:nvPr>
            <p:ph idx="1"/>
          </p:nvPr>
        </p:nvSpPr>
        <p:spPr>
          <a:xfrm>
            <a:off x="545989" y="887651"/>
            <a:ext cx="11094350" cy="5718537"/>
          </a:xfrm>
        </p:spPr>
        <p:txBody>
          <a:bodyPr vert="horz" lIns="91440" tIns="45720" rIns="91440" bIns="45720" rtlCol="0" anchor="t">
            <a:normAutofit/>
          </a:bodyPr>
          <a:lstStyle/>
          <a:p>
            <a:pPr marL="0" indent="0">
              <a:buNone/>
            </a:pPr>
            <a:r>
              <a:rPr lang="en-US" sz="2000" b="1">
                <a:solidFill>
                  <a:schemeClr val="accent5"/>
                </a:solidFill>
                <a:latin typeface="Calibri"/>
                <a:ea typeface="Calibri"/>
                <a:cs typeface="Calibri"/>
              </a:rPr>
              <a:t>POST </a:t>
            </a:r>
            <a:r>
              <a:rPr lang="en-US" sz="2000">
                <a:latin typeface="Calibri"/>
                <a:ea typeface="Calibri"/>
                <a:cs typeface="Calibri"/>
              </a:rPr>
              <a:t>/functions/v1/app-middleware/signup: Register a new user</a:t>
            </a:r>
            <a:endParaRPr lang="en-US" sz="1500">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r>
              <a:rPr lang="en-US" sz="2000" b="1">
                <a:solidFill>
                  <a:srgbClr val="4EA72E"/>
                </a:solidFill>
                <a:latin typeface="Calibri"/>
                <a:ea typeface="Calibri"/>
                <a:cs typeface="Calibri"/>
              </a:rPr>
              <a:t>GET </a:t>
            </a:r>
            <a:r>
              <a:rPr lang="en-US" sz="2000">
                <a:latin typeface="Calibri"/>
                <a:ea typeface="Calibri"/>
                <a:cs typeface="Calibri"/>
              </a:rPr>
              <a:t>/functions/v1/app-middleware/login?email=&lt;email&gt;&amp;password=&lt;password&gt;: Login an existing user</a:t>
            </a:r>
            <a:endParaRPr lang="en-US"/>
          </a:p>
          <a:p>
            <a:pPr marL="0" indent="0">
              <a:buNone/>
            </a:pPr>
            <a:endParaRPr lang="en-US" sz="1500">
              <a:latin typeface="Calibri"/>
              <a:ea typeface="Calibri"/>
              <a:cs typeface="Calibri"/>
            </a:endParaRPr>
          </a:p>
          <a:p>
            <a:pPr marL="0" indent="0">
              <a:buNone/>
            </a:pPr>
            <a:r>
              <a:rPr lang="en-US" sz="2000">
                <a:latin typeface="Calibri"/>
                <a:ea typeface="Calibri"/>
                <a:cs typeface="Calibri"/>
              </a:rPr>
              <a:t> </a:t>
            </a:r>
          </a:p>
          <a:p>
            <a:pPr marL="0" indent="0">
              <a:buNone/>
            </a:pPr>
            <a:endParaRPr lang="en-US" sz="2000">
              <a:latin typeface="Calibri"/>
              <a:ea typeface="Calibri"/>
              <a:cs typeface="Calibri"/>
            </a:endParaRPr>
          </a:p>
          <a:p>
            <a:pPr marL="0" indent="0">
              <a:buNone/>
            </a:pPr>
            <a:endParaRPr lang="en-US" sz="1500">
              <a:latin typeface="Calibri"/>
              <a:ea typeface="Calibri"/>
              <a:cs typeface="Calibri"/>
            </a:endParaRPr>
          </a:p>
        </p:txBody>
      </p:sp>
      <p:pic>
        <p:nvPicPr>
          <p:cNvPr id="4" name="Picture 3" descr="A black background with white text&#10;&#10;AI-generated content may be incorrect.">
            <a:extLst>
              <a:ext uri="{FF2B5EF4-FFF2-40B4-BE49-F238E27FC236}">
                <a16:creationId xmlns:a16="http://schemas.microsoft.com/office/drawing/2014/main" id="{310802A8-F103-2161-D51E-58809B2CFE21}"/>
              </a:ext>
            </a:extLst>
          </p:cNvPr>
          <p:cNvPicPr>
            <a:picLocks noChangeAspect="1"/>
          </p:cNvPicPr>
          <p:nvPr/>
        </p:nvPicPr>
        <p:blipFill>
          <a:blip r:embed="rId2"/>
          <a:stretch>
            <a:fillRect/>
          </a:stretch>
        </p:blipFill>
        <p:spPr>
          <a:xfrm>
            <a:off x="551039" y="1437922"/>
            <a:ext cx="6743700" cy="1752600"/>
          </a:xfrm>
          <a:prstGeom prst="rect">
            <a:avLst/>
          </a:prstGeom>
        </p:spPr>
      </p:pic>
    </p:spTree>
    <p:extLst>
      <p:ext uri="{BB962C8B-B14F-4D97-AF65-F5344CB8AC3E}">
        <p14:creationId xmlns:p14="http://schemas.microsoft.com/office/powerpoint/2010/main" val="42427935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FC6848-3012-88A7-DD3E-5F32C28B4C5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4D97133-A9E0-377D-9391-0BA5E3827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928EBFC5-C35F-5AC4-4F82-FEB6D5C2F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42E01B49-DEE5-CC8C-6F94-29F1C40CE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5DF5D34A-89E5-3000-E2BC-23F9FC970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FE2555E6-2C23-9C56-4C38-26C067D4F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BFB2FBB9-4EA8-3B73-440F-7F48142378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6DC48824-AFD1-7792-DF51-0F51BCCA2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CC779842-8F08-709E-7972-C75D1801AFA0}"/>
              </a:ext>
            </a:extLst>
          </p:cNvPr>
          <p:cNvSpPr>
            <a:spLocks noGrp="1"/>
          </p:cNvSpPr>
          <p:nvPr>
            <p:ph type="title"/>
          </p:nvPr>
        </p:nvSpPr>
        <p:spPr>
          <a:xfrm>
            <a:off x="550879" y="1249"/>
            <a:ext cx="7178026" cy="896659"/>
          </a:xfrm>
        </p:spPr>
        <p:txBody>
          <a:bodyPr anchor="b">
            <a:normAutofit/>
          </a:bodyPr>
          <a:lstStyle/>
          <a:p>
            <a:r>
              <a:rPr lang="en-US" sz="3600" b="1">
                <a:latin typeface="Calibri"/>
                <a:ea typeface="Calibri"/>
                <a:cs typeface="Calibri"/>
              </a:rPr>
              <a:t>REST API - Continued</a:t>
            </a:r>
          </a:p>
        </p:txBody>
      </p:sp>
      <p:sp>
        <p:nvSpPr>
          <p:cNvPr id="3" name="Content Placeholder 2">
            <a:extLst>
              <a:ext uri="{FF2B5EF4-FFF2-40B4-BE49-F238E27FC236}">
                <a16:creationId xmlns:a16="http://schemas.microsoft.com/office/drawing/2014/main" id="{A38D63CA-BD92-12F0-D55F-D5FA9D69BF00}"/>
              </a:ext>
            </a:extLst>
          </p:cNvPr>
          <p:cNvSpPr>
            <a:spLocks noGrp="1"/>
          </p:cNvSpPr>
          <p:nvPr>
            <p:ph idx="1"/>
          </p:nvPr>
        </p:nvSpPr>
        <p:spPr>
          <a:xfrm>
            <a:off x="545989" y="887651"/>
            <a:ext cx="11094350" cy="5718537"/>
          </a:xfrm>
        </p:spPr>
        <p:txBody>
          <a:bodyPr vert="horz" lIns="91440" tIns="45720" rIns="91440" bIns="45720" rtlCol="0" anchor="t">
            <a:normAutofit/>
          </a:bodyPr>
          <a:lstStyle/>
          <a:p>
            <a:pPr marL="0" indent="0">
              <a:buNone/>
            </a:pPr>
            <a:r>
              <a:rPr lang="en-US" sz="2000" b="1">
                <a:solidFill>
                  <a:schemeClr val="accent5"/>
                </a:solidFill>
                <a:latin typeface="Calibri"/>
                <a:ea typeface="Calibri"/>
                <a:cs typeface="Calibri"/>
              </a:rPr>
              <a:t>POST </a:t>
            </a:r>
            <a:r>
              <a:rPr lang="en-US" sz="2000">
                <a:latin typeface="Calibri"/>
                <a:ea typeface="Calibri"/>
                <a:cs typeface="Calibri"/>
              </a:rPr>
              <a:t>/functions/v1/app-middleware/</a:t>
            </a:r>
            <a:r>
              <a:rPr lang="en-US" sz="2000" err="1">
                <a:latin typeface="Calibri"/>
                <a:ea typeface="Calibri"/>
                <a:cs typeface="Calibri"/>
              </a:rPr>
              <a:t>pns</a:t>
            </a:r>
            <a:r>
              <a:rPr lang="en-US" sz="2000">
                <a:latin typeface="Calibri"/>
                <a:ea typeface="Calibri"/>
                <a:cs typeface="Calibri"/>
              </a:rPr>
              <a:t>: Register a user's device for push notifications</a:t>
            </a:r>
            <a:endParaRPr lang="en-US" sz="1500">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r>
              <a:rPr lang="en-US" sz="2000" b="1">
                <a:solidFill>
                  <a:schemeClr val="accent5"/>
                </a:solidFill>
                <a:latin typeface="Calibri"/>
                <a:ea typeface="Calibri"/>
                <a:cs typeface="Calibri"/>
              </a:rPr>
              <a:t>POST  </a:t>
            </a:r>
            <a:r>
              <a:rPr lang="en-US" sz="2000">
                <a:latin typeface="Calibri"/>
                <a:ea typeface="Calibri"/>
                <a:cs typeface="Calibri"/>
              </a:rPr>
              <a:t>/functions/v1/app-middleware/notify: Send a push notification to a user's device</a:t>
            </a:r>
            <a:endParaRPr lang="en-US"/>
          </a:p>
          <a:p>
            <a:pPr marL="0" indent="0">
              <a:buNone/>
            </a:pPr>
            <a:endParaRPr lang="en-US" sz="1500">
              <a:latin typeface="Calibri"/>
              <a:ea typeface="Calibri"/>
              <a:cs typeface="Calibri"/>
            </a:endParaRPr>
          </a:p>
          <a:p>
            <a:pPr marL="0" indent="0">
              <a:buNone/>
            </a:pPr>
            <a:r>
              <a:rPr lang="en-US" sz="2000">
                <a:latin typeface="Calibri"/>
                <a:ea typeface="Calibri"/>
                <a:cs typeface="Calibri"/>
              </a:rPr>
              <a:t> </a:t>
            </a:r>
          </a:p>
          <a:p>
            <a:pPr marL="0" indent="0">
              <a:buNone/>
            </a:pPr>
            <a:endParaRPr lang="en-US" sz="2000">
              <a:latin typeface="Calibri"/>
              <a:ea typeface="Calibri"/>
              <a:cs typeface="Calibri"/>
            </a:endParaRPr>
          </a:p>
          <a:p>
            <a:pPr marL="0" indent="0">
              <a:buNone/>
            </a:pPr>
            <a:endParaRPr lang="en-US" sz="1500">
              <a:latin typeface="Calibri"/>
              <a:ea typeface="Calibri"/>
              <a:cs typeface="Calibri"/>
            </a:endParaRPr>
          </a:p>
        </p:txBody>
      </p:sp>
      <p:pic>
        <p:nvPicPr>
          <p:cNvPr id="4" name="Picture 3" descr="A black background with text&#10;&#10;AI-generated content may be incorrect.">
            <a:extLst>
              <a:ext uri="{FF2B5EF4-FFF2-40B4-BE49-F238E27FC236}">
                <a16:creationId xmlns:a16="http://schemas.microsoft.com/office/drawing/2014/main" id="{468BA948-F26E-8FA6-C88C-8B55C982BEEC}"/>
              </a:ext>
            </a:extLst>
          </p:cNvPr>
          <p:cNvPicPr>
            <a:picLocks noChangeAspect="1"/>
          </p:cNvPicPr>
          <p:nvPr/>
        </p:nvPicPr>
        <p:blipFill>
          <a:blip r:embed="rId2"/>
          <a:stretch>
            <a:fillRect/>
          </a:stretch>
        </p:blipFill>
        <p:spPr>
          <a:xfrm>
            <a:off x="652992" y="1490486"/>
            <a:ext cx="7753350" cy="1619250"/>
          </a:xfrm>
          <a:prstGeom prst="rect">
            <a:avLst/>
          </a:prstGeom>
        </p:spPr>
      </p:pic>
      <p:pic>
        <p:nvPicPr>
          <p:cNvPr id="5" name="Picture 4" descr="A black background with orange text&#10;&#10;AI-generated content may be incorrect.">
            <a:extLst>
              <a:ext uri="{FF2B5EF4-FFF2-40B4-BE49-F238E27FC236}">
                <a16:creationId xmlns:a16="http://schemas.microsoft.com/office/drawing/2014/main" id="{17DC2D61-9141-6BFF-B191-E103FEA8F9C1}"/>
              </a:ext>
            </a:extLst>
          </p:cNvPr>
          <p:cNvPicPr>
            <a:picLocks noChangeAspect="1"/>
          </p:cNvPicPr>
          <p:nvPr/>
        </p:nvPicPr>
        <p:blipFill>
          <a:blip r:embed="rId3"/>
          <a:stretch>
            <a:fillRect/>
          </a:stretch>
        </p:blipFill>
        <p:spPr>
          <a:xfrm>
            <a:off x="651228" y="4623153"/>
            <a:ext cx="10691989" cy="1619250"/>
          </a:xfrm>
          <a:prstGeom prst="rect">
            <a:avLst/>
          </a:prstGeom>
        </p:spPr>
      </p:pic>
    </p:spTree>
    <p:extLst>
      <p:ext uri="{BB962C8B-B14F-4D97-AF65-F5344CB8AC3E}">
        <p14:creationId xmlns:p14="http://schemas.microsoft.com/office/powerpoint/2010/main" val="31232161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D894347-C9A9-4BFD-8A6D-05A2B0CDD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284ED281-4082-46F9-86EE-D78901367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
            <a:ext cx="9379192" cy="4251280"/>
          </a:xfrm>
          <a:custGeom>
            <a:avLst/>
            <a:gdLst>
              <a:gd name="connsiteX0" fmla="*/ 9379192 w 9379192"/>
              <a:gd name="connsiteY0" fmla="*/ 3752527 h 3752527"/>
              <a:gd name="connsiteX1" fmla="*/ 3293459 w 9379192"/>
              <a:gd name="connsiteY1" fmla="*/ 3752527 h 3752527"/>
              <a:gd name="connsiteX2" fmla="*/ 3297156 w 9379192"/>
              <a:gd name="connsiteY2" fmla="*/ 3752055 h 3752527"/>
              <a:gd name="connsiteX3" fmla="*/ 3642095 w 9379192"/>
              <a:gd name="connsiteY3" fmla="*/ 3690141 h 3752527"/>
              <a:gd name="connsiteX4" fmla="*/ 2307659 w 9379192"/>
              <a:gd name="connsiteY4" fmla="*/ 3500267 h 3752527"/>
              <a:gd name="connsiteX5" fmla="*/ 2383194 w 9379192"/>
              <a:gd name="connsiteY5" fmla="*/ 3475501 h 3752527"/>
              <a:gd name="connsiteX6" fmla="*/ 2237161 w 9379192"/>
              <a:gd name="connsiteY6" fmla="*/ 3376437 h 3752527"/>
              <a:gd name="connsiteX7" fmla="*/ 1637924 w 9379192"/>
              <a:gd name="connsiteY7" fmla="*/ 3219585 h 3752527"/>
              <a:gd name="connsiteX8" fmla="*/ 2383194 w 9379192"/>
              <a:gd name="connsiteY8" fmla="*/ 2955415 h 3752527"/>
              <a:gd name="connsiteX9" fmla="*/ 1542249 w 9379192"/>
              <a:gd name="connsiteY9" fmla="*/ 2596307 h 3752527"/>
              <a:gd name="connsiteX10" fmla="*/ 1114221 w 9379192"/>
              <a:gd name="connsiteY10" fmla="*/ 2509625 h 3752527"/>
              <a:gd name="connsiteX11" fmla="*/ 2524191 w 9379192"/>
              <a:gd name="connsiteY11" fmla="*/ 2059708 h 3752527"/>
              <a:gd name="connsiteX12" fmla="*/ 238027 w 9379192"/>
              <a:gd name="connsiteY12" fmla="*/ 1836815 h 3752527"/>
              <a:gd name="connsiteX13" fmla="*/ 424343 w 9379192"/>
              <a:gd name="connsiteY13" fmla="*/ 1746006 h 3752527"/>
              <a:gd name="connsiteX14" fmla="*/ 1844384 w 9379192"/>
              <a:gd name="connsiteY14" fmla="*/ 1770772 h 3752527"/>
              <a:gd name="connsiteX15" fmla="*/ 2081058 w 9379192"/>
              <a:gd name="connsiteY15" fmla="*/ 1700602 h 3752527"/>
              <a:gd name="connsiteX16" fmla="*/ 1844384 w 9379192"/>
              <a:gd name="connsiteY16" fmla="*/ 1589154 h 3752527"/>
              <a:gd name="connsiteX17" fmla="*/ 922869 w 9379192"/>
              <a:gd name="connsiteY17" fmla="*/ 1506601 h 3752527"/>
              <a:gd name="connsiteX18" fmla="*/ 681160 w 9379192"/>
              <a:gd name="connsiteY18" fmla="*/ 1320855 h 3752527"/>
              <a:gd name="connsiteX19" fmla="*/ 273276 w 9379192"/>
              <a:gd name="connsiteY19" fmla="*/ 1106216 h 3752527"/>
              <a:gd name="connsiteX20" fmla="*/ 555269 w 9379192"/>
              <a:gd name="connsiteY20" fmla="*/ 928727 h 3752527"/>
              <a:gd name="connsiteX21" fmla="*/ 97029 w 9379192"/>
              <a:gd name="connsiteY21" fmla="*/ 664555 h 3752527"/>
              <a:gd name="connsiteX22" fmla="*/ 227955 w 9379192"/>
              <a:gd name="connsiteY22" fmla="*/ 317831 h 3752527"/>
              <a:gd name="connsiteX23" fmla="*/ 998402 w 9379192"/>
              <a:gd name="connsiteY23" fmla="*/ 235277 h 3752527"/>
              <a:gd name="connsiteX24" fmla="*/ 2030701 w 9379192"/>
              <a:gd name="connsiteY24" fmla="*/ 115575 h 3752527"/>
              <a:gd name="connsiteX25" fmla="*/ 3068036 w 9379192"/>
              <a:gd name="connsiteY25" fmla="*/ 12383 h 3752527"/>
              <a:gd name="connsiteX26" fmla="*/ 4105370 w 9379192"/>
              <a:gd name="connsiteY26" fmla="*/ 12383 h 3752527"/>
              <a:gd name="connsiteX27" fmla="*/ 4402472 w 9379192"/>
              <a:gd name="connsiteY27" fmla="*/ 20638 h 3752527"/>
              <a:gd name="connsiteX28" fmla="*/ 4407507 w 9379192"/>
              <a:gd name="connsiteY28" fmla="*/ 20638 h 3752527"/>
              <a:gd name="connsiteX29" fmla="*/ 5696622 w 9379192"/>
              <a:gd name="connsiteY29" fmla="*/ 57788 h 3752527"/>
              <a:gd name="connsiteX30" fmla="*/ 6175004 w 9379192"/>
              <a:gd name="connsiteY30" fmla="*/ 61915 h 3752527"/>
              <a:gd name="connsiteX31" fmla="*/ 7212339 w 9379192"/>
              <a:gd name="connsiteY31" fmla="*/ 66042 h 3752527"/>
              <a:gd name="connsiteX32" fmla="*/ 8244638 w 9379192"/>
              <a:gd name="connsiteY32" fmla="*/ 49532 h 3752527"/>
              <a:gd name="connsiteX33" fmla="*/ 9292044 w 9379192"/>
              <a:gd name="connsiteY33" fmla="*/ 0 h 3752527"/>
              <a:gd name="connsiteX34" fmla="*/ 9379192 w 9379192"/>
              <a:gd name="connsiteY34" fmla="*/ 2762 h 375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379192" h="3752527">
                <a:moveTo>
                  <a:pt x="9379192" y="3752527"/>
                </a:moveTo>
                <a:lnTo>
                  <a:pt x="3293459" y="3752527"/>
                </a:lnTo>
                <a:lnTo>
                  <a:pt x="3297156" y="3752055"/>
                </a:lnTo>
                <a:cubicBezTo>
                  <a:pt x="3412975" y="3736577"/>
                  <a:pt x="3551454" y="3714906"/>
                  <a:pt x="3642095" y="3690141"/>
                </a:cubicBezTo>
                <a:cubicBezTo>
                  <a:pt x="3380244" y="3686012"/>
                  <a:pt x="2347945" y="3529162"/>
                  <a:pt x="2307659" y="3500267"/>
                </a:cubicBezTo>
                <a:cubicBezTo>
                  <a:pt x="2327803" y="3492012"/>
                  <a:pt x="2358017" y="3483757"/>
                  <a:pt x="2383194" y="3475501"/>
                </a:cubicBezTo>
                <a:cubicBezTo>
                  <a:pt x="2327803" y="3450736"/>
                  <a:pt x="2282482" y="3421842"/>
                  <a:pt x="2237161" y="3376437"/>
                </a:cubicBezTo>
                <a:cubicBezTo>
                  <a:pt x="2091129" y="3223714"/>
                  <a:pt x="1844384" y="3277374"/>
                  <a:pt x="1637924" y="3219585"/>
                </a:cubicBezTo>
                <a:cubicBezTo>
                  <a:pt x="1768850" y="2897627"/>
                  <a:pt x="2116307" y="3017329"/>
                  <a:pt x="2383194" y="2955415"/>
                </a:cubicBezTo>
                <a:cubicBezTo>
                  <a:pt x="1683245" y="2765541"/>
                  <a:pt x="1819207" y="2666477"/>
                  <a:pt x="1542249" y="2596307"/>
                </a:cubicBezTo>
                <a:cubicBezTo>
                  <a:pt x="1194791" y="2509625"/>
                  <a:pt x="1114221" y="2509625"/>
                  <a:pt x="1114221" y="2509625"/>
                </a:cubicBezTo>
                <a:cubicBezTo>
                  <a:pt x="1522105" y="2245455"/>
                  <a:pt x="2010559" y="2530264"/>
                  <a:pt x="2524191" y="2059708"/>
                </a:cubicBezTo>
                <a:cubicBezTo>
                  <a:pt x="2030701" y="1993667"/>
                  <a:pt x="555269" y="1960645"/>
                  <a:pt x="238027" y="1836815"/>
                </a:cubicBezTo>
                <a:cubicBezTo>
                  <a:pt x="358880" y="1882219"/>
                  <a:pt x="368952" y="1746006"/>
                  <a:pt x="424343" y="1746006"/>
                </a:cubicBezTo>
                <a:cubicBezTo>
                  <a:pt x="892655" y="1741879"/>
                  <a:pt x="1371037" y="1820305"/>
                  <a:pt x="1844384" y="1770772"/>
                </a:cubicBezTo>
                <a:cubicBezTo>
                  <a:pt x="1929989" y="1766645"/>
                  <a:pt x="2065951" y="1803793"/>
                  <a:pt x="2081058" y="1700602"/>
                </a:cubicBezTo>
                <a:cubicBezTo>
                  <a:pt x="2096164" y="1572644"/>
                  <a:pt x="1919919" y="1601537"/>
                  <a:pt x="1844384" y="1589154"/>
                </a:cubicBezTo>
                <a:cubicBezTo>
                  <a:pt x="1537212" y="1547877"/>
                  <a:pt x="1235076" y="1531367"/>
                  <a:pt x="922869" y="1506601"/>
                </a:cubicBezTo>
                <a:cubicBezTo>
                  <a:pt x="791943" y="1494218"/>
                  <a:pt x="630804" y="1518984"/>
                  <a:pt x="681160" y="1320855"/>
                </a:cubicBezTo>
                <a:cubicBezTo>
                  <a:pt x="640874" y="1130983"/>
                  <a:pt x="399166" y="1197025"/>
                  <a:pt x="273276" y="1106216"/>
                </a:cubicBezTo>
                <a:cubicBezTo>
                  <a:pt x="333703" y="998897"/>
                  <a:pt x="504913" y="1073196"/>
                  <a:pt x="555269" y="928727"/>
                </a:cubicBezTo>
                <a:cubicBezTo>
                  <a:pt x="313560" y="974131"/>
                  <a:pt x="338738" y="660428"/>
                  <a:pt x="97029" y="664555"/>
                </a:cubicBezTo>
                <a:cubicBezTo>
                  <a:pt x="-104395" y="478810"/>
                  <a:pt x="41638" y="388001"/>
                  <a:pt x="227955" y="317831"/>
                </a:cubicBezTo>
                <a:cubicBezTo>
                  <a:pt x="469664" y="231150"/>
                  <a:pt x="736551" y="251788"/>
                  <a:pt x="998402" y="235277"/>
                </a:cubicBezTo>
                <a:cubicBezTo>
                  <a:pt x="1345860" y="198128"/>
                  <a:pt x="1678209" y="111447"/>
                  <a:pt x="2030701" y="115575"/>
                </a:cubicBezTo>
                <a:cubicBezTo>
                  <a:pt x="2363052" y="28893"/>
                  <a:pt x="2730650" y="123829"/>
                  <a:pt x="3068036" y="12383"/>
                </a:cubicBezTo>
                <a:cubicBezTo>
                  <a:pt x="3410457" y="12383"/>
                  <a:pt x="3757914" y="12383"/>
                  <a:pt x="4105370" y="12383"/>
                </a:cubicBezTo>
                <a:cubicBezTo>
                  <a:pt x="4206084" y="16510"/>
                  <a:pt x="4301759" y="16510"/>
                  <a:pt x="4402472" y="20638"/>
                </a:cubicBezTo>
                <a:cubicBezTo>
                  <a:pt x="4402472" y="20638"/>
                  <a:pt x="4407507" y="20638"/>
                  <a:pt x="4407507" y="20638"/>
                </a:cubicBezTo>
                <a:cubicBezTo>
                  <a:pt x="4840570" y="33022"/>
                  <a:pt x="5268596" y="41276"/>
                  <a:pt x="5696622" y="57788"/>
                </a:cubicBezTo>
                <a:cubicBezTo>
                  <a:pt x="5857761" y="57788"/>
                  <a:pt x="6013864" y="61915"/>
                  <a:pt x="6175004" y="61915"/>
                </a:cubicBezTo>
                <a:cubicBezTo>
                  <a:pt x="6517425" y="82553"/>
                  <a:pt x="6864883" y="94936"/>
                  <a:pt x="7212339" y="66042"/>
                </a:cubicBezTo>
                <a:cubicBezTo>
                  <a:pt x="7559796" y="90809"/>
                  <a:pt x="7897182" y="74298"/>
                  <a:pt x="8244638" y="49532"/>
                </a:cubicBezTo>
                <a:cubicBezTo>
                  <a:pt x="8597130" y="78426"/>
                  <a:pt x="8944587" y="37149"/>
                  <a:pt x="9292044" y="0"/>
                </a:cubicBezTo>
                <a:lnTo>
                  <a:pt x="9379192" y="2762"/>
                </a:lnTo>
                <a:close/>
              </a:path>
            </a:pathLst>
          </a:custGeom>
          <a:solidFill>
            <a:schemeClr val="bg2">
              <a:alpha val="50000"/>
            </a:schemeClr>
          </a:solidFill>
          <a:ln w="32707" cap="flat">
            <a:noFill/>
            <a:prstDash val="solid"/>
            <a:miter/>
          </a:ln>
        </p:spPr>
        <p:txBody>
          <a:bodyPr rtlCol="0" anchor="ctr"/>
          <a:lstStyle/>
          <a:p>
            <a:endParaRPr lang="en-US"/>
          </a:p>
        </p:txBody>
      </p:sp>
      <p:sp>
        <p:nvSpPr>
          <p:cNvPr id="26" name="Freeform: Shape 23">
            <a:extLst>
              <a:ext uri="{FF2B5EF4-FFF2-40B4-BE49-F238E27FC236}">
                <a16:creationId xmlns:a16="http://schemas.microsoft.com/office/drawing/2014/main" id="{5531D9B7-48AB-4407-A9E8-13391FCB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9902" flipV="1">
            <a:off x="5210629" y="4242714"/>
            <a:ext cx="7104297" cy="3137347"/>
          </a:xfrm>
          <a:custGeom>
            <a:avLst/>
            <a:gdLst>
              <a:gd name="connsiteX0" fmla="*/ 6772629 w 7104297"/>
              <a:gd name="connsiteY0" fmla="*/ 3137347 h 3137347"/>
              <a:gd name="connsiteX1" fmla="*/ 7104297 w 7104297"/>
              <a:gd name="connsiteY1" fmla="*/ 1081624 h 3137347"/>
              <a:gd name="connsiteX2" fmla="*/ 400225 w 7104297"/>
              <a:gd name="connsiteY2" fmla="*/ 0 h 3137347"/>
              <a:gd name="connsiteX3" fmla="*/ 277738 w 7104297"/>
              <a:gd name="connsiteY3" fmla="*/ 5048 h 3137347"/>
              <a:gd name="connsiteX4" fmla="*/ 0 w 7104297"/>
              <a:gd name="connsiteY4" fmla="*/ 23585 h 3137347"/>
              <a:gd name="connsiteX5" fmla="*/ 296410 w 7104297"/>
              <a:gd name="connsiteY5" fmla="*/ 136472 h 3137347"/>
              <a:gd name="connsiteX6" fmla="*/ 396403 w 7104297"/>
              <a:gd name="connsiteY6" fmla="*/ 445861 h 3137347"/>
              <a:gd name="connsiteX7" fmla="*/ 760665 w 7104297"/>
              <a:gd name="connsiteY7" fmla="*/ 621461 h 3137347"/>
              <a:gd name="connsiteX8" fmla="*/ 996368 w 7104297"/>
              <a:gd name="connsiteY8" fmla="*/ 684176 h 3137347"/>
              <a:gd name="connsiteX9" fmla="*/ 1535617 w 7104297"/>
              <a:gd name="connsiteY9" fmla="*/ 776157 h 3137347"/>
              <a:gd name="connsiteX10" fmla="*/ 1614185 w 7104297"/>
              <a:gd name="connsiteY10" fmla="*/ 926671 h 3137347"/>
              <a:gd name="connsiteX11" fmla="*/ 1682037 w 7104297"/>
              <a:gd name="connsiteY11" fmla="*/ 1093909 h 3137347"/>
              <a:gd name="connsiteX12" fmla="*/ 1824886 w 7104297"/>
              <a:gd name="connsiteY12" fmla="*/ 1202614 h 3137347"/>
              <a:gd name="connsiteX13" fmla="*/ 714243 w 7104297"/>
              <a:gd name="connsiteY13" fmla="*/ 1185890 h 3137347"/>
              <a:gd name="connsiteX14" fmla="*/ 1967733 w 7104297"/>
              <a:gd name="connsiteY14" fmla="*/ 1537090 h 3137347"/>
              <a:gd name="connsiteX15" fmla="*/ 1857026 w 7104297"/>
              <a:gd name="connsiteY15" fmla="*/ 1675062 h 3137347"/>
              <a:gd name="connsiteX16" fmla="*/ 2542697 w 7104297"/>
              <a:gd name="connsiteY16" fmla="*/ 1863205 h 3137347"/>
              <a:gd name="connsiteX17" fmla="*/ 2174863 w 7104297"/>
              <a:gd name="connsiteY17" fmla="*/ 1884109 h 3137347"/>
              <a:gd name="connsiteX18" fmla="*/ 4314015 w 7104297"/>
              <a:gd name="connsiteY18" fmla="*/ 2670128 h 3137347"/>
              <a:gd name="connsiteX19" fmla="*/ 5430784 w 7104297"/>
              <a:gd name="connsiteY19" fmla="*/ 2889725 h 3137347"/>
              <a:gd name="connsiteX20" fmla="*/ 6613344 w 7104297"/>
              <a:gd name="connsiteY20" fmla="*/ 3108822 h 313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04297" h="3137347">
                <a:moveTo>
                  <a:pt x="6772629" y="3137347"/>
                </a:moveTo>
                <a:lnTo>
                  <a:pt x="7104297" y="1081624"/>
                </a:lnTo>
                <a:lnTo>
                  <a:pt x="400225" y="0"/>
                </a:lnTo>
                <a:lnTo>
                  <a:pt x="277738" y="5048"/>
                </a:lnTo>
                <a:cubicBezTo>
                  <a:pt x="185423" y="9801"/>
                  <a:pt x="92851" y="15745"/>
                  <a:pt x="0" y="23585"/>
                </a:cubicBezTo>
                <a:cubicBezTo>
                  <a:pt x="96424" y="149013"/>
                  <a:pt x="221416" y="44490"/>
                  <a:pt x="296410" y="136472"/>
                </a:cubicBezTo>
                <a:cubicBezTo>
                  <a:pt x="224986" y="328795"/>
                  <a:pt x="253557" y="433318"/>
                  <a:pt x="396403" y="445861"/>
                </a:cubicBezTo>
                <a:cubicBezTo>
                  <a:pt x="535682" y="458403"/>
                  <a:pt x="685672" y="391507"/>
                  <a:pt x="760665" y="621461"/>
                </a:cubicBezTo>
                <a:cubicBezTo>
                  <a:pt x="782093" y="692537"/>
                  <a:pt x="914229" y="671633"/>
                  <a:pt x="996368" y="684176"/>
                </a:cubicBezTo>
                <a:cubicBezTo>
                  <a:pt x="1174926" y="713442"/>
                  <a:pt x="1364202" y="684176"/>
                  <a:pt x="1535617" y="776157"/>
                </a:cubicBezTo>
                <a:cubicBezTo>
                  <a:pt x="1603471" y="809604"/>
                  <a:pt x="1649896" y="834690"/>
                  <a:pt x="1614185" y="926671"/>
                </a:cubicBezTo>
                <a:cubicBezTo>
                  <a:pt x="1578472" y="1022833"/>
                  <a:pt x="1624898" y="1056279"/>
                  <a:pt x="1682037" y="1093909"/>
                </a:cubicBezTo>
                <a:cubicBezTo>
                  <a:pt x="1724892" y="1123175"/>
                  <a:pt x="1789173" y="1114814"/>
                  <a:pt x="1824886" y="1202614"/>
                </a:cubicBezTo>
                <a:cubicBezTo>
                  <a:pt x="1449909" y="1190070"/>
                  <a:pt x="1085647" y="1118994"/>
                  <a:pt x="714243" y="1185890"/>
                </a:cubicBezTo>
                <a:cubicBezTo>
                  <a:pt x="1121358" y="1353128"/>
                  <a:pt x="1567759" y="1344765"/>
                  <a:pt x="1967733" y="1537090"/>
                </a:cubicBezTo>
                <a:cubicBezTo>
                  <a:pt x="1953448" y="1603986"/>
                  <a:pt x="1860597" y="1574718"/>
                  <a:pt x="1857026" y="1675062"/>
                </a:cubicBezTo>
                <a:cubicBezTo>
                  <a:pt x="2067727" y="1779586"/>
                  <a:pt x="2321284" y="1708508"/>
                  <a:pt x="2542697" y="1863205"/>
                </a:cubicBezTo>
                <a:cubicBezTo>
                  <a:pt x="2414134" y="1934281"/>
                  <a:pt x="2296285" y="1817213"/>
                  <a:pt x="2174863" y="1884109"/>
                </a:cubicBezTo>
                <a:cubicBezTo>
                  <a:pt x="2214147" y="1984452"/>
                  <a:pt x="3992607" y="2603233"/>
                  <a:pt x="4314015" y="2670128"/>
                </a:cubicBezTo>
                <a:cubicBezTo>
                  <a:pt x="4559090" y="2721868"/>
                  <a:pt x="4976921" y="2803592"/>
                  <a:pt x="5430784" y="2889725"/>
                </a:cubicBezTo>
                <a:cubicBezTo>
                  <a:pt x="5827914" y="2965093"/>
                  <a:pt x="6252633" y="3043836"/>
                  <a:pt x="6613344" y="3108822"/>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39054E8B-C0ED-0B54-2887-D87336068C7D}"/>
              </a:ext>
            </a:extLst>
          </p:cNvPr>
          <p:cNvSpPr>
            <a:spLocks noGrp="1"/>
          </p:cNvSpPr>
          <p:nvPr>
            <p:ph type="title"/>
          </p:nvPr>
        </p:nvSpPr>
        <p:spPr>
          <a:xfrm>
            <a:off x="864326" y="-339635"/>
            <a:ext cx="9924453" cy="1603193"/>
          </a:xfrm>
        </p:spPr>
        <p:txBody>
          <a:bodyPr vert="horz" lIns="91440" tIns="45720" rIns="91440" bIns="45720" rtlCol="0" anchor="b">
            <a:normAutofit/>
          </a:bodyPr>
          <a:lstStyle/>
          <a:p>
            <a:r>
              <a:rPr lang="en-US" sz="5200" b="1" kern="1200">
                <a:latin typeface="+mj-lt"/>
                <a:ea typeface="+mj-ea"/>
                <a:cs typeface="+mj-cs"/>
              </a:rPr>
              <a:t>WIKI Page</a:t>
            </a:r>
            <a:r>
              <a:rPr lang="en-US" sz="5200" b="1"/>
              <a:t> &amp; GitHub Repository</a:t>
            </a:r>
            <a:endParaRPr lang="en-US" sz="5200" b="1" kern="1200">
              <a:latin typeface="+mj-lt"/>
            </a:endParaRPr>
          </a:p>
        </p:txBody>
      </p:sp>
      <p:sp>
        <p:nvSpPr>
          <p:cNvPr id="3" name="TextBox 2">
            <a:extLst>
              <a:ext uri="{FF2B5EF4-FFF2-40B4-BE49-F238E27FC236}">
                <a16:creationId xmlns:a16="http://schemas.microsoft.com/office/drawing/2014/main" id="{F96324B0-EFAA-2BBA-B5CA-4C76C55085D0}"/>
              </a:ext>
            </a:extLst>
          </p:cNvPr>
          <p:cNvSpPr txBox="1"/>
          <p:nvPr/>
        </p:nvSpPr>
        <p:spPr>
          <a:xfrm>
            <a:off x="1084729" y="1613647"/>
            <a:ext cx="637390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2"/>
              </a:rPr>
              <a:t>IT Architects Wiki Page</a:t>
            </a:r>
          </a:p>
          <a:p>
            <a:endParaRPr lang="en-US"/>
          </a:p>
          <a:p>
            <a:r>
              <a:rPr lang="en-US">
                <a:hlinkClick r:id="rId3"/>
              </a:rPr>
              <a:t>IT Architects Github Repository</a:t>
            </a:r>
          </a:p>
        </p:txBody>
      </p:sp>
    </p:spTree>
    <p:extLst>
      <p:ext uri="{BB962C8B-B14F-4D97-AF65-F5344CB8AC3E}">
        <p14:creationId xmlns:p14="http://schemas.microsoft.com/office/powerpoint/2010/main" val="11695377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FABBDD-BEEB-47CC-9DC2-83E0BCD1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2E14A10-F6FE-46B8-9F62-D17079044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CF9D6573-DAA5-4FC7-9CC6-80FFE6371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9300304-8097-4497-B7D7-CF98A9A74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16BEB36-8C72-450B-A22A-48D54766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D8BC9E3-E539-449C-B557-4074751AE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074FC277-4245-45E3-A41E-BE1CFF33C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EC939299-E177-240C-CEE8-14D7D6C178B0}"/>
              </a:ext>
            </a:extLst>
          </p:cNvPr>
          <p:cNvSpPr>
            <a:spLocks noGrp="1"/>
          </p:cNvSpPr>
          <p:nvPr>
            <p:ph type="title"/>
          </p:nvPr>
        </p:nvSpPr>
        <p:spPr>
          <a:xfrm>
            <a:off x="2504393" y="2118002"/>
            <a:ext cx="7178026" cy="1489128"/>
          </a:xfrm>
        </p:spPr>
        <p:txBody>
          <a:bodyPr anchor="b">
            <a:normAutofit/>
          </a:bodyPr>
          <a:lstStyle/>
          <a:p>
            <a:pPr algn="ctr"/>
            <a:r>
              <a:rPr lang="en-US" sz="7200" b="1">
                <a:latin typeface="Calibri"/>
                <a:ea typeface="Calibri"/>
                <a:cs typeface="Calibri"/>
              </a:rPr>
              <a:t>Project</a:t>
            </a:r>
            <a:r>
              <a:rPr lang="en-US" sz="6000" b="1">
                <a:latin typeface="Calibri"/>
                <a:ea typeface="Calibri"/>
                <a:cs typeface="Calibri"/>
              </a:rPr>
              <a:t> </a:t>
            </a:r>
            <a:r>
              <a:rPr lang="en-US" sz="7200" b="1">
                <a:latin typeface="Calibri"/>
                <a:ea typeface="Calibri"/>
                <a:cs typeface="Calibri"/>
              </a:rPr>
              <a:t>Demo</a:t>
            </a:r>
            <a:endParaRPr lang="en-US" sz="7200">
              <a:latin typeface="Calibri"/>
              <a:ea typeface="Calibri"/>
              <a:cs typeface="Calibri"/>
            </a:endParaRPr>
          </a:p>
        </p:txBody>
      </p:sp>
    </p:spTree>
    <p:extLst>
      <p:ext uri="{BB962C8B-B14F-4D97-AF65-F5344CB8AC3E}">
        <p14:creationId xmlns:p14="http://schemas.microsoft.com/office/powerpoint/2010/main" val="3130976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2E6BC6C-4A83-4551-8FFE-1708120A6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F0BF7D1-9CCF-0F1C-5ECE-3FD57F548FA4}"/>
              </a:ext>
            </a:extLst>
          </p:cNvPr>
          <p:cNvSpPr>
            <a:spLocks noGrp="1"/>
          </p:cNvSpPr>
          <p:nvPr>
            <p:ph type="title"/>
          </p:nvPr>
        </p:nvSpPr>
        <p:spPr>
          <a:xfrm>
            <a:off x="1500136" y="590062"/>
            <a:ext cx="5141964" cy="2838938"/>
          </a:xfrm>
        </p:spPr>
        <p:txBody>
          <a:bodyPr vert="horz" lIns="91440" tIns="45720" rIns="91440" bIns="45720" rtlCol="0" anchor="b">
            <a:normAutofit/>
          </a:bodyPr>
          <a:lstStyle/>
          <a:p>
            <a:r>
              <a:rPr lang="en-US" sz="5600" kern="1200">
                <a:solidFill>
                  <a:srgbClr val="FFFFFF"/>
                </a:solidFill>
                <a:latin typeface="Calibri"/>
                <a:ea typeface="Calibri"/>
                <a:cs typeface="Calibri"/>
              </a:rPr>
              <a:t>Thank You</a:t>
            </a:r>
          </a:p>
        </p:txBody>
      </p:sp>
      <p:grpSp>
        <p:nvGrpSpPr>
          <p:cNvPr id="29" name="Group 28">
            <a:extLst>
              <a:ext uri="{FF2B5EF4-FFF2-40B4-BE49-F238E27FC236}">
                <a16:creationId xmlns:a16="http://schemas.microsoft.com/office/drawing/2014/main" id="{E15EAE4E-5508-44B8-B920-1B8BA1D20E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741794" y="1931746"/>
            <a:ext cx="465456" cy="581432"/>
            <a:chOff x="6741794" y="1931746"/>
            <a:chExt cx="465456" cy="581432"/>
          </a:xfrm>
          <a:solidFill>
            <a:srgbClr val="FFFFFF"/>
          </a:solidFill>
        </p:grpSpPr>
        <p:sp>
          <p:nvSpPr>
            <p:cNvPr id="2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57334" y="19317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grpFill/>
            <a:ln w="603" cap="flat">
              <a:noFill/>
              <a:prstDash val="solid"/>
              <a:miter/>
            </a:ln>
          </p:spPr>
          <p:txBody>
            <a:bodyPr rtlCol="0" anchor="ctr"/>
            <a:lstStyle/>
            <a:p>
              <a:endParaRPr lang="en-US">
                <a:solidFill>
                  <a:srgbClr val="FFFFFF"/>
                </a:solidFill>
              </a:endParaRPr>
            </a:p>
          </p:txBody>
        </p:sp>
        <p:sp>
          <p:nvSpPr>
            <p:cNvPr id="3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16112" y="214158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endParaRPr lang="en-US">
                <a:solidFill>
                  <a:srgbClr val="FFFFFF"/>
                </a:solidFill>
              </a:endParaRPr>
            </a:p>
          </p:txBody>
        </p:sp>
        <p:sp>
          <p:nvSpPr>
            <p:cNvPr id="2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41794" y="23854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cxnSp>
        <p:nvCxnSpPr>
          <p:cNvPr id="24" name="Straight Connector 2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5145"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7" name="Graphic 6" descr="Smiling Face with No Fill">
            <a:extLst>
              <a:ext uri="{FF2B5EF4-FFF2-40B4-BE49-F238E27FC236}">
                <a16:creationId xmlns:a16="http://schemas.microsoft.com/office/drawing/2014/main" id="{CFAB397C-B9B4-F4F4-FD5B-5EA3AF87BE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0300" y="2146315"/>
            <a:ext cx="4171686" cy="4171686"/>
          </a:xfrm>
          <a:prstGeom prst="rect">
            <a:avLst/>
          </a:prstGeom>
        </p:spPr>
      </p:pic>
    </p:spTree>
    <p:extLst>
      <p:ext uri="{BB962C8B-B14F-4D97-AF65-F5344CB8AC3E}">
        <p14:creationId xmlns:p14="http://schemas.microsoft.com/office/powerpoint/2010/main" val="1496740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57</Slides>
  <Notes>3</Notes>
  <HiddenSlides>0</HiddenSlide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Office Theme</vt:lpstr>
      <vt:lpstr>TEAM 1 IT Architects </vt:lpstr>
      <vt:lpstr>Agenda</vt:lpstr>
      <vt:lpstr>Team Members</vt:lpstr>
      <vt:lpstr>PowerPoint Presentation</vt:lpstr>
      <vt:lpstr>Improvement from Professor</vt:lpstr>
      <vt:lpstr>Problem Statement</vt:lpstr>
      <vt:lpstr>Problem Description</vt:lpstr>
      <vt:lpstr>Team Working Agreement</vt:lpstr>
      <vt:lpstr>Team Working Agreement Cont.</vt:lpstr>
      <vt:lpstr>PowerPoint Presentation</vt:lpstr>
      <vt:lpstr>PowerPoint Presentation</vt:lpstr>
      <vt:lpstr>PowerPoint Presentation</vt:lpstr>
      <vt:lpstr>MVP</vt:lpstr>
      <vt:lpstr>Technology and Tools</vt:lpstr>
      <vt:lpstr>Algorithms and Models</vt:lpstr>
      <vt:lpstr>Diagrams</vt:lpstr>
      <vt:lpstr>State Diagram</vt:lpstr>
      <vt:lpstr>Sequence  Diagram</vt:lpstr>
      <vt:lpstr>Context  Diagram</vt:lpstr>
      <vt:lpstr>Class  Diagram</vt:lpstr>
      <vt:lpstr>Entity-Relationship Diagram</vt:lpstr>
      <vt:lpstr>Sprint-2 Recap</vt:lpstr>
      <vt:lpstr>Sprint-1 Summary: Burndown Chart</vt:lpstr>
      <vt:lpstr>Sprint-1 Summary: Stories Completed And Not Completed</vt:lpstr>
      <vt:lpstr>Sprint-2 Summary: Burndown Chart</vt:lpstr>
      <vt:lpstr>Sprint-2 Summary: Stories Completed And Not Completed</vt:lpstr>
      <vt:lpstr>Sprint-2 Summary:Stories Completed And Not Completed</vt:lpstr>
      <vt:lpstr>Sprint-3  Product  Backlog</vt:lpstr>
      <vt:lpstr>Sprint-3  Product  Backlog</vt:lpstr>
      <vt:lpstr>Sprint-3  Product  Backlog</vt:lpstr>
      <vt:lpstr>Sprint-3 User backlog </vt:lpstr>
      <vt:lpstr>Sprint-3 User backlog </vt:lpstr>
      <vt:lpstr>Sprint-3 User backlog </vt:lpstr>
      <vt:lpstr>Sprint-3Test Cases</vt:lpstr>
      <vt:lpstr>Sprint-3 Test Cases</vt:lpstr>
      <vt:lpstr>Stories Completed</vt:lpstr>
      <vt:lpstr>Stories Completed</vt:lpstr>
      <vt:lpstr>Metrics</vt:lpstr>
      <vt:lpstr>Sprint 3 Burndown Chart</vt:lpstr>
      <vt:lpstr>Sprint 3 Velocity Chart</vt:lpstr>
      <vt:lpstr>Historical &amp; Average Velocities</vt:lpstr>
      <vt:lpstr>Committed &amp; Completed Ratios</vt:lpstr>
      <vt:lpstr>Sprint 3 Retrospective</vt:lpstr>
      <vt:lpstr>Sprint 3 Retrospective</vt:lpstr>
      <vt:lpstr>Sprint-3 Planning Stories Carried Over</vt:lpstr>
      <vt:lpstr>Application Screenshots</vt:lpstr>
      <vt:lpstr>Application Screenshots</vt:lpstr>
      <vt:lpstr>Application Screenshots</vt:lpstr>
      <vt:lpstr>Approving and Denying Transactions </vt:lpstr>
      <vt:lpstr> Fraud Report </vt:lpstr>
      <vt:lpstr>REST API</vt:lpstr>
      <vt:lpstr>REST API - Continued</vt:lpstr>
      <vt:lpstr>REST API - Continued</vt:lpstr>
      <vt:lpstr>REST API - Continued</vt:lpstr>
      <vt:lpstr>WIKI Page &amp; GitHub Repository</vt:lpstr>
      <vt:lpstr>Project 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Moradia, Zenil</dc:creator>
  <cp:revision>3</cp:revision>
  <dcterms:created xsi:type="dcterms:W3CDTF">2025-11-01T18:20:15Z</dcterms:created>
  <dcterms:modified xsi:type="dcterms:W3CDTF">2025-12-20T19:21:42Z</dcterms:modified>
</cp:coreProperties>
</file>